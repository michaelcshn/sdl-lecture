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1c0d56aaa84fb8" /><Relationship Type="http://schemas.openxmlformats.org/officeDocument/2006/relationships/extended-properties" Target="/docProps/app.xml" Id="R42f6a8ba8e1542b6" /><Relationship Type="http://schemas.openxmlformats.org/officeDocument/2006/relationships/officeDocument" Target="/ppt/presentation.xml" Id="R1457a3b236754a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98d993a6f54c5f"/>
  </p:sldMasterIdLst>
  <p:notesMasterIdLst>
    <p:notesMasterId xmlns:r="http://schemas.openxmlformats.org/officeDocument/2006/relationships" r:id="R02b3a3ff93c74441"/>
  </p:notesMasterIdLst>
  <p:sldIdLst>
    <p:sldId xmlns:r="http://schemas.openxmlformats.org/officeDocument/2006/relationships" id="256" r:id="R5862be0663bf4c67"/>
    <p:sldId xmlns:r="http://schemas.openxmlformats.org/officeDocument/2006/relationships" id="257" r:id="R81e284ef30a04d8b"/>
    <p:sldId xmlns:r="http://schemas.openxmlformats.org/officeDocument/2006/relationships" id="258" r:id="Rb3113b8873db4c12"/>
    <p:sldId xmlns:r="http://schemas.openxmlformats.org/officeDocument/2006/relationships" id="259" r:id="R07c8b23045264268"/>
    <p:sldId xmlns:r="http://schemas.openxmlformats.org/officeDocument/2006/relationships" id="260" r:id="R3559029efc2d4c52"/>
    <p:sldId xmlns:r="http://schemas.openxmlformats.org/officeDocument/2006/relationships" id="261" r:id="Rf4f8df9b746f43f8"/>
    <p:sldId xmlns:r="http://schemas.openxmlformats.org/officeDocument/2006/relationships" id="262" r:id="Re96a5b888cdb4561"/>
    <p:sldId xmlns:r="http://schemas.openxmlformats.org/officeDocument/2006/relationships" id="263" r:id="Rde5b8070efdb4566"/>
    <p:sldId xmlns:r="http://schemas.openxmlformats.org/officeDocument/2006/relationships" id="264" r:id="R7b129f81218b4c87"/>
    <p:sldId xmlns:r="http://schemas.openxmlformats.org/officeDocument/2006/relationships" id="265" r:id="Rdab89de85a184b69"/>
    <p:sldId xmlns:r="http://schemas.openxmlformats.org/officeDocument/2006/relationships" id="266" r:id="R75c40c81bce4413c"/>
    <p:sldId xmlns:r="http://schemas.openxmlformats.org/officeDocument/2006/relationships" id="267" r:id="Rc958906a443243f6"/>
    <p:sldId xmlns:r="http://schemas.openxmlformats.org/officeDocument/2006/relationships" id="268" r:id="R6b55205eb2a64a32"/>
    <p:sldId xmlns:r="http://schemas.openxmlformats.org/officeDocument/2006/relationships" id="269" r:id="R0ef389bc0ce2459d"/>
    <p:sldId xmlns:r="http://schemas.openxmlformats.org/officeDocument/2006/relationships" id="270" r:id="Re7f401942404414f"/>
    <p:sldId xmlns:r="http://schemas.openxmlformats.org/officeDocument/2006/relationships" id="271" r:id="R7f66ffd544344460"/>
    <p:sldId xmlns:r="http://schemas.openxmlformats.org/officeDocument/2006/relationships" id="272" r:id="Re9b817cd6eb8419e"/>
    <p:sldId xmlns:r="http://schemas.openxmlformats.org/officeDocument/2006/relationships" id="273" r:id="Rc7665d9380e54988"/>
    <p:sldId xmlns:r="http://schemas.openxmlformats.org/officeDocument/2006/relationships" id="274" r:id="Rfdc253aa3b6143f5"/>
    <p:sldId xmlns:r="http://schemas.openxmlformats.org/officeDocument/2006/relationships" id="275" r:id="R5098394b0a934946"/>
    <p:sldId xmlns:r="http://schemas.openxmlformats.org/officeDocument/2006/relationships" id="276" r:id="Rb83769d3d2224db7"/>
    <p:sldId xmlns:r="http://schemas.openxmlformats.org/officeDocument/2006/relationships" id="277" r:id="R3e7fbef2782849a2"/>
    <p:sldId xmlns:r="http://schemas.openxmlformats.org/officeDocument/2006/relationships" id="278" r:id="Rcc977abb6f114efe"/>
    <p:sldId xmlns:r="http://schemas.openxmlformats.org/officeDocument/2006/relationships" id="279" r:id="R57a2c3e56baa45f7"/>
    <p:sldId xmlns:r="http://schemas.openxmlformats.org/officeDocument/2006/relationships" id="280" r:id="R2b655427107d46bd"/>
    <p:sldId xmlns:r="http://schemas.openxmlformats.org/officeDocument/2006/relationships" id="281" r:id="Radcbcca374134b36"/>
    <p:sldId xmlns:r="http://schemas.openxmlformats.org/officeDocument/2006/relationships" id="282" r:id="R9576d363ce8d451a"/>
    <p:sldId xmlns:r="http://schemas.openxmlformats.org/officeDocument/2006/relationships" id="283" r:id="R4e892908000e4078"/>
    <p:sldId xmlns:r="http://schemas.openxmlformats.org/officeDocument/2006/relationships" id="284" r:id="R591f5cbc2dbe463f"/>
    <p:sldId xmlns:r="http://schemas.openxmlformats.org/officeDocument/2006/relationships" id="285" r:id="R621c05a6cd0c4323"/>
    <p:sldId xmlns:r="http://schemas.openxmlformats.org/officeDocument/2006/relationships" id="286" r:id="R791c42fd36ce476a"/>
    <p:sldId xmlns:r="http://schemas.openxmlformats.org/officeDocument/2006/relationships" id="287" r:id="R76ddea959cfd4eee"/>
    <p:sldId xmlns:r="http://schemas.openxmlformats.org/officeDocument/2006/relationships" id="288" r:id="Rdb2b9e05fa624e9a"/>
    <p:sldId xmlns:r="http://schemas.openxmlformats.org/officeDocument/2006/relationships" id="289" r:id="R1dbd2f1cfeec4193"/>
    <p:sldId xmlns:r="http://schemas.openxmlformats.org/officeDocument/2006/relationships" id="290" r:id="R7956da43df644020"/>
    <p:sldId xmlns:r="http://schemas.openxmlformats.org/officeDocument/2006/relationships" id="291" r:id="Ra39b97a29744463f"/>
    <p:sldId xmlns:r="http://schemas.openxmlformats.org/officeDocument/2006/relationships" id="292" r:id="R5df4b4ccb1a04b19"/>
    <p:sldId xmlns:r="http://schemas.openxmlformats.org/officeDocument/2006/relationships" id="293" r:id="R1b7fecd526a34a38"/>
    <p:sldId xmlns:r="http://schemas.openxmlformats.org/officeDocument/2006/relationships" id="294" r:id="R78f62d4caba8496a"/>
    <p:sldId xmlns:r="http://schemas.openxmlformats.org/officeDocument/2006/relationships" id="295" r:id="Rf25219840a5b4abc"/>
    <p:sldId xmlns:r="http://schemas.openxmlformats.org/officeDocument/2006/relationships" id="296" r:id="R1f91e108183c41c1"/>
    <p:sldId xmlns:r="http://schemas.openxmlformats.org/officeDocument/2006/relationships" id="297" r:id="Rb6a8c33036f742f3"/>
    <p:sldId xmlns:r="http://schemas.openxmlformats.org/officeDocument/2006/relationships" id="298" r:id="R62cb46432624499b"/>
    <p:sldId xmlns:r="http://schemas.openxmlformats.org/officeDocument/2006/relationships" id="299" r:id="R0d81e0260b4a42b3"/>
    <p:sldId xmlns:r="http://schemas.openxmlformats.org/officeDocument/2006/relationships" id="300" r:id="Rad6f0780a9884c9d"/>
    <p:sldId xmlns:r="http://schemas.openxmlformats.org/officeDocument/2006/relationships" id="301" r:id="Rdb03e59adbc54a01"/>
    <p:sldId xmlns:r="http://schemas.openxmlformats.org/officeDocument/2006/relationships" id="302" r:id="Rb454aaadb65d4f12"/>
    <p:sldId xmlns:r="http://schemas.openxmlformats.org/officeDocument/2006/relationships" id="303" r:id="R5182aff344804e6f"/>
    <p:sldId xmlns:r="http://schemas.openxmlformats.org/officeDocument/2006/relationships" id="304" r:id="R7c512115dd574f1b"/>
    <p:sldId xmlns:r="http://schemas.openxmlformats.org/officeDocument/2006/relationships" id="305" r:id="Rb202318af54644d8"/>
    <p:sldId xmlns:r="http://schemas.openxmlformats.org/officeDocument/2006/relationships" id="306" r:id="Rfeba4bdf9ccb4429"/>
    <p:sldId xmlns:r="http://schemas.openxmlformats.org/officeDocument/2006/relationships" id="307" r:id="Re3e07954e2394fc3"/>
    <p:sldId xmlns:r="http://schemas.openxmlformats.org/officeDocument/2006/relationships" id="308" r:id="Rfb14c88c801e427f"/>
    <p:sldId xmlns:r="http://schemas.openxmlformats.org/officeDocument/2006/relationships" id="309" r:id="Re7d342561dfe423b"/>
    <p:sldId xmlns:r="http://schemas.openxmlformats.org/officeDocument/2006/relationships" id="310" r:id="Rd3a5c54278d74d63"/>
    <p:sldId xmlns:r="http://schemas.openxmlformats.org/officeDocument/2006/relationships" id="311" r:id="R1f420f69b0fd47d2"/>
    <p:sldId xmlns:r="http://schemas.openxmlformats.org/officeDocument/2006/relationships" id="312" r:id="R2cb74050bc9c4409"/>
    <p:sldId xmlns:r="http://schemas.openxmlformats.org/officeDocument/2006/relationships" id="313" r:id="Re9759f5548694521"/>
    <p:sldId xmlns:r="http://schemas.openxmlformats.org/officeDocument/2006/relationships" id="314" r:id="R2ff75090035d4472"/>
    <p:sldId xmlns:r="http://schemas.openxmlformats.org/officeDocument/2006/relationships" id="315" r:id="R667b67041955453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be3158cc78448e" /><Relationship Type="http://schemas.openxmlformats.org/officeDocument/2006/relationships/slideMaster" Target="/ppt/slideMasters/slideMaster1.xml" Id="Ra398d993a6f54c5f" /><Relationship Type="http://schemas.openxmlformats.org/officeDocument/2006/relationships/notesMaster" Target="/ppt/notesMasters/notesMaster1.xml" Id="R02b3a3ff93c74441" /><Relationship Type="http://schemas.openxmlformats.org/officeDocument/2006/relationships/presProps" Target="/ppt/presProps.xml" Id="Ra6e34da2837e479e" /><Relationship Type="http://schemas.openxmlformats.org/officeDocument/2006/relationships/viewProps" Target="/ppt/viewProps.xml" Id="R3c8429e771164c68" /><Relationship Type="http://schemas.openxmlformats.org/officeDocument/2006/relationships/tableStyles" Target="/ppt/tableStyles.xml" Id="R513d8fa7bd3b428d" /><Relationship Type="http://schemas.openxmlformats.org/officeDocument/2006/relationships/slide" Target="/ppt/slides/slide1.xml" Id="R5862be0663bf4c67" /><Relationship Type="http://schemas.openxmlformats.org/officeDocument/2006/relationships/slide" Target="/ppt/slides/slide2.xml" Id="R81e284ef30a04d8b" /><Relationship Type="http://schemas.openxmlformats.org/officeDocument/2006/relationships/slide" Target="/ppt/slides/slide3.xml" Id="Rb3113b8873db4c12" /><Relationship Type="http://schemas.openxmlformats.org/officeDocument/2006/relationships/slide" Target="/ppt/slides/slide4.xml" Id="R07c8b23045264268" /><Relationship Type="http://schemas.openxmlformats.org/officeDocument/2006/relationships/slide" Target="/ppt/slides/slide5.xml" Id="R3559029efc2d4c52" /><Relationship Type="http://schemas.openxmlformats.org/officeDocument/2006/relationships/slide" Target="/ppt/slides/slide6.xml" Id="Rf4f8df9b746f43f8" /><Relationship Type="http://schemas.openxmlformats.org/officeDocument/2006/relationships/slide" Target="/ppt/slides/slide7.xml" Id="Re96a5b888cdb4561" /><Relationship Type="http://schemas.openxmlformats.org/officeDocument/2006/relationships/slide" Target="/ppt/slides/slide8.xml" Id="Rde5b8070efdb4566" /><Relationship Type="http://schemas.openxmlformats.org/officeDocument/2006/relationships/slide" Target="/ppt/slides/slide9.xml" Id="R7b129f81218b4c87" /><Relationship Type="http://schemas.openxmlformats.org/officeDocument/2006/relationships/slide" Target="/ppt/slides/slide10.xml" Id="Rdab89de85a184b69" /><Relationship Type="http://schemas.openxmlformats.org/officeDocument/2006/relationships/slide" Target="/ppt/slides/slide11.xml" Id="R75c40c81bce4413c" /><Relationship Type="http://schemas.openxmlformats.org/officeDocument/2006/relationships/slide" Target="/ppt/slides/slide12.xml" Id="Rc958906a443243f6" /><Relationship Type="http://schemas.openxmlformats.org/officeDocument/2006/relationships/slide" Target="/ppt/slides/slide13.xml" Id="R6b55205eb2a64a32" /><Relationship Type="http://schemas.openxmlformats.org/officeDocument/2006/relationships/slide" Target="/ppt/slides/slide14.xml" Id="R0ef389bc0ce2459d" /><Relationship Type="http://schemas.openxmlformats.org/officeDocument/2006/relationships/slide" Target="/ppt/slides/slide15.xml" Id="Re7f401942404414f" /><Relationship Type="http://schemas.openxmlformats.org/officeDocument/2006/relationships/slide" Target="/ppt/slides/slide16.xml" Id="R7f66ffd544344460" /><Relationship Type="http://schemas.openxmlformats.org/officeDocument/2006/relationships/slide" Target="/ppt/slides/slide17.xml" Id="Re9b817cd6eb8419e" /><Relationship Type="http://schemas.openxmlformats.org/officeDocument/2006/relationships/slide" Target="/ppt/slides/slide18.xml" Id="Rc7665d9380e54988" /><Relationship Type="http://schemas.openxmlformats.org/officeDocument/2006/relationships/slide" Target="/ppt/slides/slide19.xml" Id="Rfdc253aa3b6143f5" /><Relationship Type="http://schemas.openxmlformats.org/officeDocument/2006/relationships/slide" Target="/ppt/slides/slide20.xml" Id="R5098394b0a934946" /><Relationship Type="http://schemas.openxmlformats.org/officeDocument/2006/relationships/slide" Target="/ppt/slides/slide21.xml" Id="Rb83769d3d2224db7" /><Relationship Type="http://schemas.openxmlformats.org/officeDocument/2006/relationships/slide" Target="/ppt/slides/slide22.xml" Id="R3e7fbef2782849a2" /><Relationship Type="http://schemas.openxmlformats.org/officeDocument/2006/relationships/slide" Target="/ppt/slides/slide23.xml" Id="Rcc977abb6f114efe" /><Relationship Type="http://schemas.openxmlformats.org/officeDocument/2006/relationships/slide" Target="/ppt/slides/slide24.xml" Id="R57a2c3e56baa45f7" /><Relationship Type="http://schemas.openxmlformats.org/officeDocument/2006/relationships/slide" Target="/ppt/slides/slide25.xml" Id="R2b655427107d46bd" /><Relationship Type="http://schemas.openxmlformats.org/officeDocument/2006/relationships/slide" Target="/ppt/slides/slide26.xml" Id="Radcbcca374134b36" /><Relationship Type="http://schemas.openxmlformats.org/officeDocument/2006/relationships/slide" Target="/ppt/slides/slide27.xml" Id="R9576d363ce8d451a" /><Relationship Type="http://schemas.openxmlformats.org/officeDocument/2006/relationships/slide" Target="/ppt/slides/slide28.xml" Id="R4e892908000e4078" /><Relationship Type="http://schemas.openxmlformats.org/officeDocument/2006/relationships/slide" Target="/ppt/slides/slide29.xml" Id="R591f5cbc2dbe463f" /><Relationship Type="http://schemas.openxmlformats.org/officeDocument/2006/relationships/slide" Target="/ppt/slides/slide30.xml" Id="R621c05a6cd0c4323" /><Relationship Type="http://schemas.openxmlformats.org/officeDocument/2006/relationships/slide" Target="/ppt/slides/slide31.xml" Id="R791c42fd36ce476a" /><Relationship Type="http://schemas.openxmlformats.org/officeDocument/2006/relationships/slide" Target="/ppt/slides/slide32.xml" Id="R76ddea959cfd4eee" /><Relationship Type="http://schemas.openxmlformats.org/officeDocument/2006/relationships/slide" Target="/ppt/slides/slide33.xml" Id="Rdb2b9e05fa624e9a" /><Relationship Type="http://schemas.openxmlformats.org/officeDocument/2006/relationships/slide" Target="/ppt/slides/slide34.xml" Id="R1dbd2f1cfeec4193" /><Relationship Type="http://schemas.openxmlformats.org/officeDocument/2006/relationships/slide" Target="/ppt/slides/slide35.xml" Id="R7956da43df644020" /><Relationship Type="http://schemas.openxmlformats.org/officeDocument/2006/relationships/slide" Target="/ppt/slides/slide36.xml" Id="Ra39b97a29744463f" /><Relationship Type="http://schemas.openxmlformats.org/officeDocument/2006/relationships/slide" Target="/ppt/slides/slide37.xml" Id="R5df4b4ccb1a04b19" /><Relationship Type="http://schemas.openxmlformats.org/officeDocument/2006/relationships/slide" Target="/ppt/slides/slide38.xml" Id="R1b7fecd526a34a38" /><Relationship Type="http://schemas.openxmlformats.org/officeDocument/2006/relationships/slide" Target="/ppt/slides/slide39.xml" Id="R78f62d4caba8496a" /><Relationship Type="http://schemas.openxmlformats.org/officeDocument/2006/relationships/slide" Target="/ppt/slides/slide40.xml" Id="Rf25219840a5b4abc" /><Relationship Type="http://schemas.openxmlformats.org/officeDocument/2006/relationships/slide" Target="/ppt/slides/slide41.xml" Id="R1f91e108183c41c1" /><Relationship Type="http://schemas.openxmlformats.org/officeDocument/2006/relationships/slide" Target="/ppt/slides/slide42.xml" Id="Rb6a8c33036f742f3" /><Relationship Type="http://schemas.openxmlformats.org/officeDocument/2006/relationships/slide" Target="/ppt/slides/slide43.xml" Id="R62cb46432624499b" /><Relationship Type="http://schemas.openxmlformats.org/officeDocument/2006/relationships/slide" Target="/ppt/slides/slide44.xml" Id="R0d81e0260b4a42b3" /><Relationship Type="http://schemas.openxmlformats.org/officeDocument/2006/relationships/slide" Target="/ppt/slides/slide45.xml" Id="Rad6f0780a9884c9d" /><Relationship Type="http://schemas.openxmlformats.org/officeDocument/2006/relationships/slide" Target="/ppt/slides/slide46.xml" Id="Rdb03e59adbc54a01" /><Relationship Type="http://schemas.openxmlformats.org/officeDocument/2006/relationships/slide" Target="/ppt/slides/slide47.xml" Id="Rb454aaadb65d4f12" /><Relationship Type="http://schemas.openxmlformats.org/officeDocument/2006/relationships/slide" Target="/ppt/slides/slide48.xml" Id="R5182aff344804e6f" /><Relationship Type="http://schemas.openxmlformats.org/officeDocument/2006/relationships/slide" Target="/ppt/slides/slide49.xml" Id="R7c512115dd574f1b" /><Relationship Type="http://schemas.openxmlformats.org/officeDocument/2006/relationships/slide" Target="/ppt/slides/slide50.xml" Id="Rb202318af54644d8" /><Relationship Type="http://schemas.openxmlformats.org/officeDocument/2006/relationships/slide" Target="/ppt/slides/slide51.xml" Id="Rfeba4bdf9ccb4429" /><Relationship Type="http://schemas.openxmlformats.org/officeDocument/2006/relationships/slide" Target="/ppt/slides/slide52.xml" Id="Re3e07954e2394fc3" /><Relationship Type="http://schemas.openxmlformats.org/officeDocument/2006/relationships/slide" Target="/ppt/slides/slide53.xml" Id="Rfb14c88c801e427f" /><Relationship Type="http://schemas.openxmlformats.org/officeDocument/2006/relationships/slide" Target="/ppt/slides/slide54.xml" Id="Re7d342561dfe423b" /><Relationship Type="http://schemas.openxmlformats.org/officeDocument/2006/relationships/slide" Target="/ppt/slides/slide55.xml" Id="Rd3a5c54278d74d63" /><Relationship Type="http://schemas.openxmlformats.org/officeDocument/2006/relationships/slide" Target="/ppt/slides/slide56.xml" Id="R1f420f69b0fd47d2" /><Relationship Type="http://schemas.openxmlformats.org/officeDocument/2006/relationships/slide" Target="/ppt/slides/slide57.xml" Id="R2cb74050bc9c4409" /><Relationship Type="http://schemas.openxmlformats.org/officeDocument/2006/relationships/slide" Target="/ppt/slides/slide58.xml" Id="Re9759f5548694521" /><Relationship Type="http://schemas.openxmlformats.org/officeDocument/2006/relationships/slide" Target="/ppt/slides/slide59.xml" Id="R2ff75090035d4472" /><Relationship Type="http://schemas.openxmlformats.org/officeDocument/2006/relationships/slide" Target="/ppt/slides/slide60.xml" Id="R667b6704195545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d53a2aa3e040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949c8fb8894d37" /><Relationship Type="http://schemas.openxmlformats.org/officeDocument/2006/relationships/notesMaster" Target="/ppt/notesMasters/notesMaster1.xml" Id="Rb31eef1292974a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b4c116bb734f6a" /><Relationship Type="http://schemas.openxmlformats.org/officeDocument/2006/relationships/notesMaster" Target="/ppt/notesMasters/notesMaster1.xml" Id="R85234e430fd146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1b653f7ba94d9f" /><Relationship Type="http://schemas.openxmlformats.org/officeDocument/2006/relationships/notesMaster" Target="/ppt/notesMasters/notesMaster1.xml" Id="R9fceca93ac0440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4014f4a3214a97" /><Relationship Type="http://schemas.openxmlformats.org/officeDocument/2006/relationships/notesMaster" Target="/ppt/notesMasters/notesMaster1.xml" Id="R408b4ff525aa4d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c8e326b8ea4038" /><Relationship Type="http://schemas.openxmlformats.org/officeDocument/2006/relationships/notesMaster" Target="/ppt/notesMasters/notesMaster1.xml" Id="R0566023be9b24c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fe8d6e42ed4da0" /><Relationship Type="http://schemas.openxmlformats.org/officeDocument/2006/relationships/notesMaster" Target="/ppt/notesMasters/notesMaster1.xml" Id="R5adcf7984d6e4e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9d32adf65f4593" /><Relationship Type="http://schemas.openxmlformats.org/officeDocument/2006/relationships/notesMaster" Target="/ppt/notesMasters/notesMaster1.xml" Id="R5385df9290d04a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f2bfede65f4658" /><Relationship Type="http://schemas.openxmlformats.org/officeDocument/2006/relationships/notesMaster" Target="/ppt/notesMasters/notesMaster1.xml" Id="R38efb5c1c2b147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12bc98441a40a0" /><Relationship Type="http://schemas.openxmlformats.org/officeDocument/2006/relationships/notesMaster" Target="/ppt/notesMasters/notesMaster1.xml" Id="Rf54b3df28f644c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7c58a1e3564c21" /><Relationship Type="http://schemas.openxmlformats.org/officeDocument/2006/relationships/notesMaster" Target="/ppt/notesMasters/notesMaster1.xml" Id="Rfa75f17e511f40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01d7ccea4b44e6" /><Relationship Type="http://schemas.openxmlformats.org/officeDocument/2006/relationships/notesMaster" Target="/ppt/notesMasters/notesMaster1.xml" Id="R531190c9c6074c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37c78ea3bf4e1a" /><Relationship Type="http://schemas.openxmlformats.org/officeDocument/2006/relationships/notesMaster" Target="/ppt/notesMasters/notesMaster1.xml" Id="R7c8d6a2ca5e243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7f70c3071941e7" /><Relationship Type="http://schemas.openxmlformats.org/officeDocument/2006/relationships/notesMaster" Target="/ppt/notesMasters/notesMaster1.xml" Id="Rc05762ed0fe447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699131528f4614" /><Relationship Type="http://schemas.openxmlformats.org/officeDocument/2006/relationships/notesMaster" Target="/ppt/notesMasters/notesMaster1.xml" Id="R9197b32ec3404d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472f15cb8aa41ae" /><Relationship Type="http://schemas.openxmlformats.org/officeDocument/2006/relationships/notesMaster" Target="/ppt/notesMasters/notesMaster1.xml" Id="Rb83753de38584c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91f8a53cee14ce3" /><Relationship Type="http://schemas.openxmlformats.org/officeDocument/2006/relationships/notesMaster" Target="/ppt/notesMasters/notesMaster1.xml" Id="Re2297f09077b4e1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7811fe740d84a84" /><Relationship Type="http://schemas.openxmlformats.org/officeDocument/2006/relationships/notesMaster" Target="/ppt/notesMasters/notesMaster1.xml" Id="Re9aaf14cc8984a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25f90a544f74133" /><Relationship Type="http://schemas.openxmlformats.org/officeDocument/2006/relationships/notesMaster" Target="/ppt/notesMasters/notesMaster1.xml" Id="R4ae3b5bac310454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f9ca079546744d3" /><Relationship Type="http://schemas.openxmlformats.org/officeDocument/2006/relationships/notesMaster" Target="/ppt/notesMasters/notesMaster1.xml" Id="R0528da807588473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b5c3a54e41445a1" /><Relationship Type="http://schemas.openxmlformats.org/officeDocument/2006/relationships/notesMaster" Target="/ppt/notesMasters/notesMaster1.xml" Id="R44e5b53fecc640c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606234012324891" /><Relationship Type="http://schemas.openxmlformats.org/officeDocument/2006/relationships/notesMaster" Target="/ppt/notesMasters/notesMaster1.xml" Id="Ra79af8ed69e3472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e6564869cc041b0" /><Relationship Type="http://schemas.openxmlformats.org/officeDocument/2006/relationships/notesMaster" Target="/ppt/notesMasters/notesMaster1.xml" Id="R6aa24bd5d56743f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9e5f765c8a540d1" /><Relationship Type="http://schemas.openxmlformats.org/officeDocument/2006/relationships/notesMaster" Target="/ppt/notesMasters/notesMaster1.xml" Id="R90e8309497484c3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26ead7d095841ab" /><Relationship Type="http://schemas.openxmlformats.org/officeDocument/2006/relationships/notesMaster" Target="/ppt/notesMasters/notesMaster1.xml" Id="Rad83a680fc394f7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dc7b5f018ec4c78" /><Relationship Type="http://schemas.openxmlformats.org/officeDocument/2006/relationships/notesMaster" Target="/ppt/notesMasters/notesMaster1.xml" Id="R3169684bdf1d48e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cab9cafa37d4bf7" /><Relationship Type="http://schemas.openxmlformats.org/officeDocument/2006/relationships/notesMaster" Target="/ppt/notesMasters/notesMaster1.xml" Id="R57e5b32f5cbd44a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bb0f04b832642a5" /><Relationship Type="http://schemas.openxmlformats.org/officeDocument/2006/relationships/notesMaster" Target="/ppt/notesMasters/notesMaster1.xml" Id="R9e1cbad54ece4b1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3db8996c265435e" /><Relationship Type="http://schemas.openxmlformats.org/officeDocument/2006/relationships/notesMaster" Target="/ppt/notesMasters/notesMaster1.xml" Id="R460f60e976204c2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873c2057fb3452f" /><Relationship Type="http://schemas.openxmlformats.org/officeDocument/2006/relationships/notesMaster" Target="/ppt/notesMasters/notesMaster1.xml" Id="R4c379f720a5b498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7f43fb119414ad3" /><Relationship Type="http://schemas.openxmlformats.org/officeDocument/2006/relationships/notesMaster" Target="/ppt/notesMasters/notesMaster1.xml" Id="R9219f273ab11484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ed011891d1f44d6" /><Relationship Type="http://schemas.openxmlformats.org/officeDocument/2006/relationships/notesMaster" Target="/ppt/notesMasters/notesMaster1.xml" Id="R0412a2bb59a2474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238218a07614481" /><Relationship Type="http://schemas.openxmlformats.org/officeDocument/2006/relationships/notesMaster" Target="/ppt/notesMasters/notesMaster1.xml" Id="R16ee99b83fe147a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6208c03909b4beb" /><Relationship Type="http://schemas.openxmlformats.org/officeDocument/2006/relationships/notesMaster" Target="/ppt/notesMasters/notesMaster1.xml" Id="R46612cb82676459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c7eae9f63644352" /><Relationship Type="http://schemas.openxmlformats.org/officeDocument/2006/relationships/notesMaster" Target="/ppt/notesMasters/notesMaster1.xml" Id="R4e4bd151806d447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c9a3e8fd9944d48" /><Relationship Type="http://schemas.openxmlformats.org/officeDocument/2006/relationships/notesMaster" Target="/ppt/notesMasters/notesMaster1.xml" Id="Re8ffb1eb9c234cf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e37d2b0edbb461a" /><Relationship Type="http://schemas.openxmlformats.org/officeDocument/2006/relationships/notesMaster" Target="/ppt/notesMasters/notesMaster1.xml" Id="R5ed155c0e5b14fb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cb02163d276435a" /><Relationship Type="http://schemas.openxmlformats.org/officeDocument/2006/relationships/notesMaster" Target="/ppt/notesMasters/notesMaster1.xml" Id="R5b405de6f95d431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e5bae5c37534f8e" /><Relationship Type="http://schemas.openxmlformats.org/officeDocument/2006/relationships/notesMaster" Target="/ppt/notesMasters/notesMaster1.xml" Id="R342bca22a7c34b4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4182820ddae455f" /><Relationship Type="http://schemas.openxmlformats.org/officeDocument/2006/relationships/notesMaster" Target="/ppt/notesMasters/notesMaster1.xml" Id="R707e4db78d2c4d1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66a020bc5214605" /><Relationship Type="http://schemas.openxmlformats.org/officeDocument/2006/relationships/notesMaster" Target="/ppt/notesMasters/notesMaster1.xml" Id="Rd28ea954fc244fe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c15ba2b31934c2d" /><Relationship Type="http://schemas.openxmlformats.org/officeDocument/2006/relationships/notesMaster" Target="/ppt/notesMasters/notesMaster1.xml" Id="R5c3bdc9e78e441d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8b937590a8542f6" /><Relationship Type="http://schemas.openxmlformats.org/officeDocument/2006/relationships/notesMaster" Target="/ppt/notesMasters/notesMaster1.xml" Id="Reae376993e3149e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ec44232c5a246da" /><Relationship Type="http://schemas.openxmlformats.org/officeDocument/2006/relationships/notesMaster" Target="/ppt/notesMasters/notesMaster1.xml" Id="R246c3d4194984cf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5ae2bfb7ac74ebd" /><Relationship Type="http://schemas.openxmlformats.org/officeDocument/2006/relationships/notesMaster" Target="/ppt/notesMasters/notesMaster1.xml" Id="Rad5fea1383274fa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76fb37dd87b430c" /><Relationship Type="http://schemas.openxmlformats.org/officeDocument/2006/relationships/notesMaster" Target="/ppt/notesMasters/notesMaster1.xml" Id="R21b31789188640c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18b58bdbdd64e2d" /><Relationship Type="http://schemas.openxmlformats.org/officeDocument/2006/relationships/notesMaster" Target="/ppt/notesMasters/notesMaster1.xml" Id="R31c7451af17e41b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6ea18e299df49ae" /><Relationship Type="http://schemas.openxmlformats.org/officeDocument/2006/relationships/notesMaster" Target="/ppt/notesMasters/notesMaster1.xml" Id="R7c4751e7053d434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b905a8d04cb4376" /><Relationship Type="http://schemas.openxmlformats.org/officeDocument/2006/relationships/notesMaster" Target="/ppt/notesMasters/notesMaster1.xml" Id="R5698d490aed74c25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3233970183d490d" /><Relationship Type="http://schemas.openxmlformats.org/officeDocument/2006/relationships/notesMaster" Target="/ppt/notesMasters/notesMaster1.xml" Id="R744e6d10d87e4c7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78223352e2c4f1e" /><Relationship Type="http://schemas.openxmlformats.org/officeDocument/2006/relationships/notesMaster" Target="/ppt/notesMasters/notesMaster1.xml" Id="R77b384b74e504271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db727a931f34c3f" /><Relationship Type="http://schemas.openxmlformats.org/officeDocument/2006/relationships/notesMaster" Target="/ppt/notesMasters/notesMaster1.xml" Id="R5165c91d309e4940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8160d9b44b8497a" /><Relationship Type="http://schemas.openxmlformats.org/officeDocument/2006/relationships/notesMaster" Target="/ppt/notesMasters/notesMaster1.xml" Id="R4b6262eef6264470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39a6777bd894780" /><Relationship Type="http://schemas.openxmlformats.org/officeDocument/2006/relationships/notesMaster" Target="/ppt/notesMasters/notesMaster1.xml" Id="Rb792031192a74223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368ee4c7622414c" /><Relationship Type="http://schemas.openxmlformats.org/officeDocument/2006/relationships/notesMaster" Target="/ppt/notesMasters/notesMaster1.xml" Id="R6d9891d986424e98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c3c191e032854564" /><Relationship Type="http://schemas.openxmlformats.org/officeDocument/2006/relationships/notesMaster" Target="/ppt/notesMasters/notesMaster1.xml" Id="R5128b715bf644b45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f30df3fe850d4bc6" /><Relationship Type="http://schemas.openxmlformats.org/officeDocument/2006/relationships/notesMaster" Target="/ppt/notesMasters/notesMaster1.xml" Id="Rb94b55cb30d7469c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0f079be69d534630" /><Relationship Type="http://schemas.openxmlformats.org/officeDocument/2006/relationships/notesMaster" Target="/ppt/notesMasters/notesMaster1.xml" Id="R66c5eff8837a43fc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1e361d366306453e" /><Relationship Type="http://schemas.openxmlformats.org/officeDocument/2006/relationships/notesMaster" Target="/ppt/notesMasters/notesMaster1.xml" Id="R5f2568094e424ec6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63fe62711d4342ad" /><Relationship Type="http://schemas.openxmlformats.org/officeDocument/2006/relationships/notesMaster" Target="/ppt/notesMasters/notesMaster1.xml" Id="R4aa1070aba88487e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9f095e01352d460a" /><Relationship Type="http://schemas.openxmlformats.org/officeDocument/2006/relationships/notesMaster" Target="/ppt/notesMasters/notesMaster1.xml" Id="R376c0da5efbe4c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开场先把题目立住：这一讲不是单讲某个优化算法，也不是简单介绍 AI for Science。我要讨论的是在 AI 时代，材料科学中的实验本身如何被重新理解、重新组织、重新加速。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Self-Driving Labs（自驱实验室，SDL）</a:t>
            </a:r>
          </a:p>
          <a:p xmlns:a="http://schemas.openxmlformats.org/drawingml/2006/main">
            <a:r>
              <a:t>- Design of Experiments（实验设计，DOE）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先把路径说清楚：今天不是从算法入手，而是从实验入手。先问实验在材料科学里是什么，再问传统方法论做了什么，最后才进入 SDL、真实案例和最小 live demo。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建议把这页讲成“路径声明”，而不是流程说明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先压住一个常见误解：这不是 AI 工具清单，也不是某种优化算法导论。更根本的问题是，当 AI 进入实验科学之后，实验本身的组织方式、节奏和判断链条发生了什么变化。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Human-in-the-loop（人在回路中）</a:t>
            </a:r>
          </a:p>
          <a:p xmlns:a="http://schemas.openxmlformats.org/drawingml/2006/main">
            <a:r>
              <a:t>- Human-on-the-loop（人在回路上）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Häse, F. et al. The future of self-driving laboratories: from human in the loop interactive AI to gamification. Digital Discovery 3, 2024. https://pubs.rsc.org/en/content/articlehtml/2024/dd/d4dd00040d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网站和 PPT 不是两套内容，而是同一讲座的两种介质。网站更适合看系统、案例和交互，PPT 更适合把问题、观点和证据链顺着讲清楚。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网站地址：https://sdl-lecture.vercel.app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先讲一个更根本的问题：实验在科学里到底处在什么位置。只有把这个问题讲清楚，后面关于 DOE、自动化和 SDL 的讨论才不会变成简单的工具崇拜。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本部分建议控制在 20–25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Kuhn, T. S. The Structure of Scientific Revolutions. University of Chicago Press, 1962/2012.</a:t>
            </a:r>
          </a:p>
          <a:p xmlns:a="http://schemas.openxmlformats.org/drawingml/2006/main">
            <a:r>
              <a:t>- Hey, T., Tansley, S., &amp; Tolle, K. (eds.) The Fourth Paradigm: Data-Intensive Scientific Discovery. Microsoft Research, 2009. https://www.microsoft.com/en-us/research/publication/fourth-paradigm-data-intensive-scientific-discovery/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先把一个判断说清楚：在材料科学里，实验不是理论后的确认动作，而是直接进入真实材料世界、制造对象、暴露异常和推动纠错的知识生产机制。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Materials Science and Engineering（材料科学与工程，MSE）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Hacking, I. Representing and Intervening. Cambridge University Press, 1983.</a:t>
            </a:r>
          </a:p>
          <a:p xmlns:a="http://schemas.openxmlformats.org/drawingml/2006/main">
            <a:r>
              <a:t>- Kuhn, T. S. The Structure of Scientific Revolutions. University of Chicago Press, 1962/2012.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后面讨论 SDL 时，真正的难点常常不在优化器，而在实验给出的观测到底是什么：是谱图、图像、曲线还是标量；这些观测能不能稳定、及时、低成本地进入决策回路。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measurement（观测）</a:t>
            </a:r>
          </a:p>
          <a:p xmlns:a="http://schemas.openxmlformats.org/drawingml/2006/main">
            <a:r>
              <a:t>- data modality（数据模态）</a:t>
            </a:r>
          </a:p>
          <a:p xmlns:a="http://schemas.openxmlformats.org/drawingml/2006/main">
            <a:r>
              <a:t>- high-dimensional observation（高维观测）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NIST Material Schema: Process. https://pages.nist.gov/material-schema/Process/</a:t>
            </a:r>
          </a:p>
          <a:p xmlns:a="http://schemas.openxmlformats.org/drawingml/2006/main">
            <a:r>
              <a:t>- EMMC CHADA / CHAMEO. https://emmc.eu/moda-chada/chada/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把这条链看清楚很重要：从问题提出、样品制备到表征、建模、判断和纠错，实验始终贯穿其中。SDL 改变的不是实验的存在，而是这条链的组织方式、速度和可追踪性。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可与 Process–Structure–Property–Performance（工艺–结构–性能–服役）主线关联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NIST Material Schema: Process. https://pages.nist.gov/material-schema/Process/</a:t>
            </a:r>
          </a:p>
          <a:p xmlns:a="http://schemas.openxmlformats.org/drawingml/2006/main">
            <a:r>
              <a:t>- Hacking, I. Representing and Intervening. Cambridge University Press, 1983.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今天之所以能认真讨论 SDL，不是因为某个模型突然更聪明，而是实验硬件、数据基础设施和模型驱动决策这三条线终于能在一个系统里接上，形成可运行闭环。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Closed-loop experimentation（闭环实验）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Hey, T., Tansley, S., &amp; Tolle, K. (eds.) The Fourth Paradigm: Data-Intensive Scientific Discovery. Microsoft Research, 2009. https://www.microsoft.com/en-us/research/publication/fourth-paradigm-data-intensive-scientific-discovery/</a:t>
            </a:r>
          </a:p>
          <a:p xmlns:a="http://schemas.openxmlformats.org/drawingml/2006/main">
            <a:r>
              <a:t>- Stach, E. A. et al. The rise of self-driving labs in chemical and materials sciences. Nature Synthesis 2, 2023. https://www.nature.com/articles/s44160-022-00231-0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这里真正重要的不是年份，而是知识生产机制的变化：观察、理论、计算、数据密集，再到模型进入行动链。所谓第五范式，如果这个说法成立，关键不在于‘有 AI’，而在于模型开始参与下一步实验。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Fourth Paradigm（第四范式）</a:t>
            </a:r>
          </a:p>
          <a:p xmlns:a="http://schemas.openxmlformats.org/drawingml/2006/main">
            <a:r>
              <a:t>- Fifth Paradigm（第五范式）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Kuhn, T. S. The Structure of Scientific Revolutions. University of Chicago Press, 1962/2012.</a:t>
            </a:r>
          </a:p>
          <a:p xmlns:a="http://schemas.openxmlformats.org/drawingml/2006/main">
            <a:r>
              <a:t>- Hey, T., Tansley, S., &amp; Tolle, K. (eds.) The Fourth Paradigm: Data-Intensive Scientific Discovery. Microsoft Research, 2009. https://www.microsoft.com/en-us/research/publication/fourth-paradigm-data-intensive-scientific-discovery/</a:t>
            </a:r>
          </a:p>
          <a:p xmlns:a="http://schemas.openxmlformats.org/drawingml/2006/main">
            <a:r>
              <a:t>- Stach, E. A. et al. The rise of self-driving labs in chemical and materials sciences. Nature Synthesis 2, 2023. https://www.nature.com/articles/s44160-022-00231-0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第四范式强调的是数据密集科学；第五范式常被用来指模型进一步进入行动链，不再只解释数据，而开始推荐下一步实验。这意味着实验从被观察对象，逐步变成被编排系统。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数据密集科学</a:t>
            </a:r>
          </a:p>
          <a:p xmlns:a="http://schemas.openxmlformats.org/drawingml/2006/main">
            <a:r>
              <a:t>- agentic workflow（代理式工作流）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Hey, T., Tansley, S., &amp; Tolle, K. (eds.) The Fourth Paradigm: Data-Intensive Scientific Discovery. Microsoft Research, 2009. https://www.microsoft.com/en-us/research/publication/fourth-paradigm-data-intensive-scientific-discovery/</a:t>
            </a:r>
          </a:p>
          <a:p xmlns:a="http://schemas.openxmlformats.org/drawingml/2006/main">
            <a:r>
              <a:t>- Häse, F. et al. The future of self-driving laboratories: from human in the loop interactive AI to gamification. Digital Discovery 3, 2024. https://pubs.rsc.org/en/content/articlehtml/2024/dd/d4dd00040d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一个容易被误解的地方在这里：范式变化并不意味着实验越来越不重要。恰恰相反，实验在新范式中更频繁、更系统，也更需要被清晰定义、严格记录和持续监督。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可与下一页“旧范式并未消失”连讲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Kuhn, T. S. The Structure of Scientific Revolutions. University of Chicago Press, 1962/2012.</a:t>
            </a:r>
          </a:p>
          <a:p xmlns:a="http://schemas.openxmlformats.org/drawingml/2006/main">
            <a:r>
              <a:t>- Hey, T., Tansley, S., &amp; Tolle, K. (eds.) The Fourth Paradigm: Data-Intensive Scientific Discovery. Microsoft Research, 2009. https://www.microsoft.com/en-us/research/publication/fourth-paradigm-data-intensive-scientific-discovery/</a:t>
            </a:r>
          </a:p>
          <a:p xmlns:a="http://schemas.openxmlformats.org/drawingml/2006/main">
            <a:r>
              <a:t>- Häse, F. et al. The future of self-driving laboratories: from human in the loop interactive AI to gamification. Digital Discovery 3, 2024. https://pubs.rsc.org/en/content/articlehtml/2024/dd/d4dd00040d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更稳妥的讲法不是‘新范式取代旧范式’，而是旧范式被重新组织：经验仍然重要，理论仍然提供约束，计算仍然参与筛选，只是现在它们被接入了一个更强的数据化和闭环化系统。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这页可直接回应“旧范式会不会死”这一类问题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Kuhn, T. S. The Structure of Scientific Revolutions. University of Chicago Press, 1962/2012.</a:t>
            </a:r>
          </a:p>
          <a:p xmlns:a="http://schemas.openxmlformats.org/drawingml/2006/main">
            <a:r>
              <a:t>- Hey, T., Tansley, S., &amp; Tolle, K. (eds.) The Fourth Paradigm: Data-Intensive Scientific Discovery. Microsoft Research, 2009. https://www.microsoft.com/en-us/research/publication/fourth-paradigm-data-intensive-scientific-discovery/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这里开始转向另一类问题：传统研究常把重点放在解释已有结果；到 SDL 这里，重点开始前移到下一轮实验如何被设计、被推荐、被执行。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建议此页稍停顿，作为章节转场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这一部分换一个视角来组织材料科学：不是按金属、陶瓷或半导体分，而是按实验类型分。这样更容易看清实验输出、方法选择和 SDL 适配度之间的关系。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taxonomy（分类框架）</a:t>
            </a:r>
          </a:p>
          <a:p xmlns:a="http://schemas.openxmlformats.org/drawingml/2006/main">
            <a:r>
              <a:t>- catalog（目录学）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NIST Material Schema: Process. https://pages.nist.gov/material-schema/Process/</a:t>
            </a:r>
          </a:p>
          <a:p xmlns:a="http://schemas.openxmlformats.org/drawingml/2006/main">
            <a:r>
              <a:t>- EMMC CHADA / CHAMEO. https://emmc.eu/moda-chada/chada/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这一页可以看成全讲的骨架图：实验不是孤立动作，而是连接问题、样品、观测、数据、模型和决策的中心节点。后面讲 SDL，本质上就是在改造这张网里若干关键连接。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objective / measurement / decision 三者需要当场区分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NIST Material Schema: Process. https://pages.nist.gov/material-schema/Process/</a:t>
            </a:r>
          </a:p>
          <a:p xmlns:a="http://schemas.openxmlformats.org/drawingml/2006/main">
            <a:r>
              <a:t>- EMMC CHADA / CHAMEO. https://emmc.eu/moda-chada/chada/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这八类实验不是互斥的，而是从实验目的出发的组织方式。这样分类的最大好处，是能直接连接到输出数据类型和 SDL 适配度，而不是停留在学科目录层面。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NIST Material Schemas（美国国家标准与技术研究院材料模式）提供了重要启发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NIST Material Schema: Process. https://pages.nist.gov/material-schema/Process/</a:t>
            </a:r>
          </a:p>
          <a:p xmlns:a="http://schemas.openxmlformats.org/drawingml/2006/main">
            <a:r>
              <a:t>- EMMC CHADA / CHAMEO. https://emmc.eu/moda-chada/chada/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前四类可以连成材料研究的上半程：先把样品做出来，再通过加工把状态调到合适区间，再通过表征知道它是什么，再通过测量知道它具有什么性质。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CVD（Chemical Vapor Deposition，化学气相沉积）</a:t>
            </a:r>
          </a:p>
          <a:p xmlns:a="http://schemas.openxmlformats.org/drawingml/2006/main">
            <a:r>
              <a:t>- PVD（Physical Vapor Deposition，物理气相沉积）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NIST Material Schema: Process. https://pages.nist.gov/material-schema/Process/</a:t>
            </a:r>
          </a:p>
          <a:p xmlns:a="http://schemas.openxmlformats.org/drawingml/2006/main">
            <a:r>
              <a:t>- EMMC CHADA / CHAMEO. https://emmc.eu/moda-chada/chada/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后四类提醒我们，优化不是终点。功能、可靠性、计量和校准共同决定结果是否可信。SDL 如果只会加速试验，而不管校准和失效，最后很容易跑得快但结论不稳。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active learning（主动学习）</a:t>
            </a:r>
          </a:p>
          <a:p xmlns:a="http://schemas.openxmlformats.org/drawingml/2006/main">
            <a:r>
              <a:t>- high-throughput experimentation（高通量实验）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NIST Material Schema: Process. https://pages.nist.gov/material-schema/Process/</a:t>
            </a:r>
          </a:p>
          <a:p xmlns:a="http://schemas.openxmlformats.org/drawingml/2006/main">
            <a:r>
              <a:t>- EMMC CHADA / CHAMEO. https://emmc.eu/moda-chada/chada/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这里要把讨论从“优化一个分数”拉出来。真实实验输出可能是谱图、图像、曲线或寿命分布；SDL 的一个核心难点，就是如何把这些复杂观测转成可比较、可决策的对象。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observation model（观测模型）</a:t>
            </a:r>
          </a:p>
          <a:p xmlns:a="http://schemas.openxmlformats.org/drawingml/2006/main">
            <a:r>
              <a:t>- objective function（目标函数）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NIST Material Schema: Process. https://pages.nist.gov/material-schema/Process/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这里先把一个误解拿掉：SDL 不是从天而降的新大陆。它和试错法、DOE 有明确的历史连续性，只是把实验设计、数据更新和推荐机制推进到了新的组织层级。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试错法、启发式方法、DOE（实验设计）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Fisher, R. A. The Design of Experiments. Oliver &amp; Boyd, 1935.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Desimpel, R. et al. Bayesian optimization for chemical reactions. Chemical Society Reviews 55, 2026. https://pubs.rsc.org/en/content/articlehtml/2026/cs/d5cs00962f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试错法长期存在，不是因为大家不懂方法，而是因为经验、直觉和局部反馈在很多实验里确实有用。它的问题不在于低级，而在于面对高维、昂贵、多约束问题时很难扩展。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heuristics（启发式方法）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Montgomery, D. C. Design and Analysis of Experiments. Wiley, 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如果只把 DOE 讲成几种表格和设计点，那就低估了它。它真正建立的是一种实验方法论：怎样在有限预算里有计划地学习系统。这一点和今天 SDL 的很多思想其实是连着的。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R. A. Fisher（费舍尔）</a:t>
            </a:r>
          </a:p>
          <a:p xmlns:a="http://schemas.openxmlformats.org/drawingml/2006/main">
            <a:r>
              <a:t>- George Box（乔治·博克斯）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Fisher, R. A. The Design of Experiments. Oliver &amp; Boyd, 1935.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Montgomery, D. C. Design and Analysis of Experiments. Wiley, 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DOE 的根本贡献不是省几个点，而是把实验设计本身变成可推理对象。它关心的不只是结果，更关心为什么这样采样、哪些因素重要、哪些交互值得追踪。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Box–Behnken design（Box–Behnken 设计）</a:t>
            </a:r>
          </a:p>
          <a:p xmlns:a="http://schemas.openxmlformats.org/drawingml/2006/main">
            <a:r>
              <a:t>- Response Surface Methodology（响应面方法）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Montgomery, D. C. Design and Analysis of Experiments. Wiley, 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这里最重要的是阶段感。筛选阶段、建模阶段和局部优化阶段面对的问题并不一样，所以用的 DOE 也不一样。方法要跟着问题走，而不是先抱住某个设计名词。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factor screening（因素筛选）</a:t>
            </a:r>
          </a:p>
          <a:p xmlns:a="http://schemas.openxmlformats.org/drawingml/2006/main">
            <a:r>
              <a:t>- response surface（响应面）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Montgomery, D. C. Design and Analysis of Experiments. Wiley, 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这六个词看起来基础，但后面 SDL 里的 objective、constraint、measurement、parameter space 都建立在这里。如果这里不分清，后面就很容易把响应和目标、变量和约束混为一谈。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factor（因素）</a:t>
            </a:r>
          </a:p>
          <a:p xmlns:a="http://schemas.openxmlformats.org/drawingml/2006/main">
            <a:r>
              <a:t>- response（响应）</a:t>
            </a:r>
          </a:p>
          <a:p xmlns:a="http://schemas.openxmlformats.org/drawingml/2006/main">
            <a:r>
              <a:t>- constraint（约束）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Fisher, R. A. The Design of Experiments. Oliver &amp; Boyd, 1935.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Montgomery, D. C. Design and Analysis of Experiments. Wiley, 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更接近真实研究现场的讲法不是高下之分，而是连续谱：先靠经验摸边界，再用 DOE 组织设计，最后才在最昂贵、最关键的那段空间里上 SDL。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不要把 SDL 讲成“万能替代者”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Montgomery, D. C. Design and Analysis of Experiments. Wiley, 2017.</a:t>
            </a:r>
          </a:p>
          <a:p xmlns:a="http://schemas.openxmlformats.org/drawingml/2006/main">
            <a:r>
              <a:t>- Desimpel, R. et al. Bayesian optimization for chemical reactions. Chemical Society Reviews 55, 2026. https://pubs.rsc.org/en/content/articlehtml/2026/cs/d5cs00962f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如果只用一句话概括这条方法论演化线，我会说：变化最大的是下一步实验的提出机制。从人提出、到设计提出、再到模型在闭环中提出，这改变了实验决策的来源与依据。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next experiment recommendation（下一实验推荐）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Shahriari, B. et al. Taking the Human Out of the Loop: A Review of Bayesian Optimization. Proceedings of the IEEE 104(1), 2016.</a:t>
            </a:r>
          </a:p>
          <a:p xmlns:a="http://schemas.openxmlformats.org/drawingml/2006/main">
            <a:r>
              <a:t>- Desimpel, R. et al. Bayesian optimization for chemical reactions. Chemical Society Reviews 55, 2026. https://pubs.rsc.org/en/content/articlehtml/2026/cs/d5cs00962f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更成熟的说法不是 DOE 会不会死，而是 DOE 会以什么方式继续存在。答案通常是三种：串联、并联和集成。很多高质量 SDL 工作流，内部本来就吸收了 DOE 的语言和初始化策略。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这页可直接回应“AI 时代 DOE 是否过时”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Fisher, R. A. The Design of Experiments. Oliver &amp; Boyd, 1935.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Desimpel, R. et al. Bayesian optimization for chemical reactions. Chemical Society Reviews 55, 2026. https://pubs.rsc.org/en/content/articlehtml/2026/cs/d5cs00962f</a:t>
            </a:r>
          </a:p>
          <a:p xmlns:a="http://schemas.openxmlformats.org/drawingml/2006/main">
            <a:r>
              <a:t>- Shahriari, B. et al. Taking the Human Out of the Loop: A Review of Bayesian Optimization. Proceedings of the IEEE 104(1), 2016.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从这里开始，重点不再是某个模型名字，而是一个可运行的实验闭环怎样由软件、硬件、数据、模型和人类监督共同构成。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Self-Driving Labs（自驱实验室，SDL）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  <a:p xmlns:a="http://schemas.openxmlformats.org/drawingml/2006/main">
            <a:r>
              <a:t>- Stach, E. A. et al. The rise of self-driving labs in chemical and materials sciences. Nature Synthesis 2, 2023. https://www.nature.com/articles/s44160-022-00231-0</a:t>
            </a:r>
          </a:p>
          <a:p xmlns:a="http://schemas.openxmlformats.org/drawingml/2006/main">
            <a:r>
              <a:t>- Häse, F. et al. The future of self-driving laboratories: from human in the loop interactive AI to gamification. Digital Discovery 3, 2024. https://pubs.rsc.org/en/content/articlehtml/2024/dd/d4dd00040d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在进入 A-Lab 之前，最好先看一眼 SDL 的全景。这个领域横跨化学反应优化、材料合成、自动化编排和低成本平台。A-Lab 是其中很重要的一支，但不是唯一叙事。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ChemOS（自动化实验编排平台）</a:t>
            </a:r>
          </a:p>
          <a:p xmlns:a="http://schemas.openxmlformats.org/drawingml/2006/main">
            <a:r>
              <a:t>- frugal twin（低成本孪生）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  <a:p xmlns:a="http://schemas.openxmlformats.org/drawingml/2006/main">
            <a:r>
              <a:t>- Stach, E. A. et al. The rise of self-driving labs in chemical and materials sciences. Nature Synthesis 2, 2023. https://www.nature.com/articles/s44160-022-00231-0</a:t>
            </a:r>
          </a:p>
          <a:p xmlns:a="http://schemas.openxmlformats.org/drawingml/2006/main">
            <a:r>
              <a:t>- Häse, F. et al. The future of self-driving laboratories: from human in the loop interactive AI to gamification. Digital Discovery 3, 2024. https://pubs.rsc.org/en/content/articlehtml/2024/dd/d4dd00040d</a:t>
            </a:r>
          </a:p>
          <a:p xmlns:a="http://schemas.openxmlformats.org/drawingml/2006/main">
            <a:r>
              <a:t>- Aguilar-Granda, A. et al. Review of low-cost self-driving laboratories in chemistry and materials science: the 'frugal twin' concept. Digital Discovery 3, 2024. https://pubs.rsc.org/en/content/articlehtml/2024/dd/d3dd00223c</a:t>
            </a:r>
          </a:p>
          <a:p xmlns:a="http://schemas.openxmlformats.org/drawingml/2006/main">
            <a:r>
              <a:t>- Autonomous laboratories for accelerated materials discovery: a community survey and practical insights. Digital Discovery, 2024. https://pubs.rsc.org/en/content/articlelanding/2024/dd/d4dd00059e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把 SDL 理解成‘用机器学习做实验预测’是不够的。真正的 SDL 一定要进入闭环：模型不仅分析结果，还参与下一步行动，而且这个行动能被执行、被观测、被验证。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closed-loop experimentation（闭环实验）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  <a:p xmlns:a="http://schemas.openxmlformats.org/drawingml/2006/main">
            <a:r>
              <a:t>- Stach, E. A. et al. The rise of self-driving labs in chemical and materials sciences. Nature Synthesis 2, 2023. https://www.nature.com/articles/s44160-022-00231-0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这一页其实就是后面看 Case Studio 的认知模板。只要把这五步记住，后面看到推荐点变化时，就不会把那理解成黑箱魔法，而会知道闭环到底在做什么。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exploration vs exploitation（探索与利用）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  <a:p xmlns:a="http://schemas.openxmlformats.org/drawingml/2006/main">
            <a:r>
              <a:t>- Shahriari, B. et al. Taking the Human Out of the Loop: A Review of Bayesian Optimization. Proceedings of the IEEE 104(1), 2016.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这三个概念一定要分开：目标不一定能直接测，约束也不是附属条件，测量更不等于最终目标。很多高质量 SDL 设计，首先赢在这三者分得清楚。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objective（目标）</a:t>
            </a:r>
          </a:p>
          <a:p xmlns:a="http://schemas.openxmlformats.org/drawingml/2006/main">
            <a:r>
              <a:t>- constraint（约束）</a:t>
            </a:r>
          </a:p>
          <a:p xmlns:a="http://schemas.openxmlformats.org/drawingml/2006/main">
            <a:r>
              <a:t>- measurement（测量）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  <a:p xmlns:a="http://schemas.openxmlformats.org/drawingml/2006/main">
            <a:r>
              <a:t>- NIST Material Schema: Process. https://pages.nist.gov/material-schema/Process/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这三者的关系可以讲得很清楚：代理模型负责形成当前知识地图，不确定性负责标出盲区，采集函数负责把目标和盲区综合成下一步行动。三者合起来，才构成推荐逻辑。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Gaussian Process（高斯过程，GP）</a:t>
            </a:r>
          </a:p>
          <a:p xmlns:a="http://schemas.openxmlformats.org/drawingml/2006/main">
            <a:r>
              <a:t>- Expected Improvement（期望提升，EI）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Shahriari, B. et al. Taking the Human Out of the Loop: A Review of Bayesian Optimization. Proceedings of the IEEE 104(1), 2016.</a:t>
            </a:r>
          </a:p>
          <a:p xmlns:a="http://schemas.openxmlformats.org/drawingml/2006/main">
            <a:r>
              <a:t>- Desimpel, R. et al. Bayesian optimization for chemical reactions. Chemical Society Reviews 55, 2026. https://pubs.rsc.org/en/content/articlehtml/2026/cs/d5cs00962f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代理模型怎么选，不是看流行什么，而是看实验空间、数据量、变量类型和先验知识。小样本昂贵实验常偏好 GP，高维复杂观测则可能转向深模型或混合模型。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surrogate model selection（代理模型选择）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Shahriari, B. et al. Taking the Human Out of the Loop: A Review of Bayesian Optimization. Proceedings of the IEEE 104(1), 2016.</a:t>
            </a:r>
          </a:p>
          <a:p xmlns:a="http://schemas.openxmlformats.org/drawingml/2006/main">
            <a:r>
              <a:t>- Desimpel, R. et al. Bayesian optimization for chemical reactions. Chemical Society Reviews 55, 2026. https://pubs.rsc.org/en/content/articlehtml/2026/cs/d5cs00962f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这里最重要的一句是：好的 SDL 不只是预测准，而是知道自己哪里不准。不确定性之所以重要，不是哲学上的谦虚，而是它直接决定实验预算如何被分配。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posterior variance（后验方差）</a:t>
            </a:r>
          </a:p>
          <a:p xmlns:a="http://schemas.openxmlformats.org/drawingml/2006/main">
            <a:r>
              <a:t>- calibration（校准）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Shahriari, B. et al. Taking the Human Out of the Loop: A Review of Bayesian Optimization. Proceedings of the IEEE 104(1), 2016.</a:t>
            </a:r>
          </a:p>
          <a:p xmlns:a="http://schemas.openxmlformats.org/drawingml/2006/main">
            <a:r>
              <a:t>- Desimpel, R. et al. Bayesian optimization for chemical reactions. Chemical Society Reviews 55, 2026. https://pubs.rsc.org/en/content/articlehtml/2026/cs/d5cs00962f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采集函数不是固定菜单。它本质上编码的是方法论偏好：你想更快吃到当前最优，还是更愿意花预算去降低认知盲区。不同项目，答案并不一样。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Expected Improvement（期望提升）</a:t>
            </a:r>
          </a:p>
          <a:p xmlns:a="http://schemas.openxmlformats.org/drawingml/2006/main">
            <a:r>
              <a:t>- Upper Confidence Bound（上置信界）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Shahriari, B. et al. Taking the Human Out of the Loop: A Review of Bayesian Optimization. Proceedings of the IEEE 104(1), 2016.</a:t>
            </a:r>
          </a:p>
          <a:p xmlns:a="http://schemas.openxmlformats.org/drawingml/2006/main">
            <a:r>
              <a:t>- Desimpel, R. et al. Bayesian optimization for chemical reactions. Chemical Society Reviews 55, 2026. https://pubs.rsc.org/en/content/articlehtml/2026/cs/d5cs00962f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如果从成本和效率的角度看，SDL 的价值会更清楚：当实验贵、慢、噪声大时，真正重要的不是多做，而是每一步都更会做。序贯学习和显式不确定性正是在这里体现优势。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forward model（前向模型）</a:t>
            </a:r>
          </a:p>
          <a:p xmlns:a="http://schemas.openxmlformats.org/drawingml/2006/main">
            <a:r>
              <a:t>- simulator（模拟器）</a:t>
            </a:r>
          </a:p>
          <a:p xmlns:a="http://schemas.openxmlformats.org/drawingml/2006/main">
            <a:r>
              <a:t>- experimental emulator（实验仿真器）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Desimpel, R. et al. Bayesian optimization for chemical reactions. Chemical Society Reviews 55, 2026. https://pubs.rsc.org/en/content/articlehtml/2026/cs/d5cs00962f</a:t>
            </a:r>
          </a:p>
          <a:p xmlns:a="http://schemas.openxmlformats.org/drawingml/2006/main">
            <a:r>
              <a:t>- Aguilar-Granda, A. et al. Review of low-cost self-driving laboratories in chemistry and materials science: the 'frugal twin' concept. Digital Discovery 3, 2024. https://pubs.rsc.org/en/content/articlehtml/2024/dd/d3dd00223c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这里要避免把人类角色只讲成伦理兜底。更重要的是，研究问题的提出、异常的识别、机制的想象和结论的负责，今天依然主要来自人。这决定了高质量 SDL 必然是强人机协作系统。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Human-in-the-loop</a:t>
            </a:r>
          </a:p>
          <a:p xmlns:a="http://schemas.openxmlformats.org/drawingml/2006/main">
            <a:r>
              <a:t>- Human-on-the-loop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Häse, F. et al. The future of self-driving laboratories: from human in the loop interactive AI to gamification. Digital Discovery 3, 2024. https://pubs.rsc.org/en/content/articlehtml/2024/dd/d4dd00040d</a:t>
            </a:r>
          </a:p>
          <a:p xmlns:a="http://schemas.openxmlformats.org/drawingml/2006/main">
            <a:r>
              <a:t>- Autonomous laboratories for accelerated materials discovery: a community survey and practical insights. Digital Discovery, 2024. https://pubs.rsc.org/en/content/articlelanding/2024/dd/d4dd00059e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SDL 不是所有实验问题的默认答案。它更适合那些可自动化、可标准化、可快速观测、目标与约束较清楚的问题；反之，它也会有明显边界。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feasibility（可行性）</a:t>
            </a:r>
          </a:p>
          <a:p xmlns:a="http://schemas.openxmlformats.org/drawingml/2006/main">
            <a:r>
              <a:t>- throughput（吞吐量）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  <a:p xmlns:a="http://schemas.openxmlformats.org/drawingml/2006/main">
            <a:r>
              <a:t>- Autonomous laboratories for accelerated materials discovery: a community survey and practical insights. Digital Discovery, 2024. https://pubs.rsc.org/en/content/articlelanding/2024/dd/d4dd00059e</a:t>
            </a:r>
          </a:p>
          <a:p xmlns:a="http://schemas.openxmlformats.org/drawingml/2006/main">
            <a:r>
              <a:t>- Aguilar-Granda, A. et al. Review of low-cost self-driving laboratories in chemistry and materials science: the 'frugal twin' concept. Digital Discovery 3, 2024. https://pubs.rsc.org/en/content/articlehtml/2024/dd/d3dd00223c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先把全景摆出来，再进入 A-Lab。这样学生会知道：A-Lab 之所以值得讲，是因为它处在 SDL 地图中的一个关键位置，而不是因为它垄断了整个领域叙事。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ChemOS（实验编排平台）</a:t>
            </a:r>
          </a:p>
          <a:p xmlns:a="http://schemas.openxmlformats.org/drawingml/2006/main">
            <a:r>
              <a:t>- AFL（Autonomous Formulation Lab，自治配方实验室）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  <a:p xmlns:a="http://schemas.openxmlformats.org/drawingml/2006/main">
            <a:r>
              <a:t>- NIST Autonomous Formulation Lab. https://www.nist.gov/node/1895811</a:t>
            </a:r>
          </a:p>
          <a:p xmlns:a="http://schemas.openxmlformats.org/drawingml/2006/main">
            <a:r>
              <a:t>- Aguilar-Granda, A. et al. Review of low-cost self-driving laboratories in chemistry and materials science: the 'frugal twin' concept. Digital Discovery 3, 2024. https://pubs.rsc.org/en/content/articlehtml/2024/dd/d3dd00223c</a:t>
            </a:r>
          </a:p>
          <a:p xmlns:a="http://schemas.openxmlformats.org/drawingml/2006/main">
            <a:r>
              <a:t>- Autonomous laboratories for accelerated materials discovery: a community survey and practical insights. Digital Discovery, 2024. https://pubs.rsc.org/en/content/articlelanding/2024/dd/d4dd00059e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现在把视角收窄到一个具体案例。A-Lab 值得讲，不只是因为它把自治实验系统做得很完整，也因为它在高关注度之下经历了质疑、复查和修正。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A-Lab（自治实验室）</a:t>
            </a:r>
          </a:p>
          <a:p xmlns:a="http://schemas.openxmlformats.org/drawingml/2006/main">
            <a:r>
              <a:t>- Nature 2023 论文与后续修正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Szymanski, N. J. et al. An autonomous laboratory for the accelerated synthesis of inorganic materials. Nature 624, 2023. https://www.nature.com/articles/s41586-023-06734-w</a:t>
            </a:r>
          </a:p>
          <a:p xmlns:a="http://schemas.openxmlformats.org/drawingml/2006/main">
            <a:r>
              <a:t>- Nature News: Robot chemist sparks row with claim it created new materials, 2023. https://www.nature.com/articles/d41586-023-03956-w</a:t>
            </a:r>
          </a:p>
          <a:p xmlns:a="http://schemas.openxmlformats.org/drawingml/2006/main">
            <a:r>
              <a:t>- Chemistry World: New analysis raises doubts over autonomous lab's materials 'discoveries', 2024. https://www.chemistryworld.com/news/new-analysis-raises-doubts-over-autonomous-labs-materials-discoveries/4018791.article</a:t>
            </a:r>
          </a:p>
          <a:p xmlns:a="http://schemas.openxmlformats.org/drawingml/2006/main">
            <a:r>
              <a:t>- C&amp;EN: 'Nature' robot chemist paper corrected, but some questions remain unanswered, 2026. https://cen.acs.org/research-integrity/Nature-robot-chemist-paper-corrected/104/web/2026/01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A-Lab 的代表性，在于它很完整。它把目标筛选、自动执行、表征和决策连成一条链，因此适合用来观察真实 SDL 系统究竟长什么样，而不仅仅是看某个模型名字。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XRD（X-ray Diffraction，X射线衍射）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Szymanski, N. J. et al. An autonomous laboratory for the accelerated synthesis of inorganic materials. Nature 624, 2023. https://www.nature.com/articles/s41586-023-06734-w</a:t>
            </a:r>
          </a:p>
          <a:p xmlns:a="http://schemas.openxmlformats.org/drawingml/2006/main">
            <a:r>
              <a:t>- Berkeley Lab News: Meet the Autonomous Lab of the Future, 2023. https://newscenter.lbl.gov/2023/04/17/meet-the-autonomous-lab-of-the-future/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真正的 SDL 系统一定是分层的。你可以质疑其中某一层做得是否足够好，但不能把整个系统简化成一个模型名字。A-Lab 的代表性，正在于这些层被明确接进了同一流程。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Materials Project（材料项目数据库）</a:t>
            </a:r>
          </a:p>
          <a:p xmlns:a="http://schemas.openxmlformats.org/drawingml/2006/main">
            <a:r>
              <a:t>- ML-assisted phase identification（机器学习辅助相鉴定）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Szymanski, N. J. et al. An autonomous laboratory for the accelerated synthesis of inorganic materials. Nature 624, 2023. https://www.nature.com/articles/s41586-023-06734-w</a:t>
            </a:r>
          </a:p>
          <a:p xmlns:a="http://schemas.openxmlformats.org/drawingml/2006/main">
            <a:r>
              <a:t>- Berkeley Lab News: Meet the Autonomous Lab of the Future, 2023. https://newscenter.lbl.gov/2023/04/17/meet-the-autonomous-lab-of-the-future/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A-Lab 的一个关键策略，是先缩空间，再进实验。这个逻辑很常见，也很合理；但它的风险同样明显：如果前端筛选假设有系统偏差，后端自动化就会高效放大这种偏差。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thermodynamic stability（热力学稳定性）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Szymanski, N. J. et al. An autonomous laboratory for the accelerated synthesis of inorganic materials. Nature 624, 2023. https://www.nature.com/articles/s41586-023-06734-w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这里不要把数字讲成奖状，而要讲成案例事实。A-Lab 受到高度关注，确实与它报告的速度和成功率有关；但这些数字只是故事的一部分，不是故事的结论。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Nature 624 (2023)</a:t>
            </a:r>
          </a:p>
          <a:p xmlns:a="http://schemas.openxmlformats.org/drawingml/2006/main">
            <a:r>
              <a:t>- 需区分 target-level 与 recipe-level 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Szymanski, N. J. et al. An autonomous laboratory for the accelerated synthesis of inorganic materials. Nature 624, 2023. https://www.nature.com/articles/s41586-023-06734-w</a:t>
            </a:r>
          </a:p>
          <a:p xmlns:a="http://schemas.openxmlformats.org/drawingml/2006/main">
            <a:r>
              <a:t>- Nature News: Robot chemist sparks row with claim it created new materials, 2023. https://www.nature.com/articles/d41586-023-03956-w</a:t>
            </a:r>
          </a:p>
          <a:p xmlns:a="http://schemas.openxmlformats.org/drawingml/2006/main">
            <a:r>
              <a:t>- Chemistry World: New analysis raises doubts over autonomous lab's materials 'discoveries', 2024. https://www.chemistryworld.com/news/new-analysis-raises-doubts-over-autonomous-labs-materials-discoveries/4018791.article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把 A-Lab 放回时间线里看，才能避免把它讲成静态海报。更值得关注的是：一个高影响力 SDL 结果如何被传播、被质疑、被重新界定，又如何在社群中被更严谨地理解。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scientific self-correction（科学自我纠错）</a:t>
            </a:r>
          </a:p>
          <a:p xmlns:a="http://schemas.openxmlformats.org/drawingml/2006/main">
            <a:r>
              <a:t>- claim auditing（声称审计）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Szymanski, N. J. et al. An autonomous laboratory for the accelerated synthesis of inorganic materials. Nature 624, 2023. https://www.nature.com/articles/s41586-023-06734-w</a:t>
            </a:r>
          </a:p>
          <a:p xmlns:a="http://schemas.openxmlformats.org/drawingml/2006/main">
            <a:r>
              <a:t>- Nature News: Robot chemist sparks row with claim it created new materials, 2023. https://www.nature.com/articles/d41586-023-03956-w</a:t>
            </a:r>
          </a:p>
          <a:p xmlns:a="http://schemas.openxmlformats.org/drawingml/2006/main">
            <a:r>
              <a:t>- Chemistry World: New analysis raises doubts over autonomous lab's materials 'discoveries', 2024. https://www.chemistryworld.com/news/new-analysis-raises-doubts-over-autonomous-labs-materials-discoveries/4018791.article</a:t>
            </a:r>
          </a:p>
          <a:p xmlns:a="http://schemas.openxmlformats.org/drawingml/2006/main">
            <a:r>
              <a:t>- C&amp;EN: 'Nature' robot chemist paper corrected, but some questions remain unanswered, 2026. https://cen.acs.org/research-integrity/Nature-robot-chemist-paper-corrected/104/web/2026/01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如果把 A-Lab 当成英雄叙事，就学不到最重要的东西。更值得学的是：科研共同体如何质疑、复查和修正一个高影响力结果。这恰好说明，SDL 越强，越需要严格的人类验证与定义审计。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ChemRxiv 2024 独立再分析</a:t>
            </a:r>
          </a:p>
          <a:p xmlns:a="http://schemas.openxmlformats.org/drawingml/2006/main">
            <a:r>
              <a:t>- C&amp;EN 2026 关于更正的报道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Szymanski, N. J. et al. An autonomous laboratory for the accelerated synthesis of inorganic materials. Nature 624, 2023. https://www.nature.com/articles/s41586-023-06734-w</a:t>
            </a:r>
          </a:p>
          <a:p xmlns:a="http://schemas.openxmlformats.org/drawingml/2006/main">
            <a:r>
              <a:t>- Chemistry World: New analysis raises doubts over autonomous lab's materials 'discoveries', 2024. https://www.chemistryworld.com/news/new-analysis-raises-doubts-over-autonomous-labs-materials-discoveries/4018791.article</a:t>
            </a:r>
          </a:p>
          <a:p xmlns:a="http://schemas.openxmlformats.org/drawingml/2006/main">
            <a:r>
              <a:t>- C&amp;EN: 'Nature' robot chemist paper corrected, but some questions remain unanswered, 2026. https://cen.acs.org/research-integrity/Nature-robot-chemist-paper-corrected/104/web/2026/01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A-Lab 这一章真正值得带走的，不是几个漂亮数字，而是一套判断自治实验系统的框架：系统结构、观测可信度、定义边界、人类验证，以及发现口径是否足够严格。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可作为 A-Lab 章节的收束页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Szymanski, N. J. et al. An autonomous laboratory for the accelerated synthesis of inorganic materials. Nature 624, 2023. https://www.nature.com/articles/s41586-023-06734-w</a:t>
            </a:r>
          </a:p>
          <a:p xmlns:a="http://schemas.openxmlformats.org/drawingml/2006/main">
            <a:r>
              <a:t>- Chemistry World: New analysis raises doubts over autonomous lab's materials 'discoveries', 2024. https://www.chemistryworld.com/news/new-analysis-raises-doubts-over-autonomous-labs-materials-discoveries/4018791.article</a:t>
            </a:r>
          </a:p>
          <a:p xmlns:a="http://schemas.openxmlformats.org/drawingml/2006/main">
            <a:r>
              <a:t>- C&amp;EN: 'Nature' robot chemist paper corrected, but some questions remain unanswered, 2026. https://cen.acs.org/research-integrity/Nature-robot-chemist-paper-corrected/104/web/2026/01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最后回到一个最小 live demo。真实系统当然更复杂，但在复杂性之前，先把闭环结构讲清楚更重要：目标、观测、更新、推荐到底是如何串起来的。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benchmark case（基准案例）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RGB LED 这个案例的价值，不在科研深度，而在教学透明度。它把目标颜色、当前最好结果和下一推荐点放在同一屏里，学生可以立即看到闭环在做什么。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PWM（Pulse Width Modulation，脉宽调制）</a:t>
            </a:r>
          </a:p>
          <a:p xmlns:a="http://schemas.openxmlformats.org/drawingml/2006/main">
            <a:r>
              <a:t>- seeded reproducibility（固定种子复现实验）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这页把 live demo 说透。参数、观测、评分、推荐四个环节都清楚，所以学生能直观看到‘下一步为什么是这个点’。这是它比很多黑箱 demo 更适合教学的地方。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match score（匹配分数）</a:t>
            </a:r>
          </a:p>
          <a:p xmlns:a="http://schemas.openxmlformats.org/drawingml/2006/main">
            <a:r>
              <a:t>- recommendation logic（推荐逻辑）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live demo 最怕变成‘看按钮点了几下，数字变好了’。真正应该让学生看的，是推荐逻辑怎样随着观测更新而变化，以及同样的初始条件下，这套系统是否可复现。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seed（随机种子）</a:t>
            </a:r>
          </a:p>
          <a:p xmlns:a="http://schemas.openxmlformats.org/drawingml/2006/main">
            <a:r>
              <a:t>- reset / replay（复位 / 重放）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最后一部分不是重复总结，而是把前面所有内容收束成几条判断。学生不需要记住每个案例细节，但应带走对实验、方法论和 SDL 的整体认识框架。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三条结论里，第一条讲对象，第二条讲历史，第三条讲标准。也就是说，我们既要知道 SDL 来自哪里，也要知道怎样判断一个 SDL 系统是否真的站得住。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scientific rigor（科学严谨性）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这一页把我们的价值立场讲出来：我们不把 AI 神化，也不把它妖魔化。最重要的是让学生形成一种成熟的人机协作观：既能借力，也能质疑，既会使用，也能负责。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responsible AI（负责任的 AI）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如果学生能带走这四件事，这场讲座就值了。尤其是最后两条：识别哪些问题适合 SDL，和对真实系统保持判断能力。这比记住几个术语更重要。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最后告诉学生，网站不是讲座结束后就无关了。它是课程的入口，也是案例和 demo 的继续学习平台。讲座结束之后，学生仍然可以从网站回到今天的主线继续理解。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网站：sdl-lecture.vercel.app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我会用这句话收尾：关键不在于把实验交给机器，而在于如何让机器进入负责任的科学工作流。然后进入问答，优先接学生对适用边界、案例可信度和课题迁移的提问。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78f0009cdc4a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ca70cc21f14c9f" /><Relationship Type="http://schemas.openxmlformats.org/officeDocument/2006/relationships/slideLayout" Target="/ppt/slideLayouts/slideLayout1.xml" Id="Rbec508c409f54b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c508c409f54b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ebbb9b87e4351" /><Relationship Type="http://schemas.openxmlformats.org/officeDocument/2006/relationships/notesSlide" Target="/ppt/notesSlides/notesSlide1.xml" Id="Rf5b10934508247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c722c01844119" /><Relationship Type="http://schemas.openxmlformats.org/officeDocument/2006/relationships/notesSlide" Target="/ppt/notesSlides/notesSlide2.xml" Id="R87cc4510ecc94e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2549d74014e4b" /><Relationship Type="http://schemas.openxmlformats.org/officeDocument/2006/relationships/notesSlide" Target="/ppt/notesSlides/notesSlide3.xml" Id="R2dc85517c7ae4d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1852aa73f4c81" /><Relationship Type="http://schemas.openxmlformats.org/officeDocument/2006/relationships/notesSlide" Target="/ppt/notesSlides/notesSlide4.xml" Id="Ra06a478d17be45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416a994d342dd" /><Relationship Type="http://schemas.openxmlformats.org/officeDocument/2006/relationships/notesSlide" Target="/ppt/notesSlides/notesSlide5.xml" Id="Rf6971a2b75e249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a2ca1e4e1413c" /><Relationship Type="http://schemas.openxmlformats.org/officeDocument/2006/relationships/notesSlide" Target="/ppt/notesSlides/notesSlide6.xml" Id="R949d763374b443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0ff87e9434cd8" /><Relationship Type="http://schemas.openxmlformats.org/officeDocument/2006/relationships/notesSlide" Target="/ppt/notesSlides/notesSlide7.xml" Id="R8e38535aaf9c47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7290c2bc74d90" /><Relationship Type="http://schemas.openxmlformats.org/officeDocument/2006/relationships/notesSlide" Target="/ppt/notesSlides/notesSlide8.xml" Id="R58ea00da7be54e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9e525005b411d" /><Relationship Type="http://schemas.openxmlformats.org/officeDocument/2006/relationships/notesSlide" Target="/ppt/notesSlides/notesSlide9.xml" Id="R93af43b90dad46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7704192c44c68" /><Relationship Type="http://schemas.openxmlformats.org/officeDocument/2006/relationships/notesSlide" Target="/ppt/notesSlides/notesSlide10.xml" Id="R6983b49998964c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d4c968bcf4271" /><Relationship Type="http://schemas.openxmlformats.org/officeDocument/2006/relationships/notesSlide" Target="/ppt/notesSlides/notesSlide11.xml" Id="Rea9b9085e6af42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ec46488ee4f96" /><Relationship Type="http://schemas.openxmlformats.org/officeDocument/2006/relationships/notesSlide" Target="/ppt/notesSlides/notesSlide12.xml" Id="R7a28b58d8bf847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a7e7bb6c44219" /><Relationship Type="http://schemas.openxmlformats.org/officeDocument/2006/relationships/notesSlide" Target="/ppt/notesSlides/notesSlide13.xml" Id="Rfbde46b9d716455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680b95abc4928" /><Relationship Type="http://schemas.openxmlformats.org/officeDocument/2006/relationships/notesSlide" Target="/ppt/notesSlides/notesSlide14.xml" Id="Rd3900b46775346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b7e0df87e43aa" /><Relationship Type="http://schemas.openxmlformats.org/officeDocument/2006/relationships/notesSlide" Target="/ppt/notesSlides/notesSlide15.xml" Id="Rdf9d6a2514374eb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8694519db4d7f" /><Relationship Type="http://schemas.openxmlformats.org/officeDocument/2006/relationships/notesSlide" Target="/ppt/notesSlides/notesSlide16.xml" Id="Rdde04536fcd048f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7557b14c04936" /><Relationship Type="http://schemas.openxmlformats.org/officeDocument/2006/relationships/notesSlide" Target="/ppt/notesSlides/notesSlide17.xml" Id="R51317ef45e7b496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69969b34a4802" /><Relationship Type="http://schemas.openxmlformats.org/officeDocument/2006/relationships/notesSlide" Target="/ppt/notesSlides/notesSlide18.xml" Id="R1755d6ee973341a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9c323b3d84651" /><Relationship Type="http://schemas.openxmlformats.org/officeDocument/2006/relationships/notesSlide" Target="/ppt/notesSlides/notesSlide19.xml" Id="R298cb5219f22437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226e75c514334" /><Relationship Type="http://schemas.openxmlformats.org/officeDocument/2006/relationships/notesSlide" Target="/ppt/notesSlides/notesSlide20.xml" Id="R610a408a5bae4d3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bfa41ec8a4245" /><Relationship Type="http://schemas.openxmlformats.org/officeDocument/2006/relationships/notesSlide" Target="/ppt/notesSlides/notesSlide21.xml" Id="R3182914c9aae41b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21f56971c4a4d" /><Relationship Type="http://schemas.openxmlformats.org/officeDocument/2006/relationships/notesSlide" Target="/ppt/notesSlides/notesSlide22.xml" Id="Rfac190fcb53649d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a7b3283b54b29" /><Relationship Type="http://schemas.openxmlformats.org/officeDocument/2006/relationships/notesSlide" Target="/ppt/notesSlides/notesSlide23.xml" Id="R4c90585bdd5c454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31b5294d14330" /><Relationship Type="http://schemas.openxmlformats.org/officeDocument/2006/relationships/notesSlide" Target="/ppt/notesSlides/notesSlide24.xml" Id="R8d72be00fc0a40a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e14e8eb374d38" /><Relationship Type="http://schemas.openxmlformats.org/officeDocument/2006/relationships/notesSlide" Target="/ppt/notesSlides/notesSlide25.xml" Id="Ra3912e385d6f4cb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7223683db46fd" /><Relationship Type="http://schemas.openxmlformats.org/officeDocument/2006/relationships/notesSlide" Target="/ppt/notesSlides/notesSlide26.xml" Id="R9451ecba40c1497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862fba4a44265" /><Relationship Type="http://schemas.openxmlformats.org/officeDocument/2006/relationships/notesSlide" Target="/ppt/notesSlides/notesSlide27.xml" Id="R6bbdcf4f7e6f454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7165c9e934060" /><Relationship Type="http://schemas.openxmlformats.org/officeDocument/2006/relationships/notesSlide" Target="/ppt/notesSlides/notesSlide28.xml" Id="R6b3ffb7857f74ac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d551b1047453d" /><Relationship Type="http://schemas.openxmlformats.org/officeDocument/2006/relationships/notesSlide" Target="/ppt/notesSlides/notesSlide29.xml" Id="Rd5459c8d77ce464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eb032d8624034" /><Relationship Type="http://schemas.openxmlformats.org/officeDocument/2006/relationships/notesSlide" Target="/ppt/notesSlides/notesSlide30.xml" Id="R17c702e9dff347f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361a307bd4b0a" /><Relationship Type="http://schemas.openxmlformats.org/officeDocument/2006/relationships/notesSlide" Target="/ppt/notesSlides/notesSlide31.xml" Id="Rc6a7c69341d249c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8bc078de74f5b" /><Relationship Type="http://schemas.openxmlformats.org/officeDocument/2006/relationships/notesSlide" Target="/ppt/notesSlides/notesSlide32.xml" Id="R2a41551642e5472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f1dbdebee4b44" /><Relationship Type="http://schemas.openxmlformats.org/officeDocument/2006/relationships/notesSlide" Target="/ppt/notesSlides/notesSlide33.xml" Id="R5a468b68dad34ba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2278e122b4bd6" /><Relationship Type="http://schemas.openxmlformats.org/officeDocument/2006/relationships/notesSlide" Target="/ppt/notesSlides/notesSlide34.xml" Id="R5d4c2632bad141e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f3160dcf44f2c" /><Relationship Type="http://schemas.openxmlformats.org/officeDocument/2006/relationships/notesSlide" Target="/ppt/notesSlides/notesSlide35.xml" Id="R985611e365a1456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45df8ef134fe2" /><Relationship Type="http://schemas.openxmlformats.org/officeDocument/2006/relationships/notesSlide" Target="/ppt/notesSlides/notesSlide36.xml" Id="R593c1edc02534cb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c8bdf1e014b39" /><Relationship Type="http://schemas.openxmlformats.org/officeDocument/2006/relationships/notesSlide" Target="/ppt/notesSlides/notesSlide37.xml" Id="R1b2ea5901feb41f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6329ad55a493d" /><Relationship Type="http://schemas.openxmlformats.org/officeDocument/2006/relationships/notesSlide" Target="/ppt/notesSlides/notesSlide38.xml" Id="R2c561b5ced95487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0b08bbbb647fe" /><Relationship Type="http://schemas.openxmlformats.org/officeDocument/2006/relationships/notesSlide" Target="/ppt/notesSlides/notesSlide39.xml" Id="R8b19dde5ca1c483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d26682ba24610" /><Relationship Type="http://schemas.openxmlformats.org/officeDocument/2006/relationships/notesSlide" Target="/ppt/notesSlides/notesSlide40.xml" Id="Rdc96dd0990204df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4417d3a89421f" /><Relationship Type="http://schemas.openxmlformats.org/officeDocument/2006/relationships/notesSlide" Target="/ppt/notesSlides/notesSlide41.xml" Id="R7ad71004752b4f6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5ce6e3a824775" /><Relationship Type="http://schemas.openxmlformats.org/officeDocument/2006/relationships/notesSlide" Target="/ppt/notesSlides/notesSlide42.xml" Id="R5b75cb8aad494ae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1bf3049e64249" /><Relationship Type="http://schemas.openxmlformats.org/officeDocument/2006/relationships/notesSlide" Target="/ppt/notesSlides/notesSlide43.xml" Id="R1242e1a4ceb14d1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58ea926a24827" /><Relationship Type="http://schemas.openxmlformats.org/officeDocument/2006/relationships/notesSlide" Target="/ppt/notesSlides/notesSlide44.xml" Id="R586ba5343d3e475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292db7dc5416e" /><Relationship Type="http://schemas.openxmlformats.org/officeDocument/2006/relationships/notesSlide" Target="/ppt/notesSlides/notesSlide45.xml" Id="Rea09a1742261455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a3c35bd514cfa" /><Relationship Type="http://schemas.openxmlformats.org/officeDocument/2006/relationships/notesSlide" Target="/ppt/notesSlides/notesSlide46.xml" Id="Rb48fa5a6c7a04ac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8982238874f00" /><Relationship Type="http://schemas.openxmlformats.org/officeDocument/2006/relationships/notesSlide" Target="/ppt/notesSlides/notesSlide47.xml" Id="R1688e05f865440c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49a827c894186" /><Relationship Type="http://schemas.openxmlformats.org/officeDocument/2006/relationships/notesSlide" Target="/ppt/notesSlides/notesSlide48.xml" Id="Rf78b69acf7fd480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a9a3f1ec643a0" /><Relationship Type="http://schemas.openxmlformats.org/officeDocument/2006/relationships/notesSlide" Target="/ppt/notesSlides/notesSlide49.xml" Id="R35f314c576894cd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f23d6ce1b40c9" /><Relationship Type="http://schemas.openxmlformats.org/officeDocument/2006/relationships/notesSlide" Target="/ppt/notesSlides/notesSlide50.xml" Id="R93e66653ce534fc7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b3dccd7d24ab1" /><Relationship Type="http://schemas.openxmlformats.org/officeDocument/2006/relationships/notesSlide" Target="/ppt/notesSlides/notesSlide51.xml" Id="R7e61bdafdfb34bc7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5880912c44bd4" /><Relationship Type="http://schemas.openxmlformats.org/officeDocument/2006/relationships/notesSlide" Target="/ppt/notesSlides/notesSlide52.xml" Id="R2758f3b0ad094234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8ff298ce14fa9" /><Relationship Type="http://schemas.openxmlformats.org/officeDocument/2006/relationships/notesSlide" Target="/ppt/notesSlides/notesSlide53.xml" Id="R6a1178678304477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b48c4d6294f36" /><Relationship Type="http://schemas.openxmlformats.org/officeDocument/2006/relationships/notesSlide" Target="/ppt/notesSlides/notesSlide54.xml" Id="R23cf96dd35fa4c5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a6791195f40b5" /><Relationship Type="http://schemas.openxmlformats.org/officeDocument/2006/relationships/notesSlide" Target="/ppt/notesSlides/notesSlide55.xml" Id="R090780db39fa4e98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01611672d4aeb" /><Relationship Type="http://schemas.openxmlformats.org/officeDocument/2006/relationships/notesSlide" Target="/ppt/notesSlides/notesSlide56.xml" Id="Rcc767427a0ad40bf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4d1bcf1084fbb" /><Relationship Type="http://schemas.openxmlformats.org/officeDocument/2006/relationships/notesSlide" Target="/ppt/notesSlides/notesSlide57.xml" Id="Rf06af8241b2b466d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2ab96bbf4458c" /><Relationship Type="http://schemas.openxmlformats.org/officeDocument/2006/relationships/notesSlide" Target="/ppt/notesSlides/notesSlide58.xml" Id="R3e53ed85e948413e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f7c00d5204ebf" /><Relationship Type="http://schemas.openxmlformats.org/officeDocument/2006/relationships/notesSlide" Target="/ppt/notesSlides/notesSlide59.xml" Id="R792ad08594784009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35e8f17b7433a" /><Relationship Type="http://schemas.openxmlformats.org/officeDocument/2006/relationships/notesSlide" Target="/ppt/notesSlides/notesSlide60.xml" Id="R7444692be34144c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6E528A-2BDF-4509-BE6D-43F1D7B9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64466-6A3D-4904-91FD-B8C0B8E4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讲座封面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664FD-12E2-40A3-8B37-5B8CA2BD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01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0ACA3-25D2-4947-8C9A-9CDBAE9A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A8890-A325-4999-B2E1-19345794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123BE-686E-42FB-AC4D-1C6FEE5D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954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研究生讲座 / 数字讲义版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BCEC8-94C7-49C2-B008-09103150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9334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AI时代的材料科学实验：</a:t>
            </a:r>
          </a:p>
          <a:p xmlns:a="http://schemas.openxmlformats.org/drawingml/2006/main">
            <a:pPr algn="l">
              <a:defRPr sz="25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从 DOE 到 Self-Driving Labs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4A853-0713-4238-882A-9B90D93E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重新理解实验、方法论与自驱实验室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5A1FB-489A-4652-8466-39914D70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本讲面向材料科学与工程相关研究生和高年级本科生。</a:t>
            </a:r>
          </a:p>
          <a:p xmlns:a="http://schemas.openxmlformats.org/drawingml/2006/main">
            <a:pPr algn="l">
              <a:defRPr sz="13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主线不是“AI 更强了”，而是“实验正在被重新组织”。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B56D5E-FF5D-4921-8E7F-61A43031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D6FF"/>
          </a:solidFill>
          <a:ln xmlns:a="http://schemas.openxmlformats.org/drawingml/2006/main" w="0">
            <a:solidFill>
              <a:srgbClr val="13D6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41A1C-B953-497A-A726-5F2F19CD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340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77F41-6BEF-4630-98CD-BF0EC3F2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3340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E821A-8C73-4832-8325-4EFDF09C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E829D"/>
                </a:solidFill>
                <a:latin typeface="Aptos"/>
                <a:ea typeface="Aptos"/>
                <a:cs typeface="Aptos"/>
              </a:defRPr>
            </a:pPr>
            <a:r>
              <a:t>关键词：Experiment（实验） / Design of Experiments（实验设计，DOE） / Self-Driving Labs（自驱实验室，SDL）</a:t>
            </a:r>
          </a:p>
        </p:txBody>
      </p:sp>
    </p:spTree>
    <p:extLst>
      <p:ext uri="{BB962C8B-B14F-4D97-AF65-F5344CB8AC3E}">
        <p14:creationId xmlns:p14="http://schemas.microsoft.com/office/powerpoint/2010/main" val="12415894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A23279-08BC-4A19-A591-88D36350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6A23A-B027-463B-8E6E-84D53167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讲座结构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C8B1C-FAC1-4501-A501-699BA96F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02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C2764-84BE-4D3E-A9E9-C9D4E355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D8C28-E9F0-473B-B1D2-FD2FE3AD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今天的六个部分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83920-D4E6-41E7-AA58-0FB5BC78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三小时讲座的主线是“实验”而不是“算法清单”。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E3AD2-5B41-4B4D-8222-2C49B08E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0096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B2C29-1068-4C34-B80D-D664BDB0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95676-724D-4F04-9B67-C3EA5CBD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907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为什么今天必须重新理解实验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FD184-C4B6-4BE6-85C8-EF2F3111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10096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EEF3F-519E-4997-9794-D04B0250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813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E62AD-83EB-4FE4-B201-1244F92A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813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MSE（材料科学与工程）实验图谱与目录学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8D16E-3DBE-4112-9913-1130CA1E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0096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1D6AE6-AB6F-424C-888E-47AD6C59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9194DA-5133-4F5B-B627-0DB50E7E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718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传统方法论：试错法与 DOE（实验设计）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B7A9E-5215-4D48-9EEE-A138DA89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10096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62BCBD-4C1F-4F5C-8DD3-2DA61539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624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6908C3-0EB7-4856-AC54-EE166E84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624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AI 时代的实验：什么是 SDL（自驱实验室）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DF9F97-15D8-4344-A434-FE81488F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10096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A6F0AA-48AE-4961-81EF-E64DB19A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29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78FC6C-84BB-452E-830E-89B0DF33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529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A-Lab（自治实验室）作为真实系统案例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203A50-A057-459C-AF3B-006A3955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10096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FBB269-DC6A-4DBD-94F5-00AEBB70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435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F9CBCC-33C7-4CE3-AC2F-EFCF18D5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435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Case Studio：最小 live demo 与课程总结</a:t>
            </a:r>
          </a:p>
        </p:txBody>
      </p:sp>
    </p:spTree>
    <p:extLst>
      <p:ext uri="{BB962C8B-B14F-4D97-AF65-F5344CB8AC3E}">
        <p14:creationId xmlns:p14="http://schemas.microsoft.com/office/powerpoint/2010/main" val="15715512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365697-2533-4196-A8CF-342F244F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8CD6E-57F8-4E4B-A0EF-73686C76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讲座定位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5085A-297C-4CB4-B8DB-9477D6F4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03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3854F-A3D0-467C-8A3A-C6650EAF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E0E4E-64E4-440D-BC2E-39BA0585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这不是一场“AI 工具清单”讲座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E2AFB-E084-4A13-A137-8EA51FF8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本讲的中心对象是实验，不是某个单独模型。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88530-CF03-4DD0-BA3F-C8EAEDE2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92439-C4FC-4651-9F1C-D0F2733D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我们关心的是：实验如何生产知识，而不是只关心模型是否更强。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SDL 的出现，是实验方法论、硬件自动化、数据化与算法决策的合流。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因此，本讲既谈传统方法，也谈 AI 时代的新组织形式。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BCD6C-9715-413C-831F-0168310C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38D89-86F6-49E1-A549-5A6957BD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讲座产出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42436-648B-47F7-B823-E7AAF577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听完后，学生应该能回答三个问题：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1. 为什么实验仍是中心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2. DOE 与 SDL 的关系是什么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3. 哪些问题适合做 SDL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34B58-04AE-46D5-9129-FA92E6B6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6657F0-AD80-42A2-8D99-EEB9904F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态度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1BA2C1-97B2-484D-A809-04E6B9B9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既拥抱 AI，也质疑 AI。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既重视算法，也坚持人的判断与科学伦理。</a:t>
            </a:r>
          </a:p>
        </p:txBody>
      </p:sp>
    </p:spTree>
    <p:extLst>
      <p:ext uri="{BB962C8B-B14F-4D97-AF65-F5344CB8AC3E}">
        <p14:creationId xmlns:p14="http://schemas.microsoft.com/office/powerpoint/2010/main" val="15727596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9DE6D1-8F1D-4964-A45B-E051AF96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5E4DD-3604-49B7-9403-8F4DBAE9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讲座路径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9490D-7FCA-44F6-88A5-D61AEFB0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04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5DD45-315C-41EB-B430-83F740EB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13E9C-8C75-4D2A-BEFF-B2DF84C4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从网站到 PPT：两条交付链路，内容主线一致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B343C-0DBB-475C-8A9A-6FEC5887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网站负责动态演示，PPT 负责稳定交付。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4547D-D5B4-4034-907A-6D35FA34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3F8F2-8C3D-492E-99F9-0FBB5EC9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网站版适合展示课程结构、A-Lab 案例页和 Case Studio live demo。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PPT 版适合在网络、浏览器或现场环境不稳定时完整讲完。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两条链路服务同一主线：实验 → 方法论 → SDL → 真实案例 → 最小闭环演示。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7AF52-CE57-4B77-97CA-D5819AA5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E8B00-ECA9-4EA4-AFB4-5155BF84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为什么两者并存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6A5B5-461F-4E21-A6E0-63DB3355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网站适合系统与交互，PPT 适合稳定叙事；两者服务同一学术主线。</a:t>
            </a:r>
          </a:p>
        </p:txBody>
      </p:sp>
    </p:spTree>
    <p:extLst>
      <p:ext uri="{BB962C8B-B14F-4D97-AF65-F5344CB8AC3E}">
        <p14:creationId xmlns:p14="http://schemas.microsoft.com/office/powerpoint/2010/main" val="18598701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6A2661-235E-42E8-A73E-3548B81B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A732C-A562-467F-A0F3-EE0E26BB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第一部分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82A2D-A3CC-4B2B-8D72-BC695864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05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F3D60-2D2D-4E30-8C4B-243E03DA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C93AE-22A6-4549-AC19-B31A0FE3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8FD41-2228-4C76-8834-0B81D701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为什么今天必须重新理解实验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71C3D-4A0F-4459-B1F0-4A1D0FC2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28900"/>
            <a:ext cx="742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如果不先理解实验的地位，就很容易把 SDL 误解成“算法升级版 DOE”。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F03AE-241C-4B07-AD00-2F45380F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400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D6FF"/>
          </a:solidFill>
          <a:ln xmlns:a="http://schemas.openxmlformats.org/drawingml/2006/main" w="0">
            <a:solidFill>
              <a:srgbClr val="13D6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619A2-8846-4E9F-8C54-468D80B7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如果不先把实验放回中心，后面关于 DOE 和 SDL 的判断都会漂。</a:t>
            </a:r>
          </a:p>
        </p:txBody>
      </p:sp>
    </p:spTree>
    <p:extLst>
      <p:ext uri="{BB962C8B-B14F-4D97-AF65-F5344CB8AC3E}">
        <p14:creationId xmlns:p14="http://schemas.microsoft.com/office/powerpoint/2010/main" val="16848526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88CFA7-BF30-4DE3-B0F8-95EB20C8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C2152-6556-4C90-9595-07651671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实验的地位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65D7D-2D77-464B-AF04-1DEB5577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06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D5762-0306-4E1D-9040-06EFE494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8F355-F9E5-4657-A998-91D6D990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实验不是理论的附庸，也不是数据的采样器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E175B-AF4B-4C97-A08F-CEF0808B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在材料科学中，实验本身就是知识生产机制。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C4476-1414-4232-BED7-F0B184EC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9B9B8-E3A5-4557-8677-36C8CF5D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实验不仅验证理论，也发现现象、制造样品、暴露异常、纠正错误。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很多 MSE 问题无法由纯理论直接给出答案，必须依赖实验进入真实材料世界。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因此，实验不是“最后一步确认”，而是研究链条中的主轴。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F0D10E-0C17-497F-9F67-6B8E20A6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91213-D7E1-40B3-97A5-6FB99BA9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在 MSE 中，实验承担什么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D9E2D-8768-4935-B35B-37CC0FFC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发现 / 制备 / 表征 / 测量 / 评价 / 失效分析 / 校准 / 纠错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AE48F-C2BD-45D8-B984-C9B9BD0B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FA0D4-2AEE-442B-A444-7CD6916A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关键判断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1F521-0EEE-438D-9889-9FFCA3EA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谁能更高质量地组织实验，谁就可能更快地产生可靠知识。</a:t>
            </a:r>
          </a:p>
        </p:txBody>
      </p:sp>
    </p:spTree>
    <p:extLst>
      <p:ext uri="{BB962C8B-B14F-4D97-AF65-F5344CB8AC3E}">
        <p14:creationId xmlns:p14="http://schemas.microsoft.com/office/powerpoint/2010/main" val="11844353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681AF9-5509-4E53-88E3-333AC438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6FF90-B005-4F0D-9821-9DDA96AC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实验输出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BB542-E408-450D-845F-C51791DC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07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6274F-5843-4355-93BC-5C6BEB9C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4C143-DEB4-43E3-BAF6-91826B87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从实验类别到数据形态：SDL 关心的不只是“做了什么实验”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BC22C-4321-4D69-9337-7EE01ECC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它更关心实验会产出什么观测，以及这些观测能否进入决策。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F14FA-9792-4797-AC6D-A8370827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34338-F089-4DD1-A9E8-FA1B507F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57F04-7783-4270-AD35-81DC3983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D1E63-A4C5-481A-B4BB-16B794C8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典型输出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D1364-D799-4694-8411-224F73A0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812C3-3DBD-4686-A7A4-FD9D6F47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常见数据形态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22C9A-72A9-48A1-A837-2F90EAF6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73F703-BF8C-47D0-901F-60AE0E24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SDL 化难点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F7117-5765-4846-ACC8-A6872566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FF9084-C6C2-4FB3-9CF5-196F7DA7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制备/加工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A55FA-FF25-4BDC-8C56-43E46E91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06A29-94F4-4D32-BF3A-C4B2A0C0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样品状态变化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661F30-12E0-4EA5-B0C0-B2376598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1709DE-29F3-409D-B770-58D96D60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配方表、工艺参数、批次记录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A74B90-7212-4C1A-AAF4-A161CB4C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FE0C60-1B4A-407C-A43C-51551A04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样品历史难标准化，过程漂移强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785A59-7580-4857-8FC4-B076B3B6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37B269-831E-4990-8CEB-C5B6CDB4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结构/成分表征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6EC5F0-F5F4-4109-B408-085D448F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594D8D-7823-48A9-AE25-5B253EDF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相、成分、形貌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4170FB-3512-4788-B073-8FB28620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52C4D0-F876-4979-A7A9-3903DF4B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谱图、峰位、图像、mapping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4CA673-756F-46B3-BE39-5D5FCD6D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040B24-0B73-4F96-9690-E6DBA154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高维数据多，解释链长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FF887C-8768-4D0E-9939-4641F98A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011428-5FC7-47B3-BAC6-5784EBD8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物性/性能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190B3B-807E-4E0D-B5FA-EF61735E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DA67E7-1D8E-4CBC-B076-AA1B8F08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电、热、力、化学响应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4DEAA5-04F5-48E1-93DF-4DABD4D6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C238DE-91DA-4165-9CD0-E84E959D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曲线、标量、循环数据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ED9429-7734-4881-8D9E-EE52D098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2BE35C-3045-45D7-A061-233CD014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目标常多元，测量时间不均一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A640F9-8604-4351-A7C8-9FE43505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4D0BF5-F6B0-4E14-A6A3-D2C78527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失效/可靠性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72C32E-9B13-434F-80AD-E388A742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8B3F21-A8D5-4F5A-A2D0-53C76234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寿命、退化、异常模式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85AFF0-97B4-4627-9CE0-7D22D816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94CF0D-0B51-477C-946B-E9C8EB74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时间序列、统计分布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AFC600-3B47-4EA6-BD6F-8E52DEB9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280775-A5E5-45A1-A8C5-D9AE8CB4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成本高、时间长、噪声和偶然性强</a:t>
            </a:r>
          </a:p>
        </p:txBody>
      </p:sp>
    </p:spTree>
    <p:extLst>
      <p:ext uri="{BB962C8B-B14F-4D97-AF65-F5344CB8AC3E}">
        <p14:creationId xmlns:p14="http://schemas.microsoft.com/office/powerpoint/2010/main" val="36919613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0113DC-266A-413B-A0A8-0DF37F24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A75E7-60BB-4EEC-9687-904F1293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实验的角色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D2A62-74F3-4FB6-9F84-4D5B7567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08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A1E87-1401-4E63-9E57-7B0FF5EC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94C19-C540-4B45-A628-2610E42B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实验如何贯穿一条典型的 MSE 知识链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27343-3DCD-4AB7-AB42-41AA6166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它不是单点动作，而是一条连续工作流。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41E4E-F36D-42B3-A3F9-4FAAD639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C2207-D880-48A8-8796-6B9E3BAF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问题提出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2B9CB-064C-44AB-90BF-C79C65ED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我们想优化什么、理解什么、验证什么？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3E93E-BBCF-481A-8987-316FCF38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28F29-B7E5-403E-A2D1-1DA365A8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样品与制备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680CB-D41B-43C1-93B0-328EDA33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材料从想法变成可被研究的真实对象。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F64FDA-0FC2-4ABC-9CAA-F664D8D6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2E728-8A6E-402C-A3D8-C31887A2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t>表征与测量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7D605-49D8-4FB9-BA1F-5ABDC1F3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结构、组成、性能、失效等响应被观察和记录。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109E06-E6BE-4692-BEE7-7DB83613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3BF36E-933D-4563-930A-03ED765B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t>数据与模型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B34C06-7411-4723-8685-3F0837C4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实验结果被整理、比较、建模和解释。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118A80-8BD4-4DC5-A126-C72C9DAA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04A26F-8E79-40E2-BD5D-C25AABC2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t>判断与决策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66CF73-C741-4FDD-B8C1-53924223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研究者决定下一个实验点、下一个变量或下一个机制假说。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E35AC-9EBB-4114-97AA-5D96EAEE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07D5B0-41C1-413A-B04F-430CEE04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反馈与纠错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B965EC-1DCE-4156-8344-76B48872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异常、误差、重复性和反例推动科学自我修正。</a:t>
            </a:r>
          </a:p>
        </p:txBody>
      </p:sp>
    </p:spTree>
    <p:extLst>
      <p:ext uri="{BB962C8B-B14F-4D97-AF65-F5344CB8AC3E}">
        <p14:creationId xmlns:p14="http://schemas.microsoft.com/office/powerpoint/2010/main" val="1333280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15983E-B0CC-4585-96D3-64FF6040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E6E57-7F79-4A7B-AC21-5A395029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为什么是今天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B545C-DB65-4258-8FC0-408411C3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09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007AF-8412-46DB-A4D6-BE16B89F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088B1-6AB5-417D-A322-134F6CFC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为什么今天谈 SDL，而不是十年前或二十年前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B6773-C7BF-4869-BD30-20C4E830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因为实验条件、数据条件和计算条件正在同时成熟。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136E0-5451-4316-93E4-5A352764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C86E7-A4FA-4B8B-99AF-C2C9F17F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实验硬件更自动化：样品制备、表征、搬运、调度逐渐可编排。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实验数据更可计算：传感、记录、数据库和元数据体系更成熟。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算法更能进入闭环：不只做离线预测，还能参与下一实验点决策。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9DEF4A-E353-46B6-8642-57D0B9E6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C7682C-A7E4-4752-BA57-410240F9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三条线收束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3CE7C-A5F5-4F7B-AF22-912FEEF1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硬件自动化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数据化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模型驱动决策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F46D9-DA59-4E67-8A32-34CBCBD4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B7BF6-7A63-49BF-9153-451970CB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因此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DCF80-36FB-4571-83B9-35DB2261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SDL 不是突然出现的新名词，而是多条技术线索在实验系统中的收束。</a:t>
            </a:r>
          </a:p>
        </p:txBody>
      </p:sp>
    </p:spTree>
    <p:extLst>
      <p:ext uri="{BB962C8B-B14F-4D97-AF65-F5344CB8AC3E}">
        <p14:creationId xmlns:p14="http://schemas.microsoft.com/office/powerpoint/2010/main" val="1008525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DE3A8A-EBE7-43A4-89CF-B714A015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9386D-32E9-4C32-94D5-D2488FD8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科学范式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DEEE0-ACAC-4EAB-B37D-7854049B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10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B1929-21DD-4133-B5B9-29341185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B5A90-6005-438E-87EA-B7D59559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从自然观察到自驱实验：知识生产方式如何演化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7B4B9-3BB1-453A-9062-C3A8FC93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范式变化的关键，不只是工具变化，而是“如何得到知识”在变化。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D38E1-2CF7-4AD6-8797-6AE3C3C5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9716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61CC7-9F27-4E94-9C4D-A0D703ED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P1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938B9-211B-4DB4-9CD3-0D3C4473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观察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3D111-A528-4C79-B51F-93E8EDDF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1666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以经验观察为主，积累现象和记述。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8CCC2-4562-4D37-ACD8-49096CAA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04BD3-E06D-49C0-ADB5-E4C30DA2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71750"/>
            <a:ext cx="19716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53EF4-D172-4E6F-A99D-5DD59D98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724150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P2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7DAFE-2317-471A-8B01-6DE94DBC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97180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理论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A5B69-F8FF-4BD6-9C1C-00CE34D2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352800"/>
            <a:ext cx="1666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通过抽象理论组织现象，形成定律和解释。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AC0A30-C656-4117-8CFB-98404250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BE771C-1326-4E41-B76C-4CF13E38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71750"/>
            <a:ext cx="19716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ED948D-8EBC-4719-A4CB-CD00DB56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24150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BBF24"/>
                </a:solidFill>
                <a:latin typeface="Consolas"/>
                <a:ea typeface="Consolas"/>
                <a:cs typeface="Consolas"/>
              </a:defRPr>
            </a:pPr>
            <a:r>
              <a:t>P3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D7FFD3-FF9D-4B05-9189-0D184158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计算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485A8A-D82D-4B7C-A2C6-5DB9B11E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52800"/>
            <a:ext cx="1666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借助数值模拟和计算模型处理复杂系统。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FBE56E-5895-4AD7-AA52-3E191BC5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60F8DB-CACB-4C7D-A1D0-09BD3039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571750"/>
            <a:ext cx="19716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4AC685-AFCF-4C0A-81A8-A2E23657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4D399"/>
                </a:solidFill>
                <a:latin typeface="Consolas"/>
                <a:ea typeface="Consolas"/>
                <a:cs typeface="Consolas"/>
              </a:defRPr>
            </a:pPr>
            <a:r>
              <a:t>P4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8ABB68-E6A4-4A88-97D2-B8A018C7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7180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数据密集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3A5EB2-08B0-458F-B95C-82F06FDA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52800"/>
            <a:ext cx="1666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大量数据、数据库和统计/机器学习加入发现过程。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8B8FAF-6AFD-4BDD-BB62-4C2EA95D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146C3D-0321-4AC2-A9EB-7EB07965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71750"/>
            <a:ext cx="19716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B80ED4-F8F7-4C1C-A004-480DEAC5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24150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B7185"/>
                </a:solidFill>
                <a:latin typeface="Consolas"/>
                <a:ea typeface="Consolas"/>
                <a:cs typeface="Consolas"/>
              </a:defRPr>
            </a:pPr>
            <a:r>
              <a:t>P5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4E2F50-5D61-4AC0-89E9-A8756098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7180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自驱实验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AF9A51-2252-411C-AED0-BF6D8242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52800"/>
            <a:ext cx="1666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模型开始进入实验闭环，参与实验设计与执行节奏。</a:t>
            </a:r>
          </a:p>
        </p:txBody>
      </p:sp>
    </p:spTree>
    <p:extLst>
      <p:ext uri="{BB962C8B-B14F-4D97-AF65-F5344CB8AC3E}">
        <p14:creationId xmlns:p14="http://schemas.microsoft.com/office/powerpoint/2010/main" val="69379741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2B7942-4B60-4428-8C68-822B2413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8CF6A-953D-4C88-B0E0-3C4E8A85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范式比较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C7EBE-718B-4BEF-B34C-3A8BE4CA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11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EDD2D-BEB8-4C2A-9CDA-D5CB3725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E7B4F-EF77-4960-A943-BA83E004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第四范式与第五范式的差别，不在“数据更多”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E0AAB-4628-4F79-A427-77C4BB27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真正的区别在于模型是否进入行动链。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1BD0E-C87A-4451-911E-30DAF336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6BA37-AB93-4CF3-90C1-DDA0E6D8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13B01-B296-4D46-B55B-BCC701EA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D3864-D807-4534-AD72-91CF65DD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第四范式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AA9F8-A514-4EE9-8617-A7BCFE3D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1DC72-CD4A-4262-9462-CF61B270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第五范式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C98AE-6076-4432-967E-45BA861C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E8D3D7-1777-4588-9D66-E1F57E03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对实验的意义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8D9F3D-C0AB-40E1-946E-CE0E4D08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E376C-4570-4ECA-B631-D48D1442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主要对象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19392C-F4BF-4206-B92E-2D4E71F9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6836E-6820-4C67-BF80-270D5000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数据与模式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991484-0FB1-49ED-B50E-B9B0622A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561929-035F-4E64-A429-ABEBFB6B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数据、模式与行动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F18C67-E8B9-44A6-868C-8F7D6F0A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D971D3-2284-46C0-9036-D5CEDA91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从“看懂”走向“决定下一步”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1A44A9-FD65-49F0-9387-E648CD52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98605D-C883-4495-9746-D6AF41E7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模型角色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235EC6-1BF1-412A-B3EF-2C27374B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B8B923-2FA0-4873-88EB-661A2D3C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分析与预测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9560EC-8E73-491D-BBC8-11DF2FEB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7F9A5A-585D-43A3-8D5E-11C6B771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分析、预测与推荐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6B8D32-5A7B-44B9-A487-D99F0F44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8CE52D-6F6C-45F9-85C6-5C0F9FE8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模型开始参与实验决策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DC9BAE-81AB-4D1E-A113-73B5F7AA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13B40C-4C27-4184-9EB5-C974F058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实验角色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FE2115-8CF3-42C3-ABF2-E5E607D1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4D54BB-83DF-4B77-92AF-2CB5B98F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数据来源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CDB2FA-BBB5-451D-B6CC-EC2B3E56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5F83C7-AD8B-41EE-95E6-E736F2C4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决策回路的一部分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EEE989-F0E4-4EF4-BA9E-7F3A5844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192B5E-CC93-435B-915E-FD4EB2D7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实验被更紧密地编排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0EFE41-CE53-4842-AA68-B5590DFF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008736-1DB8-4F1D-9039-68888334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研究者角色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C4F5A9-1BFB-4229-9F69-98AEF044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A3E5B1-35B2-49C5-A5B9-7DD4E993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解释者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A17347-EDCD-4977-8C55-6513E4C2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856260-655C-4E9C-B7C3-38533995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解释者 + 监督者 + 约束设定者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BE5B4E-D8A6-4CE8-A160-F5506DAE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E5FA1B-15B8-44D0-9FA9-01EB6559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人不退出，角色重构</a:t>
            </a:r>
          </a:p>
        </p:txBody>
      </p:sp>
    </p:spTree>
    <p:extLst>
      <p:ext uri="{BB962C8B-B14F-4D97-AF65-F5344CB8AC3E}">
        <p14:creationId xmlns:p14="http://schemas.microsoft.com/office/powerpoint/2010/main" val="45213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9C8F74-CCA6-47B4-BED2-1B6FDFCF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2CA73-1CF8-40A9-B581-76A9F506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实验角色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251E1-A74E-4B5D-857B-BF356EC5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12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27660-898C-4DDD-B869-98F326B5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9AA20-7635-4D0B-AD69-39E76911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沿着五种范式看，实验的角色一直在变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40C00-D8DA-4CF1-88D1-FE75390C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同样叫“实验”，在不同范式中承担的知识功能并不一样。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FE072-31A4-423D-ACDB-1E21B8F4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B1D71-CB71-49A0-AE2C-03087AE9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观察范式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81460-39CB-4590-B764-D15BE37E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实验更像现象采集与经验积累，重点是“看见什么”。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7887A-9B91-49CA-9795-0C404992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2D9CE-3353-49D0-8156-5319C468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理论范式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CE134-02BB-4A43-A013-C2AC0712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实验常承担验证与校正作用，重点是“理论是否站得住”。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FBFB4C-45C7-4DDF-82D7-760B6906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BF0D5-7B70-4831-86AF-480C52C9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t>计算范式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F5CB0-905C-4A62-82D9-DD0C9295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实验开始与模拟互相校准，重点是“模型与现实差多远”。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651118-641B-4E54-BB55-4CBCE10E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6763D0-0482-4223-87E6-BBC3D191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t>数据密集范式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28A754-0E8F-4734-9843-51066456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实验既是数据来源，也是数据库和模型更新的入口。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529EF7-A76A-4A4D-BC54-6628D8E6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A5CA01-6BFA-467F-A4DF-B9253E5F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t>自驱实验范式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362F20-7BD7-415A-8B09-494A26CC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实验进入闭环，被模型调度、被系统编排、被人监督。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937A4F-2A89-4A51-9DB1-96631ED0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84834D-B844-408C-9B1B-C18CAC92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讲座结论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C51E17-83D3-46C8-AAE9-D2A5C1A2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SDL 不是取消实验，而是把实验推到更高频、更系统、更可追踪的位置。</a:t>
            </a:r>
          </a:p>
        </p:txBody>
      </p:sp>
    </p:spTree>
    <p:extLst>
      <p:ext uri="{BB962C8B-B14F-4D97-AF65-F5344CB8AC3E}">
        <p14:creationId xmlns:p14="http://schemas.microsoft.com/office/powerpoint/2010/main" val="127050387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FB95A0-FE29-495D-BA5F-B083171F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52828-0872-4DC2-A50D-9469FABC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范式关系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FA42A-9D29-406B-9CCE-2F583E44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13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F9B28-5731-4472-8656-B201A9FD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774A1-1B33-4622-A888-7EE4C194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前三种范式并没有消失，而是被第四、第五范式重新组织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A5ABC-865F-45D8-8DFF-5FBC684F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新范式不是替身，而是重组、串联和放大。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F9B6C-FF55-429B-8AE9-62709D68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78762-6F3B-49C0-BBA5-EECB01BD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2FD76-8E1A-4906-BC5C-1F8B8257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99B5E-4AD8-4E01-9A33-4705812E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前三范式留下什么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A2D37-FFEC-4CA8-AAB6-C2A74278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C52F4-D4C6-4E7B-A5BA-B56DB356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第四/第五范式如何吸收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5875BE-F4C8-4486-B505-28476E54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C6FBE-DDB0-4E32-B04F-5727BD6C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对今天实验的含义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A89E8-9AE7-4C34-8EAF-23958E57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DEA46-B7F6-4AF2-9F71-37CD5090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经验与直觉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2252BB-958E-4878-AC26-19A0FC52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23ED75-18A4-43AE-8662-849F62DB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成为目标设定、异常判断和早期摸底的重要来源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701318-9C00-4C89-B335-9EB11C54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E823A9-892B-411B-819E-66EAEF2B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人类经验仍在回路中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A4B1FE-1E84-4B00-8DA5-309680B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EC885F-EDF0-405C-918D-4393B867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理论与机制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79A009-9300-4624-AB2C-8D86E0BE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B40973-DC83-42A0-BA4B-FA5E3A01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成为约束、先验和可解释性支撑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F7FF8C-9979-462D-A7B5-E21948AB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DCFABD-587A-4CC5-B602-42EF7604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不是只有数据拟合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F42785-5DA8-444F-9C14-69981B5A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E840B6-59AE-42EB-9B8F-341D0F3C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计算与模拟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340FE5-F3B8-4AFF-A0F4-B57E2E8C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D6A445-2BE8-49AF-A784-9EF6B16C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成为候选筛选、数字孪生和仿真试验台的一部分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3BBC3B-8221-4325-B9A3-9B82288F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2B3884-7078-4EB7-A7CF-C25E0587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实验前端可被预压缩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2837CF-CB58-4D70-A465-73BBB281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B786F4-42B7-4984-88B1-27E33F18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数据与自动化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AC0C2A-17CB-4512-AF35-20BA426C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3AE172-0683-41C2-8E84-F4EB18C0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把前三者接入可更新、可执行的闭环系统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45CA51-6B14-4D53-984C-A3F20748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A0DA48-BDA2-4587-A155-68B2D763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方法论开始系统集成</a:t>
            </a:r>
          </a:p>
        </p:txBody>
      </p:sp>
    </p:spTree>
    <p:extLst>
      <p:ext uri="{BB962C8B-B14F-4D97-AF65-F5344CB8AC3E}">
        <p14:creationId xmlns:p14="http://schemas.microsoft.com/office/powerpoint/2010/main" val="200346789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A51450-1530-4BAA-AEF5-555EDB05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6CD4F-5EEF-4B7A-BEC2-9D71CC66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过渡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B6855-824B-442C-8AE8-2E98FDBA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14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9BAD8-EAE4-4253-9808-E5AF5C0A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6944B-056D-4DD5-A6DA-5FEE73FE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9525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“问题不再只是‘我们如何理解实验结果’，而是‘我们如何组织下一轮实验’。”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5B2D5-5029-4559-8AAF-697C9C3E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本讲核心转折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72DA6-E551-4F88-94E6-22ADB6DE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从这里开始，实验的对象、实验的流程、实验的决策者，都会被重新审视。</a:t>
            </a:r>
          </a:p>
        </p:txBody>
      </p:sp>
    </p:spTree>
    <p:extLst>
      <p:ext uri="{BB962C8B-B14F-4D97-AF65-F5344CB8AC3E}">
        <p14:creationId xmlns:p14="http://schemas.microsoft.com/office/powerpoint/2010/main" val="34045371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A6A7B6-4B82-48B2-9425-0FFFCFC9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AEC00-70E7-4DB6-9F2A-CA2C6BE6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第二部分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B5D9C-797F-477D-A7C7-02308A24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15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BC49B-89F8-47D9-903F-1ABB257E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B603D-C93C-4686-A508-52C0A248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D5C4D-551D-4CBF-8A6D-CB9468A8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MSE 实验图谱与目录学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752AC-5087-4C1A-83A6-6A6F63B8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28900"/>
            <a:ext cx="742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如果不先知道实验有哪些类型、各自输出什么数据，就谈不上 SDL 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DA762-62DA-45F6-82B0-BBF8836A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400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6E61F-EDB1-4A09-9EF1-1E1BCE4C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按实验而不是按材料类别来组织，才能把数据、方法和 SDL 适配度放在同一张图里。</a:t>
            </a:r>
          </a:p>
        </p:txBody>
      </p:sp>
    </p:spTree>
    <p:extLst>
      <p:ext uri="{BB962C8B-B14F-4D97-AF65-F5344CB8AC3E}">
        <p14:creationId xmlns:p14="http://schemas.microsoft.com/office/powerpoint/2010/main" val="192139267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37C7D0-B8DE-4EC2-AAF3-A5B35245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CE834-6450-4483-BC11-E028DF34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实验图谱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4D467-8A57-4C6E-A721-496A93EC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16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89B0B-187A-4A08-B1B1-E58FCD66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3316E-B98A-40E9-B0C3-C7474256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以实验为中心的 MSE 图谱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3DBD7-4FE5-461A-BC1A-368DA463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实验是中心节点，向外连接问题、样品、测量、模型与工程约束。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A17A7-A6D7-4804-9E79-B64013C1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C5ACF-A48E-442D-9FC8-0D70FD0F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研究问题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AE24F-B766-4E6D-995B-5049C99F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目标、约束、假设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AE050-141F-44B9-8CEA-5430A491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336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F3B8F-00FD-40B9-A010-D96B9109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样品状态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974EC-819B-4027-AD8C-AAD614AF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146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粉末、薄膜、块体、器件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83C3D-F232-4880-8964-5AA9DDA2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73A53-D233-4F18-BC8B-7D2AE8A2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制备/加工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6F40AE-B5AE-41E1-925D-8B69162D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146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合成、热处理、沉积、成形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223C97-02B4-4E07-8089-88CD0AC4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336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5FF659-0CAB-4478-B1AC-4EBB1BEF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669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表征/测量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5FF6DF-51AA-4227-B453-ABF5D571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146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结构、成分、性能、失效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8363D5-FAA1-48AB-BD2C-6A20BF3A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8D0602-D043-437F-B3CE-ADA6A7F4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C89D8D-8AB2-4343-88DE-582FD305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谱图、图像、曲线、表格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443C3B-F857-411F-99C1-AF251601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F2C66A-F73A-4887-9549-2E5F07CC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052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模型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BC9444-7250-47FC-AF70-44680E85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529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统计、机理、代理模型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547240-8385-4EFF-9BC0-3707F341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719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BA641-9BC1-4F7A-A6AF-BB2F4A23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决策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9F73DE-8537-4E73-90AE-7340DF83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529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下一个点、下一个配方、下一个条件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B5BD26-776F-4DCA-B039-0ABB01D5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719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1A9CF5-9F1C-47CE-B621-624DB7E9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052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验证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D8D4D0-424B-476E-BDB5-D1C3F159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529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重复性、校准、边界条件</a:t>
            </a:r>
          </a:p>
        </p:txBody>
      </p:sp>
    </p:spTree>
    <p:extLst>
      <p:ext uri="{BB962C8B-B14F-4D97-AF65-F5344CB8AC3E}">
        <p14:creationId xmlns:p14="http://schemas.microsoft.com/office/powerpoint/2010/main" val="13653542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11B34D-4A78-4CA9-BD2D-3EBE292C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DCD2D-C392-4395-AC04-ECB9B029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分类总览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9313C-7995-4B2E-BBEA-59FE1B1A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17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850A5-9397-4474-99FA-B03620E0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66069-3380-4E22-8E9D-EF601E32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我们采用的 8 类 MSE 实验框架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C64C6-08B2-4637-BB09-1A62BCF0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这是讲座版目录学，不假装是唯一标准，但足够教学和实现。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0A1F1-8EAE-48A9-B91B-E8941797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1FB61-DA43-4BC6-AE68-CDEE39BE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样品制备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2E99C-0653-49EF-9EB7-6BBF7F2A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让材料样品被制造出来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6167E-2F8F-4D7A-BCBC-2BB4F228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336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F4666-1E9B-431C-8E87-626ABEC8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加工调控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6F654-110A-4FEE-8D06-0C5CEA2D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146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改变已有材料状态与组织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8DF9F2-5957-4654-816C-921C2413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7DD18-4C36-4564-A040-3A494DBE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结构表征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D2A8E-6C39-437A-97EF-40E9A5AF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146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材料是什么、长什么样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4DFC0F-9877-47C6-ACDE-B10575CD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336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594235-8ECE-4113-BF7A-96B0BCFA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669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物性测量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820DBB-9C73-4FD4-ADC9-C8A9B327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146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材料有哪些基础性质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0E5FF0-890B-49A3-935F-AC84FF7B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0F578-095F-4FBF-9D43-DA974425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功能测试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5DD311-16F6-4E54-8648-9FF67EAB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材料在应用情境下表现如何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2BA5D8-A2A8-4B38-A203-18BEEB97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890841-BA11-4FC0-B866-34ECD3FA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052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稳定与失效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198219-663E-4748-B9F7-50187D1D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529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材料能撑多久、怎么坏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37C57D-9609-409B-AE2D-17C167C0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719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1BCBF0-641F-4A50-8CC8-55CDA85B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计量与校准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3D52C8-190D-4FD9-BA5B-8B08CDF1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529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结果是否可信、可比较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5C2929-42F7-4064-9FF1-56539D98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719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5746ED-47FB-44B5-B6D6-62C1161C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052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高通量与闭环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1977EB-C24B-456D-AE04-C039C88F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529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如何加速筛选与优化</a:t>
            </a:r>
          </a:p>
        </p:txBody>
      </p:sp>
    </p:spTree>
    <p:extLst>
      <p:ext uri="{BB962C8B-B14F-4D97-AF65-F5344CB8AC3E}">
        <p14:creationId xmlns:p14="http://schemas.microsoft.com/office/powerpoint/2010/main" val="89872202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83A86D-6257-446B-9644-2BBFACAD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3B3FD-39C4-4FA9-BC15-670CA97A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分类细化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C3044-CBC3-48DE-BDD6-E814A5C0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18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1AB85-CE21-47E9-A1A0-4E78C6E4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55038-2EB0-44DE-8AF3-76DCE7A7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前四类：从做出样品，到知道样品是什么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6C990-3D70-43DB-8EBB-B3D770D3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这四类往往决定实验链的上半程。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3BBBE-9526-44A0-9F47-E87C4B7F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911F6-53FA-48D3-810A-093D699F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样品制备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50E2B-4B90-4BFD-A805-743148AD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定义：生成样品或样品库。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例：固相合成、溶胶凝胶、CVD（化学气相沉积）、PVD（物理气相沉积）。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SDL 关系：常是闭环中的执行端。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BA309-E9F8-41F9-B518-0433C45B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336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0B584-EA73-429F-8CAA-0BD54D3F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加工调控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B0FA0-D4A9-48A5-A38F-14A9DFC7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146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定义：改变已有材料状态。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例：退火、淬火、轧制、表面改性。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SDL 关系：常与工艺优化、结构演化问题相连。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EBA78-4A2E-4A0C-8EA7-48A5A1BF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B6E90-EA0B-4021-A005-0E8995FB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t>结构表征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4C7D1-5DFD-433F-9FDD-069BA09A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定义：回答材料的结构、成分与形貌。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例：XRD（X射线衍射）、SEM（扫描电镜）、TEM（透射电镜）、XPS。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BF6B3-3094-4813-AA48-D5351E01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719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CC0491-C1B7-4C1B-92AB-468B4B07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t>物性测量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A735F0-D956-4BD3-A13B-2ACB81BB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529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定义：回答材料的本征或近本征性质。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例：电导率、热导率、硬度、磁化、带隙。</a:t>
            </a:r>
          </a:p>
        </p:txBody>
      </p:sp>
    </p:spTree>
    <p:extLst>
      <p:ext uri="{BB962C8B-B14F-4D97-AF65-F5344CB8AC3E}">
        <p14:creationId xmlns:p14="http://schemas.microsoft.com/office/powerpoint/2010/main" val="28433635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C0E8FF-81AD-4603-8569-C57FDB3D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A3ACA-8556-4C93-85BF-70C512FE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分类细化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0955B-4170-41EF-AA91-3144F856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19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62E37-8139-4DB1-9432-C2B0DAA8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CBD60-5473-4B27-BA76-2B2872ED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后四类：从能不能工作，到结果是否可信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16AF7-33D6-4A7B-934E-A0B02E5C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这四类决定实验链的下半程和结果质量。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24320-927F-47BC-A9E8-7DC93E59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D6EC8-2A23-482A-81DD-E73DBFB2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功能测试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84A5E-49CF-4995-AA4F-78ADE26A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定义：材料在目标应用场景中表现如何。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例：电池循环、催化转化率、器件 I–V 曲线、传感响应。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EAA25-5CEE-49FD-9F00-C4268C5B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336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580B0-2F14-428B-8E29-CC10A855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t>稳定与失效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0BAF9-6592-4D8E-9AC4-35E09C12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146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定义：材料会不会退化、如何失效。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例：疲劳、腐蚀、热循环、湿热老化、击穿。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5761E0-FD92-4ADC-8BBB-F8DF1B52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FB62B-3553-4324-98BC-6B5F3A22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计量与校准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2F3725-47B4-4831-8950-4E5B5FAF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定义：保证结果可重复、可比较、可追溯。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例：标准样校准、空白对照、实验室间比对、不确定度评估。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FB79D8-C6D8-449C-B17B-1DBDC7C6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719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1CA10-5CD2-4FA0-ACF4-12F196A0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t>高通量与闭环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72796-14EF-49BD-B057-F237D624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529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定义：将制备、测量与决策集成为加速系统。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例：组合材料库、自动化 DOE、主动学习、自驱实验室。</a:t>
            </a:r>
          </a:p>
        </p:txBody>
      </p:sp>
    </p:spTree>
    <p:extLst>
      <p:ext uri="{BB962C8B-B14F-4D97-AF65-F5344CB8AC3E}">
        <p14:creationId xmlns:p14="http://schemas.microsoft.com/office/powerpoint/2010/main" val="173405453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1457FE-E911-4298-9235-390003F7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AFA8B-BB6A-4290-852F-BEAB24BF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输出数据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FDE4B-315F-4102-B0A6-C443AE8A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20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6E167-8C73-4496-85F7-41069454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D812F-E341-404F-8F7E-B8BDD8C4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不同实验类型，天然对应不同数据形态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D17FB-946F-475A-B6F3-BF4E9463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SDL 不是只优化一个分数，而是要面对不同观测输出。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C9CA0-7B76-4AAF-8C71-55EB780C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7C66A-DB5E-4D5C-AB4D-9B542479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7D70D-D8A5-48D7-B20C-4921DED6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E3CCB-8EE0-4734-A97B-BF7B1B64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典型输出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F93CD-37DB-4233-94A9-1543A31B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53F86-ECC8-4DDC-9113-E21BCF05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常见数据形态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B7B15-B5EC-46A7-8040-0EB48C30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80997-53C0-4C8C-9831-923CD083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对 SDL 的启发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4E308-E95D-4B36-A6D3-4404FDC1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077BD-61EF-4C0E-9ED3-F043991F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结构表征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F9EA9E-A884-453D-B433-CBD4AD18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7EAFA7-3814-4E5E-A08B-4B2FA95B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衍射峰、谱图、显微图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323253-380E-4E74-980E-B73C3773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C183B2-FDAF-47C4-9F10-166E6C99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图像/谱图类输出需先定义可比较观测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87C2C2-18EC-4626-BB14-245D808C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1E64D-1DA8-4171-8B46-666BE6E0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物性测量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63DDDA-7FB3-47A2-823F-EED84ACF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7E56CB-DA9F-471F-8832-58404590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标量、曲线、张量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76AFFD-BBB5-4B5D-94AE-F558B881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E81050-FF31-4DE1-8F29-D6968ABC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目标函数常较清晰，但噪声与重复性关键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73B5D3-3FCA-42E8-A648-07913E88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534BFE-CB33-4A5C-876F-CBFFE007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功能测试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8EDC6B-9905-4CCE-8395-604B87F6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0F1DD1-D060-4B02-9313-AC186019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效率、寿命、选择性、I–V 曲线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88256D-9132-4FB4-95FF-2491CAF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3F7656-0805-4B97-8AAC-9FE854E9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往往是多目标、多约束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E05450-2279-4A4F-9A3E-77439A30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1AC9D9-22CF-45F4-BCAA-2EC4CD97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失效实验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7E2221-E9BF-4088-A32F-32739E65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8160E1-B2FC-4A43-B2B3-DCF9DD02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寿命分布、失效模式、阈值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C769BF-B784-4583-8D43-2A3AE905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737407-5F3F-4882-959F-EFBC164B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时间成本高，闭环更需谨慎设计</a:t>
            </a:r>
          </a:p>
        </p:txBody>
      </p:sp>
    </p:spTree>
    <p:extLst>
      <p:ext uri="{BB962C8B-B14F-4D97-AF65-F5344CB8AC3E}">
        <p14:creationId xmlns:p14="http://schemas.microsoft.com/office/powerpoint/2010/main" val="28142151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36FD37-E147-432E-B210-D9BC2CE7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921F9-8011-46C6-8780-D4FB9FD6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第三部分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77D57-E9B6-4A0E-A36C-9A7673F1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21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849C4-499B-49C4-B49D-06436035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624FB-AE9A-4C0C-B33F-062F94DE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FBBF24"/>
                </a:solidFill>
                <a:latin typeface="Consolas"/>
                <a:ea typeface="Consolas"/>
                <a:cs typeface="Consolas"/>
              </a:defRPr>
            </a:pPr>
            <a: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16B6C-7772-4046-A805-13A6D030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传统方法论：试错法与 DOE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D7EFD-B7AB-4BB1-98B5-6D71232B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28900"/>
            <a:ext cx="742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SDL 不是从天而降，而是沿着传统实验方法论继续往前走。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54E7F-8DE7-4A02-84A3-9914F61A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400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3453E-95FF-4925-83BB-E9576441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理解传统方法的成功与边界，是理解 SDL 的前提。</a:t>
            </a:r>
          </a:p>
        </p:txBody>
      </p:sp>
    </p:spTree>
    <p:extLst>
      <p:ext uri="{BB962C8B-B14F-4D97-AF65-F5344CB8AC3E}">
        <p14:creationId xmlns:p14="http://schemas.microsoft.com/office/powerpoint/2010/main" val="214213735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C36D92-923E-4DDF-9423-D1FF3DF2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F4CB0-F738-467B-BD21-FC3A59D1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试错法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F7DD6-A57C-4371-9F4E-86F01A7D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22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21B79-4A31-47C4-8DFB-ACFE3377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E7C85-1CF7-44B4-A66F-892BBC2D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试错法为什么能长期存在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47887-9BD3-4EE1-B3FA-3A5D268E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因为它并不愚蠢，而是把经验、直觉和局部反馈编织在一起。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FCEB7-0A93-43F8-9D2E-79B46121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F41C0-018B-4FD1-AA3B-2CE39748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很多实验空间在早期并不清楚，研究者先靠经验摸索局部可行区。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资深研究者常具备强烈的材料直觉和工艺手感，这在复杂系统中非常有价值。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当实验吞吐量低、变量数有限时，试错法往往是现实且高效的。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D4255-EA84-4B20-B579-8D6A4EAD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39C8D-EB90-4957-B7B3-4F6AE5F5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要防止的误解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D2FA5-B95F-4170-BBB5-A667AF57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不能把传统方法 caricature 成“瞎试”。很多真正高水平的试错，本质上是压缩版的人类启发式搜索。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18DCF-DF75-4A83-AF02-C7859FB8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CE1E7-ED78-4927-9CBA-E5C9E776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BF5F5-12B3-4588-B37D-81CBBC32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一旦变量增多、实验代价升高、目标转为多目标优化，试错法就很快遇到上限。</a:t>
            </a:r>
          </a:p>
        </p:txBody>
      </p:sp>
    </p:spTree>
    <p:extLst>
      <p:ext uri="{BB962C8B-B14F-4D97-AF65-F5344CB8AC3E}">
        <p14:creationId xmlns:p14="http://schemas.microsoft.com/office/powerpoint/2010/main" val="118572680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D80B69-81A0-485B-84B0-D6718CDB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5F627-6D68-4640-BD28-8CD8D81E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DOE 谱系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38020-6361-4C6A-A02D-757796AE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23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F66E4-C37E-4998-9D9F-8CA5AC6F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D28D4-CBA8-469D-9482-57678C76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从 Fisher 到 Box：DOE 是现代实验方法论的主干之一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7107A-A3E3-4D5F-B79D-DA98606C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它先解决“怎么设计实验”，再逐步走向“怎么在实验中学习”。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FE498-31BC-42F7-85DB-1CBA2843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7DA89-C9E0-4B4C-908B-C1918CA0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1930s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F8F09-ED82-4A88-934E-976D3A44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Fisher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8D553-14A3-4227-BF35-13F82C5F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22002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把随机化、重复和方差分析系统化，建立现代实验设计基础。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163E5-589A-4F80-BBAF-4410B198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91F97-5B43-4A45-B3A5-0529E731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5717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5C4ED-FBE6-4EAA-B4AC-F60CF8BA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241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1950s–70s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87135-C2EE-42A8-B95B-D6EE429E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71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工业 DOE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A7937F-4250-41A4-9F2B-862C98CD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52800"/>
            <a:ext cx="22002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全因子、部分因子、响应面等方法进入工程与工艺优化。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8EA6B4-F46E-4489-9B1F-919D3160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2F3FA-367D-4C31-995E-9FAF3295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93ACB-F9EC-402E-8C9C-CB8789A5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BBF24"/>
                </a:solidFill>
                <a:latin typeface="Consolas"/>
                <a:ea typeface="Consolas"/>
                <a:cs typeface="Consolas"/>
              </a:defRPr>
            </a:pPr>
            <a:r>
              <a:t>Box 时代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CF3943-A964-4903-93C4-2A14B4B9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序贯思想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016BAC-ED09-4457-AF37-D0207187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22002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强调试验、学习、再试验；统计设计开始接近闭环思维。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D9369B-13EE-4FF5-AF2F-32CFA522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D322D4-49B2-4843-A80A-4FA1C610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5717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0452BF-1B43-44C6-AE2E-88E64F0E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241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B7185"/>
                </a:solidFill>
                <a:latin typeface="Consolas"/>
                <a:ea typeface="Consolas"/>
                <a:cs typeface="Consolas"/>
              </a:defRPr>
            </a:pPr>
            <a:r>
              <a:t>今天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8C089C-6E29-4104-A11C-A3AB7E08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71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与 SDL 汇流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82790-3EF6-43DB-94A8-19CBE108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352800"/>
            <a:ext cx="22002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DOE 继续负责初始化、筛选、结构化采样，并与 BO/SDL 集成。</a:t>
            </a:r>
          </a:p>
        </p:txBody>
      </p:sp>
    </p:spTree>
    <p:extLst>
      <p:ext uri="{BB962C8B-B14F-4D97-AF65-F5344CB8AC3E}">
        <p14:creationId xmlns:p14="http://schemas.microsoft.com/office/powerpoint/2010/main" val="210482035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B84E15-859D-4B6A-B2BA-B9B4A07B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58BB5-097B-44E0-94F8-8E42DE7C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DOE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483A4-84F9-4876-A680-E43EA361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24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A5953-5868-45EE-8D42-C1F8CA55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92489-3D4C-48E6-824B-ECF78FD4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DOE 的核心贡献：把实验从“凭感觉改变量”变成“结构化采样”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28F59-575E-408B-9E35-36D1CA33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它解决的是实验设计问题，而不只是统计分析问题。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2CD66-E78C-4AB4-8CF7-D52AB598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177AB-0C06-412C-8C3B-979F51F3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明确因素、水平、响应和约束。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通过有计划的采样区分主效应、交互效应和噪声。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在有限实验预算下，提高信息增益和解释能力。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6FE62-0078-48E2-8576-0838EFA7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B3B59-C724-467A-8DE7-32810DD5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DOE 常见家族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3BEA1-E86F-4067-8D22-7FAA9833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全因子 / 部分因子 / 响应面 / 中心复合 / Box–Behnken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1104A-290C-4B08-A3C3-D7CC79AB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98CBC-2C66-461D-B404-4F94FCFC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更重要的是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4EEE8-AE26-4F25-800B-85525B5A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DOE 的价值不仅在“省实验”，更在于让实验变得可解释、可复盘、可交流。</a:t>
            </a:r>
          </a:p>
        </p:txBody>
      </p:sp>
    </p:spTree>
    <p:extLst>
      <p:ext uri="{BB962C8B-B14F-4D97-AF65-F5344CB8AC3E}">
        <p14:creationId xmlns:p14="http://schemas.microsoft.com/office/powerpoint/2010/main" val="59137924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6B7A63-FEF1-464E-8893-9E36F881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F3DC2-CCDB-479C-ABAB-506C78F8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DOE 家族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9C6BA-EE84-412D-B638-22F20028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25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6D5A1-7779-447E-9616-3F71654A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733C7-D6E1-49D0-990D-993C3728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DOE 家族怎么选：筛选、建模、优化各有分工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9D363-A463-456E-9BC7-61EAD057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DOE 不是一个方法，而是一组针对不同实验阶段的设计策略。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95C79-096F-4EBC-B9AA-E0F51D96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B649E-CC19-434C-9A8D-8C9E62C0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全因子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F7549-0A1D-47CF-BF5E-8F1EAFB9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因素少、预算足时，完整摸清主效应与交互。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EC66D-89FC-4095-89CE-0947374D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D61EE-A252-43AC-BE1F-0BB71B39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部分因子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D9BDA-8BFF-4BE0-B313-734CB029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筛选阶段优先，快速找出重要因素。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38554-5A49-428F-AD4A-ECA7F6FE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27ED1-5B33-4A84-A407-1CA9A6F7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t>中心复合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E34851-10F8-4A8A-A215-82D3A681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适合建立二次响应面，观察曲率。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9F82C-5D77-408A-AD53-152AC0C1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BBD6F3-269C-4622-8A77-BB4221D4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t>Box–Behnken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3E8F16-5AB8-42DC-BBB0-0E93590B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减少极端组合，常用于工艺优化。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FA21A2-245B-4FEB-8EDE-7C725991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F99F39-E03D-4C67-A521-C0967058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t>响应面方法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30C01E-08AD-46B1-B3C0-DE6F8AE3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在局部区域建立可解释近似模型。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9DFDD8-A060-4536-844B-6181B43A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BF4F19-7671-464D-B1BD-BD007605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真正的顺序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FF05BD-CBB3-465E-A4BB-1A795142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先问实验处在哪个阶段，再选 DOE，而不是反过来。</a:t>
            </a:r>
          </a:p>
        </p:txBody>
      </p:sp>
    </p:spTree>
    <p:extLst>
      <p:ext uri="{BB962C8B-B14F-4D97-AF65-F5344CB8AC3E}">
        <p14:creationId xmlns:p14="http://schemas.microsoft.com/office/powerpoint/2010/main" val="31153013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0D1733-21EC-4C35-9DE4-A9A22AC8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518B3-28E2-4778-A4D5-08017FB7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DOE 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38362-3996-47B0-A61E-BD7B1EDF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26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28357-E1A4-4D8F-955E-46297F70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73F16-8A8C-49FE-87A6-98128F03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DOE 的最小词汇表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E6A48-A699-40E3-82AA-84FA9517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学生至少要区分这六个词，否则后面讲 SDL 会混。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59161-AA66-4401-BDA2-0450B0DD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5D4D4-1E51-46CA-A6B3-F22BDA3C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因素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B711A-7722-4FDC-B85A-4F5E0A11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我们主动控制的变量。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17C36-D0FD-4BE6-9D7B-43D7E907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A7935-0D9C-4E68-B048-1A0AFF5B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水平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F077E-48EB-4EF8-BA8C-448F007E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每个因素允许取到的值。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8C3DD-741D-4B64-AAAB-8DC34A13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E7B10-D670-4C19-84B3-D9241093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t>响应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9EDD2-241A-4610-A3C6-B779A4E9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实验测得的结果或输出。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D744A-C020-4571-8325-02BC2EE1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CD9562-32AB-455E-A112-234D4560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t>约束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82F39A-9E7D-44C6-ABB0-45C3C57C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安全、成本、可行性边界。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9BA56C-6EBB-4444-9B90-66BD9E9D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721A0E-DF6C-4E22-817D-20FDD1E6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t>主效应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8CF4C9-8C80-40A3-8BC6-37588C5F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单个因素变化带来的影响。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75607D-FA60-4681-94AB-418248D9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AC48D1-46BA-4E52-A4E7-64D6F72C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交互效应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6DB4E9-D455-4E70-AFC4-74748AB0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因素组合共同作用产生的影响。</a:t>
            </a:r>
          </a:p>
        </p:txBody>
      </p:sp>
    </p:spTree>
    <p:extLst>
      <p:ext uri="{BB962C8B-B14F-4D97-AF65-F5344CB8AC3E}">
        <p14:creationId xmlns:p14="http://schemas.microsoft.com/office/powerpoint/2010/main" val="146079662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C0A665-4D25-47E8-9748-28472DC3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C7D89-4F1F-4FA6-8209-F75DC3B1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方法比较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548BE-F845-4500-95DD-9DF208B0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27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0F221-500F-4FD3-A8A5-787E73E6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E4D59-ED33-4FB9-BAA2-095AB290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试错法、DOE、SDL：不是替代关系，而是连续谱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72820-716C-49E7-95ED-9DB0788A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每种方法都有适用边界。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F3D54-B5C2-4815-9FC6-D123621E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DDF4F-C115-4793-91D4-4DFB1611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800A5-BF56-434C-820D-850036E8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4888E-32A4-4A06-B760-7A040067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试错法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4775F-9947-4D5A-A493-12B617D4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EA370-11BD-4179-8834-CDB1EF1A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DOE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C281F-B673-4FD1-A70F-EC3650B8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142AD-B44F-40BE-AB5A-B15E2443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SDL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17263-A602-4AE7-B52B-15D60485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563C3C-91D6-436B-87EF-D7CB97F7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策略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3C618A-6F47-4C87-A368-E4585356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5C8692-D3D0-460D-9B7D-508DBABF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经验与直觉驱动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3C5C83-3DA3-4F5A-8751-EE24B4FE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773C4D-25BF-4F41-9169-8C5FF6DB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统计设计驱动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BF88CA-99AB-40D8-BFEA-7BFA1BCE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28A4CB-A336-440B-A853-6DE73279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模型与闭环决策驱动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B9937E-C703-4031-849F-691A83E4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11C7CE-0A07-415C-969D-D3E11E89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变量空间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3EA1E2-D0AE-4377-88EE-9C1DC49F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A6EB2E-7D6C-4EF4-A0DB-2A3ADFD0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低维更友好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FFAD94-16B3-4D1B-A459-AE8EB080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C01915-B9F8-4FBE-A4FB-882B144F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中低维较合适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2412A5-6B2D-4486-9718-FA5AD56D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0395CF-0B96-4805-8E6F-7AFCDF78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高维潜力更大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23FB92-8332-4295-8846-F6309A9C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3DF139-F492-40C6-9A58-22143996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不确定性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A2D5C8-BFE6-4AE9-9C7F-5CF68FA8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C09959-1ACF-4825-B13C-03107FC3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通常隐含处理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677098-4B06-4C47-ABE4-5156BA53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54F887-19FD-479A-8E7F-8806B3AC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残差与显著性分析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CA887A-03AB-4FB3-BC4B-6E1354AE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FA9D70-2AF1-4869-9B18-EB4D8DFD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显式后验与不确定性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FA8FAF-C6C9-4F70-861E-AB7A626C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BD4ECC-52A4-4455-A7A5-24BFAE7A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迭代速度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9BBDFA-604A-4DC7-8967-E0625C91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B9457A-41FC-4104-A42A-9BF4A674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慢，强依赖人工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8ECEB9-2BF6-44AC-B40A-28D2E15E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9DC559-D59C-4D84-8541-5E3AF493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中等，常按批次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84AEC4-9312-4A50-AA77-64A6D728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438192-1EFB-4C95-8B9F-E1507CB1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快，可闭环运行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CED44C-2B94-4EB5-980D-6FE91C4E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1B32D1-3574-4246-A0AE-BF8622B8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最强项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727EB9-9A99-4F26-B4A3-E11A8813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514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C3DBF8-78C1-47A7-8BF0-CF8006C0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10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早期摸底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EB4013-319B-4397-9347-704086C4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514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295C1F-BFE9-4414-BF68-6C43E846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0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筛选与主效应识别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274995-677E-47FC-B361-7F0A7A3D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14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638493F-63F8-47B0-9E86-421160A5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0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昂贵实验下的数据效率</a:t>
            </a:r>
          </a:p>
        </p:txBody>
      </p:sp>
    </p:spTree>
    <p:extLst>
      <p:ext uri="{BB962C8B-B14F-4D97-AF65-F5344CB8AC3E}">
        <p14:creationId xmlns:p14="http://schemas.microsoft.com/office/powerpoint/2010/main" val="82861949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567452-1F13-489F-B7AA-09F55EA4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84945-F650-43B4-96E1-432D7230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连续性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0EA11-38A3-48DD-B4D5-5F28F9FB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28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55CC6-4D20-4B14-B84F-C75CDA0D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35D17-3966-48A0-978C-491295A9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从试错法到 SDL：真正变化的是谁来提出“下一步做什么”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7BC16-0158-451E-AA3D-1DB82F7F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这是方法论上的连续性，也是一条自动化程度逐步提高的路线。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D7CFC-0A42-4D52-8FA4-4D4B9796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86D83-BA44-4E30-8149-D0442F65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试错法：主要由研究者直觉提出下一步。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DOE：由预先设计好的统计结构给出下一组实验。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SDL：模型根据现有观测和不确定性，动态推荐下一步。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AC05D-95FA-4810-8E74-16D0ED0B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D7A244-9837-48A6-8A01-C3FB1D9D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所以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97030-0E47-42E4-BC71-4499F3C5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DOE 与 SDL 的区别，不只在模型更复杂，而在推荐逻辑从静态设计转向动态闭环。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8A831-D174-4200-BCEA-0E5BC79F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0372C-AA96-4B60-B88D-4DBC3FB6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关键问题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AD46B-B57A-4A6E-A63C-F41B2D1E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“下一步做什么”由谁提出、依据什么提出、如何被验证。</a:t>
            </a:r>
          </a:p>
        </p:txBody>
      </p:sp>
    </p:spTree>
    <p:extLst>
      <p:ext uri="{BB962C8B-B14F-4D97-AF65-F5344CB8AC3E}">
        <p14:creationId xmlns:p14="http://schemas.microsoft.com/office/powerpoint/2010/main" val="342613476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BB42C5-D1BE-49B5-8332-63E5B7F7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5783E-14F1-4685-8637-4B560099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DOE 与 SDL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0DF75-4929-4BE2-8278-E83A80F6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29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9B991-055B-409B-8E5B-B7B91282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D9AEF-62CC-421F-8E03-ACF62BD4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DOE 会死吗？不会：它会与 SDL 串联、并联、集成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0950A-9C71-488B-8363-4AE8CE8A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真正的问题不是谁取代谁，而是谁在什么阶段更合适。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DCD6A-D59A-46CF-8010-651F2AF5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B2E5A-DA25-44C4-9BBC-22E869FC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2DC27-4325-49B1-AC82-4582D0C3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E9B13-BC07-4B78-8A1B-6B3906B8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典型场景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3AF29-CE00-47E0-8683-F44EA720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D2C85-7FDE-48F4-B9FD-04A0605B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DOE 的角色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9C6D8-0F71-41B8-BD73-DC04E179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D85E18-A2D9-4E61-A29C-312F619E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SDL 的角色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B719F-608D-4884-82BC-DB1406CA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233494-3E3A-47C6-BC99-D5E634A6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串联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F67DE9-0C3C-49F3-AEFB-E13021F6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C6E4D-DEC7-472A-A576-7E034FF9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做初始化、筛选、缩空间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404BB8-277E-46FB-BB56-0D4C6552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932CDB-7B23-4684-A834-4B7B2751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在高成本区域做序贯优化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682DD7-E3B2-4CA1-8EEE-49C0737A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7B54B5-14C7-4AF9-A4DE-FF0EEACE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并联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409FC3-01DD-4B2B-A7A0-113F9FC9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146DC3-3D7A-407B-B900-C62BA2FA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某些子问题用批量统计设计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DC922A-38A6-44E2-986B-86DD556F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DAA1AF-6C17-41A8-B2D4-9690823A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另一些子问题用动态推荐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90C8D5-482E-40E3-A753-C560BB21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BC838F-3CD5-4E79-9677-2BC51D0E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集成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B4A159-012D-4A0A-9A14-B257018E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A20512-7830-46A2-94EE-AFF6EA57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保留因素、响应、约束、设计点语言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301B55-2EA7-49AA-87D2-7BFB2777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F2E79F-ECE8-49EF-8371-F8A52C76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把 DOE 思想嵌入初始化和闭环更新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4B42D8-3F57-4080-9D3E-182717E9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696734-A945-40D2-AFD9-6C3E9D89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共同边界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49FE4E-1E0C-4959-992D-C4454B33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BDDA8E-D6EC-4AB6-9A47-410DAB70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可解释、结构化、低成本学习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90E065-2597-415B-8264-5D87BE9C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FA43E5-5EFE-40F1-8E08-7C62C4B0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高数据效率、动态决策、显式不确定性</a:t>
            </a:r>
          </a:p>
        </p:txBody>
      </p:sp>
    </p:spTree>
    <p:extLst>
      <p:ext uri="{BB962C8B-B14F-4D97-AF65-F5344CB8AC3E}">
        <p14:creationId xmlns:p14="http://schemas.microsoft.com/office/powerpoint/2010/main" val="1764889495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F3787C-12FD-449F-B108-34C052EB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89224-DC69-433A-9F41-A1608125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第四部分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637B3-0838-4D04-AE32-7D8DA635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30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E8FEF-F9A5-4344-9421-B82D4314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9CFE7-D7DB-497B-8FAE-65794F12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34D399"/>
                </a:solidFill>
                <a:latin typeface="Consolas"/>
                <a:ea typeface="Consolas"/>
                <a:cs typeface="Consolas"/>
              </a:defRPr>
            </a:pPr>
            <a: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C769F-5AE1-4B8B-A8B4-F741A520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AI 时代的实验：什么是 SDL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E9AD3-0937-40A1-9A8B-F1C477EB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28900"/>
            <a:ext cx="742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SDL 的关键，不在“用上了 AI”，而在“实验开始形成可更新、可执行、可复位的闭环”。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B8E6F-79E2-49D5-B703-23A013BF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400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41D47-18FB-40A3-B01C-FE0B2D93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模型不再只解释已有结果，而开始进入实验行动链。</a:t>
            </a:r>
          </a:p>
        </p:txBody>
      </p:sp>
    </p:spTree>
    <p:extLst>
      <p:ext uri="{BB962C8B-B14F-4D97-AF65-F5344CB8AC3E}">
        <p14:creationId xmlns:p14="http://schemas.microsoft.com/office/powerpoint/2010/main" val="25873994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753338-5271-48E7-A73D-7D60C556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553D3-5545-45F0-B344-4C54933F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SDL 全景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EF673-8BEF-4867-B95E-F4EF7A54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31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FEE47-D594-4FAC-946D-6CD7061E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81F97-2C41-4CF2-A99B-C60518C5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在聚焦单个案例前，先看一眼当前 SDL 领域全景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A0753-A495-4A30-BD54-291DCB4E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A-Lab 重要，但它不是唯一代表。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9B469-706D-41F5-8108-22EF51B4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8FBBB-D293-495B-9BA7-039167B0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化学反应优化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90028-D10E-4A6B-9EB5-429771F1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连续流、催化、反应条件优化是 SDL 最活跃方向之一。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A0377-E1D7-4797-B659-882BDAF2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BFB74-D076-4694-A449-54CA866C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材料合成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D4562-D50D-4468-B30B-0B1EF8C4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无机固相、薄膜、配方与聚合物是代表性场景。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173E1-89AC-4956-AFA9-77AEE30F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DDBF69-7EBE-456F-95EF-2377F45A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t>自动化编排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550F74-DB22-4860-886D-ABAA0F0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ChemOS、工作流调度和设备编排提供系统骨架。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0C6E3-0ED0-437D-8CE8-074A7217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0F70C9-5D1F-47E9-B597-D93E5C22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t>高成本实验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4FC8AA-77F3-4906-8A79-20884098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昂贵、慢速或低通量实验更强调数据效率。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0F81C-CF33-447D-8931-15110721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2AECB7-CC29-403D-A42F-9FEDD1F3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t>低成本 SDL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776B0-9224-469D-AD95-41DA406D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frugal twin 与低成本平台强调可复制和教育可及性。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1FEC05-E909-4F34-AA2F-F383EB07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2048F2-1984-45B0-87DF-85C58AB0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主流挑战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8700B6-5F9E-43DD-BEA3-56BF27BD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标准化、观测定义、验证口径和人机协作仍是共性难点。</a:t>
            </a:r>
          </a:p>
        </p:txBody>
      </p:sp>
    </p:spTree>
    <p:extLst>
      <p:ext uri="{BB962C8B-B14F-4D97-AF65-F5344CB8AC3E}">
        <p14:creationId xmlns:p14="http://schemas.microsoft.com/office/powerpoint/2010/main" val="655229826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14CA5F-6593-43E9-B419-B316A10E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05CAD-DAB5-4581-B483-765A9212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SDL 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9B06A-8B96-4D80-BC79-721C915B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32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D10D5-4D49-4E8B-97BE-DFDDD49F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A664C-DD19-4060-9A1C-0CD15632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SDL：模型驱动的实验闭环，不是单次预测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C876B-DA0D-47D8-89AC-AEBDEB60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它至少包含目标、观测、更新、推荐和执行五个环节。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A2859-1707-4474-A39D-645F0159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1B645-5D2D-4DD4-B3BA-0EA66E76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定义目标：我们到底要优化什么、约束什么、测什么。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执行实验：真实硬件或仿真实验台给出观测结果。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更新模型：把新观测吸收进当前知识状态。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推荐下一点：根据目标与不确定性提出下一个实验。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FA81D-DB3B-40F6-9852-5E9E5C89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44548-0F43-412B-B8AC-8DE7C41C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一句话定义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4B956-2A35-43A3-89EA-BFBF88F7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SDL = 可自动迭代的实验—观测—建模—决策—再实验系统。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1482A-BF03-4D2B-8F24-A0C032BE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FDC34-DC13-427C-B942-6F580615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要强调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40D44-0A50-4CD3-8532-603A250C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预测模型本身不等于 SDL；进入闭环才是 SDL。</a:t>
            </a:r>
          </a:p>
        </p:txBody>
      </p:sp>
    </p:spTree>
    <p:extLst>
      <p:ext uri="{BB962C8B-B14F-4D97-AF65-F5344CB8AC3E}">
        <p14:creationId xmlns:p14="http://schemas.microsoft.com/office/powerpoint/2010/main" val="28228947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8069DF-2B2E-4D4D-8F82-E6BD34E8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0131C-F2DC-4702-AA4D-F8DEE657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闭环结构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9AB92-5ACC-4234-8412-4830CBB5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33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BA3E0-3B86-4DD3-AFEC-BBEEE507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2C72E-D5ED-4739-AE4A-1525C86B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一个最小 SDL 闭环包含哪几步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2C55C-102A-4AF5-8D98-E5B9851B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推荐—执行—观测—更新—再推荐。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AF4F8-BB42-4B49-BAA5-29FCC9E0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9716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D1D3C-0EEC-4EAC-97E0-41774C51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5BDF5-47BA-46B4-B77E-567D68F1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定义目标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135C9-D3AC-4217-A4CD-67A906E1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1666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目标函数、约束与可测指标被明确。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B5666-FABB-4E0D-A034-4C8E8B0F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ED772-D9BE-4D7E-927C-678FA0AB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71750"/>
            <a:ext cx="19716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72B8E-744A-438C-A639-8DC0D530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724150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6B3FA-B401-4AA6-8F55-8EA0E641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97180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执行实验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3EF2CE-4AEC-4DAC-9F36-F1F576D9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352800"/>
            <a:ext cx="1666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硬件或模拟器运行一次实验。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E2DA4D-9AC9-4D35-869E-39D2514F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B6879-B985-4A8F-A435-8AC80E6D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71750"/>
            <a:ext cx="19716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7C048D-BAEF-497D-850B-BD5C9B65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24150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BBF24"/>
                </a:solidFill>
                <a:latin typeface="Consolas"/>
                <a:ea typeface="Consolas"/>
                <a:cs typeface="Consolas"/>
              </a:defRPr>
            </a:pPr>
            <a: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B69A7B-8985-45DF-AA9F-72A88414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获得观测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021E83-D760-4630-AB44-33805E2F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52800"/>
            <a:ext cx="1666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得到谱图、曲线、图像或标量。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BD2451-73C3-48D5-ACE5-4EDEFF57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5DB1B5-2A2C-458E-A240-1FD680E8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571750"/>
            <a:ext cx="19716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CBE186-194F-4BAE-B17A-3ACE8FE6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4D399"/>
                </a:solidFill>
                <a:latin typeface="Consolas"/>
                <a:ea typeface="Consolas"/>
                <a:cs typeface="Consolas"/>
              </a:defRPr>
            </a:pPr>
            <a: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4ED6B3-6ED7-463B-B62F-61D9F8C7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7180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更新模型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0CDF06-72A8-4D78-976B-68F1C2DF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52800"/>
            <a:ext cx="1666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模型吸收新数据，修正对空间的理解。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288349-03C2-4B24-A70D-5852881F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5BF0F6-0A30-44D5-BD24-72BB8B9C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71750"/>
            <a:ext cx="19716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9AEAB6-E986-4107-9F1A-11706F17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24150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B7185"/>
                </a:solidFill>
                <a:latin typeface="Consolas"/>
                <a:ea typeface="Consolas"/>
                <a:cs typeface="Consolas"/>
              </a:defRPr>
            </a:pPr>
            <a: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6B602A-0BC8-4B9F-A67C-2BD1F824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7180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推荐下一点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CEDE76-826D-485A-A8D2-E15B6F91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52800"/>
            <a:ext cx="1666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在探索与利用之间做平衡。</a:t>
            </a:r>
          </a:p>
        </p:txBody>
      </p:sp>
    </p:spTree>
    <p:extLst>
      <p:ext uri="{BB962C8B-B14F-4D97-AF65-F5344CB8AC3E}">
        <p14:creationId xmlns:p14="http://schemas.microsoft.com/office/powerpoint/2010/main" val="2086917044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EDBA12-2737-4FA9-B234-92585302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D8507-C344-48F6-AB81-D3336739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概念分辨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DC909-4F4F-4A8E-BA78-9CFCFB1B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34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95542-BF0F-4242-B651-47A7FC3D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65BFB-217A-4273-A2E9-A9DAA23E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目标、约束、测量：这三个概念必须分开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F1677-5D81-4C8F-A5A7-F7181F92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它们在很多讨论里被混在一起，但在 SDL 设计中完全不同。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3AE2B-5640-4D23-A1FF-14B092E9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D9F50-5E4D-497C-BF45-A0EECF8C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565A5-39D4-45FF-B300-F01F36A3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我们希望优化的东西，例如产率、匹配分数、寿命。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DE657-3189-4C2B-843D-516A84D3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48E02-439B-4B4B-9D26-5D663F31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t>约束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AF3FA-E9D4-4B95-B923-41A2C398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不能越过的边界，例如安全、成本、时间、材料稳定性。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E0664-2D08-4A82-84EF-A6E88BE7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92EBA-A160-4882-9FFA-2E28FA71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t>测量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1674F2-9F94-45BF-A19D-9F1A2B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实验可直接得到的观测，例如峰位、颜色、光谱、电压。</a:t>
            </a:r>
          </a:p>
        </p:txBody>
      </p:sp>
    </p:spTree>
    <p:extLst>
      <p:ext uri="{BB962C8B-B14F-4D97-AF65-F5344CB8AC3E}">
        <p14:creationId xmlns:p14="http://schemas.microsoft.com/office/powerpoint/2010/main" val="539285435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8533B4-AAFB-4E78-AE0F-CAB58DBA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59A62-28D3-4A08-9297-ECA52F28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核心概念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AF491-EB03-4E58-AA57-4B3430E7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35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10592-1198-4524-BA11-B624A087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85AE8-38D9-4AEC-819A-852B42EE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SDL 的三个核心概念：代理模型、不确定性、采集函数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3935B-8721-41F8-B8A4-DD729032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它们共同回答“下一步做什么”。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76567-32DE-49F8-8B82-73D48E33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A184A-38B6-4023-BCEB-9DA2582C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Surrogate model（代理模型）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16DE7-CB2E-4F00-959F-EBCD6050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用较便宜的统计模型近似真实实验响应面。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C5427-7B85-47AE-B9C5-EFD013E8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95D0E-7AD2-4D2C-B339-47829D20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Uncertainty（不确定性）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342CB-208F-4DE6-9CDD-795B7692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告诉我们哪些区域还看不清，因此值得继续探索。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EE429-9B4F-472B-AD67-828EB767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E423C-907F-40F8-A157-BAC8AF23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t>Acquisition（采集函数）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1DE0F-4C7E-48CC-A53D-67366D26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平衡探索与利用，给出下一实验点。</a:t>
            </a:r>
          </a:p>
        </p:txBody>
      </p:sp>
    </p:spTree>
    <p:extLst>
      <p:ext uri="{BB962C8B-B14F-4D97-AF65-F5344CB8AC3E}">
        <p14:creationId xmlns:p14="http://schemas.microsoft.com/office/powerpoint/2010/main" val="1146814511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CDCB21-590E-45DB-AB03-4E1B60A0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3B255-6AC9-4077-80C3-89D30D01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代理模型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427B4-1B16-4A6B-95D7-AC709C0F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36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B8552-485D-440F-B84F-EE30B737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414DF-8702-4B43-857F-5A1706CB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代理模型不止一种：关键是你要近似什么、数据有多贵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A29A8-A7F9-4F1B-BF33-ED635294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不同 surrogate model（代理模型）适合不同实验地形。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F8954-4AFD-45E0-8343-F4120996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D537D-C16E-4FE2-826F-B66D9DB3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164FE-FF39-4C3E-B56E-A95AD381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F90C3-9B79-4D64-A96A-D53CA63E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代表方法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53EE1-64E8-4DF9-BFC9-5C03D966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815EF-2C85-4447-A5EB-5866C7DC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优势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775C4D-6571-4EA6-BC61-CD65185E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88232-C1BF-43C6-9964-A98D9362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局限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82FD0-77B5-4204-BE0A-7439E2C5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143BC-A914-451E-B2D2-A8202E57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Gaussian Process（高斯过程）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510AF-B7FE-4D04-8C04-139B7545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9D1E6A-9A5C-4D26-AF9E-CFBE2D40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小样本、可给不确定性、解释性较强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39E20A-EDDE-48D2-AFF8-B158C5A4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3C108C-2746-4930-A013-12E795DC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高维和大样本下成本上升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44B825-B876-4163-A6D4-806CA7D5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95B27B-EE60-4A1D-BFA5-C51EF154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Random Forest / Tree ensembles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168E43-7EAB-4BBB-B8D0-FF0B1FC7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E143ED-31C9-4853-BC7E-4969C593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鲁棒、对离散变量友好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723487-F1E3-43F1-BA21-32B92E78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6870F2-2F85-4AD3-86F8-7CF29135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不确定性表述相对间接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7CDC37-3AD2-4B50-B113-586E4CCF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F2F743-F110-4B7B-8AA5-C9A451FF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Neural surrogate / deep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2C2F38-F546-42F0-9B48-5C4AD3D6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EB3E26-0CFC-4537-8E50-FEBF3E63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适合高维复杂观测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C696E2-371E-4ADB-868C-FCDEE3B0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EE8FBC-BB09-4C46-94C2-FD8F030C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更吃数据，校准与可解释性更难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4CF281-03F2-4C5F-8FA3-4847EDED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4C231C-97D0-4A25-9DFA-7B602C41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Physics-informed / hybrid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D1EA90-BE32-4B5A-9E1C-29DAF05A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D39270-132A-4A4D-A15B-D83326E5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可把机制先验并入学习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CB2BE8-0B23-4C87-92B7-316495F3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4A5ED0-05FB-4162-AFED-C3FA6FDF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建模门槛更高，依赖领域知识</a:t>
            </a:r>
          </a:p>
        </p:txBody>
      </p:sp>
    </p:spTree>
    <p:extLst>
      <p:ext uri="{BB962C8B-B14F-4D97-AF65-F5344CB8AC3E}">
        <p14:creationId xmlns:p14="http://schemas.microsoft.com/office/powerpoint/2010/main" val="1288962384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DA9D88-B4EE-4731-BFEA-8946DC94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6D824-20B1-4699-A9CD-A6F06EDE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不确定性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692AC-322A-4CD2-823C-C2D543C6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37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E88DF-39AE-461F-BCEA-8F8588DF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F8C9D-FCEC-4631-9EBB-C5821776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不确定性不是“没把握”三个字，而是可表示、可利用的对象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82E6A-2088-4009-9702-2E16593D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SDL 的数据效率，很大程度上来自对不确定性的显式处理。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8C12D-F102-412B-A800-25D04524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DFC43-08BB-47D7-A260-790C75AD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它表示什么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C316F-9A21-4519-9779-185C3CB2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模型对某区域了解不够、数据稀疏或观测噪声较大。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A6B63-9CE8-414E-A9D3-7A8E268C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78D99-E106-4AD9-AEDF-5C03F658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如何表示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18708-5C3E-4B7E-9D6C-13D8A03B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常见为后验方差、置信区间、ensemble 分歧或校准分布。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9F38E-C0D4-40CC-804F-7B33C9DE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492DF-29AE-4149-ACF7-4784DC18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t>如何利用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4197C-5470-48A3-A4A0-D49A98BB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决定哪些地方值得继续探索，而不是只盯当前最优。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1669C-95E2-4B73-BFD8-71AB17D1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39AFC2-9702-478A-BE71-B8E7D7C0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t>为什么重要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CD00DA-089B-443D-AD2E-87A68B61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没有不确定性，很多推荐会退化成贪心搜索。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81F89-0AAD-4728-B5D7-BE2F17DF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D6C19B-E165-481A-98F3-946AB683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t>实践难点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3260A2-F7EA-4F3F-9CEB-BA23F8D3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模型校准不良时，不确定性会“看起来有，实际上不可信”。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0B1215-2DD4-4390-BDE6-1D36AE53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DA7AC0-3FE9-4AFB-8A50-7F340136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结论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CF983F-1F70-4562-A6EB-14209E4B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SDL 的高效，不只是预测准，更是知道自己哪里不准。</a:t>
            </a:r>
          </a:p>
        </p:txBody>
      </p:sp>
    </p:spTree>
    <p:extLst>
      <p:ext uri="{BB962C8B-B14F-4D97-AF65-F5344CB8AC3E}">
        <p14:creationId xmlns:p14="http://schemas.microsoft.com/office/powerpoint/2010/main" val="1285686919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D2AE42-D6E9-4ED2-918D-4948F35F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1B25B-0094-4EB5-BDB5-434C9310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采集函数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E3F44-F566-4867-90EA-B93AA5C3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38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8235F-1BB8-4C6C-AB5D-B9DC646C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0C0E3-9A16-41D0-A03C-12AD5A5D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采集函数是在替你回答：现在先做哪一个点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2CD67-1B31-44E9-B004-2C9A5C74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它不是固定唯一的，也可以按目标和风险偏好自定义。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34B9B-3339-4D92-9F6A-36885C80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01143-3ED9-446B-8CFB-B3DAF6F4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EI / 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514D7-6E7A-458C-91AB-1D316052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强调改进当前最优，常用于单目标优化。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FD8F1-9086-4FFA-9648-5C2D229E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875F2-C127-43F9-B6F6-ABF23D3D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UCB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0E0F6-0585-488D-A396-EEDB63D1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显式平衡均值与不确定性，调参直观。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4E5B8-75B0-4561-9332-858F294B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BD68A-CA18-41E3-A59D-3E5E9B95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t>信息型方法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0FBF2-4249-46C2-8580-7D0B4463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更关注哪一步最能减少整体认知不确定。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E6A61-8869-4042-9619-279AC4C2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6AEB6F-9208-42CA-8AEA-1C1E117F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t>怎么选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0615C-73C6-44F4-B211-714EDCB0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看是更重速度、稳健性还是全局认知更新。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82E510-53C9-44F1-B4FB-398911AA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BB7281-E2BE-4BB0-8843-C1825777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t>能否自定义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8BA24-C405-4B59-AEA2-6114B6D0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可以，只要目标、约束和风险偏好定义清楚。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D015E7-9A94-434A-ACAB-34173AEA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F1D48E-3C44-4ABF-BDEB-5175B8A4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本质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0F8168-3C9F-4FF0-AAD5-CAC44514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采集函数是方法论选择，不只是公式替换。</a:t>
            </a:r>
          </a:p>
        </p:txBody>
      </p:sp>
    </p:spTree>
    <p:extLst>
      <p:ext uri="{BB962C8B-B14F-4D97-AF65-F5344CB8AC3E}">
        <p14:creationId xmlns:p14="http://schemas.microsoft.com/office/powerpoint/2010/main" val="274422816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891F6A-645A-4C94-8B74-D10E2F90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6D705-3E83-4FAB-A291-D793224D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SDL 难点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7956A-04D1-4CC0-A6EE-2CD4DB96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39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86425-CD51-4847-955C-312F9907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E7D97-BB1D-4877-A76C-D491A8E0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从成本看，为什么很多实验问题更值得 SDL 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9757F-1628-4812-A02D-F9B86592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关键不只是算法，而是实验输出本身很贵、很慢、很难。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CE97C-2BCC-46AE-977B-812FCBA6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30109-839D-45CF-8816-766C3575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真实实验输出可能是谱图、图像、曲线或寿命数据，本身就昂贵且难处理。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很多高价值实验耗时长、成本高、噪声大，盲目试验会迅速耗尽预算。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因此 SDL 的优势不仅是“更聪明”，更是用更少实验换更多信息。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314A4-6748-426F-9F2B-67674810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1D612-669F-4D3E-83CE-97FC0B23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为什么序贯方法重要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9E4E6-DB38-4EC1-ACE8-ED1EE364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实验越昂贵、吞吐越低、观测越复杂，越需要把每一步预算花在更有信息量的点上。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DFE0B-C482-422E-8AAB-241D4FCA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8AF1CF-6FFF-4E18-AC8D-6600C9B2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这也解释了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F9D73-241F-4DD4-AF81-0C5DBFC5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为什么许多 SDL 案例会先用仿真器、代理实验台或低成本平台验证闭环逻辑。</a:t>
            </a:r>
          </a:p>
        </p:txBody>
      </p:sp>
    </p:spTree>
    <p:extLst>
      <p:ext uri="{BB962C8B-B14F-4D97-AF65-F5344CB8AC3E}">
        <p14:creationId xmlns:p14="http://schemas.microsoft.com/office/powerpoint/2010/main" val="1431581458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BA685E-B03D-434C-B662-FB5B93EB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78B5C-462C-45C1-AF29-45236D66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人类角色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51BE1-341C-4938-9C4F-B76AA761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40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E2FA1-5841-4975-9EA8-25DC5DAD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599BC-2E50-494E-9897-81378A74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人为什么仍不可替代：不只因为伦理，也因为科学判断本身需要人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95C15-512A-4CD2-9692-6849550E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人在回路中，也在回路上；更重要的是，人仍然提供模型没有的东西。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540F3-A193-4DDF-887F-1121AE1B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23401-1961-41B1-8C93-0832A876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人设定目标、约束、研究问题与可接受风险，这些不是模型自动长出来的。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人提供领域知识、异常直觉、机制假设和反事实想象，这是很多突破的来源。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人监督模型、纠正口径、解释结果，并对最终科学结论负责。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D5840-30F1-437E-8E98-29D7A529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BBFA4-AB14-43FB-B384-9A2ACEB2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不能让渡的东西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27265-E733-45CE-979A-C41C777A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问题定义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异常识别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机制想象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责任承担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BC67B-1463-4216-A988-0951CCF3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51949-A35D-42E2-96D5-8DAA5E49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因此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06259-AAF2-40B7-89C8-620964C7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高质量 SDL 不是“去人化”，而是把人的角色从重复动作上移到判断、监督、解释与创造上。</a:t>
            </a:r>
          </a:p>
        </p:txBody>
      </p:sp>
    </p:spTree>
    <p:extLst>
      <p:ext uri="{BB962C8B-B14F-4D97-AF65-F5344CB8AC3E}">
        <p14:creationId xmlns:p14="http://schemas.microsoft.com/office/powerpoint/2010/main" val="335208365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1CA176-5496-4234-AFFC-5A626AFF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C01D3-C0D9-40D7-889E-139353D6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适配边界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440E8-5172-4AD5-A931-62D2D3E4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41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6018E-1B35-4408-B441-C8A10BF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A8258-EAC8-4520-B415-9DCCD050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哪些问题更适合 SDL，哪些问题暂时不适合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53A16-93C9-44E9-AB34-74DDCDA1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不是所有实验都该 SDL 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50CF8-86EA-4C36-A31E-6D23D6F6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FAD8E-0ED0-474E-BA94-9F5D5409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28EFB-CC06-4B18-B70E-9DA62641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20DD4-AF38-42F5-B200-1369B2FC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更适合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FE84C-8C14-4ABA-80D6-D4CA3423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EB432-352C-4783-BCB5-7422DD3A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不太适合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11CDE0-2E97-4FC9-B5F6-7B23DA57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CCF22C-5CD9-4ABA-896B-8B49D618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判断依据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EF2ECE-68A6-42AE-B53C-CE67A289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541C5-4A91-4C94-9625-0175245E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可自动化、可标准化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BE331E-19E6-4CBD-8B47-6CBEA2F3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B4E169-2442-4F85-AF1F-297317AD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强依赖手工艺与个人手感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08CEE5-7C93-4B25-B9D7-A1CB0956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CB9732-0C0C-487B-96AA-B9D48E8C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执行是否能稳定复现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A94C8F-D3FD-43AA-9196-11C776BE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AB4EA8-A453-4677-A424-6B6C7B83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可快速测量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969E30-BE48-4D9B-9447-5964AEA7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EEEA83-4A5D-4156-9330-FB37C261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观测极慢、极昂贵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CA5D20-9DD9-4C7C-9B20-80FB5B8F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1B61C3-411D-4B3B-80DE-2DBADAD4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闭环速度是否可接受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6B0079-F52F-42AE-A13C-9FD80784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664B7C-04D0-4EDE-81DF-5E1B6041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目标和约束较清楚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BA6342-905C-4E76-94AF-7C78E90F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1B50BD-643B-4099-8BED-70C0AE96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目标定义模糊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6B1B19-0136-4CE9-A212-43B5C703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222AB5-8627-405A-AFA8-5EB70128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推荐是否有可判定依据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826807-80F5-40D7-917A-77105D29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7C240C-6838-4F30-87A6-4A1EAA80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数据可结构化记录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339E5A-F96E-426B-96AE-B21BF024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F517DA-B6E5-47BA-AC4E-3500CEB0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过程难以被数据化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948A18-D2D6-489C-A9FA-52FC5BC0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41B642-A9F1-494A-9CD7-E85F1D25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能否形成持续更新模型</a:t>
            </a:r>
          </a:p>
        </p:txBody>
      </p:sp>
    </p:spTree>
    <p:extLst>
      <p:ext uri="{BB962C8B-B14F-4D97-AF65-F5344CB8AC3E}">
        <p14:creationId xmlns:p14="http://schemas.microsoft.com/office/powerpoint/2010/main" val="135166621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54B8FB-D188-4A69-8429-E79A699D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578D2-487F-450A-911B-38523027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代表系统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CC7F8-0DD9-4DC4-B410-D6A48EC0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42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91D25-A981-437F-BFF2-94C56F61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FE17A-A1BB-4A11-8923-F68891B0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聚焦 A-Lab 前，先看几条常被引用的 SDL 路线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53461-82C8-4AD0-A2CC-2150ECEF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A-Lab 很重要，但它只是 SDL 全景中的一个代表。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C5362-0928-43F8-9E1C-144A9606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EA561-A83B-4F5F-9215-18B4AA1B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ChemOS / 反应优化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B9F70-06ED-45D0-B25F-2E57EF77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强项：把实验编排、设备控制和 BO 工作流接起来。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局限：更偏平台与工作流，不等于某一具体学科问题已被完全解决。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AA45E-424F-4D38-9567-6C41A0E2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336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E932D-32EB-4772-911A-1D26DC1D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NIST AFL（自治配方实验室）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D5542-B61F-48F9-945B-FCFA2C31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146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强项：配方、流变、材料加工场景清晰。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局限：更适合特定 formulation 场景，通用性需谨慎解读。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FB9CD4-BDED-427B-9C83-EC0357FA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E5C49B-D244-461D-870E-300EA1A5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t>A-Lab（自治实验室）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8A782-5226-48F9-8909-87118CCA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强项：固相无机材料发现链条完整、传播度高。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局限：争议也最集中，定义口径和验证链必须细看。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264B74-846E-4AEA-A21D-098A6F7D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719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39EEF-3B17-4541-9821-73067A81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t>低成本 SDL / frugal twin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E78EC-2ECB-44D7-9F0A-33905C72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529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强项：可复制、教育友好、便于快速验证闭环逻辑。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局限：常不能替代高价值真实实验的复杂语义。</a:t>
            </a:r>
          </a:p>
        </p:txBody>
      </p:sp>
    </p:spTree>
    <p:extLst>
      <p:ext uri="{BB962C8B-B14F-4D97-AF65-F5344CB8AC3E}">
        <p14:creationId xmlns:p14="http://schemas.microsoft.com/office/powerpoint/2010/main" val="2010141399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F05290-E890-4EB5-A444-A04B5D58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2FA2A-8372-4643-8FA8-275F7FD2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第五部分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CA45A-4963-4579-8116-D7BCD7DE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43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926FC-3EEB-44D1-A357-28695B49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90B1A-343B-4F78-B766-79A9256F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FB7185"/>
                </a:solidFill>
                <a:latin typeface="Consolas"/>
                <a:ea typeface="Consolas"/>
                <a:cs typeface="Consolas"/>
              </a:defRPr>
            </a:pPr>
            <a: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3B484-FE79-45C9-BA43-16DBCEAA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A-Lab：真实系统案例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60837-428B-47C4-B2B7-E34C67F8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28900"/>
            <a:ext cx="742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A-Lab 之所以重要，不只是因为它“做成了什么”，也因为它暴露了什么。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82CFA-7AAB-4717-A15B-858AF9CD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400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34298-F15B-4A8A-80FC-021D5939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讲真实案例，必须同时讲能力、争议、修正与启示。</a:t>
            </a:r>
          </a:p>
        </p:txBody>
      </p:sp>
    </p:spTree>
    <p:extLst>
      <p:ext uri="{BB962C8B-B14F-4D97-AF65-F5344CB8AC3E}">
        <p14:creationId xmlns:p14="http://schemas.microsoft.com/office/powerpoint/2010/main" val="1193672561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86435F-A38B-45CF-AE49-9487ECB3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7C9C2-126B-443A-8F57-83E18B34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A-Lab 概览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6F2B1-C43E-4519-B585-820745F7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44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A9710-1348-4793-94FF-644937F2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896A7-1A54-4C84-8EAB-D7759C66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A-Lab 想做什么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C8EDB-FCCA-4874-A1FE-6453E73B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目标是把固相无机材料发现组织成一个自治实验流程。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74E73-0B6E-4FB5-B211-DC720BAB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971CA-51B9-4C37-8CC8-BFBB331C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在候选材料空间中筛选目标，自动生成合成配方。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自动完成配料、加热、研磨和 XRD（X射线衍射）测量。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利用机器学习辅助相鉴定，并继续选择下一实验。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EA441-01BA-44F6-8262-E53AE013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819A7-2D29-4DF0-B60C-B84B2F73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为什么它有代表性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C6F08-3CDD-4FF5-A5AA-D15A767F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它不是 toy benchmark，而是把计算筛选、机器人执行、表征和决策放进同一系统。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34652-7B47-4C16-B72D-28D3AD31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FEF90-238E-426A-A454-FE4DB7D9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更关键的是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685530-04A0-49E7-A855-49A2E995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它让人看到 SDL 不是单个算法，而是一整套实验系统工程。</a:t>
            </a:r>
          </a:p>
        </p:txBody>
      </p:sp>
    </p:spTree>
    <p:extLst>
      <p:ext uri="{BB962C8B-B14F-4D97-AF65-F5344CB8AC3E}">
        <p14:creationId xmlns:p14="http://schemas.microsoft.com/office/powerpoint/2010/main" val="407963729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3A6913-F0E7-4F20-AB15-0D519A2D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68912-2F1C-4EE6-AC18-122F0EC3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A-Lab 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70C24-E93C-41B3-BBAE-23DC10DD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45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E1CE6-9C56-4532-9A76-86863AB2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97198-0A87-4AFC-AD2E-35FFD32B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把 A-Lab 拆开看：它至少包含四个关键层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2D36D-F9B8-4112-882B-25B1972B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筛选、执行、表征、解释。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F82C4-0CCD-4562-83A5-797541C3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84D86-13C8-4B8C-814C-A7565BE7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L1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AF466-B176-4C3A-B255-A64C4E0F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目标筛选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1ABDB-7224-43B0-89FA-83848926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22002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从计算数据库中选出值得尝试的候选。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21177-2C27-4414-BE97-63DD8F4C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557E1-DB3C-4CB0-96A5-850CDDBE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5717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426A8-2B38-473F-AE21-7660BA03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241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L2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B00F6-2BF1-4503-8D08-3F22E251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71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自动执行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DAEE58-9F6B-445D-B12F-0211FB23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52800"/>
            <a:ext cx="22002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机器人与炉子完成配料、加热、研磨。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F74E38-BBB4-4C72-A6B6-06F857A4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C0AFF8-120F-450B-9D77-E03B8F16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97B852-1CC8-4E5E-B0EF-1FA2216D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BBF24"/>
                </a:solidFill>
                <a:latin typeface="Consolas"/>
                <a:ea typeface="Consolas"/>
                <a:cs typeface="Consolas"/>
              </a:defRPr>
            </a:pPr>
            <a:r>
              <a:t>L3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CC8AC4-D979-42B6-986A-4015AA8E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表征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F109D5-F44B-493B-98A5-176B903A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22002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XRD 输出结构信息，形成实验观测。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1B6280-AD1B-45AA-AE05-3FABDB55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FACB87-E7E2-4CA4-9DB5-0AEC9A87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5717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44FD91-0A2D-4037-A05A-38B03162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241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B7185"/>
                </a:solidFill>
                <a:latin typeface="Consolas"/>
                <a:ea typeface="Consolas"/>
                <a:cs typeface="Consolas"/>
              </a:defRPr>
            </a:pPr>
            <a:r>
              <a:t>L4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9D2E45-102E-4EED-BAA3-508BC146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71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解释与推荐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F2ED2F-340B-4792-8C22-79A1B43B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352800"/>
            <a:ext cx="22002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模型辅助相鉴定，并推动后续实验。</a:t>
            </a:r>
          </a:p>
        </p:txBody>
      </p:sp>
    </p:spTree>
    <p:extLst>
      <p:ext uri="{BB962C8B-B14F-4D97-AF65-F5344CB8AC3E}">
        <p14:creationId xmlns:p14="http://schemas.microsoft.com/office/powerpoint/2010/main" val="640019442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DB0579-78AF-498C-9EC1-3A649DBA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3C40C-412F-41F5-9DD0-2D23A798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A-Lab 目标筛选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366BD-26FE-4699-8E1A-43BE9F13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46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D63D7-A545-4610-B400-BEED38BA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467FE-6119-4DCD-9359-346F2887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A-Lab 的候选筛选逻辑，本质上是“先缩空间，再进实验”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1E03B-D5FE-4B92-82E2-3C4D3F09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这也是很多 SDL 系统的常见策略。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E7A6C-1623-4FCA-A2EA-1BB18E81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AD8C3-A9FE-4180-B78B-BF2BD4EB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先缩空间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DEB8B-BA99-405E-87AA-46E8BD54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从大量计算候选中，优先保留热力学上较稳定、空气中较可行、前驱体可得的目标。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0D154-204C-4E74-8779-A57EFD9F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336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CC3FC-23BF-4DCB-A9DA-51C9093C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再进实验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4929E-802A-42FC-9123-297856C1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146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把真正昂贵的实验预算，集中花在更有希望的候选上。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4F1DF-07ED-4013-B7D5-2C9B759E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051D7-DEF9-4C90-A337-7F1A4ADD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t>优势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CE81D-4F8E-477C-B487-EE45E1C4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显著减少盲目搜索，提高实验预算利用率。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7B257-910F-4633-BA0F-69EA0377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719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24CDC8-E073-4148-A650-5D89E38F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t>风险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0B837-46AE-47DC-A455-7B7D4C0A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529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如果前端计算假设有系统偏差，后端实验就可能被整体带偏。</a:t>
            </a:r>
          </a:p>
        </p:txBody>
      </p:sp>
    </p:spTree>
    <p:extLst>
      <p:ext uri="{BB962C8B-B14F-4D97-AF65-F5344CB8AC3E}">
        <p14:creationId xmlns:p14="http://schemas.microsoft.com/office/powerpoint/2010/main" val="873802516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B88AE2-BCC8-4D96-9FA1-0765A508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97BA4-90F3-4EC5-8C5C-FDFE5ACA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A-Lab 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9EC98-6DF7-4530-93B6-A290198B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47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3E3B3-A799-427E-A147-C212D171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118DD-905D-4A3C-9295-BB01A46D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A-Lab 引发关注，是因为它同时报告了速度与成功率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5A696-7E9A-4117-BE25-BFC3A23E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但学生必须学会区分“报告结果”和“最终共识”。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84AE2-874C-461E-BF45-444FE4C6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B41EA-8622-4A9E-BC6D-E6E5B107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论文报告了 17 天连续运行、58 个目标尝试、355 次实验。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原始论文将 41 个目标视为成功案例，并给出约 71% 的目标级成功率表述。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这些数字让 A-Lab 成为全球讨论 SDL 的标志性案例。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777F7-215D-422F-A449-33EB24DC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56D21-0C35-4831-ADBD-4D1A941F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阅读口径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E1996-4535-4890-B64A-D7A2FD02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报告结果 ≠ 最终共识。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科研论文发表后，仍可能经历独立复核、争议和修正。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61BC9-EE94-4F2D-A70A-46C360FC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950CB-1D62-42FD-921E-5A571416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因此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26ADB-F94A-4457-858B-00BA242B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真实案例最值得学的，不只是“数字多漂亮”，而是后续如何被检验。</a:t>
            </a:r>
          </a:p>
        </p:txBody>
      </p:sp>
    </p:spTree>
    <p:extLst>
      <p:ext uri="{BB962C8B-B14F-4D97-AF65-F5344CB8AC3E}">
        <p14:creationId xmlns:p14="http://schemas.microsoft.com/office/powerpoint/2010/main" val="1336816826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72DEDF-8EB4-44AB-8589-B17CD25A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00028-BC34-4669-98BD-1644F103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A-Lab 时间线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B6C04-DF11-4268-A8D1-DA9BE202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48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D7A4B-A0E3-4196-B26D-E97D9777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BF0FD-ED75-4996-92A3-1F056CD5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把 A-Lab 放回时间线里，才能看清它真正教会我们的东西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FA12F-8832-419C-8492-9910C1C7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发布、传播、质疑、再分析、修正，缺一不可。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142F6-11D7-4684-981C-3A04E77A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435B0-D469-4CBE-A064-E1DF7146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2023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2D588-0BA1-41C5-88AD-3A2877BB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发布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8F5CD-0540-4EFB-9740-75170595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22002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Nature 论文让 A-Lab 迅速成为 SDL 标志性案例。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D96E6-AEBE-4276-9922-2F5DA4FA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D47A2-9FCD-4D46-9CCF-7A1ED1B1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5717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37DA6-F66D-48AB-8E0E-0041D1C0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241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随后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DFABC-0181-4BCB-8118-A04D9F59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71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传播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2F139-69C3-4E57-BEC8-7010D033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52800"/>
            <a:ext cx="22002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媒体与学界大量转述速度、成功率和自治能力。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4DD5A-A7CD-4EEF-ACE5-B0FB0949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83CD05-97AC-4B1B-871B-12C07D26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BA3C1C-27D3-46F3-850E-AA64B178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BBF24"/>
                </a:solidFill>
                <a:latin typeface="Consolas"/>
                <a:ea typeface="Consolas"/>
                <a:cs typeface="Consolas"/>
              </a:defRPr>
            </a:pPr>
            <a:r>
              <a:t>2024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6B59BD-C857-4927-9A71-F0E36DA6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质疑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DA9FD3-B4B1-4CA0-8A47-8E9893B9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22002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独立分析开始追问“新材料”“成功”的定义边界。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086BEF-CFFB-41B2-BA6C-5C960A5E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7BB41B-F5C1-42C3-B41B-A2099066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5717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96B2C9-F655-4C16-AF88-82BD65B5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241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B7185"/>
                </a:solidFill>
                <a:latin typeface="Consolas"/>
                <a:ea typeface="Consolas"/>
                <a:cs typeface="Consolas"/>
              </a:defRPr>
            </a:pPr>
            <a:r>
              <a:t>再分析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B3460A-780A-44BB-BC72-5F17B040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71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修正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548660-97C7-4225-B70F-26D5C693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352800"/>
            <a:ext cx="22002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社群逐步把案例从宣传口径拉回到可核查口径。</a:t>
            </a:r>
          </a:p>
        </p:txBody>
      </p:sp>
    </p:spTree>
    <p:extLst>
      <p:ext uri="{BB962C8B-B14F-4D97-AF65-F5344CB8AC3E}">
        <p14:creationId xmlns:p14="http://schemas.microsoft.com/office/powerpoint/2010/main" val="1445369434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AF7CD1-B38D-40BA-A415-51FDD3EE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F4953-421F-4F10-B66C-372D8305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争议与修正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6E532-48E7-4600-B33A-FE953ED4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49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4065A-6F12-42E2-8237-FFF26446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273C5-358E-4B5C-845C-343B6E4B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A-Lab 的真正教学价值：科学自我纠错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2AA57-E70E-4049-889F-F912D678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争议不是这件事的失败，而是这件事的重要组成部分。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92BF3-0BBB-47CC-8052-6D2E92DD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C8C24-6DED-4B5D-B437-390E8EF2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BCC56-8864-4285-94F6-3A8D5494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8EB2C-2087-4A67-AF6B-213B4A5F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原始声称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7F531-622E-47F2-8DEF-8142FFE8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FA427-A581-4BBF-AC20-8FCA419A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后续质疑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6F4BF-984D-4408-B975-858F71A8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36CAF1-1B52-4EEA-8AC6-E32C6BF2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对学生的启示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1CE598-7867-400E-8295-DB710978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409035-7722-4B79-AFD0-CDE9E9F2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发现了大量新材料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79883-184E-4102-A137-85D89568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242B85-DB29-4147-A5D6-2B982353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部分“新材料”可能是已知无序相的有序写法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4F44EE-67C8-4FEE-B028-B3643257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EDD1D6-E2CE-46EF-8ED5-6728A516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“新”必须先定义清楚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47C308-9652-420D-9D93-48F1A6D0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FCEA04-CD0A-4381-8640-27DE60DB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自动相鉴定有效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913D4B-0CA2-492D-A591-086ECE8E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B53C86-8181-403F-8406-0A2978F9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独立分析认为部分鉴定并不稳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A54D8E-A821-42B6-95BF-DF154571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428D66-02A2-4E6C-A082-48AAA7F0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自动化不等于免验证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665AE6-DE66-48AD-B2F6-99B28A4D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53F0EC-B845-48D3-9F47-CC8B2667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自治系统表现突出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2FA47B-3578-4805-96C1-0F812974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F82ACB-BA2F-4E15-8FA8-F51043E4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系统前端与后端都可能引入系统偏差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CFC543-950F-4938-BD90-C36ED7F7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C1D377-C3F6-4676-A080-1E0E2583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系统工程必须接受复核</a:t>
            </a:r>
          </a:p>
        </p:txBody>
      </p:sp>
    </p:spTree>
    <p:extLst>
      <p:ext uri="{BB962C8B-B14F-4D97-AF65-F5344CB8AC3E}">
        <p14:creationId xmlns:p14="http://schemas.microsoft.com/office/powerpoint/2010/main" val="1720973821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BBDDB5-E0BB-4CDC-8C95-669BCD5A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740D0-15FD-4FD5-A907-10D16392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A-Lab 启示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91BC1-7963-4E6A-A384-CF42F818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50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A6AA8-D5F8-4373-8832-FD725395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723C2-2D06-49A9-8EEC-A3846060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A-Lab 给学生的六个启示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69DED-5209-4A9F-90B9-FB89AB66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真正值得带走的，不是口号，而是判断框架。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A3E27-114A-4DD3-997A-B508E5F7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88482-5224-474F-BD08-D200A48E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SDL 是系统工程，不是单模型工程。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高质量实验语义比漂亮数学曲面更重要。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观测与解释之间，永远可能存在鸿沟。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自动化必须接受独立验证与重复性检验。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“发现”是强概念，定义必须先行。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人类监督不是阻碍，而是可信科学的条件。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80AD6-AEB5-4182-93C8-6DFD12A6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FF71E-B8C5-47ED-BD33-3A9A22C9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更值得带走的是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CB10E-A59E-4947-A7F5-18A1D96C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不要只记住数字，要带走判断自治实验系统的框架。</a:t>
            </a:r>
          </a:p>
        </p:txBody>
      </p:sp>
    </p:spTree>
    <p:extLst>
      <p:ext uri="{BB962C8B-B14F-4D97-AF65-F5344CB8AC3E}">
        <p14:creationId xmlns:p14="http://schemas.microsoft.com/office/powerpoint/2010/main" val="1689170599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1EE9CC-084F-401F-856C-29E5A5D1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A9E61-A2FE-442D-89A0-5E12C10A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第六部分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17EE6-1DAF-49A3-A3F7-EFE56E4D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51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F7D1F-139E-47DD-81C5-FC4F51B8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BC77E-5CAA-4383-952D-DA152A24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543AA-D5B2-4E9D-A120-4DA2E931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Case Studio：最小 live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23828-94AF-4467-8C65-08BA214B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28900"/>
            <a:ext cx="742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在课堂上，让学生真正看到“下一实验点为何变化”。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2A45A-7EBD-44AA-B407-46C96EF8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400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D6FF"/>
          </a:solidFill>
          <a:ln xmlns:a="http://schemas.openxmlformats.org/drawingml/2006/main" w="0">
            <a:solidFill>
              <a:srgbClr val="13D6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52E0D-2148-4875-AE70-47536013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讲复杂 SDL 系统之前，先让闭环逻辑在一个可解释的小系统里变得可见。</a:t>
            </a:r>
          </a:p>
        </p:txBody>
      </p:sp>
    </p:spTree>
    <p:extLst>
      <p:ext uri="{BB962C8B-B14F-4D97-AF65-F5344CB8AC3E}">
        <p14:creationId xmlns:p14="http://schemas.microsoft.com/office/powerpoint/2010/main" val="1902656229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4D588B-6A28-4007-8E3E-58348BF6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22C4D-13A7-41E4-B76B-1C96013F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Case Studio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21C31-88A8-41D3-9DA0-FF22D3B6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52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25B7C-450E-4385-8DE8-7BF43FD3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B67FB-EA80-4958-BB13-3B3C7E1E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为什么选 RGB LED（RGB 发光二极管）颜色匹配作为 live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D469F-EA3E-4E0D-8E08-12F8D61E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因为它简单、稳定、可重复，而且能清楚体现闭环决策。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6AF2C-D5B5-4090-BBFB-401E10E1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71FDC-3C58-4D63-A05C-872A8E77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参数空间只有三个控制量，学生容易立刻建立直觉。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目标颜色、当前最佳结果和下一推荐点可以同时显示。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固定 seed（随机种子）后，演示过程可复位、可重复、可比较。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B99F4-E7B5-454B-8BC2-8C7BD932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BE777-37BD-4E0B-BD1E-72FC2DC9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它教什么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C6F6D-FA19-4660-83F0-D74B5B43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目标是什么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观测是什么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推荐为什么变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闭环如何收敛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734A51-7DA3-4554-AEEC-F122BB8A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A4E23-E93D-438B-8842-DEF1A11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它不教什么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04198A-3EF3-44FE-99B0-FE567C99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它不是真实材料仿真，也不取代真实化学/材料案例，只负责把 SDL 闭环讲明白。</a:t>
            </a:r>
          </a:p>
        </p:txBody>
      </p:sp>
    </p:spTree>
    <p:extLst>
      <p:ext uri="{BB962C8B-B14F-4D97-AF65-F5344CB8AC3E}">
        <p14:creationId xmlns:p14="http://schemas.microsoft.com/office/powerpoint/2010/main" val="791190645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A88E0A-E091-4E5C-BED7-BF0FDE84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DC77D-FCBD-48AF-B053-94B83CD7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Case Studio 机制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07F1F-2E50-4298-8C27-E946797F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53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CFFCF-170F-4A63-B334-E7BD2B72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26894-0C7D-461D-8264-129DF3E9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这个最小案例里，SDL 的每一步都能说清楚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7A6F0-94C0-4F39-8953-2D90008C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参数、观测、评分与推荐逻辑都显式可见。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10E1E-CD69-4927-A688-777B66B0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68120-A160-4BF5-8317-53E7648B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参数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4CE62-0426-47C7-942B-A413ECBF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R、G、B 三个控制量，分别对应三路发光强度。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8BDDB-E739-4D3A-ACD7-5EECB467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336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44BEF-9235-4D0D-9610-244FA53F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观测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47815-49B4-4195-A865-78316C07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146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系统根据参数给出当前颜色，并计算与目标颜色的距离。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43F3DC-D408-4781-8202-6FE2F5B4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59FCC4-18B0-477E-94D6-B9C33106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t>评分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5E8AF2-1BF9-4052-AACC-ED8445A3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距离越小，匹配分数越高。于是问题被转成一个可优化目标。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9623C-516D-45D3-B408-E63EBFD0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719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D03CB-D38C-44E3-91A0-F4601EE4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t>推荐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DD801-36AC-4950-A2D4-0A949C02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529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模型综合已有观测与不确定性，给出下一实验点。</a:t>
            </a:r>
          </a:p>
        </p:txBody>
      </p:sp>
    </p:spTree>
    <p:extLst>
      <p:ext uri="{BB962C8B-B14F-4D97-AF65-F5344CB8AC3E}">
        <p14:creationId xmlns:p14="http://schemas.microsoft.com/office/powerpoint/2010/main" val="1675238010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8A948D-7680-4692-B681-075774C9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60D5C-F416-4B6F-930E-D79BC620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观看方法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DE601-92CD-45ED-A7E9-F1AFF684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54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F2019-AF17-4F71-8DEF-75432CDF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B6045-E4E7-461F-81A0-0967CD0A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学生在 live demo 里应该看什么，而不只是看分数变化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2BD03-4372-4A34-8937-0BE43A86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把注意力放在闭环机制上。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75BFA-F62C-4CF1-9049-D177EDAF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A09C3-6077-4A64-BC9D-96E9F58A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先看目标：系统到底在追什么？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再看当前最佳：系统已经学到了什么？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再看下一推荐：为什么不是别的点？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最后看 reset：同样的 seed（随机种子）是否给出同样演示路径？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B9BC8-CDD1-4296-9245-36744486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D86A4-C237-41EE-9C56-435DFE58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课堂操作建议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AE340-4960-40B8-A6E6-C85D3346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先单步，再五步；先解释，再收敛；最后 reset 证明可复现。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27CD2-4086-4512-8B99-C82D6D24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BF10C-BCFD-4B57-A10E-8D401060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讲座意义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943C77-4973-4328-99CE-FE8C8842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这里让学生第一次“沉浸式”看到 AI 进入实验决策链。</a:t>
            </a:r>
          </a:p>
        </p:txBody>
      </p:sp>
    </p:spTree>
    <p:extLst>
      <p:ext uri="{BB962C8B-B14F-4D97-AF65-F5344CB8AC3E}">
        <p14:creationId xmlns:p14="http://schemas.microsoft.com/office/powerpoint/2010/main" val="920180211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8F3C12-DF7E-43D9-B5AC-3D7B000C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03291-963F-43E7-8471-120C252A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收束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98968-2FDF-4D22-9A5B-2533D279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55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1BE56-5254-4971-A247-65BAE7AA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E35F2-F5A4-42BF-B683-1672B2E2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7DE29-C922-41F8-B28B-66D46CEB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回到主题：AI 时代，实验发生了什么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77F83-2093-4BA7-BDB1-31243A75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28900"/>
            <a:ext cx="742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不是实验消失了，而是实验被更深地数据化、编排化、模型化与监督化。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F52E0-2F2A-45EE-A5BC-20B17DBE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400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51080-8B5C-4D6A-A915-75C8FAC3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到这里，讲座应从“知道 SDL 是什么”推进到“知道该如何判断 SDL”。</a:t>
            </a:r>
          </a:p>
        </p:txBody>
      </p:sp>
    </p:spTree>
    <p:extLst>
      <p:ext uri="{BB962C8B-B14F-4D97-AF65-F5344CB8AC3E}">
        <p14:creationId xmlns:p14="http://schemas.microsoft.com/office/powerpoint/2010/main" val="1397831948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966A61-780F-4F98-8793-4962C3A7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36FB5-2A46-4868-A62E-24AA9A76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核心结论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8D79D-BFF8-4A95-8592-503297BD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56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5270E-3858-48AB-886D-F23B76D4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EA0AA-1687-415E-8385-C9E077C0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三条最重要的结论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B92F5-A55C-43A3-BD50-8B0F66A1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如果只能带走三句话，我希望是这三句。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CF1A6-B73D-443E-9593-4888AA5E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73B14-9684-4AB0-BC98-766603BC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实验仍是中心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ED8FF-B2DF-4B84-8847-4DA30202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AI 并没有替代实验，而是在重构实验的组织方式。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0A3CA-830B-458F-A726-C6547366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F49C2-B5AE-4DF1-B218-3E84921C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SDL 有前史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7D60D-8EF5-4990-B6BF-0D6693D5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SDL 不是孤立新范式，它连接试错法、DOE、自动化与数据化。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D846D-9B09-4326-BC6C-68C83D30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AE860-2AF7-4DF1-AF51-F2B9F1DF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t>可信比炫酷更重要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D79E9-3BC9-4B33-B91A-791D615F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真正高水平的 SDL，必须经得住定义、验证、复现与伦理审查。</a:t>
            </a:r>
          </a:p>
        </p:txBody>
      </p:sp>
    </p:spTree>
    <p:extLst>
      <p:ext uri="{BB962C8B-B14F-4D97-AF65-F5344CB8AC3E}">
        <p14:creationId xmlns:p14="http://schemas.microsoft.com/office/powerpoint/2010/main" val="841636526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E6456A-CD27-40B6-9FCC-13A11E6D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51BAE-DF50-402D-A83A-D9A39BF1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课程立场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C9CD8-04FB-4A0A-8577-1D29DCAD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57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5D13B-1109-42C7-9206-38E95101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FE264-02F6-4FBA-A193-E659C384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既拥抱 AI，也质疑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F5988-FBF5-47A2-847F-37F57D12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这不是折中，而是对实验科学最负责任的立场。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929B7-472E-412C-A1CA-FFF3283F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AA6DF-9A5E-4088-8E13-353932F5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拥抱 AI：用它组织知识、辅助研究、开发工具、提高实验效率。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质疑 AI：坚持人的直觉、领域知识、实践技能与伦理责任。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负责任的 AI 使用，不是迷信输出，而是让模型进入可监督的科学工作流。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02222A-A58B-4BFD-9A48-30272151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3BF34-E2DD-4495-BCC4-ECAA57C7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给学生的要求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640BB-C381-48A2-B83E-2C591072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会用 AI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会审 AI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会纠 AI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会承担结论责任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9FD9C-80CA-46A8-A2E3-BB73EEDD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E88081-B9A6-4FD2-A470-0D38F56D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讲座之外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DA08D-3946-4D25-9F73-A453C451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这也是整门课程后续建设的最高层原则。</a:t>
            </a:r>
          </a:p>
        </p:txBody>
      </p:sp>
    </p:spTree>
    <p:extLst>
      <p:ext uri="{BB962C8B-B14F-4D97-AF65-F5344CB8AC3E}">
        <p14:creationId xmlns:p14="http://schemas.microsoft.com/office/powerpoint/2010/main" val="1591592062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1E3613-9DCD-4128-BEDE-EF33CEB9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C6186-BB8F-4EE9-B82D-5E8BCA64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带走什么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0954F-C47F-4709-80CA-05E284D2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58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1156D-76F1-4642-829B-FFB84D8D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9C67A-C729-4B63-88ED-A113519C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这场讲座之后，学生至少应能完成四件事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DBF9D-A64A-431A-8B5D-0432A326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如果做不到，说明讲座还没有讲清楚。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2C343-6018-4DB2-A2DE-AE32D9D4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1914F-98B0-455B-BC97-16355C4C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从实验视角，而不是从 buzzword（热词）视角理解 SDL。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区分试错法、DOE 与 SDL 的关系与边界。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识别一个研究问题是否适合 SDL 化。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对真实自治实验系统提出更严谨的判断与质疑。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DAC48-8E55-4C73-A917-597D0337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C0034-24B8-470A-802B-A8EDCCA2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更高一级的目标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E0A4C-E3A1-462A-A1B7-5A2878EB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把自己的课题逐步翻译成 objective、constraint、measurement、workflow 语言。</a:t>
            </a:r>
          </a:p>
        </p:txBody>
      </p:sp>
    </p:spTree>
    <p:extLst>
      <p:ext uri="{BB962C8B-B14F-4D97-AF65-F5344CB8AC3E}">
        <p14:creationId xmlns:p14="http://schemas.microsoft.com/office/powerpoint/2010/main" val="219557059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C9288D-3E4D-4383-BB50-B1986D34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AA48E-166F-4F8F-B095-19BC8506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讲座资源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545E9-7F20-44A4-AD82-61ED73D3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59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7206C-B604-4003-B69C-F26414B1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56B97-BD0C-40AF-8D12-03E941A2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讲座之后：继续从数字讲义站进入课程主线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7CFFB-D4F7-41AB-87B4-D3C0AEAC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网站不是展示品，而是课后继续学习的入口。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1BD4D-7EE3-43C3-BC8A-B0692730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A7D08-1F56-4FC5-A9C5-E1188045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从 Foundations（基础）部分回看实验、DOE 与 SDL 的主线。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从 A-Lab（自治实验室）案例页复读真实系统、争议与纠错。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从 Case Studio 自己运行最小 live demo，观察推荐逻辑如何变化。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9193E-1F48-4A4E-8778-11236C46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B8F16-F3ED-4687-A40E-8E4D07B2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建议学生课后做什么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E83E49-D74A-434C-9393-EBD1EFC2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重看 Foundations（基础）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阅读 A-Lab 案例页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自己运行 Case Studio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F732F-4B87-48D7-94A2-B2353352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A6D96-6F75-400A-B636-4F3FC416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讲者用途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3FBE6-5267-42E1-BF51-B506CF8F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网站保留动态演示与后续课程扩展空间；PPT 保留稳定教学交付能力。</a:t>
            </a:r>
          </a:p>
        </p:txBody>
      </p:sp>
    </p:spTree>
    <p:extLst>
      <p:ext uri="{BB962C8B-B14F-4D97-AF65-F5344CB8AC3E}">
        <p14:creationId xmlns:p14="http://schemas.microsoft.com/office/powerpoint/2010/main" val="2123374937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70B757-1E3D-412D-B59B-752BD3B9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6A4EB-762F-41F7-8DB1-9C11313D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结束页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695C2-242D-431E-82D0-67164D01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60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F7E98-7720-4683-B1A0-9FCFB386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40AD4-788B-4FF8-9B4C-003382EF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9525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“在 AI 时代，重要的不是把实验交给机器，而是学会如何让机器进入负责任的实验科学。”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6D0A3-07AF-4AF8-BC50-45D0B504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谢谢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3AC32-2EAA-4B21-9DF5-CB0C2263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欢迎提问与讨论。</a:t>
            </a:r>
          </a:p>
        </p:txBody>
      </p:sp>
    </p:spTree>
    <p:extLst>
      <p:ext uri="{BB962C8B-B14F-4D97-AF65-F5344CB8AC3E}">
        <p14:creationId xmlns:p14="http://schemas.microsoft.com/office/powerpoint/2010/main" val="11082806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2026-06-04T04:45:36.6960000Z</dcterms:created>
  <dcterms:modified xsi:type="dcterms:W3CDTF">2026-06-04T04:45:36.6960000Z</dcterms:modified>
</coreProperties>
</file>