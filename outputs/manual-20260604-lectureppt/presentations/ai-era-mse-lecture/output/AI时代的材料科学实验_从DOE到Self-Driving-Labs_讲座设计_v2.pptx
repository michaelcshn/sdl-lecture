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87f727b48d4c98" /><Relationship Type="http://schemas.openxmlformats.org/officeDocument/2006/relationships/extended-properties" Target="/docProps/app.xml" Id="R3debd4c733c04437" /><Relationship Type="http://schemas.openxmlformats.org/officeDocument/2006/relationships/officeDocument" Target="/ppt/presentation.xml" Id="Re778472aa2894c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4ebd24b0174c12"/>
  </p:sldMasterIdLst>
  <p:notesMasterIdLst>
    <p:notesMasterId xmlns:r="http://schemas.openxmlformats.org/officeDocument/2006/relationships" r:id="Radde1aad31eb48ab"/>
  </p:notesMasterIdLst>
  <p:sldIdLst>
    <p:sldId xmlns:r="http://schemas.openxmlformats.org/officeDocument/2006/relationships" id="256" r:id="R565c5c119b4f48fc"/>
    <p:sldId xmlns:r="http://schemas.openxmlformats.org/officeDocument/2006/relationships" id="257" r:id="R98eede4aeb164d49"/>
    <p:sldId xmlns:r="http://schemas.openxmlformats.org/officeDocument/2006/relationships" id="258" r:id="R546a7dc7671348cd"/>
    <p:sldId xmlns:r="http://schemas.openxmlformats.org/officeDocument/2006/relationships" id="259" r:id="R9cabac3bd7454a0f"/>
    <p:sldId xmlns:r="http://schemas.openxmlformats.org/officeDocument/2006/relationships" id="260" r:id="Rfea9a288b96a4401"/>
    <p:sldId xmlns:r="http://schemas.openxmlformats.org/officeDocument/2006/relationships" id="261" r:id="Re4d347da1789476b"/>
    <p:sldId xmlns:r="http://schemas.openxmlformats.org/officeDocument/2006/relationships" id="262" r:id="R0cdeedb57fda41bf"/>
    <p:sldId xmlns:r="http://schemas.openxmlformats.org/officeDocument/2006/relationships" id="263" r:id="R054527e91f1e4b45"/>
    <p:sldId xmlns:r="http://schemas.openxmlformats.org/officeDocument/2006/relationships" id="264" r:id="R38f69a4dc0f54af7"/>
    <p:sldId xmlns:r="http://schemas.openxmlformats.org/officeDocument/2006/relationships" id="265" r:id="Ra731e4c47ea54bd0"/>
    <p:sldId xmlns:r="http://schemas.openxmlformats.org/officeDocument/2006/relationships" id="266" r:id="Rfd150b23086d4d17"/>
    <p:sldId xmlns:r="http://schemas.openxmlformats.org/officeDocument/2006/relationships" id="267" r:id="R6a654d8cc3dd4c03"/>
    <p:sldId xmlns:r="http://schemas.openxmlformats.org/officeDocument/2006/relationships" id="268" r:id="R99f6925eeba947f6"/>
    <p:sldId xmlns:r="http://schemas.openxmlformats.org/officeDocument/2006/relationships" id="269" r:id="R514e2582f5f84df5"/>
    <p:sldId xmlns:r="http://schemas.openxmlformats.org/officeDocument/2006/relationships" id="270" r:id="Rd6da76b938954457"/>
    <p:sldId xmlns:r="http://schemas.openxmlformats.org/officeDocument/2006/relationships" id="271" r:id="R4e95e7ea276e4022"/>
    <p:sldId xmlns:r="http://schemas.openxmlformats.org/officeDocument/2006/relationships" id="272" r:id="R225415c4fe65435b"/>
    <p:sldId xmlns:r="http://schemas.openxmlformats.org/officeDocument/2006/relationships" id="273" r:id="R3ace8a0043774056"/>
    <p:sldId xmlns:r="http://schemas.openxmlformats.org/officeDocument/2006/relationships" id="274" r:id="R98c608c24d914100"/>
    <p:sldId xmlns:r="http://schemas.openxmlformats.org/officeDocument/2006/relationships" id="275" r:id="Rcf5a56588f4b4e49"/>
    <p:sldId xmlns:r="http://schemas.openxmlformats.org/officeDocument/2006/relationships" id="276" r:id="Rce633dca492b4e5d"/>
    <p:sldId xmlns:r="http://schemas.openxmlformats.org/officeDocument/2006/relationships" id="277" r:id="R1ace6644f0374047"/>
    <p:sldId xmlns:r="http://schemas.openxmlformats.org/officeDocument/2006/relationships" id="278" r:id="Rec7d09dc6e164206"/>
    <p:sldId xmlns:r="http://schemas.openxmlformats.org/officeDocument/2006/relationships" id="279" r:id="R19578acb9df24b5b"/>
    <p:sldId xmlns:r="http://schemas.openxmlformats.org/officeDocument/2006/relationships" id="280" r:id="R6559d3cda684470d"/>
    <p:sldId xmlns:r="http://schemas.openxmlformats.org/officeDocument/2006/relationships" id="281" r:id="R91bbb3ad55dc4bb9"/>
    <p:sldId xmlns:r="http://schemas.openxmlformats.org/officeDocument/2006/relationships" id="282" r:id="Rd616c8aa3a9f4458"/>
    <p:sldId xmlns:r="http://schemas.openxmlformats.org/officeDocument/2006/relationships" id="283" r:id="R884835b64d4449ef"/>
    <p:sldId xmlns:r="http://schemas.openxmlformats.org/officeDocument/2006/relationships" id="284" r:id="R0f0f6f92a2e544dd"/>
    <p:sldId xmlns:r="http://schemas.openxmlformats.org/officeDocument/2006/relationships" id="285" r:id="Rc40a92c138074837"/>
    <p:sldId xmlns:r="http://schemas.openxmlformats.org/officeDocument/2006/relationships" id="286" r:id="R47fed26330444620"/>
    <p:sldId xmlns:r="http://schemas.openxmlformats.org/officeDocument/2006/relationships" id="287" r:id="Rcf792b5db0f1430c"/>
    <p:sldId xmlns:r="http://schemas.openxmlformats.org/officeDocument/2006/relationships" id="288" r:id="R33d36dbc6fd345b1"/>
    <p:sldId xmlns:r="http://schemas.openxmlformats.org/officeDocument/2006/relationships" id="289" r:id="R46db587c70dd4b55"/>
    <p:sldId xmlns:r="http://schemas.openxmlformats.org/officeDocument/2006/relationships" id="290" r:id="Raf6d3532d9e24b8a"/>
    <p:sldId xmlns:r="http://schemas.openxmlformats.org/officeDocument/2006/relationships" id="291" r:id="R256fa0b5456941e5"/>
    <p:sldId xmlns:r="http://schemas.openxmlformats.org/officeDocument/2006/relationships" id="292" r:id="R67996a4523194aa7"/>
    <p:sldId xmlns:r="http://schemas.openxmlformats.org/officeDocument/2006/relationships" id="293" r:id="Re2435d673b6041a9"/>
    <p:sldId xmlns:r="http://schemas.openxmlformats.org/officeDocument/2006/relationships" id="294" r:id="R03005340ba354c8e"/>
    <p:sldId xmlns:r="http://schemas.openxmlformats.org/officeDocument/2006/relationships" id="295" r:id="R84fd05c8c58b4c16"/>
    <p:sldId xmlns:r="http://schemas.openxmlformats.org/officeDocument/2006/relationships" id="296" r:id="Rb752df88fc494857"/>
    <p:sldId xmlns:r="http://schemas.openxmlformats.org/officeDocument/2006/relationships" id="297" r:id="Raf9b580fac064a49"/>
    <p:sldId xmlns:r="http://schemas.openxmlformats.org/officeDocument/2006/relationships" id="298" r:id="R0208d27e71574535"/>
    <p:sldId xmlns:r="http://schemas.openxmlformats.org/officeDocument/2006/relationships" id="299" r:id="R9e41a8fd3fb545a6"/>
    <p:sldId xmlns:r="http://schemas.openxmlformats.org/officeDocument/2006/relationships" id="300" r:id="Rab7cd96712494bab"/>
    <p:sldId xmlns:r="http://schemas.openxmlformats.org/officeDocument/2006/relationships" id="301" r:id="Rd571d261ce164f45"/>
    <p:sldId xmlns:r="http://schemas.openxmlformats.org/officeDocument/2006/relationships" id="302" r:id="Rd16b4b783a144167"/>
    <p:sldId xmlns:r="http://schemas.openxmlformats.org/officeDocument/2006/relationships" id="303" r:id="R36d8bf0f617b4077"/>
    <p:sldId xmlns:r="http://schemas.openxmlformats.org/officeDocument/2006/relationships" id="304" r:id="R6cc0c693bc134cff"/>
    <p:sldId xmlns:r="http://schemas.openxmlformats.org/officeDocument/2006/relationships" id="305" r:id="R2e45d422ec1f4471"/>
    <p:sldId xmlns:r="http://schemas.openxmlformats.org/officeDocument/2006/relationships" id="306" r:id="Rcc97816732fa45f0"/>
    <p:sldId xmlns:r="http://schemas.openxmlformats.org/officeDocument/2006/relationships" id="307" r:id="Re544aa27766341f3"/>
    <p:sldId xmlns:r="http://schemas.openxmlformats.org/officeDocument/2006/relationships" id="308" r:id="R2fd151422db040fe"/>
    <p:sldId xmlns:r="http://schemas.openxmlformats.org/officeDocument/2006/relationships" id="309" r:id="Re9485575ba9f49bf"/>
    <p:sldId xmlns:r="http://schemas.openxmlformats.org/officeDocument/2006/relationships" id="310" r:id="R500f385ed88942da"/>
    <p:sldId xmlns:r="http://schemas.openxmlformats.org/officeDocument/2006/relationships" id="311" r:id="R4ef2656ca28449ac"/>
    <p:sldId xmlns:r="http://schemas.openxmlformats.org/officeDocument/2006/relationships" id="312" r:id="Rf4186eb3c5014f97"/>
    <p:sldId xmlns:r="http://schemas.openxmlformats.org/officeDocument/2006/relationships" id="313" r:id="R3a34bfe39fe642df"/>
    <p:sldId xmlns:r="http://schemas.openxmlformats.org/officeDocument/2006/relationships" id="314" r:id="R23f63d1a0ea14df3"/>
    <p:sldId xmlns:r="http://schemas.openxmlformats.org/officeDocument/2006/relationships" id="315" r:id="R23e01fcfddba498a"/>
    <p:sldId xmlns:r="http://schemas.openxmlformats.org/officeDocument/2006/relationships" id="316" r:id="R6aff2db5338e4c11"/>
    <p:sldId xmlns:r="http://schemas.openxmlformats.org/officeDocument/2006/relationships" id="317" r:id="R86d6ac9433264b1e"/>
    <p:sldId xmlns:r="http://schemas.openxmlformats.org/officeDocument/2006/relationships" id="318" r:id="R0cbeec05823d4b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bf5e1649ac4682" /><Relationship Type="http://schemas.openxmlformats.org/officeDocument/2006/relationships/slideMaster" Target="/ppt/slideMasters/slideMaster1.xml" Id="Rf94ebd24b0174c12" /><Relationship Type="http://schemas.openxmlformats.org/officeDocument/2006/relationships/notesMaster" Target="/ppt/notesMasters/notesMaster1.xml" Id="Radde1aad31eb48ab" /><Relationship Type="http://schemas.openxmlformats.org/officeDocument/2006/relationships/presProps" Target="/ppt/presProps.xml" Id="R4aeec3f8d4174099" /><Relationship Type="http://schemas.openxmlformats.org/officeDocument/2006/relationships/viewProps" Target="/ppt/viewProps.xml" Id="R6f00779eb267439b" /><Relationship Type="http://schemas.openxmlformats.org/officeDocument/2006/relationships/tableStyles" Target="/ppt/tableStyles.xml" Id="R21e4e983c2ca41b7" /><Relationship Type="http://schemas.openxmlformats.org/officeDocument/2006/relationships/slide" Target="/ppt/slides/slide1.xml" Id="R565c5c119b4f48fc" /><Relationship Type="http://schemas.openxmlformats.org/officeDocument/2006/relationships/slide" Target="/ppt/slides/slide2.xml" Id="R98eede4aeb164d49" /><Relationship Type="http://schemas.openxmlformats.org/officeDocument/2006/relationships/slide" Target="/ppt/slides/slide3.xml" Id="R546a7dc7671348cd" /><Relationship Type="http://schemas.openxmlformats.org/officeDocument/2006/relationships/slide" Target="/ppt/slides/slide4.xml" Id="R9cabac3bd7454a0f" /><Relationship Type="http://schemas.openxmlformats.org/officeDocument/2006/relationships/slide" Target="/ppt/slides/slide5.xml" Id="Rfea9a288b96a4401" /><Relationship Type="http://schemas.openxmlformats.org/officeDocument/2006/relationships/slide" Target="/ppt/slides/slide6.xml" Id="Re4d347da1789476b" /><Relationship Type="http://schemas.openxmlformats.org/officeDocument/2006/relationships/slide" Target="/ppt/slides/slide7.xml" Id="R0cdeedb57fda41bf" /><Relationship Type="http://schemas.openxmlformats.org/officeDocument/2006/relationships/slide" Target="/ppt/slides/slide8.xml" Id="R054527e91f1e4b45" /><Relationship Type="http://schemas.openxmlformats.org/officeDocument/2006/relationships/slide" Target="/ppt/slides/slide9.xml" Id="R38f69a4dc0f54af7" /><Relationship Type="http://schemas.openxmlformats.org/officeDocument/2006/relationships/slide" Target="/ppt/slides/slide10.xml" Id="Ra731e4c47ea54bd0" /><Relationship Type="http://schemas.openxmlformats.org/officeDocument/2006/relationships/slide" Target="/ppt/slides/slide11.xml" Id="Rfd150b23086d4d17" /><Relationship Type="http://schemas.openxmlformats.org/officeDocument/2006/relationships/slide" Target="/ppt/slides/slide12.xml" Id="R6a654d8cc3dd4c03" /><Relationship Type="http://schemas.openxmlformats.org/officeDocument/2006/relationships/slide" Target="/ppt/slides/slide13.xml" Id="R99f6925eeba947f6" /><Relationship Type="http://schemas.openxmlformats.org/officeDocument/2006/relationships/slide" Target="/ppt/slides/slide14.xml" Id="R514e2582f5f84df5" /><Relationship Type="http://schemas.openxmlformats.org/officeDocument/2006/relationships/slide" Target="/ppt/slides/slide15.xml" Id="Rd6da76b938954457" /><Relationship Type="http://schemas.openxmlformats.org/officeDocument/2006/relationships/slide" Target="/ppt/slides/slide16.xml" Id="R4e95e7ea276e4022" /><Relationship Type="http://schemas.openxmlformats.org/officeDocument/2006/relationships/slide" Target="/ppt/slides/slide17.xml" Id="R225415c4fe65435b" /><Relationship Type="http://schemas.openxmlformats.org/officeDocument/2006/relationships/slide" Target="/ppt/slides/slide18.xml" Id="R3ace8a0043774056" /><Relationship Type="http://schemas.openxmlformats.org/officeDocument/2006/relationships/slide" Target="/ppt/slides/slide19.xml" Id="R98c608c24d914100" /><Relationship Type="http://schemas.openxmlformats.org/officeDocument/2006/relationships/slide" Target="/ppt/slides/slide20.xml" Id="Rcf5a56588f4b4e49" /><Relationship Type="http://schemas.openxmlformats.org/officeDocument/2006/relationships/slide" Target="/ppt/slides/slide21.xml" Id="Rce633dca492b4e5d" /><Relationship Type="http://schemas.openxmlformats.org/officeDocument/2006/relationships/slide" Target="/ppt/slides/slide22.xml" Id="R1ace6644f0374047" /><Relationship Type="http://schemas.openxmlformats.org/officeDocument/2006/relationships/slide" Target="/ppt/slides/slide23.xml" Id="Rec7d09dc6e164206" /><Relationship Type="http://schemas.openxmlformats.org/officeDocument/2006/relationships/slide" Target="/ppt/slides/slide24.xml" Id="R19578acb9df24b5b" /><Relationship Type="http://schemas.openxmlformats.org/officeDocument/2006/relationships/slide" Target="/ppt/slides/slide25.xml" Id="R6559d3cda684470d" /><Relationship Type="http://schemas.openxmlformats.org/officeDocument/2006/relationships/slide" Target="/ppt/slides/slide26.xml" Id="R91bbb3ad55dc4bb9" /><Relationship Type="http://schemas.openxmlformats.org/officeDocument/2006/relationships/slide" Target="/ppt/slides/slide27.xml" Id="Rd616c8aa3a9f4458" /><Relationship Type="http://schemas.openxmlformats.org/officeDocument/2006/relationships/slide" Target="/ppt/slides/slide28.xml" Id="R884835b64d4449ef" /><Relationship Type="http://schemas.openxmlformats.org/officeDocument/2006/relationships/slide" Target="/ppt/slides/slide29.xml" Id="R0f0f6f92a2e544dd" /><Relationship Type="http://schemas.openxmlformats.org/officeDocument/2006/relationships/slide" Target="/ppt/slides/slide30.xml" Id="Rc40a92c138074837" /><Relationship Type="http://schemas.openxmlformats.org/officeDocument/2006/relationships/slide" Target="/ppt/slides/slide31.xml" Id="R47fed26330444620" /><Relationship Type="http://schemas.openxmlformats.org/officeDocument/2006/relationships/slide" Target="/ppt/slides/slide32.xml" Id="Rcf792b5db0f1430c" /><Relationship Type="http://schemas.openxmlformats.org/officeDocument/2006/relationships/slide" Target="/ppt/slides/slide33.xml" Id="R33d36dbc6fd345b1" /><Relationship Type="http://schemas.openxmlformats.org/officeDocument/2006/relationships/slide" Target="/ppt/slides/slide34.xml" Id="R46db587c70dd4b55" /><Relationship Type="http://schemas.openxmlformats.org/officeDocument/2006/relationships/slide" Target="/ppt/slides/slide35.xml" Id="Raf6d3532d9e24b8a" /><Relationship Type="http://schemas.openxmlformats.org/officeDocument/2006/relationships/slide" Target="/ppt/slides/slide36.xml" Id="R256fa0b5456941e5" /><Relationship Type="http://schemas.openxmlformats.org/officeDocument/2006/relationships/slide" Target="/ppt/slides/slide37.xml" Id="R67996a4523194aa7" /><Relationship Type="http://schemas.openxmlformats.org/officeDocument/2006/relationships/slide" Target="/ppt/slides/slide38.xml" Id="Re2435d673b6041a9" /><Relationship Type="http://schemas.openxmlformats.org/officeDocument/2006/relationships/slide" Target="/ppt/slides/slide39.xml" Id="R03005340ba354c8e" /><Relationship Type="http://schemas.openxmlformats.org/officeDocument/2006/relationships/slide" Target="/ppt/slides/slide40.xml" Id="R84fd05c8c58b4c16" /><Relationship Type="http://schemas.openxmlformats.org/officeDocument/2006/relationships/slide" Target="/ppt/slides/slide41.xml" Id="Rb752df88fc494857" /><Relationship Type="http://schemas.openxmlformats.org/officeDocument/2006/relationships/slide" Target="/ppt/slides/slide42.xml" Id="Raf9b580fac064a49" /><Relationship Type="http://schemas.openxmlformats.org/officeDocument/2006/relationships/slide" Target="/ppt/slides/slide43.xml" Id="R0208d27e71574535" /><Relationship Type="http://schemas.openxmlformats.org/officeDocument/2006/relationships/slide" Target="/ppt/slides/slide44.xml" Id="R9e41a8fd3fb545a6" /><Relationship Type="http://schemas.openxmlformats.org/officeDocument/2006/relationships/slide" Target="/ppt/slides/slide45.xml" Id="Rab7cd96712494bab" /><Relationship Type="http://schemas.openxmlformats.org/officeDocument/2006/relationships/slide" Target="/ppt/slides/slide46.xml" Id="Rd571d261ce164f45" /><Relationship Type="http://schemas.openxmlformats.org/officeDocument/2006/relationships/slide" Target="/ppt/slides/slide47.xml" Id="Rd16b4b783a144167" /><Relationship Type="http://schemas.openxmlformats.org/officeDocument/2006/relationships/slide" Target="/ppt/slides/slide48.xml" Id="R36d8bf0f617b4077" /><Relationship Type="http://schemas.openxmlformats.org/officeDocument/2006/relationships/slide" Target="/ppt/slides/slide49.xml" Id="R6cc0c693bc134cff" /><Relationship Type="http://schemas.openxmlformats.org/officeDocument/2006/relationships/slide" Target="/ppt/slides/slide50.xml" Id="R2e45d422ec1f4471" /><Relationship Type="http://schemas.openxmlformats.org/officeDocument/2006/relationships/slide" Target="/ppt/slides/slide51.xml" Id="Rcc97816732fa45f0" /><Relationship Type="http://schemas.openxmlformats.org/officeDocument/2006/relationships/slide" Target="/ppt/slides/slide52.xml" Id="Re544aa27766341f3" /><Relationship Type="http://schemas.openxmlformats.org/officeDocument/2006/relationships/slide" Target="/ppt/slides/slide53.xml" Id="R2fd151422db040fe" /><Relationship Type="http://schemas.openxmlformats.org/officeDocument/2006/relationships/slide" Target="/ppt/slides/slide54.xml" Id="Re9485575ba9f49bf" /><Relationship Type="http://schemas.openxmlformats.org/officeDocument/2006/relationships/slide" Target="/ppt/slides/slide55.xml" Id="R500f385ed88942da" /><Relationship Type="http://schemas.openxmlformats.org/officeDocument/2006/relationships/slide" Target="/ppt/slides/slide56.xml" Id="R4ef2656ca28449ac" /><Relationship Type="http://schemas.openxmlformats.org/officeDocument/2006/relationships/slide" Target="/ppt/slides/slide57.xml" Id="Rf4186eb3c5014f97" /><Relationship Type="http://schemas.openxmlformats.org/officeDocument/2006/relationships/slide" Target="/ppt/slides/slide58.xml" Id="R3a34bfe39fe642df" /><Relationship Type="http://schemas.openxmlformats.org/officeDocument/2006/relationships/slide" Target="/ppt/slides/slide59.xml" Id="R23f63d1a0ea14df3" /><Relationship Type="http://schemas.openxmlformats.org/officeDocument/2006/relationships/slide" Target="/ppt/slides/slide60.xml" Id="R23e01fcfddba498a" /><Relationship Type="http://schemas.openxmlformats.org/officeDocument/2006/relationships/slide" Target="/ppt/slides/slide61.xml" Id="R6aff2db5338e4c11" /><Relationship Type="http://schemas.openxmlformats.org/officeDocument/2006/relationships/slide" Target="/ppt/slides/slide62.xml" Id="R86d6ac9433264b1e" /><Relationship Type="http://schemas.openxmlformats.org/officeDocument/2006/relationships/slide" Target="/ppt/slides/slide63.xml" Id="R0cbeec05823d4b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6bdf55290f40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6c1de25ff401e" /><Relationship Type="http://schemas.openxmlformats.org/officeDocument/2006/relationships/notesMaster" Target="/ppt/notesMasters/notesMaster1.xml" Id="R135a8e12722a4a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da0725c587437c" /><Relationship Type="http://schemas.openxmlformats.org/officeDocument/2006/relationships/notesMaster" Target="/ppt/notesMasters/notesMaster1.xml" Id="Rb7085e51f7cd42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815bcab3554dfc" /><Relationship Type="http://schemas.openxmlformats.org/officeDocument/2006/relationships/notesMaster" Target="/ppt/notesMasters/notesMaster1.xml" Id="R06893c1e483048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d3301d05804c2a" /><Relationship Type="http://schemas.openxmlformats.org/officeDocument/2006/relationships/notesMaster" Target="/ppt/notesMasters/notesMaster1.xml" Id="R10c30d50c47d41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ceadf2c6464c1b" /><Relationship Type="http://schemas.openxmlformats.org/officeDocument/2006/relationships/notesMaster" Target="/ppt/notesMasters/notesMaster1.xml" Id="R604e19b238e543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39a6d03ccf466f" /><Relationship Type="http://schemas.openxmlformats.org/officeDocument/2006/relationships/notesMaster" Target="/ppt/notesMasters/notesMaster1.xml" Id="R1b90ca7ab1594c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52a31b3a494aca" /><Relationship Type="http://schemas.openxmlformats.org/officeDocument/2006/relationships/notesMaster" Target="/ppt/notesMasters/notesMaster1.xml" Id="Raad2e449400148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0a1d78c6b84ee3" /><Relationship Type="http://schemas.openxmlformats.org/officeDocument/2006/relationships/notesMaster" Target="/ppt/notesMasters/notesMaster1.xml" Id="R5c8f72196a7d48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00d3021f1a4d33" /><Relationship Type="http://schemas.openxmlformats.org/officeDocument/2006/relationships/notesMaster" Target="/ppt/notesMasters/notesMaster1.xml" Id="R1ba8c218d80249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d2d308d4574e08" /><Relationship Type="http://schemas.openxmlformats.org/officeDocument/2006/relationships/notesMaster" Target="/ppt/notesMasters/notesMaster1.xml" Id="R3d0d1c0fb0e044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9780fb35234c7c" /><Relationship Type="http://schemas.openxmlformats.org/officeDocument/2006/relationships/notesMaster" Target="/ppt/notesMasters/notesMaster1.xml" Id="Re992d740260b4e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fe39a2a4264bcc" /><Relationship Type="http://schemas.openxmlformats.org/officeDocument/2006/relationships/notesMaster" Target="/ppt/notesMasters/notesMaster1.xml" Id="Rd5e200d6b8ae46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c5507eadd8437a" /><Relationship Type="http://schemas.openxmlformats.org/officeDocument/2006/relationships/notesMaster" Target="/ppt/notesMasters/notesMaster1.xml" Id="Rc12681984d874a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dbdf1413eb4988" /><Relationship Type="http://schemas.openxmlformats.org/officeDocument/2006/relationships/notesMaster" Target="/ppt/notesMasters/notesMaster1.xml" Id="R5ea7cb332f4e4e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927d59fe0541ba" /><Relationship Type="http://schemas.openxmlformats.org/officeDocument/2006/relationships/notesMaster" Target="/ppt/notesMasters/notesMaster1.xml" Id="R29198ac66f7343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8fe5e94b8f4374" /><Relationship Type="http://schemas.openxmlformats.org/officeDocument/2006/relationships/notesMaster" Target="/ppt/notesMasters/notesMaster1.xml" Id="R6c3625bd5a944d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37261c61d24820" /><Relationship Type="http://schemas.openxmlformats.org/officeDocument/2006/relationships/notesMaster" Target="/ppt/notesMasters/notesMaster1.xml" Id="R9d47d22716f74a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df3ed186ef47a0" /><Relationship Type="http://schemas.openxmlformats.org/officeDocument/2006/relationships/notesMaster" Target="/ppt/notesMasters/notesMaster1.xml" Id="R0337b60fd49e4b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9437b2048548d0" /><Relationship Type="http://schemas.openxmlformats.org/officeDocument/2006/relationships/notesMaster" Target="/ppt/notesMasters/notesMaster1.xml" Id="R4e2c4ce515444b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ff206acd844e84" /><Relationship Type="http://schemas.openxmlformats.org/officeDocument/2006/relationships/notesMaster" Target="/ppt/notesMasters/notesMaster1.xml" Id="R04926be13e374d5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020d389731e480f" /><Relationship Type="http://schemas.openxmlformats.org/officeDocument/2006/relationships/notesMaster" Target="/ppt/notesMasters/notesMaster1.xml" Id="R104105f26944425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46c7a89a3114693" /><Relationship Type="http://schemas.openxmlformats.org/officeDocument/2006/relationships/notesMaster" Target="/ppt/notesMasters/notesMaster1.xml" Id="R51bd8f8231fc4b0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085b72ba4b4600" /><Relationship Type="http://schemas.openxmlformats.org/officeDocument/2006/relationships/notesMaster" Target="/ppt/notesMasters/notesMaster1.xml" Id="R6946ec72bbb6488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dbd6ba52414a3d" /><Relationship Type="http://schemas.openxmlformats.org/officeDocument/2006/relationships/notesMaster" Target="/ppt/notesMasters/notesMaster1.xml" Id="R0c6c631ed7a148c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3134644a7264516" /><Relationship Type="http://schemas.openxmlformats.org/officeDocument/2006/relationships/notesMaster" Target="/ppt/notesMasters/notesMaster1.xml" Id="R2323f774c2f74ac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edb0bd0f12042f4" /><Relationship Type="http://schemas.openxmlformats.org/officeDocument/2006/relationships/notesMaster" Target="/ppt/notesMasters/notesMaster1.xml" Id="Rd8f3e9254da14a7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a61ecce788a4118" /><Relationship Type="http://schemas.openxmlformats.org/officeDocument/2006/relationships/notesMaster" Target="/ppt/notesMasters/notesMaster1.xml" Id="Red832d65728f486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2851cb6745c409d" /><Relationship Type="http://schemas.openxmlformats.org/officeDocument/2006/relationships/notesMaster" Target="/ppt/notesMasters/notesMaster1.xml" Id="R69d0767b897b4fe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259ba537ab6487f" /><Relationship Type="http://schemas.openxmlformats.org/officeDocument/2006/relationships/notesMaster" Target="/ppt/notesMasters/notesMaster1.xml" Id="R28d17f97773c45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5afc0b666264129" /><Relationship Type="http://schemas.openxmlformats.org/officeDocument/2006/relationships/notesMaster" Target="/ppt/notesMasters/notesMaster1.xml" Id="R644239956d5b449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316801ad2164014" /><Relationship Type="http://schemas.openxmlformats.org/officeDocument/2006/relationships/notesMaster" Target="/ppt/notesMasters/notesMaster1.xml" Id="Ra6d071ffb6e7475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7b2a1614a88444f" /><Relationship Type="http://schemas.openxmlformats.org/officeDocument/2006/relationships/notesMaster" Target="/ppt/notesMasters/notesMaster1.xml" Id="R797cd1920536497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8e5b32df585400d" /><Relationship Type="http://schemas.openxmlformats.org/officeDocument/2006/relationships/notesMaster" Target="/ppt/notesMasters/notesMaster1.xml" Id="R37c3ff5f8e3a42b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8b3e18d08e54de5" /><Relationship Type="http://schemas.openxmlformats.org/officeDocument/2006/relationships/notesMaster" Target="/ppt/notesMasters/notesMaster1.xml" Id="R18ba0a549e04468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3523f9937b34d8f" /><Relationship Type="http://schemas.openxmlformats.org/officeDocument/2006/relationships/notesMaster" Target="/ppt/notesMasters/notesMaster1.xml" Id="R78cc6c8b8384431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3a11fdbc60c4ce5" /><Relationship Type="http://schemas.openxmlformats.org/officeDocument/2006/relationships/notesMaster" Target="/ppt/notesMasters/notesMaster1.xml" Id="Rfa5ca8fdadf447e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b009278c87048e4" /><Relationship Type="http://schemas.openxmlformats.org/officeDocument/2006/relationships/notesMaster" Target="/ppt/notesMasters/notesMaster1.xml" Id="Rdd9253c1d0b240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f0c343fe5ef4709" /><Relationship Type="http://schemas.openxmlformats.org/officeDocument/2006/relationships/notesMaster" Target="/ppt/notesMasters/notesMaster1.xml" Id="Rf10c6632cafb470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b5662129d844dca" /><Relationship Type="http://schemas.openxmlformats.org/officeDocument/2006/relationships/notesMaster" Target="/ppt/notesMasters/notesMaster1.xml" Id="R508b202d4d634dd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ea97d7bd7d14f1c" /><Relationship Type="http://schemas.openxmlformats.org/officeDocument/2006/relationships/notesMaster" Target="/ppt/notesMasters/notesMaster1.xml" Id="Rc3966925ef3e4cc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8e01dba1e6546cf" /><Relationship Type="http://schemas.openxmlformats.org/officeDocument/2006/relationships/notesMaster" Target="/ppt/notesMasters/notesMaster1.xml" Id="R4bc991fec1a4464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7104cb8788d4af2" /><Relationship Type="http://schemas.openxmlformats.org/officeDocument/2006/relationships/notesMaster" Target="/ppt/notesMasters/notesMaster1.xml" Id="R731e230489694db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7aff469757d44ff" /><Relationship Type="http://schemas.openxmlformats.org/officeDocument/2006/relationships/notesMaster" Target="/ppt/notesMasters/notesMaster1.xml" Id="R5e261b20c40c4b7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6d2fe4c68344661" /><Relationship Type="http://schemas.openxmlformats.org/officeDocument/2006/relationships/notesMaster" Target="/ppt/notesMasters/notesMaster1.xml" Id="R7c44cd851bee47e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02fb9ce327e4a83" /><Relationship Type="http://schemas.openxmlformats.org/officeDocument/2006/relationships/notesMaster" Target="/ppt/notesMasters/notesMaster1.xml" Id="R3288ad1fc9ce4a2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dda5f4e07e2475b" /><Relationship Type="http://schemas.openxmlformats.org/officeDocument/2006/relationships/notesMaster" Target="/ppt/notesMasters/notesMaster1.xml" Id="R4a7981dfe1fe46c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ee5a31d287e418b" /><Relationship Type="http://schemas.openxmlformats.org/officeDocument/2006/relationships/notesMaster" Target="/ppt/notesMasters/notesMaster1.xml" Id="R0a560ce17d134af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fbdff361ef94b7b" /><Relationship Type="http://schemas.openxmlformats.org/officeDocument/2006/relationships/notesMaster" Target="/ppt/notesMasters/notesMaster1.xml" Id="R553b2c070ebf4d1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cb84a830c684a62" /><Relationship Type="http://schemas.openxmlformats.org/officeDocument/2006/relationships/notesMaster" Target="/ppt/notesMasters/notesMaster1.xml" Id="Rb72fb02f57d0468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f69845d31b24b40" /><Relationship Type="http://schemas.openxmlformats.org/officeDocument/2006/relationships/notesMaster" Target="/ppt/notesMasters/notesMaster1.xml" Id="Rd71c9b5e071949e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5cf25a46c1342e3" /><Relationship Type="http://schemas.openxmlformats.org/officeDocument/2006/relationships/notesMaster" Target="/ppt/notesMasters/notesMaster1.xml" Id="R8cf255f8ef1649a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514fc6489604af7" /><Relationship Type="http://schemas.openxmlformats.org/officeDocument/2006/relationships/notesMaster" Target="/ppt/notesMasters/notesMaster1.xml" Id="R9b64d7b9d0ca4f8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85988ac8a9a4158" /><Relationship Type="http://schemas.openxmlformats.org/officeDocument/2006/relationships/notesMaster" Target="/ppt/notesMasters/notesMaster1.xml" Id="Rb1b512fcb4ed482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08a15e5856244d8" /><Relationship Type="http://schemas.openxmlformats.org/officeDocument/2006/relationships/notesMaster" Target="/ppt/notesMasters/notesMaster1.xml" Id="Rc462e6c100cc45b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ecf6d136793475a" /><Relationship Type="http://schemas.openxmlformats.org/officeDocument/2006/relationships/notesMaster" Target="/ppt/notesMasters/notesMaster1.xml" Id="R5baf3a4358d04b9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fed1af97fee4f7e" /><Relationship Type="http://schemas.openxmlformats.org/officeDocument/2006/relationships/notesMaster" Target="/ppt/notesMasters/notesMaster1.xml" Id="R2178b664ef46410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21a09fc7d5440fe" /><Relationship Type="http://schemas.openxmlformats.org/officeDocument/2006/relationships/notesMaster" Target="/ppt/notesMasters/notesMaster1.xml" Id="Re8963f14a63d4ea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5237711d909488b" /><Relationship Type="http://schemas.openxmlformats.org/officeDocument/2006/relationships/notesMaster" Target="/ppt/notesMasters/notesMaster1.xml" Id="Re605c1f2af44466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8c1ecd3e84a4da7" /><Relationship Type="http://schemas.openxmlformats.org/officeDocument/2006/relationships/notesMaster" Target="/ppt/notesMasters/notesMaster1.xml" Id="Rbbb6ff4a819645f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09731a55867e4006" /><Relationship Type="http://schemas.openxmlformats.org/officeDocument/2006/relationships/notesMaster" Target="/ppt/notesMasters/notesMaster1.xml" Id="R61025f11d6b9494f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8b1e35470954d3c" /><Relationship Type="http://schemas.openxmlformats.org/officeDocument/2006/relationships/notesMaster" Target="/ppt/notesMasters/notesMaster1.xml" Id="Ra357ccce7e02417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d7eaeade6c2428c" /><Relationship Type="http://schemas.openxmlformats.org/officeDocument/2006/relationships/notesMaster" Target="/ppt/notesMasters/notesMaster1.xml" Id="R4b75619b414b42c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35446102ded4668" /><Relationship Type="http://schemas.openxmlformats.org/officeDocument/2006/relationships/notesMaster" Target="/ppt/notesMasters/notesMaster1.xml" Id="Ra28807282c5f4c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我想先把题目压实一点。今天不是来盘点几个 AI 工具，也不是单讲某个优化算法。我真正想讨论的是：当 AI 进入材料研究之后，实验本身正在怎样被重新组织，DOE 又在这个过程中处在什么位置。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Self-Driving Labs（自驱实验室，SDL）</a:t>
            </a:r>
          </a:p>
          <a:p xmlns:a="http://schemas.openxmlformats.org/drawingml/2006/main">
            <a:r>
              <a:t>- Design of Experiments（实验设计，DOE）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先把路径说清楚：今天不是从算法入手，而是从实验入手。先问实验在材料科学里是什么，再问传统方法论做了什么，最后才进入 SDL、真实案例和最小 live demo。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建议把这页讲成“路径声明”，而不是流程说明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3 分钟左右；只建立路线图，不展开细节。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先压住一个常见误解：这不是 AI 工具清单，也不是某种优化算法导论。更根本的问题是，当 AI 进入实验科学之后，实验本身的组织方式、节奏和判断链条发生了什么变化。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Human-in-the-loop（人在回路中）</a:t>
            </a:r>
          </a:p>
          <a:p xmlns:a="http://schemas.openxmlformats.org/drawingml/2006/main">
            <a:r>
              <a:t>- Human-on-the-loop（人在回路上）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4 分钟左右；先立问题意识，再进入实验主线。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网站和 PPT 不是两套内容，而是同一讲座的两种介质。网站更适合看系统、案例和交互，PPT 更适合把问题、观点和证据链顺着讲清楚。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网站地址：https://sdl-lecture.vercel.app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SDL 讲座数字讲义站（当前项目线上版）: https://sdl-lecture.vercel.app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先讲一个更根本的问题：实验在科学里到底处在什么位置。只有把这个问题讲清楚，后面关于 DOE、自动化和 SDL 的讨论才不会变成简单的工具崇拜。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本部分建议控制在 20–25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1 分钟转场；明确进入“实验是什么”这一部分。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Kuhn, T. S. The Structure of Scientific Revolutions. University of Chicago Press, 1962/2012.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先把一个判断说清楚：在材料科学里，实验不是理论后的确认动作，而是直接进入真实材料世界、制造对象、暴露异常和推动纠错的知识生产机制。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Materials Science and Engineering（材料科学与工程，MSE）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Hacking, I. Representing and Intervening. Cambridge University Press, 1983.</a:t>
            </a:r>
          </a:p>
          <a:p xmlns:a="http://schemas.openxmlformats.org/drawingml/2006/main">
            <a:r>
              <a:t>- Kuhn, T. S. The Structure of Scientific Revolutions. University of Chicago Press, 1962/2012.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后面讨论 SDL 时，真正的难点常常不在优化器，而在实验给出的观测到底是什么：是谱图、图像、曲线还是标量；这些观测能不能稳定、及时、低成本地进入决策回路。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measurement（观测）</a:t>
            </a:r>
          </a:p>
          <a:p xmlns:a="http://schemas.openxmlformats.org/drawingml/2006/main">
            <a:r>
              <a:t>- data modality（数据模态）</a:t>
            </a:r>
          </a:p>
          <a:p xmlns:a="http://schemas.openxmlformats.org/drawingml/2006/main">
            <a:r>
              <a:t>- high-dimensional observation（高维观测）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把这条链看清楚很重要：从问题提出、样品制备到表征、建模、判断和纠错，实验始终贯穿其中。SDL 改变的不是实验的存在，而是这条链的组织方式、速度和可追踪性。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可与 Process–Structure–Property–Performance（工艺–结构–性能–服役）主线关联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Hacking, I. Representing and Intervening. Cambridge University Press, 1983.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今天之所以能认真讨论 SDL，不是因为某个模型突然更聪明，而是实验硬件、数据基础设施和模型驱动决策这三条线终于能在一个系统里接上，形成可运行闭环。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Closed-loop experimentation（闭环实验）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Stach, E. A. et al. The rise of self-driving labs in chemical and materials sciences. Nature Synthesis 2, 2023. https://www.nature.com/articles/s44160-022-00231-0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这一页不要当年表看，要当知识生产方式的演化图看。前面几种范式主要在回答‘我们怎样理解世界’，到这里开始多出一个新问题：模型是否已经进入行动链，开始参与下一步实验。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Fourth Paradigm（第四范式）</a:t>
            </a:r>
          </a:p>
          <a:p xmlns:a="http://schemas.openxmlformats.org/drawingml/2006/main">
            <a:r>
              <a:t>- Fifth Paradigm（第五范式）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优先自绘五范式时间轴；若需引原出处，可参考 Hey et al., The Fourth Paradigm（2009）封面或导言中的 data-intensive science 叙事，再在备注中说明第五范式属于当前扩展性讲法。</a:t>
            </a:r>
          </a:p>
          <a:p xmlns:a="http://schemas.openxmlformats.org/drawingml/2006/main">
            <a:r>
              <a:t>- 若要补 SDL 进入实验行动链的代表图，可参考 Stach et al., Nature Synthesis (2023) 或 Tom et al., Chemical Reviews (2024) 中的 SDL workflow schematic。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Kuhn, T. S. The Structure of Scientific Revolutions. University of Chicago Press, 1962/2012.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Stach, E. A. et al. The rise of self-driving labs in chemical and materials sciences. Nature Synthesis 2, 2023. https://www.nature.com/articles/s44160-022-00231-0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第四范式强调的是数据密集科学；第五范式常被用来指模型进一步进入行动链，不再只解释数据，而开始推荐下一步实验。这意味着实验从被观察对象，逐步变成被编排系统。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数据密集科学</a:t>
            </a:r>
          </a:p>
          <a:p xmlns:a="http://schemas.openxmlformats.org/drawingml/2006/main">
            <a:r>
              <a:t>- agentic workflow（代理式工作流）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一个容易被误解的地方在这里：范式变化并不意味着实验越来越不重要。恰恰相反，实验在新范式中更频繁、更系统，也更需要被清晰定义、严格记录和持续监督。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可与下一页“旧范式并未消失”连讲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Kuhn, T. S. The Structure of Scientific Revolutions. University of Chicago Press, 1962/2012.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更稳妥的讲法不是‘新范式取代旧范式’，而是旧范式被重新组织：经验仍然重要，理论仍然提供约束，计算仍然参与筛选，只是现在它们被接入了一个更强的数据化和闭环化系统。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这页可直接回应“旧范式会不会死”这一类问题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Kuhn, T. S. The Structure of Scientific Revolutions. University of Chicago Press, 1962/2012.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这里开始转向另一类问题：传统研究常把重点放在解释已有结果；到 SDL 这里，重点开始前移到下一轮实验如何被设计、被推荐、被执行。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建议此页稍停顿，作为章节转场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30–45 秒；停一下，让听众感到问题正在转向。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这一部分换一个视角来组织材料科学：不是按金属、陶瓷或半导体分，而是按实验类型分。这样更容易看清实验输出、方法选择和 SDL 适配度之间的关系。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taxonomy（分类框架）</a:t>
            </a:r>
          </a:p>
          <a:p xmlns:a="http://schemas.openxmlformats.org/drawingml/2006/main">
            <a:r>
              <a:t>- catalog（目录学）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这一页可以看成全讲的骨架图：实验不是孤立动作，而是连接问题、样品、观测、数据、模型和决策的中心节点。后面讲 SDL，本质上就是在改造这张网里若干关键连接。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objective / measurement / decision 三者需要当场区分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这八类实验不是互斥的，而是从实验目的出发的组织方式。这样分类的最大好处，是能直接连接到输出数据类型和 SDL 适配度，而不是停留在学科目录层面。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NIST Material Schemas（美国国家标准与技术研究院材料模式）提供了重要启发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前四类可以连成材料研究的上半程：先把样品做出来，再通过加工把状态调到合适区间，再通过表征知道它是什么，再通过测量知道它具有什么性质。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CVD（Chemical Vapor Deposition，化学气相沉积）</a:t>
            </a:r>
          </a:p>
          <a:p xmlns:a="http://schemas.openxmlformats.org/drawingml/2006/main">
            <a:r>
              <a:t>- PVD（Physical Vapor Deposition，物理气相沉积）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后四类提醒我们，优化不是终点。功能、可靠性、计量和校准共同决定结果是否可信。SDL 如果只会加速试验，而不管校准和失效，最后很容易跑得快但结论不稳。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active learning（主动学习）</a:t>
            </a:r>
          </a:p>
          <a:p xmlns:a="http://schemas.openxmlformats.org/drawingml/2006/main">
            <a:r>
              <a:t>- high-throughput experimentation（高通量实验）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EMMC CHADA / CHAMEO. https://emmc.eu/moda-chada/chada/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这里要把讨论从“优化一个分数”拉出来。真实实验输出可能是谱图、图像、曲线或寿命分布；SDL 的一个核心难点，就是如何把这些复杂观测转成可比较、可决策的对象。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observation model（观测模型）</a:t>
            </a:r>
          </a:p>
          <a:p xmlns:a="http://schemas.openxmlformats.org/drawingml/2006/main">
            <a:r>
              <a:t>- objective function（目标函数）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这里先把一个误解拿掉：SDL 不是从天而降的新大陆。它和试错法、DOE 有明确的历史连续性，只是把实验设计、数据更新和推荐机制推进到了新的组织层级。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试错法、启发式方法、DOE（实验设计）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1 分钟转场；从实验地位切入方法论历史。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Fisher, R. A. The Design of Experiments. Oliver &amp; Boyd, 1935.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试错法长期存在，不是因为大家不懂方法，而是因为经验、直觉和局部反馈在很多实验里确实有用。它的问题不在于低级，而在于面对高维、昂贵、多约束问题时很难扩展。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heuristics（启发式方法）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如果把 DOE 只讲成几种设计表，那就低估它了。DOE 真正留下来的，是一种很强的方法论意识：预算有限时，实验不能乱做，而要设计成一轮一轮能学到东西的过程。这一点和后面的 SDL 是接得上的。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R. A. Fisher（费舍尔）</a:t>
            </a:r>
          </a:p>
          <a:p xmlns:a="http://schemas.openxmlformats.org/drawingml/2006/main">
            <a:r>
              <a:t>- George Box（乔治·博克斯）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Fisher《The Design of Experiments》书影，作为 DOE 起点的原始出处提示。</a:t>
            </a:r>
          </a:p>
          <a:p xmlns:a="http://schemas.openxmlformats.org/drawingml/2006/main">
            <a:r>
              <a:t>- 建议引用 Box, Hunter &amp; Hunter《Statistics for Experimenters》封面或目录页，配合说明 DOE 从统计设计走向序贯学习。</a:t>
            </a:r>
          </a:p>
          <a:p xmlns:a="http://schemas.openxmlformats.org/drawingml/2006/main">
            <a:r>
              <a:t>- 若要加方法图，优先选 Montgomery《Design and Analysis of Experiments》中响应面或因子设计总览图。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Fisher, R. A. The Design of Experiments. Oliver &amp; Boyd, 1935.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DOE 的根本贡献不是省几个点，而是把实验设计本身变成可推理对象。它关心的不只是结果，更关心为什么这样采样、哪些因素重要、哪些交互值得追踪。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Box–Behnken design（Box–Behnken 设计）</a:t>
            </a:r>
          </a:p>
          <a:p xmlns:a="http://schemas.openxmlformats.org/drawingml/2006/main">
            <a:r>
              <a:t>- Response Surface Methodology（响应面方法）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这里最重要的是阶段感。筛选阶段、建模阶段和局部优化阶段面对的问题并不一样，所以用的 DOE 也不一样。方法要跟着问题走，而不是先抱住某个设计名词。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factor screening（因素筛选）</a:t>
            </a:r>
          </a:p>
          <a:p xmlns:a="http://schemas.openxmlformats.org/drawingml/2006/main">
            <a:r>
              <a:t>- response surface（响应面）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这六个词看起来基础，但后面 SDL 里的 objective、constraint、measurement、parameter space 都建立在这里。如果这里不分清，后面就很容易把响应和目标、变量和约束混为一谈。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factor（因素）</a:t>
            </a:r>
          </a:p>
          <a:p xmlns:a="http://schemas.openxmlformats.org/drawingml/2006/main">
            <a:r>
              <a:t>- response（响应）</a:t>
            </a:r>
          </a:p>
          <a:p xmlns:a="http://schemas.openxmlformats.org/drawingml/2006/main">
            <a:r>
              <a:t>- constraint（约束）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Fisher, R. A. The Design of Experiments. Oliver &amp; Boyd, 1935.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更接近真实研究现场的讲法不是高下之分，而是连续谱：先靠经验摸边界，再用 DOE 组织设计，最后才在最昂贵、最关键的那段空间里上 SDL。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不要把 SDL 讲成“万能替代者”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如果只用一句话概括这条方法论演化线，我会说：变化最大的是下一步实验的提出机制。从人提出、到设计提出、再到模型在闭环中提出，这改变了实验决策的来源与依据。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next experiment recommendation（下一实验推荐）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我对这个问题的判断很明确：DOE 不会死。更好的问法是，它会以什么方式继续存在。通常就是三种：串联、并联、集成。很多 SDL 工作流内部，本来就还在用 DOE 的语言、初始化和结构化采样思想。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这页可直接回应“AI 时代 DOE 是否过时”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Fisher, R. A. The Design of Experiments. Oliver &amp; Boyd, 1935.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在从 DOE 转入 SDL 之前，我想补一条更底层的主线：真正的研究不是‘挑一个优化器’开始的，而是先把问题翻译成可执行设计。前四步负责定义问题、组织变量、校准测量和排查流程缺陷，它们是后面所有高级方法的承重墙。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workflow discipline（工作流纪律）</a:t>
            </a:r>
          </a:p>
          <a:p xmlns:a="http://schemas.openxmlformats.org/drawingml/2006/main">
            <a:r>
              <a:t>- pilot study（预实验）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2–3 分钟；作为 DOE 与 SDL 之间的桥，不展开成方法细节课。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Hacking, I. Representing and Intervening. Cambridge University Press, 1983.</a:t>
            </a:r>
          </a:p>
          <a:p xmlns:a="http://schemas.openxmlformats.org/drawingml/2006/main">
            <a:r>
              <a:t>- Fisher, R. A. The Design of Experiments. Oliver &amp; Boyd, 1935.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真正让一个实验站得住的，往往不是第一个漂亮结果，而是后四步：执行是否守纪律，数据是否留痕，统计是否按计划，报告是否诚实。很多所谓‘AI 时代的方法创新’，最后都败在这些最传统的科研纪律上。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data provenance（数据来源留痕）</a:t>
            </a:r>
          </a:p>
          <a:p xmlns:a="http://schemas.openxmlformats.org/drawingml/2006/main">
            <a:r>
              <a:t>- effect size（效应量）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2–3 分钟；强调可信与可复现，而不是堆更多术语。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这页是桥接结论。DOE 更像把问题翻译成统计设计，SDL 更像把其中若干决策节点高速闭环化，而真正不能外包的仍是问题定义、测量语义和结论责任。这样一来，后面讲 SDL 就不会悬空在半空中。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human-in-the-loop（人仍在决策环中）</a:t>
            </a:r>
          </a:p>
          <a:p xmlns:a="http://schemas.openxmlformats.org/drawingml/2006/main">
            <a:r>
              <a:t>- scientific accountability（科学责任）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Hacking, I. Representing and Intervening. Cambridge University Press, 1983.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Montgomery, D. C. Design and Analysis of Experiments. Wiley, 2017.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从这里开始，重点不再是某个模型名字，而是一个可运行的实验闭环怎样由软件、硬件、数据、模型和人类监督共同构成。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Self-Driving Labs（自驱实验室，SDL）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1 分钟转场；提醒听众现在开始从 DOE 进入 SDL。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Stach, E. A. et al. The rise of self-driving labs in chemical and materials sciences. Nature Synthesis 2, 2023. https://www.nature.com/articles/s44160-022-00231-0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在进 A-Lab 之前，我想先把视野拉宽一点。SDL 不是一条单线叙事，它至少覆盖反应优化、材料合成、自动化编排和低成本平台几条路线。这样看完再回到 A-Lab，才知道它重要在什么地方，也局限在什么地方。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ChemOS（自动化实验编排平台）</a:t>
            </a:r>
          </a:p>
          <a:p xmlns:a="http://schemas.openxmlformats.org/drawingml/2006/main">
            <a:r>
              <a:t>- frugal twin（低成本孪生）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Tom et al., Chemical Reviews (2024) 的 SDL 全景/分类综述图，作为领域地图主图候选。</a:t>
            </a:r>
          </a:p>
          <a:p xmlns:a="http://schemas.openxmlformats.org/drawingml/2006/main">
            <a:r>
              <a:t>- 建议引用 Digital Discovery (2024) community survey 中的系统类型或平台比较图/表，帮助说明领域并非只有 A-Lab 一条路线。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Stach, E. A. et al. The rise of self-driving labs in chemical and materials sciences. Nature Synthesis 2, 2023. https://www.nature.com/articles/s44160-022-00231-0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  <a:p xmlns:a="http://schemas.openxmlformats.org/drawingml/2006/main">
            <a:r>
              <a:t>- Aguilar-Granda, A. et al. Review of low-cost self-driving laboratories in chemistry and materials science: the 'frugal twin' concept. Digital Discovery 3, 2024. https://pubs.rsc.org/en/content/articlehtml/2024/dd/d3dd00223c</a:t>
            </a:r>
          </a:p>
          <a:p xmlns:a="http://schemas.openxmlformats.org/drawingml/2006/main">
            <a:r>
              <a:t>- Autonomous laboratories for accelerated materials discovery: a community survey and practical insights. Digital Discovery, 2024. https://pubs.rsc.org/en/content/articlelanding/2024/dd/d4dd00059e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把 SDL 理解成‘用机器学习预测实验结果’，还是太浅了。真正关键的地方在于闭环：模型不只解释结果，还要参与下一步行动；而且这个行动必须真的能被执行、被观测、再被验证。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closed-loop experimentation（闭环实验）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Stach et al., Nature Synthesis (2023) 中 SDL 闭环 workflow 图，适合做这一页主图。</a:t>
            </a:r>
          </a:p>
          <a:p xmlns:a="http://schemas.openxmlformats.org/drawingml/2006/main">
            <a:r>
              <a:t>- 可备选 Tom et al., Chemical Reviews (2024) 中的 closed-loop experimentation schematic。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Stach, E. A. et al. The rise of self-driving labs in chemical and materials sciences. Nature Synthesis 2, 2023. https://www.nature.com/articles/s44160-022-00231-0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这一页其实就是后面看 Case Studio 的认知模板。只要把这五步记住，后面看到推荐点变化时，就不会把那理解成黑箱魔法，而会知道闭环到底在做什么。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exploration vs exploitation（探索与利用）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这三个概念一定要分开：目标不一定能直接测，约束也不是附属条件，测量更不等于最终目标。很多高质量 SDL 设计，首先赢在这三者分得清楚。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objective（目标）</a:t>
            </a:r>
          </a:p>
          <a:p xmlns:a="http://schemas.openxmlformats.org/drawingml/2006/main">
            <a:r>
              <a:t>- constraint（约束）</a:t>
            </a:r>
          </a:p>
          <a:p xmlns:a="http://schemas.openxmlformats.org/drawingml/2006/main">
            <a:r>
              <a:t>- measurement（测量）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NIST Material Schema: Process. https://pages.nist.gov/material-schema/Process/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这三者的关系可以讲得很清楚：代理模型负责形成当前知识地图，不确定性负责标出盲区，采集函数负责把目标和盲区综合成下一步行动。三者合起来，才构成推荐逻辑。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Gaussian Process（高斯过程，GP）</a:t>
            </a:r>
          </a:p>
          <a:p xmlns:a="http://schemas.openxmlformats.org/drawingml/2006/main">
            <a:r>
              <a:t>- Expected Improvement（期望提升，EI）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代理模型怎么选，不能只看谁最流行，而要看你面对的到底是什么实验空间、什么数据量、什么变量类型。小样本昂贵实验常偏向 GP；一旦观测高维、结构复杂，就可能转向树模型、深模型或混合模型。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surrogate model selection（代理模型选择）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Shahriari et al., Proceedings of the IEEE (2016) 中 GP/BO 示意图，说明 surrogate 的经典语境。</a:t>
            </a:r>
          </a:p>
          <a:p xmlns:a="http://schemas.openxmlformats.org/drawingml/2006/main">
            <a:r>
              <a:t>- 若希望更贴近 SDL 语境，可引用 Chemical Reviews (2024) 中对 surrogate model 家族的总结表或分类图。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这一页最重要的一句其实很简单：好的 SDL 不只是预测得准，而是知道自己哪里还不准。不确定性不是抽象形容词，它直接决定预算该往哪里投，哪些区域该继续探索，哪些区域可以先不碰。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posterior variance（后验方差）</a:t>
            </a:r>
          </a:p>
          <a:p xmlns:a="http://schemas.openxmlformats.org/drawingml/2006/main">
            <a:r>
              <a:t>- calibration（校准）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Shahriari et al. (2016) 中 GP posterior mean/variance 示意图，最适合解释 uncertainty 的可视化含义。</a:t>
            </a:r>
          </a:p>
          <a:p xmlns:a="http://schemas.openxmlformats.org/drawingml/2006/main">
            <a:r>
              <a:t>- 若强调 calibration，可补一张 BO/SDL 综述中的 uncertainty calibration 或 ensemble disagreement 示例图。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采集函数不要背成菜单。它本质上在回答一个方法论问题：你现在更想尽快吃到当前最优，还是愿意花预算去补盲区、降不确定性？不同项目、不同阶段，这个答案本来就可能不一样。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Expected Improvement（期望提升）</a:t>
            </a:r>
          </a:p>
          <a:p xmlns:a="http://schemas.openxmlformats.org/drawingml/2006/main">
            <a:r>
              <a:t>- Upper Confidence Bound（上置信界）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Shahriari et al. (2016) 中 EI/UCB 等 acquisition function 对比示意图。</a:t>
            </a:r>
          </a:p>
          <a:p xmlns:a="http://schemas.openxmlformats.org/drawingml/2006/main">
            <a:r>
              <a:t>- 若需要更课堂化的图，可选 Desimpel et al., CSR (2026) 中说明 exploration–exploitation trade-off 的图或表。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Shahriari, B. et al. Taking the Human Out of the Loop: A Review of Bayesian Optimization. Proceedings of the IEEE 104(1), 2016.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如果从成本和效率看，SDL 的优势就很好理解了：实验越贵、越慢、越 noisy，越不能靠蛮力去堆点数。真正重要的是，让每一步实验都尽量多带回信息，这也是序贯学习和显式不确定性真正值钱的地方。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forward model（前向模型）</a:t>
            </a:r>
          </a:p>
          <a:p xmlns:a="http://schemas.openxmlformats.org/drawingml/2006/main">
            <a:r>
              <a:t>- simulator（模拟器）</a:t>
            </a:r>
          </a:p>
          <a:p xmlns:a="http://schemas.openxmlformats.org/drawingml/2006/main">
            <a:r>
              <a:t>- experimental emulator（实验仿真器）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Desimpel et al., CSR (2026) 中关于实验预算、反应优化成本或数据效率的综述图/表。</a:t>
            </a:r>
          </a:p>
          <a:p xmlns:a="http://schemas.openxmlformats.org/drawingml/2006/main">
            <a:r>
              <a:t>- 若强调低成本与教学可及性，可引用 Aguilar-Granda et al., Digital Discovery (2024) 中 frugal twin 平台对比图。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Desimpel, R. et al. Bayesian optimization for chemical reactions. Chemical Society Reviews 55, 2026. https://pubs.rsc.org/en/content/articlehtml/2026/cs/d5cs00962f</a:t>
            </a:r>
          </a:p>
          <a:p xmlns:a="http://schemas.openxmlformats.org/drawingml/2006/main">
            <a:r>
              <a:t>- Aguilar-Granda, A. et al. Review of low-cost self-driving laboratories in chemistry and materials science: the 'frugal twin' concept. Digital Discovery 3, 2024. https://pubs.rsc.org/en/content/articlehtml/2024/dd/d3dd00223c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这里我不想只把人的作用讲成伦理兜底。更关键的是，问题是谁提的，异常是谁先察觉的，机制是谁敢提出的，最后结论又是谁来负责的。至少到今天，这几件事仍然主要掌握在人手里，所以高质量 SDL 必然是强人机协作系统。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Human-in-the-loop</a:t>
            </a:r>
          </a:p>
          <a:p xmlns:a="http://schemas.openxmlformats.org/drawingml/2006/main">
            <a:r>
              <a:t>- Human-on-the-loop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Häse et al., Digital Discovery (2024) 中 human-in-the-loop / gamification / interactive AI 的概念图。</a:t>
            </a:r>
          </a:p>
          <a:p xmlns:a="http://schemas.openxmlformats.org/drawingml/2006/main">
            <a:r>
              <a:t>- 可补 community survey（2024）中关于 human oversight、platform bottleneck 或 adoption barrier 的汇总图表。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  <a:p xmlns:a="http://schemas.openxmlformats.org/drawingml/2006/main">
            <a:r>
              <a:t>- Autonomous laboratories for accelerated materials discovery: a community survey and practical insights. Digital Discovery, 2024. https://pubs.rsc.org/en/content/articlelanding/2024/dd/d4dd00059e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SDL 不是所有实验问题的默认答案。它更适合那些可自动化、可标准化、可快速观测、目标与约束较清楚的问题；反之，它也会有明显边界。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feasibility（可行性）</a:t>
            </a:r>
          </a:p>
          <a:p xmlns:a="http://schemas.openxmlformats.org/drawingml/2006/main">
            <a:r>
              <a:t>- throughput（吞吐量）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Autonomous laboratories for accelerated materials discovery: a community survey and practical insights. Digital Discovery, 2024. https://pubs.rsc.org/en/content/articlelanding/2024/dd/d4dd00059e</a:t>
            </a:r>
          </a:p>
          <a:p xmlns:a="http://schemas.openxmlformats.org/drawingml/2006/main">
            <a:r>
              <a:t>- Aguilar-Granda, A. et al. Review of low-cost self-driving laboratories in chemistry and materials science: the 'frugal twin' concept. Digital Discovery 3, 2024. https://pubs.rsc.org/en/content/articlehtml/2024/dd/d3dd00223c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这页的作用，是先把 SDL 地图摊开，再把 A-Lab 放回去。这样学生会知道：A-Lab 值得讲，不是因为它代表一切，而是因为它正好站在一个很容易被看见、也很容易被质疑的位置上。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ChemOS（实验编排平台）</a:t>
            </a:r>
          </a:p>
          <a:p xmlns:a="http://schemas.openxmlformats.org/drawingml/2006/main">
            <a:r>
              <a:t>- AFL（Autonomous Formulation Lab，自治配方实验室）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community survey（Digital Discovery, 2024）中的平台/应用谱系图或比较表。</a:t>
            </a:r>
          </a:p>
          <a:p xmlns:a="http://schemas.openxmlformats.org/drawingml/2006/main">
            <a:r>
              <a:t>- 若要单列配方方向，可引用 NIST Autonomous Formulation Lab 官网示意图；若要单列低成本方向，可引用 frugal twin 综述中的平台照片或架构图。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NIST Autonomous Formulation Lab. https://www.nist.gov/node/1895811</a:t>
            </a:r>
          </a:p>
          <a:p xmlns:a="http://schemas.openxmlformats.org/drawingml/2006/main">
            <a:r>
              <a:t>- Aguilar-Granda, A. et al. Review of low-cost self-driving laboratories in chemistry and materials science: the 'frugal twin' concept. Digital Discovery 3, 2024. https://pubs.rsc.org/en/content/articlehtml/2024/dd/d3dd00223c</a:t>
            </a:r>
          </a:p>
          <a:p xmlns:a="http://schemas.openxmlformats.org/drawingml/2006/main">
            <a:r>
              <a:t>- Autonomous laboratories for accelerated materials discovery: a community survey and practical insights. Digital Discovery, 2024. https://pubs.rsc.org/en/content/articlelanding/2024/dd/d4dd00059e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现在把视角收窄到一个具体案例。A-Lab 值得讲，不只是因为它把自治实验系统做得很完整，也因为它在高关注度之下经历了质疑、复查和修正。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A-Lab（自治实验室）</a:t>
            </a:r>
          </a:p>
          <a:p xmlns:a="http://schemas.openxmlformats.org/drawingml/2006/main">
            <a:r>
              <a:t>- Nature 2023 论文与后续修正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1 分钟转场；先从全景收束到案例，再展开细节。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Nature News: Robot chemist sparks row with claim it created new materials, 2023. https://www.nature.com/articles/d41586-023-03956-w</a:t>
            </a:r>
          </a:p>
          <a:p xmlns:a="http://schemas.openxmlformats.org/drawingml/2006/main">
            <a:r>
              <a:t>- Chemistry World: New analysis raises doubts over autonomous lab's materials 'discoveries', 2024. https://www.chemistryworld.com/news/new-analysis-raises-doubts-over-autonomous-labs-materials-discoveries/4018791.article</a:t>
            </a:r>
          </a:p>
          <a:p xmlns:a="http://schemas.openxmlformats.org/drawingml/2006/main">
            <a:r>
              <a:t>- C&amp;EN: 'Nature' robot chemist paper corrected, but some questions remain unanswered, 2026. https://cen.acs.org/research-integrity/Nature-robot-chemist-paper-corrected/104/web/2026/01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A-Lab 的代表性，不是它某一个算法特别神，而是它把筛选、执行、表征和决策真的接成了一条链。所以这页最值得学生看的，不是 buzzword，而是一个真实 SDL 系统到底长什么样。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XRD（X-ray Diffraction，X射线衍射）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Nature 624 (2023) A-Lab 论文中的 graphical abstract 或系统总览图，最适合做这一页主图。</a:t>
            </a:r>
          </a:p>
          <a:p xmlns:a="http://schemas.openxmlformats.org/drawingml/2006/main">
            <a:r>
              <a:t>- 可备选 Berkeley Lab News 对 A-Lab 的系统照片或示意图，用来增强场景感。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Berkeley Lab News: Meet the Autonomous Lab of the Future, 2023. https://newscenter.lbl.gov/2023/04/17/meet-the-autonomous-lab-of-the-future/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真正的 SDL 系统一定是分层的。你可以去质疑其中任何一层做得够不够好，但不能把它简化成一个模型名字。A-Lab 的教学价值，恰好就在于这些层都能被拆出来、逐层审视。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Materials Project（材料项目数据库）</a:t>
            </a:r>
          </a:p>
          <a:p xmlns:a="http://schemas.openxmlformats.org/drawingml/2006/main">
            <a:r>
              <a:t>- ML-assisted phase identification（机器学习辅助相鉴定）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Nature 624 (2023) 中 A-Lab workflow / system architecture 图，逐层对应筛选、执行、表征、解释。</a:t>
            </a:r>
          </a:p>
          <a:p xmlns:a="http://schemas.openxmlformats.org/drawingml/2006/main">
            <a:r>
              <a:t>- 若要补数据库前端，可配 Materials Project 相关示意截图，但应在备注中注明其与 A-Lab 的前端筛选关系。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Berkeley Lab News: Meet the Autonomous Lab of the Future, 2023. https://newscenter.lbl.gov/2023/04/17/meet-the-autonomous-lab-of-the-future/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A-Lab 的一个关键策略，是先缩空间，再进实验。这个逻辑很常见，也很合理；但它的风险同样明显：如果前端筛选假设有系统偏差，后端自动化就会高效放大这种偏差。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thermodynamic stability（热力学稳定性）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这一页不要把数字讲成奖状，而要讲成案例事实。A-Lab 之所以迅速出圈，确实和这些速度、吞吐量、成功率口径有关；但这些数字只是故事的开头，绝不是故事的结论。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Nature 624 (2023)</a:t>
            </a:r>
          </a:p>
          <a:p xmlns:a="http://schemas.openxmlformats.org/drawingml/2006/main">
            <a:r>
              <a:t>- 需区分 target-level 与 recipe-level 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建议引用 Nature 624 (2023) 论文中的结果总表或 summary figure，用原始口径展示 17 天、58 个目标、355 次实验等数字。</a:t>
            </a:r>
          </a:p>
          <a:p xmlns:a="http://schemas.openxmlformats.org/drawingml/2006/main">
            <a:r>
              <a:t>- 若担心口径误读，可在图旁并列一张自制小表，区分 target-level、recipe-level 与后续争议口径。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Nature News: Robot chemist sparks row with claim it created new materials, 2023. https://www.nature.com/articles/d41586-023-03956-w</a:t>
            </a:r>
          </a:p>
          <a:p xmlns:a="http://schemas.openxmlformats.org/drawingml/2006/main">
            <a:r>
              <a:t>- Chemistry World: New analysis raises doubts over autonomous lab's materials 'discoveries', 2024. https://www.chemistryworld.com/news/new-analysis-raises-doubts-over-autonomous-labs-materials-discoveries/4018791.article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把 A-Lab 放回时间线里看，才能避免把它讲成静态海报。更值得关注的是：一个高影响力 SDL 结果如何被传播、被质疑、被重新界定，又如何在社群中被更严谨地理解。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scientific self-correction（科学自我纠错）</a:t>
            </a:r>
          </a:p>
          <a:p xmlns:a="http://schemas.openxmlformats.org/drawingml/2006/main">
            <a:r>
              <a:t>- claim auditing（声称审计）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Nature News: Robot chemist sparks row with claim it created new materials, 2023. https://www.nature.com/articles/d41586-023-03956-w</a:t>
            </a:r>
          </a:p>
          <a:p xmlns:a="http://schemas.openxmlformats.org/drawingml/2006/main">
            <a:r>
              <a:t>- Chemistry World: New analysis raises doubts over autonomous lab's materials 'discoveries', 2024. https://www.chemistryworld.com/news/new-analysis-raises-doubts-over-autonomous-labs-materials-discoveries/4018791.article</a:t>
            </a:r>
          </a:p>
          <a:p xmlns:a="http://schemas.openxmlformats.org/drawingml/2006/main">
            <a:r>
              <a:t>- C&amp;EN: 'Nature' robot chemist paper corrected, but some questions remain unanswered, 2026. https://cen.acs.org/research-integrity/Nature-robot-chemist-paper-corrected/104/web/2026/01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如果把 A-Lab 当成英雄叙事，这一页就讲不明白。真正值得学生看到的是：一个高影响力 SDL 结果怎样被质疑、复查、修正。这件事本身就在提醒我们，系统越自动化，定义审计和人类验证越不能省。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ChemRxiv 2024 独立再分析</a:t>
            </a:r>
          </a:p>
          <a:p xmlns:a="http://schemas.openxmlformats.org/drawingml/2006/main">
            <a:r>
              <a:t>- C&amp;EN 2026 关于更正的报道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这一页可优先做并列表：左列 Nature 2023 原始声称，右列 Chemistry World / C&amp;EN 报道中的后续质疑与更正口径。</a:t>
            </a:r>
          </a:p>
          <a:p xmlns:a="http://schemas.openxmlformats.org/drawingml/2006/main">
            <a:r>
              <a:t>- 若坚持引原图，建议分别截取 Nature 论文结果图与后续报道中的关键表述，再在页上明确标示“原始声称 / 后续复核”。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Chemistry World: New analysis raises doubts over autonomous lab's materials 'discoveries', 2024. https://www.chemistryworld.com/news/new-analysis-raises-doubts-over-autonomous-labs-materials-discoveries/4018791.article</a:t>
            </a:r>
          </a:p>
          <a:p xmlns:a="http://schemas.openxmlformats.org/drawingml/2006/main">
            <a:r>
              <a:t>- C&amp;EN: 'Nature' robot chemist paper corrected, but some questions remain unanswered, 2026. https://cen.acs.org/research-integrity/Nature-robot-chemist-paper-corrected/104/web/2026/01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A-Lab 这一章真正值得带走的，不是几个漂亮数字，而是一套判断自治实验系统的框架：系统结构、观测可信度、定义边界、人类验证，以及发现口径是否足够严格。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可作为 A-Lab 章节的收束页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  <a:p xmlns:a="http://schemas.openxmlformats.org/drawingml/2006/main">
            <a:r>
              <a:t>- Chemistry World: New analysis raises doubts over autonomous lab's materials 'discoveries', 2024. https://www.chemistryworld.com/news/new-analysis-raises-doubts-over-autonomous-labs-materials-discoveries/4018791.article</a:t>
            </a:r>
          </a:p>
          <a:p xmlns:a="http://schemas.openxmlformats.org/drawingml/2006/main">
            <a:r>
              <a:t>- C&amp;EN: 'Nature' robot chemist paper corrected, but some questions remain unanswered, 2026. https://cen.acs.org/research-integrity/Nature-robot-chemist-paper-corrected/104/web/2026/01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最后回到一个最小 live demo。真实系统当然更复杂，但在复杂性之前，先把闭环结构讲清楚更重要：目标、观测、更新、推荐到底是如何串起来的。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benchmark case（基准案例）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45 秒转场；把复杂真实系统切回可见的最小闭环。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Baird, S. G. self-driving-lab-demo. GitHub repository. https://github.com/sparks-baird/self-driving-lab-demo</a:t>
            </a:r>
          </a:p>
          <a:p xmlns:a="http://schemas.openxmlformats.org/drawingml/2006/main">
            <a:r>
              <a:t>- SDL 讲座数字讲义站（当前项目线上版）: https://sdl-lecture.vercel.app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RGB LED 这个案例的价值，不在科研深度，而在教学透明度。目标颜色、当前最佳结果和下一推荐点都摆在同一屏里，所以学生不是在看一个黑箱，而是在看一个闭环到底怎样一步一步收敛。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PWM（Pulse Width Modulation，脉宽调制）</a:t>
            </a:r>
          </a:p>
          <a:p xmlns:a="http://schemas.openxmlformats.org/drawingml/2006/main">
            <a:r>
              <a:t>- seeded reproducibility（固定种子复现实验）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建议图表：</a:t>
            </a:r>
          </a:p>
          <a:p xmlns:a="http://schemas.openxmlformats.org/drawingml/2006/main">
            <a:r>
              <a:t>- 建议放当前课程网站 Case Studio 的真实截图，优先截取 target、best-so-far、next recommendation 同屏界面。</a:t>
            </a:r>
          </a:p>
          <a:p xmlns:a="http://schemas.openxmlformats.org/drawingml/2006/main">
            <a:r>
              <a:t>- 若要补外部出处，可引用 sparks-baird/self-driving-lab-demo 仓库 README 或演示截图，作为教学 benchmark 的来源。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Baird, S. G. self-driving-lab-demo. GitHub repository. https://github.com/sparks-baird/self-driving-lab-demo</a:t>
            </a:r>
          </a:p>
          <a:p xmlns:a="http://schemas.openxmlformats.org/drawingml/2006/main">
            <a:r>
              <a:t>- SDL 讲座数字讲义站（当前项目线上版）: https://sdl-lecture.vercel.app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这页把 live demo 说透。参数、观测、评分、推荐四个环节都清楚，所以学生能直观看到‘下一步为什么是这个点’。这是它比很多黑箱 demo 更适合教学的地方。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match score（匹配分数）</a:t>
            </a:r>
          </a:p>
          <a:p xmlns:a="http://schemas.openxmlformats.org/drawingml/2006/main">
            <a:r>
              <a:t>- recommendation logic（推荐逻辑）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Baird, S. G. self-driving-lab-demo. GitHub repository. https://github.com/sparks-baird/self-driving-lab-demo</a:t>
            </a:r>
          </a:p>
          <a:p xmlns:a="http://schemas.openxmlformats.org/drawingml/2006/main">
            <a:r>
              <a:t>- SDL 讲座数字讲义站（当前项目线上版）: https://sdl-lecture.vercel.app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live demo 最怕变成‘看按钮点了几下，数字变好了’。真正应该让学生看的，是推荐逻辑怎样随着观测更新而变化，以及同样的初始条件下，这套系统是否可复现。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seed（随机种子）</a:t>
            </a:r>
          </a:p>
          <a:p xmlns:a="http://schemas.openxmlformats.org/drawingml/2006/main">
            <a:r>
              <a:t>- reset / replay（复位 / 重放）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演示前 1 分钟说明观看方法；演示过程中不断回指这四个观察点。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Baird, S. G. self-driving-lab-demo. GitHub repository. https://github.com/sparks-baird/self-driving-lab-demo</a:t>
            </a:r>
          </a:p>
          <a:p xmlns:a="http://schemas.openxmlformats.org/drawingml/2006/main">
            <a:r>
              <a:t>- SDL 讲座数字讲义站（当前项目线上版）: https://sdl-lecture.vercel.app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最后一部分不是重复总结，而是把前面所有内容收束成几条判断。学生不需要记住每个案例细节，但应带走对实验、方法论和 SDL 的整体认识框架。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30 秒转场；从内容回收束到判断框架。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三条结论里，第一条讲对象，第二条讲历史，第三条讲标准。也就是说，我们既要知道 SDL 来自哪里，也要知道怎样判断一个 SDL 系统是否真的站得住。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scientific rigor（科学严谨性）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这一页把我们的价值立场讲出来：我们不把 AI 神化，也不把它妖魔化。最重要的是让学生形成一种成熟的人机协作观：既能借力，也能质疑，既会使用，也能负责。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responsible AI（负责任的 AI）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  <a:p xmlns:a="http://schemas.openxmlformats.org/drawingml/2006/main">
            <a:r>
              <a:t>- Autonomous laboratories for accelerated materials discovery: a community survey and practical insights. Digital Discovery, 2024. https://pubs.rsc.org/en/content/articlelanding/2024/dd/d4dd00059e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如果学生能带走这四件事，这场讲座就值了。尤其是最后两条：识别哪些问题适合 SDL，和对真实系统保持判断能力。这比记住几个术语更重要。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Hey, T., Tansley, S., &amp; Tolle, K. (eds.) The Fourth Paradigm: Data-Intensive Scientific Discovery. Microsoft Research, 2009. https://www.microsoft.com/en-us/research/publication/fourth-paradigm-data-intensive-scientific-discovery/</a:t>
            </a:r>
          </a:p>
          <a:p xmlns:a="http://schemas.openxmlformats.org/drawingml/2006/main">
            <a:r>
              <a:t>- Box, G. E. P., Hunter, W. G., &amp; Hunter, J. S. Statistics for Experimenters. Wiley, 1978/2005.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最后告诉学生，网站不是讲座结束后就无关了。它是课程的入口，也是案例和 demo 的继续学习平台。讲座结束之后，学生仍然可以从网站回到今天的主线继续理解。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网站：sdl-lecture.vercel.app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  <a:p xmlns:a="http://schemas.openxmlformats.org/drawingml/2006/main">
            <a:r>
              <a:t>- Szymanski, N. J. et al. An autonomous laboratory for the accelerated synthesis of inorganic materials. Nature 624, 2023. https://www.nature.com/articles/s41586-023-06734-w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讲解词：</a:t>
            </a:r>
          </a:p>
          <a:p xmlns:a="http://schemas.openxmlformats.org/drawingml/2006/main">
            <a:r>
              <a:t>我会用这句话收尾：关键不在于把实验交给机器，而在于如何让机器进入负责任的科学工作流。然后进入问答，优先接学生对适用边界、案例可信度和课题迁移的提问。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注解：</a:t>
            </a:r>
          </a:p>
          <a:p xmlns:a="http://schemas.openxmlformats.org/drawingml/2006/main">
            <a:r>
              <a:t>- 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节奏建议：</a:t>
            </a:r>
          </a:p>
          <a:p xmlns:a="http://schemas.openxmlformats.org/drawingml/2006/main">
            <a:r>
              <a:t>结束页停 10–15 秒，再进入问答；优先接边界、争议和迁移类问题。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- Häse, F. et al. The future of self-driving laboratories: from human in the loop interactive AI to gamification. Digital Discovery 3, 2024. https://pubs.rsc.org/en/content/articlehtml/2024/dd/d4dd00040d</a:t>
            </a:r>
          </a:p>
          <a:p xmlns:a="http://schemas.openxmlformats.org/drawingml/2006/main">
            <a:r>
              <a:t>- Tom, G. et al. Self-Driving Laboratories for Chemistry and Materials Science. Chemical Reviews 124(16), 2024. https://pubs.acs.org/doi/10.1021/acs.chemrev.4c00055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8f8ec448540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f3ecde8b13491a" /><Relationship Type="http://schemas.openxmlformats.org/officeDocument/2006/relationships/slideLayout" Target="/ppt/slideLayouts/slideLayout1.xml" Id="Rc06e3ababc7542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6e3ababc7542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68d89790f4ded" /><Relationship Type="http://schemas.openxmlformats.org/officeDocument/2006/relationships/notesSlide" Target="/ppt/notesSlides/notesSlide1.xml" Id="R32f0959142074f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706d4a07340e5" /><Relationship Type="http://schemas.openxmlformats.org/officeDocument/2006/relationships/notesSlide" Target="/ppt/notesSlides/notesSlide2.xml" Id="R422ed8a45bed46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ae88a00a942ef" /><Relationship Type="http://schemas.openxmlformats.org/officeDocument/2006/relationships/notesSlide" Target="/ppt/notesSlides/notesSlide3.xml" Id="Re6772cdb900a40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6cdbe3495486e" /><Relationship Type="http://schemas.openxmlformats.org/officeDocument/2006/relationships/notesSlide" Target="/ppt/notesSlides/notesSlide4.xml" Id="Rd95eb329857844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fffd6ed4e4048" /><Relationship Type="http://schemas.openxmlformats.org/officeDocument/2006/relationships/notesSlide" Target="/ppt/notesSlides/notesSlide5.xml" Id="Rc2f8858e438e48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dd72012e44e93" /><Relationship Type="http://schemas.openxmlformats.org/officeDocument/2006/relationships/notesSlide" Target="/ppt/notesSlides/notesSlide6.xml" Id="R0751754e2e204b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b488a87f2456c" /><Relationship Type="http://schemas.openxmlformats.org/officeDocument/2006/relationships/notesSlide" Target="/ppt/notesSlides/notesSlide7.xml" Id="R85f59f4048da4d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a39be58354b97" /><Relationship Type="http://schemas.openxmlformats.org/officeDocument/2006/relationships/notesSlide" Target="/ppt/notesSlides/notesSlide8.xml" Id="R891903c209af40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d9a2d89774622" /><Relationship Type="http://schemas.openxmlformats.org/officeDocument/2006/relationships/notesSlide" Target="/ppt/notesSlides/notesSlide9.xml" Id="Re1cded31ff1c40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05f93105d40da" /><Relationship Type="http://schemas.openxmlformats.org/officeDocument/2006/relationships/notesSlide" Target="/ppt/notesSlides/notesSlide10.xml" Id="R9e6864fd032d4b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b962958b3409a" /><Relationship Type="http://schemas.openxmlformats.org/officeDocument/2006/relationships/notesSlide" Target="/ppt/notesSlides/notesSlide11.xml" Id="R5baab0ae209f47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10a54a881450c" /><Relationship Type="http://schemas.openxmlformats.org/officeDocument/2006/relationships/notesSlide" Target="/ppt/notesSlides/notesSlide12.xml" Id="Rb7f3cd24994f44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f4eda086e45e2" /><Relationship Type="http://schemas.openxmlformats.org/officeDocument/2006/relationships/notesSlide" Target="/ppt/notesSlides/notesSlide13.xml" Id="R6a00cd24ef244f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65ac0a2b24076" /><Relationship Type="http://schemas.openxmlformats.org/officeDocument/2006/relationships/notesSlide" Target="/ppt/notesSlides/notesSlide14.xml" Id="Re71f65ec4f9440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a85d51dd24541" /><Relationship Type="http://schemas.openxmlformats.org/officeDocument/2006/relationships/notesSlide" Target="/ppt/notesSlides/notesSlide15.xml" Id="R1cdde587eaee41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07204fc5d462b" /><Relationship Type="http://schemas.openxmlformats.org/officeDocument/2006/relationships/notesSlide" Target="/ppt/notesSlides/notesSlide16.xml" Id="R649aaa7b6ec349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37280d52941d2" /><Relationship Type="http://schemas.openxmlformats.org/officeDocument/2006/relationships/notesSlide" Target="/ppt/notesSlides/notesSlide17.xml" Id="R733892531e2047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6f1f7c7ea45b5" /><Relationship Type="http://schemas.openxmlformats.org/officeDocument/2006/relationships/notesSlide" Target="/ppt/notesSlides/notesSlide18.xml" Id="Rdc2bce79f09944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74294b90e4bd9" /><Relationship Type="http://schemas.openxmlformats.org/officeDocument/2006/relationships/notesSlide" Target="/ppt/notesSlides/notesSlide19.xml" Id="R14c7e83bfb1e47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9b0b31fe343d7" /><Relationship Type="http://schemas.openxmlformats.org/officeDocument/2006/relationships/notesSlide" Target="/ppt/notesSlides/notesSlide20.xml" Id="R56cdc1919b7b45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93e0c8f574289" /><Relationship Type="http://schemas.openxmlformats.org/officeDocument/2006/relationships/notesSlide" Target="/ppt/notesSlides/notesSlide21.xml" Id="R00028b89f8534d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103adb0474822" /><Relationship Type="http://schemas.openxmlformats.org/officeDocument/2006/relationships/notesSlide" Target="/ppt/notesSlides/notesSlide22.xml" Id="Rd57ae376e4d844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dcbc6d0be4d31" /><Relationship Type="http://schemas.openxmlformats.org/officeDocument/2006/relationships/notesSlide" Target="/ppt/notesSlides/notesSlide23.xml" Id="R44bb9a43f8ba46f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dff72d41043b2" /><Relationship Type="http://schemas.openxmlformats.org/officeDocument/2006/relationships/notesSlide" Target="/ppt/notesSlides/notesSlide24.xml" Id="R9c4d637faf3042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c6a1ac2da4e79" /><Relationship Type="http://schemas.openxmlformats.org/officeDocument/2006/relationships/notesSlide" Target="/ppt/notesSlides/notesSlide25.xml" Id="Rc0ef09062f9f488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9056404544a75" /><Relationship Type="http://schemas.openxmlformats.org/officeDocument/2006/relationships/notesSlide" Target="/ppt/notesSlides/notesSlide26.xml" Id="R42382365bf0a423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52f69788945de" /><Relationship Type="http://schemas.openxmlformats.org/officeDocument/2006/relationships/notesSlide" Target="/ppt/notesSlides/notesSlide27.xml" Id="Rab4a1b29adf84a8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a3e04fcf34ed7" /><Relationship Type="http://schemas.openxmlformats.org/officeDocument/2006/relationships/notesSlide" Target="/ppt/notesSlides/notesSlide28.xml" Id="R10603c303c4e48e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af5caf43e41ba" /><Relationship Type="http://schemas.openxmlformats.org/officeDocument/2006/relationships/notesSlide" Target="/ppt/notesSlides/notesSlide29.xml" Id="R5746608271bd487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f568f5984478b" /><Relationship Type="http://schemas.openxmlformats.org/officeDocument/2006/relationships/notesSlide" Target="/ppt/notesSlides/notesSlide30.xml" Id="R1ce25b11693d42b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4f0ab87164bee" /><Relationship Type="http://schemas.openxmlformats.org/officeDocument/2006/relationships/notesSlide" Target="/ppt/notesSlides/notesSlide31.xml" Id="Re0beeb12ed304a2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989e1577948d5" /><Relationship Type="http://schemas.openxmlformats.org/officeDocument/2006/relationships/notesSlide" Target="/ppt/notesSlides/notesSlide32.xml" Id="R8a0edf882efe403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9a32e3cba43a2" /><Relationship Type="http://schemas.openxmlformats.org/officeDocument/2006/relationships/notesSlide" Target="/ppt/notesSlides/notesSlide33.xml" Id="Rb43ed441ba2647e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d0d0e889d4352" /><Relationship Type="http://schemas.openxmlformats.org/officeDocument/2006/relationships/notesSlide" Target="/ppt/notesSlides/notesSlide34.xml" Id="R4d79ef603aca46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391152f3d4f4f" /><Relationship Type="http://schemas.openxmlformats.org/officeDocument/2006/relationships/notesSlide" Target="/ppt/notesSlides/notesSlide35.xml" Id="Rf82189da977d413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04485f8ec41f8" /><Relationship Type="http://schemas.openxmlformats.org/officeDocument/2006/relationships/notesSlide" Target="/ppt/notesSlides/notesSlide36.xml" Id="R5850b086f8684d1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60f46b3ea4272" /><Relationship Type="http://schemas.openxmlformats.org/officeDocument/2006/relationships/notesSlide" Target="/ppt/notesSlides/notesSlide37.xml" Id="Rdc886913aaab4a0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92b469d4044bf" /><Relationship Type="http://schemas.openxmlformats.org/officeDocument/2006/relationships/notesSlide" Target="/ppt/notesSlides/notesSlide38.xml" Id="R28032f58cd694dd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a886905cd413f" /><Relationship Type="http://schemas.openxmlformats.org/officeDocument/2006/relationships/notesSlide" Target="/ppt/notesSlides/notesSlide39.xml" Id="R3780f76b931b4ed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be2554d574b93" /><Relationship Type="http://schemas.openxmlformats.org/officeDocument/2006/relationships/notesSlide" Target="/ppt/notesSlides/notesSlide40.xml" Id="R286b016484df474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0e0a7ec654e21" /><Relationship Type="http://schemas.openxmlformats.org/officeDocument/2006/relationships/notesSlide" Target="/ppt/notesSlides/notesSlide41.xml" Id="Ra689464f5095439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8bade6d324a34" /><Relationship Type="http://schemas.openxmlformats.org/officeDocument/2006/relationships/notesSlide" Target="/ppt/notesSlides/notesSlide42.xml" Id="Rd8b3ece351764dd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90b9a6e3b4246" /><Relationship Type="http://schemas.openxmlformats.org/officeDocument/2006/relationships/notesSlide" Target="/ppt/notesSlides/notesSlide43.xml" Id="Rf585b1be0c4543f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f772ff455464c" /><Relationship Type="http://schemas.openxmlformats.org/officeDocument/2006/relationships/notesSlide" Target="/ppt/notesSlides/notesSlide44.xml" Id="R7dbfc2a0368b4f1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8d027f11c4c9e" /><Relationship Type="http://schemas.openxmlformats.org/officeDocument/2006/relationships/notesSlide" Target="/ppt/notesSlides/notesSlide45.xml" Id="R22f3ee344d6843d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fd4c324744518" /><Relationship Type="http://schemas.openxmlformats.org/officeDocument/2006/relationships/notesSlide" Target="/ppt/notesSlides/notesSlide46.xml" Id="R3853f902666d41b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29cc9a4cd47d2" /><Relationship Type="http://schemas.openxmlformats.org/officeDocument/2006/relationships/notesSlide" Target="/ppt/notesSlides/notesSlide47.xml" Id="R5e3db98cf5f0430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6c2835ca14a0c" /><Relationship Type="http://schemas.openxmlformats.org/officeDocument/2006/relationships/notesSlide" Target="/ppt/notesSlides/notesSlide48.xml" Id="Rc5f9dd7675ed43c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35287b3544322" /><Relationship Type="http://schemas.openxmlformats.org/officeDocument/2006/relationships/notesSlide" Target="/ppt/notesSlides/notesSlide49.xml" Id="Ra621bb942c0546c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54cc60d9b4dce" /><Relationship Type="http://schemas.openxmlformats.org/officeDocument/2006/relationships/notesSlide" Target="/ppt/notesSlides/notesSlide50.xml" Id="R8839078ef9cf48d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20bd198834a94" /><Relationship Type="http://schemas.openxmlformats.org/officeDocument/2006/relationships/notesSlide" Target="/ppt/notesSlides/notesSlide51.xml" Id="R125d10609e3e4c7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536001af4422d" /><Relationship Type="http://schemas.openxmlformats.org/officeDocument/2006/relationships/notesSlide" Target="/ppt/notesSlides/notesSlide52.xml" Id="R8d84d370768849e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3ecb13b834c43" /><Relationship Type="http://schemas.openxmlformats.org/officeDocument/2006/relationships/notesSlide" Target="/ppt/notesSlides/notesSlide53.xml" Id="R35f90af31ccc4ed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47a3cb5af4bb9" /><Relationship Type="http://schemas.openxmlformats.org/officeDocument/2006/relationships/notesSlide" Target="/ppt/notesSlides/notesSlide54.xml" Id="R468a96e32fcb4ef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c99405501408a" /><Relationship Type="http://schemas.openxmlformats.org/officeDocument/2006/relationships/notesSlide" Target="/ppt/notesSlides/notesSlide55.xml" Id="R04e9a58dfba245a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f65dd5cc1455a" /><Relationship Type="http://schemas.openxmlformats.org/officeDocument/2006/relationships/notesSlide" Target="/ppt/notesSlides/notesSlide56.xml" Id="Rabc390c00fff43f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f3afcd1c54229" /><Relationship Type="http://schemas.openxmlformats.org/officeDocument/2006/relationships/notesSlide" Target="/ppt/notesSlides/notesSlide57.xml" Id="R8b4e3ad42c7c427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ff76bb5a04c3e" /><Relationship Type="http://schemas.openxmlformats.org/officeDocument/2006/relationships/notesSlide" Target="/ppt/notesSlides/notesSlide58.xml" Id="R54b7d6f88ddd4af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f0135d28a4722" /><Relationship Type="http://schemas.openxmlformats.org/officeDocument/2006/relationships/notesSlide" Target="/ppt/notesSlides/notesSlide59.xml" Id="R58d81f5a8405432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837db9f924b73" /><Relationship Type="http://schemas.openxmlformats.org/officeDocument/2006/relationships/notesSlide" Target="/ppt/notesSlides/notesSlide60.xml" Id="R7f934e1d8bf2423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3289bcc3c4fee" /><Relationship Type="http://schemas.openxmlformats.org/officeDocument/2006/relationships/notesSlide" Target="/ppt/notesSlides/notesSlide61.xml" Id="R850976c65fb44b7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a551c88ce4ff5" /><Relationship Type="http://schemas.openxmlformats.org/officeDocument/2006/relationships/notesSlide" Target="/ppt/notesSlides/notesSlide62.xml" Id="R3657913adf3c4d7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00560edb2409e" /><Relationship Type="http://schemas.openxmlformats.org/officeDocument/2006/relationships/notesSlide" Target="/ppt/notesSlides/notesSlide63.xml" Id="R504605bfbe0a4d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08F556-C918-4A55-90DD-DB5A98BD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FD4BB-D989-477C-9ECB-F7BA2B32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讲座封面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3CD52-72A3-49ED-8F73-863211D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01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929A9-888A-4478-AC65-2B304744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DEDE4-A16F-4FBF-8053-646890D1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9379A-A37C-4275-819A-04AA2DE3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95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研究生讲座 / 数字讲义版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39F99-3B07-4C11-BD7B-0179642E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9334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AI时代的材料科学实验：</a:t>
            </a:r>
          </a:p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 DOE 到 Self-Driving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5CDD9-3F17-4286-8123-FC946336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重新理解实验、方法论与自驱实验室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C98FE-E690-4F05-9D34-C3343E72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本讲面向材料科学与工程相关研究生和高年级本科生。</a:t>
            </a:r>
          </a:p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主线不是“AI 更强了”，而是“实验正在被重新组织”。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6D316-A67D-47B6-B72B-F284681A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D6FF"/>
          </a:solidFill>
          <a:ln xmlns:a="http://schemas.openxmlformats.org/drawingml/2006/main" w="0">
            <a:solidFill>
              <a:srgbClr val="13D6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2FD60-5EF1-4CF5-A737-AF4FBEFD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E3664-8656-45AD-8536-0732611A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340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F292E-7D27-43D7-A906-66D694D6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E829D"/>
                </a:solidFill>
                <a:latin typeface="Aptos"/>
                <a:ea typeface="Aptos"/>
                <a:cs typeface="Aptos"/>
              </a:defRPr>
            </a:pPr>
            <a:r>
              <a:t>关键词：Experiment（实验） / Design of Experiments（实验设计，DOE） / Self-Driving Labs（自驱实验室，SDL）</a:t>
            </a:r>
          </a:p>
        </p:txBody>
      </p:sp>
    </p:spTree>
    <p:extLst>
      <p:ext uri="{BB962C8B-B14F-4D97-AF65-F5344CB8AC3E}">
        <p14:creationId xmlns:p14="http://schemas.microsoft.com/office/powerpoint/2010/main" val="2207968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D4EBD7-9D40-43A0-83F5-1E12C85C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BBF7A-771D-40AD-A216-E83ADE57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3BA70-3870-46F2-A5F3-AEA986E0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02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A5F0D-973E-49EF-B5E5-9F0043F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C9232-1829-4BAA-9AFD-CEE6116D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今天的六个部分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DF8A4-2EA6-45BB-A786-C8311B8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三小时讲座的主线是“实验”而不是“算法清单”。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7EB6E-14A0-4D7A-882E-EF20FE15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D5595-0B26-4683-A2E1-E5AB24CA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1C8AF-E2B3-4357-BC99-5C90341F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907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为什么今天必须重新理解实验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A7DD1-76D5-4699-9901-21779240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CF30D-1A93-4DBD-8ED2-F0748F39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943BF-0182-4025-8C60-06039C87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813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MSE（材料科学与工程）实验图谱与目录学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D2271-BB07-4BEA-AC3A-1EF0D015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F4952-585F-4D0C-908D-AD91577F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0A931-515B-4A23-A753-88B60A75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718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传统方法论：试错法与 DOE（实验设计）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A18D8-A943-41C2-AA52-C1B9E4FD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E0DE4-D294-4AAB-BFB0-3AC809F0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624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C606A-7693-41C8-8F53-182CB315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624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AI 时代的实验：什么是 SDL（自驱实验室）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315B6-5BD9-4671-A348-3DF7BDC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E3434-0DA3-4880-87E2-7A2D782A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BADA7-7678-4AD3-9E92-6C971376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529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A-Lab（自治实验室）作为真实系统案例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6E86C6-8E67-4C4B-BF19-845C9E6F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1009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E47CC-6722-4364-8B29-6ED4CA0D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43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0E529-0125-4C90-8162-5FDDF89D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Case Studio：最小 live demo 与课程总结</a:t>
            </a:r>
          </a:p>
        </p:txBody>
      </p:sp>
    </p:spTree>
    <p:extLst>
      <p:ext uri="{BB962C8B-B14F-4D97-AF65-F5344CB8AC3E}">
        <p14:creationId xmlns:p14="http://schemas.microsoft.com/office/powerpoint/2010/main" val="12023474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D5FE6-0DCD-4094-AE52-044BED0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34145-7D4D-47D1-80AD-AA7C56BE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BD40E-3378-4D17-9EFD-2174756A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03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4351E-A67F-4968-8DDB-4ECE9E21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4F325-F208-49F4-8C65-80B6ED30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这不是一场“AI 工具清单”讲座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A9DAD-7EDA-46E0-93EA-47C9D940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本讲的中心对象是实验，不是某个单独模型。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1BDC2-1702-4200-A379-0410E42E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A07AD-8D0F-4CDF-99A8-5BE01BA7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我们关心的是：实验如何生产知识，而不是只关心模型是否更强。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SDL 的出现，是实验方法论、硬件自动化、数据化与算法决策的合流。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因此，本讲既谈传统方法，也谈 AI 时代的新组织形式。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A87A3-AE79-42B0-B205-11913257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54770-0D34-40F4-AE3C-F0D6D723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讲座产出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CE1B9-A9F9-410B-AD8D-951300E1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听完后，学生应该能回答三个问题：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1. 为什么实验仍是中心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2. DOE 与 SDL 的关系是什么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3. 哪些问题适合做 SDL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33FDF-D0C6-41A0-9212-AC684993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C5C7C-4CD0-4B9B-843E-6AB4A905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态度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E3A82-1B12-40A0-B015-B49029CF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既拥抱 AI，也质疑 AI。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既重视算法，也坚持人的判断与科学伦理。</a:t>
            </a:r>
          </a:p>
        </p:txBody>
      </p:sp>
    </p:spTree>
    <p:extLst>
      <p:ext uri="{BB962C8B-B14F-4D97-AF65-F5344CB8AC3E}">
        <p14:creationId xmlns:p14="http://schemas.microsoft.com/office/powerpoint/2010/main" val="6673036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770A45-2855-4E06-BA8B-56B2A0B6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246B6-4CA3-4FD8-BD93-F5B04A1E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6378A-6F40-4DFD-87C1-553EA199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04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E4F8A-B702-4503-90B0-D9AA880B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AC9FE-3415-42AF-AD18-06344506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从网站到 PPT：两条交付链路，内容主线一致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31FC7-9FD9-4200-98C3-F88966A7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网站负责动态演示，PPT 负责稳定交付。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10C4D-27E2-465B-8942-49A5B07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6DBAC-067A-4556-9045-A17A4869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网站版适合展示课程结构、A-Lab 案例页和 Case Studio live demo。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PPT 版适合在网络、浏览器或现场环境不稳定时完整讲完。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两条链路服务同一主线：实验 → 方法论 → SDL → 真实案例 → 最小闭环演示。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D2641-564C-47DA-B6B8-834A4B88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09745-C1BF-4256-851E-C24E89E7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为什么两者并存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EBE76-65B9-4D9A-8C73-50ED87A8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网站适合系统与交互，PPT 适合稳定叙事；两者服务同一学术主线。</a:t>
            </a:r>
          </a:p>
        </p:txBody>
      </p:sp>
    </p:spTree>
    <p:extLst>
      <p:ext uri="{BB962C8B-B14F-4D97-AF65-F5344CB8AC3E}">
        <p14:creationId xmlns:p14="http://schemas.microsoft.com/office/powerpoint/2010/main" val="9055238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0EEB5D-015C-4B6D-8418-F6CC33D0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9434D-C6A9-4A87-A928-C69482D2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第一部分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5D267-D738-480A-AE5B-1F7D5FFC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05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1264F-2EC1-4C85-82AE-E90D123A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52139-AACF-4FE3-A5D5-51CE0DAB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6C490-CC01-437E-B0DB-56BE60A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为什么今天必须重新理解实验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EBD54-B034-46AB-93F5-B546EFFE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如果不先理解实验的地位，就很容易把 SDL 误解成“算法升级版 DOE”。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921F4-EA49-4CFA-AFF8-A4FA43C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D6FF"/>
          </a:solidFill>
          <a:ln xmlns:a="http://schemas.openxmlformats.org/drawingml/2006/main" w="0">
            <a:solidFill>
              <a:srgbClr val="13D6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8EA10-883B-4383-B0F0-BA485CAD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如果不先把实验放回中心，后面关于 DOE 和 SDL 的判断都会漂。</a:t>
            </a:r>
          </a:p>
        </p:txBody>
      </p:sp>
    </p:spTree>
    <p:extLst>
      <p:ext uri="{BB962C8B-B14F-4D97-AF65-F5344CB8AC3E}">
        <p14:creationId xmlns:p14="http://schemas.microsoft.com/office/powerpoint/2010/main" val="17615206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255B1D-E39B-489D-B523-2B3136DD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FC70C-7E6D-4BC0-B7C4-70C38BFB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实验的地位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EB0E8-D15D-43C4-A4BC-1F7AC641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06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B18DF-4672-4F36-91CA-A0FE7804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6E3EF-ED1C-4AB9-A7AF-B023B3CD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实验不是理论的附庸，也不是数据的采样器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FBC9E-F30C-4F21-AA6A-7D0FBDAA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在材料科学中，实验本身就是知识生产机制。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5BE99-6DBF-4CE0-96B8-8A1276FA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65008-0B4D-4E41-A956-C87DD2A6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实验不仅验证理论，也发现现象、制造样品、暴露异常、纠正错误。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很多 MSE 问题无法由纯理论直接给出答案，必须依赖实验进入真实材料世界。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因此，实验不是“最后一步确认”，而是研究链条中的主轴。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8B92D-F092-4D10-BE38-206E443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B22AC-FA88-4987-A643-C5A6AFD1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在 MSE 中，实验承担什么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ED88D-FAD8-4E3A-A372-02C7725D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发现 / 制备 / 表征 / 测量 / 评价 / 失效分析 / 校准 / 纠错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3EDFA-2DDD-41E3-898E-302B924C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2FCAC-D2A8-4A57-BF57-7B317114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关键判断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4BA77-ADE1-487C-AB55-E58D7731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谁能更高质量地组织实验，谁就可能更快地产生可靠知识。</a:t>
            </a:r>
          </a:p>
        </p:txBody>
      </p:sp>
    </p:spTree>
    <p:extLst>
      <p:ext uri="{BB962C8B-B14F-4D97-AF65-F5344CB8AC3E}">
        <p14:creationId xmlns:p14="http://schemas.microsoft.com/office/powerpoint/2010/main" val="19828398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980470-2B0A-4D45-9FA0-A07AC4A4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84C68-F8DC-4F33-94F1-818EF493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实验输出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FE132-4EBE-4C58-AE85-3E1277DF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07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1B3CA-3C80-4DCD-BE7A-79F4B5B0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B4063-3598-4902-98E8-A8C13AF4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从实验类别到数据形态：SDL 关心的不只是“做了什么实验”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67C0A-1450-4434-9DCB-DD36CEFD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它更关心实验会产出什么观测，以及这些观测能否进入决策。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A76CF-A594-4176-87DD-2B5389CC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998AE-69AE-4F19-8651-A9CACE96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D10B9-7539-42FA-A039-D422533F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1D144-6022-493E-9570-E3322F02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典型输出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21A44-E5D6-4B6A-9769-763C0913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2F3C2-6270-474E-BA9B-2AAA3110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常见数据形态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60924-509F-49BC-8DD6-9B85DEA1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ED9AB-03DD-4E35-8908-DD358FCD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SDL 化难点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19693-2F2F-44CC-B8E5-06EB492A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FB1E7-41B8-4286-AEA7-400E6A57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制备/加工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0B990-7AB1-4289-8759-050F7968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8A3AF-B7C6-4BF7-AB86-48B7E85C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样品状态变化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E970C-8477-4278-97FC-7F35B8B7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6DC4C-F52B-46FA-8716-F90AD4DC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配方表、工艺参数、批次记录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53662-8192-4CB0-84AD-B5DC0E09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0CF48-4FE8-4213-9021-EA45D118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样品历史难标准化，过程漂移强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C94B9-4E9B-44C2-92AB-8B056790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4138A0-5038-4EE3-AC31-54C36E62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结构/成分表征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9E09C-5FAC-4E23-A1ED-D3B380FA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F4BDAA-14C6-4A5F-B5EA-5513C20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相、成分、形貌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73876-9D48-4297-9648-E0375664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7E6716-3216-4093-970E-C2482BD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谱图、峰位、图像、mapping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DE0B7-431D-4D78-BA20-853E9B13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DAABC-6524-4CDC-A8B8-E40BFAA3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高维数据多，解释链长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592708-0F43-4E98-95EA-497E87A8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C7C95E-6E40-4CED-AFA3-26960A04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物性/性能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C1285C-F9CF-4F3A-9EAF-0154483C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140F3-B3FA-4AB9-90BE-98EF454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电、热、力、化学响应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466162-DDC9-42E0-AC62-9B25930F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91D104-F0E2-476C-B010-F4E26CDD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曲线、标量、循环数据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008B19-D6CD-4A79-9EB5-16AE8E68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3C86B7-D624-46BA-B536-88E164B9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目标常多元，测量时间不均一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F707BE-B119-4E53-B5B3-8AF1E681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6C76E8-C1E1-4AAE-993E-8AB0B194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失效/可靠性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CB54A0-91E9-4BCB-A666-A0131F5A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008DB6-A77F-4312-B408-41095808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寿命、退化、异常模式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52A6DB-2638-402F-9B1E-9882D395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995B08-0933-4F54-98B3-B7CF0E4A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时间序列、统计分布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F7DD6E-AE03-4989-AD33-609E61D0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88AD99-30B1-4819-8D37-DA0C62D9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成本高、时间长、噪声和偶然性强</a:t>
            </a:r>
          </a:p>
        </p:txBody>
      </p:sp>
    </p:spTree>
    <p:extLst>
      <p:ext uri="{BB962C8B-B14F-4D97-AF65-F5344CB8AC3E}">
        <p14:creationId xmlns:p14="http://schemas.microsoft.com/office/powerpoint/2010/main" val="17725357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0E8EFD-FB48-49ED-BE7E-318E47D1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69B8C-1B96-4752-A3DD-449A4DE5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实验的角色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655A4-DD1B-4B5A-88A4-F1D0C4BD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08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75009-FEA9-4151-85DE-32ECFCBF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888D8-3B06-4644-B59A-5D097FA2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实验如何贯穿一条典型的 MSE 知识链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B1653-B900-4E70-B78B-7C7C1A2D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它不是单点动作，而是一条连续工作流。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C00F6-0AB4-45BB-BA31-9BFDCB7E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6FF5D-48FE-4F7C-9A0A-CB60B9AD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问题提出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1D162-9E69-42A1-9D4B-D79B72E2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我们想优化什么、理解什么、验证什么？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ACC7C-FFE6-4811-8AD9-4BEFB3B3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8048A-FF1E-4344-8760-CC2FFCEE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样品与制备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1867F-24B8-4538-BF50-1054B27C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材料从想法变成可被研究的真实对象。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F1889-B266-49A4-81EF-4EBB7C05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D0A59-2DB7-4AE0-AF69-14A3E4C6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表征与测量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4B7F8-3AF0-4AAA-970F-0360A09F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结构、组成、性能、失效等响应被观察和记录。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BCEB5-5A1C-4C1E-A9F1-39B72DB6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0C5F7-4825-49BB-B5A6-C4ACD92C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数据与模型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C07B0-E188-494F-B0F4-0782073C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实验结果被整理、比较、建模和解释。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E5319-4CD0-446D-AEA6-C902B85A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8419E-3150-4B73-BA5D-FD36D767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判断与决策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67077-C882-41CA-86A5-B39FF65C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研究者决定下一个实验点、下一个变量或下一个机制假说。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AC535-8FE5-4A3E-8943-895E9533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44BA23-9ADC-4B3B-AB33-61C68C23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反馈与纠错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CF840-4422-418A-8A8F-B7719D84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异常、误差、重复性和反例推动科学自我修正。</a:t>
            </a:r>
          </a:p>
        </p:txBody>
      </p:sp>
    </p:spTree>
    <p:extLst>
      <p:ext uri="{BB962C8B-B14F-4D97-AF65-F5344CB8AC3E}">
        <p14:creationId xmlns:p14="http://schemas.microsoft.com/office/powerpoint/2010/main" val="12879172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C00165-4A63-4F84-9C81-A853BDC9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9DDBF-6A64-4D41-849F-308ACE24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为什么是今天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3638A-AF7B-4EA9-A0A3-D37CB1B0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09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A23AD-8B75-4F9E-BC5D-9390ED83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DF45A-72F0-43FB-8248-B3D327CA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为什么今天谈 SDL，而不是十年前或二十年前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B9A16-51BC-4C65-8781-32047F8A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因为实验条件、数据条件和计算条件正在同时成熟。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E1AF4-5D91-494A-B67D-A8452775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3C6D2-9888-4C22-8860-A7B09DC4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实验硬件更自动化：样品制备、表征、搬运、调度逐渐可编排。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实验数据更可计算：传感、记录、数据库和元数据体系更成熟。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算法更能进入闭环：不只做离线预测，还能参与下一实验点决策。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38871-B4AC-46B7-B68C-B16BC2E3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F623D-B7AD-42AE-B9F6-A6A8D5D8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三条线收束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24E3B-2DCF-427D-9011-37C3D5EC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硬件自动化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数据化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模型驱动决策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8AE00-AFA2-4342-9CC1-E786E962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1D207-0954-415C-A63E-DF08B50D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因此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06866-C7FC-480C-B10E-ACED5D35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不是突然出现的新名词，而是多条技术线索在实验系统中的收束。</a:t>
            </a:r>
          </a:p>
        </p:txBody>
      </p:sp>
    </p:spTree>
    <p:extLst>
      <p:ext uri="{BB962C8B-B14F-4D97-AF65-F5344CB8AC3E}">
        <p14:creationId xmlns:p14="http://schemas.microsoft.com/office/powerpoint/2010/main" val="806659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2357C3-C7AF-4690-B9B5-5F28BA20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C22DB-1165-483B-B512-CF2BAB9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科学范式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3939C-F7D8-414A-A51E-7BF925A1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10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20382-4AAC-4FE5-B442-C60D5A1E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C67A1-5313-4BDA-B4A2-D87CC9A4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从自然观察到自驱实验：知识生产方式如何演化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9D4EC-365F-488E-A220-F177831B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范式变化的关键，不只是工具变化，而是“如何得到知识”在变化。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751A9-C5F0-4B86-B6DC-5117649A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BE8CC-C5BE-40BB-A9B9-BEAAF841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P1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C891E-DB27-4D62-B89E-1E898055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观察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76028-3DD0-4D5D-AE74-6B34A70E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以经验观察为主，积累现象和记述。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FBAD3-5E34-4DA6-BE3E-E4204832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3E46C-2ADD-400D-B0EB-DE809DA3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46348-D597-403C-BD76-A0C5B6A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P2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47345-CAA3-4A8E-8549-9CDF4E79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理论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7631D-42A6-4641-9662-794B41F9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通过抽象理论组织现象，形成定律和解释。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88023-45A4-4BEE-A726-637B56DF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A8670-130B-4126-8C2C-01A769F5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8BB97-0D27-49C5-9F71-6A60366C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P3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6D9BE-4AE4-4BF3-BBF9-0EF2AE8F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计算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DEB12-93F0-4FF1-9A2C-9D8FE48D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借助数值模拟和计算模型处理复杂系统。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3552E-9809-44A0-A59B-EB699149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972DF-B5C2-4213-BDDE-43C37DDC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D3225-4280-4FB3-831E-5C42576F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4D399"/>
                </a:solidFill>
                <a:latin typeface="Consolas"/>
                <a:ea typeface="Consolas"/>
                <a:cs typeface="Consolas"/>
              </a:defRPr>
            </a:pPr>
            <a:r>
              <a:t>P4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CDC56-8D55-4EA0-A071-C43D340E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数据密集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1E69A-305B-4E0D-B822-76FC25D0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大量数据、数据库和统计/机器学习加入发现过程。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AACBB8-DE65-4462-8E92-23E84DD8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CF47D-F127-4954-92E9-9B1BBE53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7A7BE-11DA-4971-A5C0-D808C605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P5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79073-6010-46C2-A442-09D4D401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自驱实验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5E2929-6ADC-4A76-8F1D-FBE24AA9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模型开始进入实验闭环，参与实验设计与执行节奏。</a:t>
            </a:r>
          </a:p>
        </p:txBody>
      </p:sp>
    </p:spTree>
    <p:extLst>
      <p:ext uri="{BB962C8B-B14F-4D97-AF65-F5344CB8AC3E}">
        <p14:creationId xmlns:p14="http://schemas.microsoft.com/office/powerpoint/2010/main" val="17688187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6549A4-CB4A-4049-A9E7-B2A8CC6B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837B5-4432-41CF-8399-CC97393F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范式比较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C93C6-DD56-40CD-909F-0D90C5B9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11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E9B08-1088-450B-91D4-21D12D57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142EC-F27F-461B-A8F7-116B84F8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第四范式与第五范式的差别，不在“数据更多”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7DEA2-F8A5-45D6-9B56-8F4A50D5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真正的区别在于模型是否进入行动链。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04669-B3E1-49F7-9A22-0C6E91C2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98C51-9EB3-4D7D-8939-5D437776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667E1-D05E-412E-A96E-CE6CC9CA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8FCB7-DAA6-4BB6-BD4C-83B1E507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第四范式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C9341-28CC-4304-8044-CF0C5317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44595-5488-43C5-AB69-231FA576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第五范式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052BB-DE40-42FC-80D2-B2A2A8E3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FBFB6-FBEA-4F9A-B066-0A302915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对实验的意义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15B01-F4E2-4C5A-A6CF-FE0AEFB6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A898D-260C-4298-A4BA-21D88037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主要对象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6AAB9-9D31-4F64-A7E7-C937443D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FACD0-1319-4374-B76C-8962AB6E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数据与模式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57491-A869-4929-893C-940B9220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16A7A-C174-438F-B962-5FE7B478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数据、模式与行动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0CB10-8F7F-45F6-A71F-4BCFF64D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F18F0-5216-4749-A463-313FAC92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从“看懂”走向“决定下一步”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C8FF2-269F-44B6-A79B-A126C7B4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EAB81-CDE0-4488-A561-6074A62E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模型角色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451EA-C0B4-448A-8392-0A51E5BA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EEA4D-83DA-49F4-8C9E-D9E44DF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分析与预测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4C019-5E46-4CC4-8234-99BE411C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EAEAA-F1E6-4280-9A2A-C2285A8A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分析、预测与推荐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C4F1B2-CD13-45B6-BFF1-BA0E9C75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0C3CA8-DB00-4125-85F1-FEA971FE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模型开始参与实验决策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B78D41-D131-420F-89DD-4CE3DB90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3C430-CA72-46A5-A279-B316E5EF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实验角色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464C87-59D4-4E97-AD9C-85B877A7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DA7A6F-A3E5-46B7-B9A3-60EC7628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数据来源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16F018-FC9A-4CCA-982B-A8F905FC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726AE0-7D9A-41FF-9D4C-32AF5675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决策回路的一部分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9C9E61-7B5D-4B14-888E-33D5D5B5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349083-13E4-4324-8B23-E69F5DE6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实验被更紧密地编排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537F25-56ED-46C8-A1CE-96900C3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8DB0A1-BB53-4E9C-9756-8143AD43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研究者角色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4424EE-D7C4-4055-8771-480BDBFE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9586D7-9543-40D8-9008-BD268976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解释者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4E5802-68EB-46EC-91F7-3F48E05B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8B70F0-E218-44EA-91ED-7A11B62C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解释者 + 监督者 + 约束设定者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E7817D-DFD7-469B-8FD0-07F127E6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9C4B78-EF5F-4E34-A8A9-C64B7A16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人不退出，角色重构</a:t>
            </a:r>
          </a:p>
        </p:txBody>
      </p:sp>
    </p:spTree>
    <p:extLst>
      <p:ext uri="{BB962C8B-B14F-4D97-AF65-F5344CB8AC3E}">
        <p14:creationId xmlns:p14="http://schemas.microsoft.com/office/powerpoint/2010/main" val="21177592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07B42C-CC8E-40AA-AC50-6F5CABD7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64328-163D-42BD-AC77-1D1A9451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实验角色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4E6C3-B273-4F59-9018-3105FA07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12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9343F-8B8E-40A8-BC87-0FC6DBF5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C1777-C781-44E1-9CC6-1BA85547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沿着五种范式看，实验的角色一直在变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99D45-089D-43CC-9536-772A5942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同样叫“实验”，在不同范式中承担的知识功能并不一样。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7A3CB-0CA9-49B5-9046-6979A035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C730F-611F-4B6F-B50D-A2D68E6E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观察范式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F5A64-386C-4606-9E91-1FF14D22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实验更像现象采集与经验积累，重点是“看见什么”。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94B49-CE3D-4C0D-9877-FD6AA228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C1EDC-0D2D-4B2E-98E9-207AAB17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理论范式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39FB6-DB9F-4E10-9923-FBE60C40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实验常承担验证与校正作用，重点是“理论是否站得住”。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997C9-04CC-4BB7-BED8-93BA4DCA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BA520-9D3F-418F-9327-EF0F8DC9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计算范式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C95CB-FE3F-486A-B2A2-CC47AD22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实验开始与模拟互相校准，重点是“模型与现实差多远”。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9EFA8-33B1-4761-BC12-90F933EE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D699D-6F6B-43A0-A596-A74C18D1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数据密集范式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2A50F-7A87-45EE-B226-3B3094A0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实验既是数据来源，也是数据库和模型更新的入口。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8C2A7-1796-43A7-AA39-04D809C8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6EC8A-3AE4-447B-BE71-CC333570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自驱实验范式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BB49B-AC98-4042-8B08-71D9B117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实验进入闭环，被模型调度、被系统编排、被人监督。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B747F-DFBC-4F60-906F-13C1CC0E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5B03A-054A-4524-9416-97B7C5C9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讲座结论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61C62-731B-4C52-9C12-D3DBD22D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不是取消实验，而是把实验推到更高频、更系统、更可追踪的位置。</a:t>
            </a:r>
          </a:p>
        </p:txBody>
      </p:sp>
    </p:spTree>
    <p:extLst>
      <p:ext uri="{BB962C8B-B14F-4D97-AF65-F5344CB8AC3E}">
        <p14:creationId xmlns:p14="http://schemas.microsoft.com/office/powerpoint/2010/main" val="113258640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80392-F451-482D-B5DF-B4F70807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4D90D-539F-4DC0-BD77-9857FB6F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范式关系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3289D-F066-49A5-BB2E-4A2AC8C9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13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2FA8E-EAB8-4A7A-A932-569DB5C6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FF59C-4C54-4C5F-A236-5B00A350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前三种范式并没有消失，而是被第四、第五范式重新组织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32E9E-1738-4B6E-A365-E20E2D25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新范式不是替身，而是重组、串联和放大。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4E3D2-0822-4D7E-882D-9013AC92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7E8F1-83FF-4099-87AA-D79DBC4D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60D11-4BA9-4221-8FFA-060B036E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13A3A-B610-41AB-A0BF-BD8D3CEB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前三范式留下什么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6A9AC-D466-4938-A501-2A82A730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909EA-6210-4125-A967-1F5B2A76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第四/第五范式如何吸收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348DB-B572-497B-A0F2-5A93E4BA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25A4F-CAC0-4E12-B732-29B1E796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对今天实验的含义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D7916-7629-47E3-AD6A-82287A01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9C1EF-F9C1-4D75-9321-74C3169F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经验与直觉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E9087-AFAF-4E24-83F6-CA29B73A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9670A-A195-4D38-8F84-DCB0FB21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成为目标设定、异常判断和早期摸底的重要来源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81C2A-F80E-4BEB-9917-E132D00C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7A553-0B1F-4BFE-8FCA-0C3E3862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人类经验仍在回路中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46F12-43FC-4800-B1C4-AC19A1FF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FF07A-7BDF-4B9A-8AC1-27EE0FE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理论与机制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9AA67-3466-4828-ACEE-08E32C38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21CF8A-2159-4581-923F-6A6D6890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成为约束、先验和可解释性支撑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57496B-4EDB-4BF5-8521-0F717E69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41C1D8-1953-404E-98F5-BD4A3B9B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不是只有数据拟合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37615-A7E4-48E4-A031-DF532A58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1B6288-41A0-43E9-B5EF-3306FDC4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计算与模拟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82208E-FC27-44EB-B414-2006514D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C3E03-C15B-40C7-A36C-03DF5D7A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成为候选筛选、数字孪生和仿真试验台的一部分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1F94B1-FB92-40CD-8032-A1A50D6D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634A22-B219-4E5E-BFF6-2361BDDB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实验前端可被预压缩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E13F93-5A52-47A9-B5C3-1F1E579C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344CEC-A895-4B90-9A3D-8E634D55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数据与自动化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514F8E-2433-4F3F-A3C5-6FB0F613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18C1A5-D304-4D1F-8D86-950F4E46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把前三者接入可更新、可执行的闭环系统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D26B17-5403-45FC-A896-7E639364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B29BD7-F938-45D6-960D-4B354BFE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方法论开始系统集成</a:t>
            </a:r>
          </a:p>
        </p:txBody>
      </p:sp>
    </p:spTree>
    <p:extLst>
      <p:ext uri="{BB962C8B-B14F-4D97-AF65-F5344CB8AC3E}">
        <p14:creationId xmlns:p14="http://schemas.microsoft.com/office/powerpoint/2010/main" val="20658103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7F53F5-688F-494F-8F6A-908ED593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261F8-805A-495B-850F-55BBCE0E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过渡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DC418-F675-448F-83E6-482379DD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14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B6A41-2802-4314-A7A3-C30F72B7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50A48-E007-4917-9ED9-CAA8ADE6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9525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“问题不再只是‘我们如何理解实验结果’，而是‘我们如何组织下一轮实验’。”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AADF8-5D66-42C9-8C01-46D29E3C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本讲核心转折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DCA3B-9CAF-481F-A342-CD15E230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从这里开始，实验的对象、实验的流程、实验的决策者，都会被重新审视。</a:t>
            </a:r>
          </a:p>
        </p:txBody>
      </p:sp>
    </p:spTree>
    <p:extLst>
      <p:ext uri="{BB962C8B-B14F-4D97-AF65-F5344CB8AC3E}">
        <p14:creationId xmlns:p14="http://schemas.microsoft.com/office/powerpoint/2010/main" val="66682220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826808-C52B-4E23-AFC6-74EE7556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42D44-142E-49E6-965F-B113E5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第二部分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7E30C-8B64-4C2D-A093-5BD040F6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15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534F2-CE56-4CDE-9AD8-9E625943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D3AD3-CBBC-4FBB-98DF-434B8A71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3953E-ABE5-46B5-A850-D847223B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MSE 实验图谱与目录学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78938-F7A2-44DE-BD69-CE6BAFFD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如果不先知道实验有哪些类型、各自输出什么数据，就谈不上 SDL 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2CEF4-E870-4E5A-A690-091E179E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0C03F-7C6F-4880-A202-04F2D6AC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按实验而不是按材料类别来组织，才能把数据、方法和 SDL 适配度放在同一张图里。</a:t>
            </a:r>
          </a:p>
        </p:txBody>
      </p:sp>
    </p:spTree>
    <p:extLst>
      <p:ext uri="{BB962C8B-B14F-4D97-AF65-F5344CB8AC3E}">
        <p14:creationId xmlns:p14="http://schemas.microsoft.com/office/powerpoint/2010/main" val="61841406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2D99F-A20F-4D36-B27F-78B498C7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F0D46-9AB7-461C-9DC2-E573EE3A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实验图谱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52494-F125-45BC-A5FD-329A2466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16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EA2E7-4E60-4357-8BE1-AD3888B6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4CE59-3ACE-4A6B-87C1-EE252B37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以实验为中心的 MSE 图谱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7C1B0-CFDD-4808-9073-B034DC39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实验是中心节点，向外连接问题、样品、测量、模型与工程约束。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1A446-E418-4DEA-BF8D-A3812655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3973C-5341-4353-9FAA-8D8C6659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CFC50-A980-49B2-8601-27AC4991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目标、约束、假设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4B42F-460B-4F55-AA3C-4E660FE2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1AE9D-5DB3-445C-A12E-2AAE2DC2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样品状态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264E1-CA6B-4D7A-B9E4-FEF82C22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粉末、薄膜、块体、器件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3CC49-6821-43C2-A434-7F81E56A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C71F9-D692-4DD6-AF10-F274D9D3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制备/加工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E98A0-28E5-44AD-A973-C0DF5B2B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合成、热处理、沉积、成形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7577C-60AB-43F4-9FAE-69974785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5AA2D-C2A7-4E82-9211-CD600DD1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表征/测量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8B088-DACA-4730-9F39-E0959E4A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结构、成分、性能、失效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6493C-59BA-401C-9643-102E5253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A80134-4233-443F-9910-CB4ECB62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8D01B-FC60-4CE6-A875-5C51A702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谱图、图像、曲线、表格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34B63-31B8-4913-89E7-7E77C5C3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4B937-FCFA-4A8A-8CCD-84C3CD31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3ECC8-DFE0-4385-8066-BD65C40E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统计、机理、代理模型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B78D9-F049-4B0A-ABFB-F023FDA7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91720A-C04A-46A1-82F8-30122277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决策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CEA82-E4FF-4DAE-BB7D-B0D7D754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下一个点、下一个配方、下一个条件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175E08-7EB9-40AA-88C9-AA92025F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752F7-416A-47EA-9940-0F5FCCF8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BAB85A-A9DE-4391-858B-137A351A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重复性、校准、边界条件</a:t>
            </a:r>
          </a:p>
        </p:txBody>
      </p:sp>
    </p:spTree>
    <p:extLst>
      <p:ext uri="{BB962C8B-B14F-4D97-AF65-F5344CB8AC3E}">
        <p14:creationId xmlns:p14="http://schemas.microsoft.com/office/powerpoint/2010/main" val="43438861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E0BFD4-3E8A-491D-8BD4-02A2D563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A0C30-4FA5-463A-A1B1-C5B0DCE1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分类总览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68679-61DC-4D9F-8DC0-17660C68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17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C86D3-2349-45A9-9666-8B5ABBAD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64084-CC35-4E4E-BF67-0C46699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我们采用的 8 类 MSE 实验框架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82ED6-885F-4546-935B-C68F4608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这是讲座版目录学，不假装是唯一标准，但足够教学和实现。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D2410-105C-42E6-B75B-3B53FC7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F9D1B-30A8-47DD-B5C4-986701B0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样品制备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ECBCA-C2AB-4550-828A-82EC44A4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让材料样品被制造出来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29C45-6955-43E6-93AB-D615A93E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8BF8F-CFE2-4A1C-B4A1-C9989887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加工调控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85031-D2CB-44AD-96D7-E42D05B4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改变已有材料状态与组织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9008A-9B7A-497F-9FBA-888A8C42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88583-387C-40C0-BAB0-6C5D2463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结构表征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52365-AEEA-417A-B204-7176B8B1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材料是什么、长什么样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B271C-4205-4697-AF3D-FFA6EFDC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336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24617-B0BC-4181-927C-E0D610F6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物性测量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C49F4-921C-42AB-91E4-49EE1C4E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146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材料有哪些基础性质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A0E25-1E6F-40F9-9288-D7575B00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FABC6-FBEC-460D-8A69-960D1250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功能测试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AF7D0-30F7-456C-A58C-C264A617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材料在应用情境下表现如何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62A8F-6584-45F0-8C2E-CD71CC54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C55D4-3104-493D-9A04-FE067FC6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稳定与失效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80E5E7-4B41-487B-8FB9-8F4588A3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材料能撑多久、怎么坏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B8DA1-9602-4BB7-B388-FFB4DCAF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92846-861C-4E07-B6F4-B368DABD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计量与校准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E0BA11-787F-406E-AA06-88F13A4F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结果是否可信、可比较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A13A80-0487-4800-9ED4-44793E17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71900"/>
            <a:ext cx="2552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5C2BB-810C-40CD-A2C4-39CD2E62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052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高通量与闭环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2A8F3F-9E49-45D0-AE33-B6E1762D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如何加速筛选与优化</a:t>
            </a:r>
          </a:p>
        </p:txBody>
      </p:sp>
    </p:spTree>
    <p:extLst>
      <p:ext uri="{BB962C8B-B14F-4D97-AF65-F5344CB8AC3E}">
        <p14:creationId xmlns:p14="http://schemas.microsoft.com/office/powerpoint/2010/main" val="30657261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B6A92B-E795-4B0C-AC95-CD008F1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1FED0-53F4-4FBC-8400-17D144AB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分类细化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851DA-DC6E-408C-862C-38EDAC5B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18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27376-B051-4DC0-BD40-20DBC3C5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41104-F6E6-44A8-843B-5E3ACAF8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前四类：从做出样品，到知道样品是什么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4AB77-25BD-4B6A-9CB1-BC9A473B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这四类往往决定实验链的上半程。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019D2-CA75-4927-9CDD-B4401C16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33BD9-C6F2-4F6D-92A8-D6EF86BC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样品制备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5D319-4692-465C-A439-C7461094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定义：生成样品或样品库。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例：固相合成、溶胶凝胶、CVD（化学气相沉积）、PVD（物理气相沉积）。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关系：常是闭环中的执行端。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FDEBD-2E19-4DC9-A7C8-E89DF8E0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722DB-8C29-41C4-BEAD-B1DF375A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加工调控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216C3-3BCD-4336-B784-E1CF40EC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定义：改变已有材料状态。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例：退火、淬火、轧制、表面改性。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关系：常与工艺优化、结构演化问题相连。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7CA5A-48F6-450B-B5CE-070C3B57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6F7A8-2623-47AE-8FD6-CB4488A2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结构表征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40B04-CF77-4C84-9A5D-51AE96C7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定义：回答材料的结构、成分与形貌。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例：XRD（X射线衍射）、SEM（扫描电镜）、TEM（透射电镜）、XPS。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99F4E-01D3-472E-8FDD-230D38CF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BFCE9-5F52-47D1-8D7E-EC1A9992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物性测量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67B0E-8486-448A-B099-149A7BCB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定义：回答材料的本征或近本征性质。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例：电导率、热导率、硬度、磁化、带隙。</a:t>
            </a:r>
          </a:p>
        </p:txBody>
      </p:sp>
    </p:spTree>
    <p:extLst>
      <p:ext uri="{BB962C8B-B14F-4D97-AF65-F5344CB8AC3E}">
        <p14:creationId xmlns:p14="http://schemas.microsoft.com/office/powerpoint/2010/main" val="119490319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8A14A9-A6E1-4B22-92CE-6BE076A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F8164-D1C0-411C-B88E-D01C7DA4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分类细化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64A43-9329-4759-86B8-A1755F74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19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71037-9776-4FA5-9B59-26F1E32E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5C191-54B9-4962-B778-F5A69D3C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后四类：从能不能工作，到结果是否可信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F608F-DEA7-4F67-9E08-9AD8299E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这四类决定实验链的下半程和结果质量。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52E1A-D2FB-4124-9251-3FFFB25A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3CD78-9F2C-4842-94E3-F7492F8B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功能测试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61D2A-7A3B-41C6-8A15-1506D52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定义：材料在目标应用场景中表现如何。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例：电池循环、催化转化率、器件 I–V 曲线、传感响应。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5C9B0-4899-4534-8C3E-DFE46925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CC297-82E4-40C2-9561-F2413171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稳定与失效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FD3F3-8024-4DD2-827B-342E912A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定义：材料会不会退化、如何失效。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例：疲劳、腐蚀、热循环、湿热老化、击穿。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3C737-0E7B-4C56-A9AF-67BD98B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599C7-9CB5-494C-B24A-1F26B8A9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计量与校准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3C5E9-30FD-4F12-B68F-016C801F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定义：保证结果可重复、可比较、可追溯。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例：标准样校准、空白对照、实验室间比对、不确定度评估。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A92AC-CB7A-44D5-9A4E-A58EEDC9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F3C6A-2EF8-4DC2-A065-8EE81DD4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高通量与闭环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D95F6-AE30-40EA-866A-855FCF78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定义：将制备、测量与决策集成为加速系统。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例：组合材料库、自动化 DOE、主动学习、自驱实验室。</a:t>
            </a:r>
          </a:p>
        </p:txBody>
      </p:sp>
    </p:spTree>
    <p:extLst>
      <p:ext uri="{BB962C8B-B14F-4D97-AF65-F5344CB8AC3E}">
        <p14:creationId xmlns:p14="http://schemas.microsoft.com/office/powerpoint/2010/main" val="7516060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CE74B3-78F8-4436-925B-A27758E8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0A5F1-40BB-4DB6-A421-CED366EA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输出数据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83C79-03E5-4124-A992-BCA68463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20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5FA51-117B-4AE5-9A42-9A06C3D7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5D4A9-6252-4DBE-AD3C-2A90D78E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不同实验类型，天然对应不同数据形态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9BC88-A587-4C9E-A401-42ACEC25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SDL 不是只优化一个分数，而是要面对不同观测输出。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D4A6C-782F-476B-BE31-8DC598BD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CA774-B066-49D1-9D31-DD7F05B6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B468D-3638-4A3C-B115-2E28A994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A0681-9213-4D5D-9E2B-2DDACB4C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典型输出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3FE4B-E45A-4C12-91D7-76B22FF8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0A325-51FD-4513-BC31-E71BD36C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常见数据形态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6DA1D-20F5-49FE-B60C-4BC136FC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36631-9E4A-4717-A39E-3C89EAE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对 SDL 的启发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F165C-75EA-44D6-9F8F-AD1F0D0A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CC2D8-5E76-4142-B594-01777AA7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结构表征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CCE03-11B0-4F3E-AF02-7D1E873C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1D549-2FB4-41C0-9C44-A7F277E9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衍射峰、谱图、显微图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EF29B-2CF4-47B5-8CC6-1E94B4BE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0521D-B091-4787-9B36-4C0115D7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图像/谱图类输出需先定义可比较观测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F8985-76E8-43B3-8A70-2777D6B6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8376B-6CFE-45AC-B4B3-A75A683E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物性测量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CBBEE-E790-44CA-8B06-F653FF16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71499-D4FA-4FF4-A5DC-9AD39D30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标量、曲线、张量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BB51D-B794-45A7-884C-7DB8C611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AC6416-B26B-44F9-B975-EAD4B619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目标函数常较清晰，但噪声与重复性关键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5FCB35-44A1-4DFA-8D42-4E0BD887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19C0B-018D-4532-B61F-01BA84E1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功能测试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4A439-A3C3-476B-A5EF-B3A5441D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2A962-E0CF-4D21-83E2-1A52867A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效率、寿命、选择性、I–V 曲线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AA9725-86A4-48E6-9C8B-B2CF1119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CBBA98-946F-43FE-891A-A455235B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往往是多目标、多约束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459540-433C-4FF1-8E07-328D0359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B2EDDD-C157-4FE6-9890-FA058585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失效实验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DE84CA-97C8-4F77-8E97-EBF7C89C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A6A516-BD38-4E63-821F-21ED0ADD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寿命分布、失效模式、阈值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A62E78-85C1-4427-982E-601A4D5D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527E6F-AEC9-4639-8E8F-01F7F8F3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时间成本高，闭环更需谨慎设计</a:t>
            </a:r>
          </a:p>
        </p:txBody>
      </p:sp>
    </p:spTree>
    <p:extLst>
      <p:ext uri="{BB962C8B-B14F-4D97-AF65-F5344CB8AC3E}">
        <p14:creationId xmlns:p14="http://schemas.microsoft.com/office/powerpoint/2010/main" val="117298569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4A1659-643A-46C3-982A-0131D8FE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032F4-01E6-429E-B1ED-62A55A35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第三部分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F4A30-AF00-43D4-8181-A8F50D19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21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D61E0-B135-4F26-A970-DF036D93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FC3B2-9651-4FC0-AE92-48EED841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2C3E9-FDE0-439C-80CE-1EE92B0B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传统方法论：试错法与 DOE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F25AA-74B5-4057-87B8-8658A039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SDL 不是从天而降，而是沿着传统实验方法论继续往前走。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1279D-68B8-4981-9DEF-769C48EC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C0D6A-3BF3-4BC6-95F1-F2035B97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理解传统方法的成功与边界，是理解 SDL 的前提。</a:t>
            </a:r>
          </a:p>
        </p:txBody>
      </p:sp>
    </p:spTree>
    <p:extLst>
      <p:ext uri="{BB962C8B-B14F-4D97-AF65-F5344CB8AC3E}">
        <p14:creationId xmlns:p14="http://schemas.microsoft.com/office/powerpoint/2010/main" val="448921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2F0C9F-7DC1-4B7C-9254-AF6B4F2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E3C2D-BDDE-4921-BD88-A740D2D1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试错法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097F7-BC2E-43EA-A7CF-3CF4C0F4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22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0280F-B5AB-44BF-9735-FBFEF94E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5AAC8-1FF7-4A83-8EA8-C0AA24F8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试错法为什么能长期存在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24B4E-D0FD-4761-BF95-1F06DCD1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因为它并不愚蠢，而是把经验、直觉和局部反馈编织在一起。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D67C7-3DB5-4469-B045-F8D04681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EE62F-897F-480D-B6AB-3B5225BA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很多实验空间在早期并不清楚，研究者先靠经验摸索局部可行区。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资深研究者常具备强烈的材料直觉和工艺手感，这在复杂系统中非常有价值。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当实验吞吐量低、变量数有限时，试错法往往是现实且高效的。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4C8B4-3868-45E1-8F4E-62EC7CF1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98120-E106-4D9B-B7DF-4D9F2E5D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要防止的误解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63081-4642-40D7-8A71-2C16722E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不能把传统方法 caricature 成“瞎试”。很多真正高水平的试错，本质上是压缩版的人类启发式搜索。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1153B-17F5-4A26-AB95-1F210A4B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A73C7-7E6E-4D38-A6C8-B0497F10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9FDDA-6B85-4855-8E7A-EFF9A95B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一旦变量增多、实验代价升高、目标转为多目标优化，试错法就很快遇到上限。</a:t>
            </a:r>
          </a:p>
        </p:txBody>
      </p:sp>
    </p:spTree>
    <p:extLst>
      <p:ext uri="{BB962C8B-B14F-4D97-AF65-F5344CB8AC3E}">
        <p14:creationId xmlns:p14="http://schemas.microsoft.com/office/powerpoint/2010/main" val="67293359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9C8DC6-27E6-4154-ABC4-13959D5E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5CB78-E391-4444-A0B8-788643E9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 谱系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20295-20E8-4872-93E5-3ECC0FD7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23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05B1D-C33C-4968-ADA3-0C71398F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4786E-6E18-4959-AD1E-25EEF55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 Fisher 到 Box：DOE 是现代实验方法论的主干之一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1D285-EDD1-457C-8BB7-890B6836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它先解决“怎么设计实验”，再逐步走向“怎么在实验中学习”。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AA0D2-29DF-4091-870D-91689C27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5BA70-FB59-4809-855E-AEB0C36C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1930s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AEBCC-3C1A-4FC0-8F6D-BE6F867D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Fisher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A66BB-35D6-4405-AE04-3743D37E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把随机化、重复和方差分析系统化，建立现代实验设计基础。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214ED-6B02-48A5-A36B-A86DDA4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899F5-79C2-4C24-A45D-934E58F4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572A7-B7C5-44F3-AA5A-E6AC011C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1950s–70s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66B14-2582-40E7-A8DF-A13E034D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工业 DOE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00824-2844-4FA7-8D07-8C993943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全因子、部分因子、响应面等方法进入工程与工艺优化。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DFE30-FB43-4F34-931A-474A7EDB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012C6-60FC-446E-B138-A4AD0342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7E74B-2446-4491-9443-789CA0CD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Box 时代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F01C4-8D63-4883-8D2F-7171185B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序贯思想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6592E-3E92-496E-80A6-8178C38B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强调试验、学习、再试验；统计设计开始接近闭环思维。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DF06E-2BA7-475F-8709-5FDF7402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4E2AE-2BAA-49E4-8E0E-334B4BCF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1252A-9188-4914-988A-12103280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今天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8F411-51B0-4909-BC3F-E86547B1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与 SDL 汇流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8909A-A281-45E2-BE24-58419156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DOE 继续负责初始化、筛选、结构化采样，并与 BO/SDL 集成。</a:t>
            </a:r>
          </a:p>
        </p:txBody>
      </p:sp>
    </p:spTree>
    <p:extLst>
      <p:ext uri="{BB962C8B-B14F-4D97-AF65-F5344CB8AC3E}">
        <p14:creationId xmlns:p14="http://schemas.microsoft.com/office/powerpoint/2010/main" val="346724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ED426-E597-4B49-B4F5-6CDB5735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74302-4BC8-41DF-9D4A-2568E4E0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37617-D419-48C7-8FB9-0D62E205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24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5A498-11A1-4841-827C-35874AB2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99163-1772-4C04-A113-94EADF37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 的核心贡献：把实验从“凭感觉改变量”变成“结构化采样”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63B26-B315-4ABC-B4D2-EE201A77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它解决的是实验设计问题，而不只是统计分析问题。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2A408-1CAA-4948-ADDD-F5A375C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B2793-BF52-448A-910A-C31E5BAC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明确因素、水平、响应和约束。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通过有计划的采样区分主效应、交互效应和噪声。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在有限实验预算下，提高信息增益和解释能力。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3F4F5-42D6-49CC-9192-444F4443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5B754-CC7C-41C6-A823-C798EF0F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 常见家族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C957A-EFB2-444A-9A92-B4CD88D5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全因子 / 部分因子 / 响应面 / 中心复合 / Box–Behnken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FCC15-511F-424C-805A-EDBDDA57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F5A0E-1A47-429D-ACC2-F64B7E74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更重要的是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D71E7-D7F8-4831-8EC9-E89710EA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DOE 的价值不仅在“省实验”，更在于让实验变得可解释、可复盘、可交流。</a:t>
            </a:r>
          </a:p>
        </p:txBody>
      </p:sp>
    </p:spTree>
    <p:extLst>
      <p:ext uri="{BB962C8B-B14F-4D97-AF65-F5344CB8AC3E}">
        <p14:creationId xmlns:p14="http://schemas.microsoft.com/office/powerpoint/2010/main" val="111351116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E99B8-A0D7-4536-9ED4-B8E24313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7B59D-BBF7-468B-A332-C64EED35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 家族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68D2B-9367-4166-8C64-FC94B2C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25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27407-DC7E-417A-8965-AFB1B367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C7F67-2064-4B58-9146-FF3E6EE6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 家族怎么选：筛选、建模、优化各有分工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D3C65-29C8-427B-A280-F4B98380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DOE 不是一个方法，而是一组针对不同实验阶段的设计策略。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508D0-913C-44DB-A7DB-3D75D092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93092-FED0-435F-B518-243D47CC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全因子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9C27A-8D38-4F06-A915-74227DA9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因素少、预算足时，完整摸清主效应与交互。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638A7-C536-42D7-A1FF-0F91B703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4402C-3532-4E9F-ACEC-9C7F1460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部分因子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D7E0F-8130-4E7C-A32C-1FCEC1B6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筛选阶段优先，快速找出重要因素。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87C3C-6EE2-4BC4-B43C-571EC047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4B70A-CA09-4551-99C7-A64FE227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中心复合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79043-5A13-4126-A50D-B4FDEB28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适合建立二次响应面，观察曲率。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34E3D-9D92-4805-BD9E-01821F51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079C4-7599-409D-8B80-04244CD4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Box–Behnken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85AA5-B161-4587-B0FB-A130E70A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减少极端组合，常用于工艺优化。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D1DFD-215E-4C40-B1FC-74F85E83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5A7C4-ED0A-4B0E-8151-659AF6DC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响应面方法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035D9-7478-44CA-B4F9-512FC52D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在局部区域建立可解释近似模型。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B8C70-FFA0-4485-B086-A03DDA6B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28449-EAF5-4D7E-80DE-A92B44E7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真正的顺序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4486E-7E65-4EDE-A275-18441868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先问实验处在哪个阶段，再选 DOE，而不是反过来。</a:t>
            </a:r>
          </a:p>
        </p:txBody>
      </p:sp>
    </p:spTree>
    <p:extLst>
      <p:ext uri="{BB962C8B-B14F-4D97-AF65-F5344CB8AC3E}">
        <p14:creationId xmlns:p14="http://schemas.microsoft.com/office/powerpoint/2010/main" val="38737728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638F33-13CB-4337-B9CC-74053E28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F84C7-D41F-44BD-A9B5-E223C778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 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17EDF-B708-44BF-B0A9-87FA49EC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26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C66AE-EDDF-4F47-A172-A51B557B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CDF1A-382F-42FA-9749-D33608B2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 的最小词汇表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F3FC2-438E-4D7C-9F4B-84442925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学生至少要区分这六个词，否则后面讲 SDL 会混。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51CA9-33E8-4E41-A185-7A53CEC2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CEEE2-EE65-4842-9A97-8D56E4F9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因素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BF8E3-A8A8-4161-BDFC-470BB535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我们主动控制的变量。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9F6E0-C458-447B-80A0-C4FCE05A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BBE72-F8B8-4C59-B421-91C96157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水平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DE8FA-D2D3-4C03-B156-5F7CD4A8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每个因素允许取到的值。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09447-8851-448F-A9C1-55DD5065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9E4F4-D5E4-4328-8401-F9581704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响应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C0D7C-C9E5-4366-AB6F-E2FB40E3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实验测得的结果或输出。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B24BD-8D3C-4BED-8558-DB3E6766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A4E61-23C2-437C-A047-987C229E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约束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D855A-5F5F-4D28-B279-712D0170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安全、成本、可行性边界。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D4939-585E-4E0A-852E-F08C7EA4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C1278-03CA-417A-B448-DFE468DB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主效应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970DF4-77B2-44F8-99C7-8BE25388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单个因素变化带来的影响。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AD9D3-A3C7-49D3-9D65-C7412D5F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ACE54-6934-44E5-9921-C7A9B693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交互效应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DBA084-45F7-4343-BD18-72A8EFFC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因素组合共同作用产生的影响。</a:t>
            </a:r>
          </a:p>
        </p:txBody>
      </p:sp>
    </p:spTree>
    <p:extLst>
      <p:ext uri="{BB962C8B-B14F-4D97-AF65-F5344CB8AC3E}">
        <p14:creationId xmlns:p14="http://schemas.microsoft.com/office/powerpoint/2010/main" val="209995553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F21E94-AFCA-46B9-978A-B6012ED2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9E845-1D22-4CDC-995F-ED2AC1A0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方法比较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A2DBD-6A14-4FC2-9DE8-B96D85EA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27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5E776-F127-4B46-BB8B-CCA9E0B9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C0943-12BD-42F8-849D-F007AF0D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试错法、DOE、SDL：不是替代关系，而是连续谱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915CA-CF08-4D18-89E8-C17D324B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每种方法都有适用边界。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8F51E-4A34-47C2-A74C-830CF15E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5CFE6-7A22-4FFD-808C-A5E3C508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D2A0D-50E5-421D-813D-6162E11E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5A5A9-5766-438F-AC9D-F9022908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试错法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9C3B0-DEDA-4BA3-9735-C0E7AD98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D008F-5B5F-4807-8D01-B6422A45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86D20-1F3A-4104-AF09-0B34F807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6FE39-7CA1-408C-ACB4-41AD5DC0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SDL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C3ED8-B44B-4C5D-8909-00E426EE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9B47C-F2FD-40B4-B653-8DBC0780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EC0F6-A795-4ADB-8E90-4EB18600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6DE71-8F9C-4D65-A63C-BA121C11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经验与直觉驱动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8017D-17B8-49C5-838A-3267A43C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66E57-DB84-494B-A08B-36CE6DF9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统计设计驱动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A5008-28F6-4DC0-ACDB-5266D924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EA16D-BFD3-4FF9-8E4F-977A3332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模型与闭环决策驱动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D9490-9D07-4E47-8900-4B58DA5A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CF13F-2C67-4821-89F8-A13E14AD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变量空间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62F9D-A634-411F-BF29-EFC42758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F1ABBB-97A4-46E5-8B52-47804B11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低维更友好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E96BC6-70E6-4D26-8F31-A0C6250A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C4E453-67BD-4A70-B593-0883F6AA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中低维较合适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6A91A9-9F8E-4EB4-A3A9-96A732F8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57AEEA-40BF-4268-BC52-EA4CB051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高维潜力更大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BE45B7-A4A4-4B13-A99C-CD59D3CE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388A78-06AE-4131-9CBF-05CF702F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不确定性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CC4F22-CED4-4396-B0F4-B80FD42F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49689-237F-497B-AB8B-80890280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通常隐含处理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F100E2-E269-4E4C-AD9E-BE02BC21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65B4B-AD84-4359-8402-25E3E04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残差与显著性分析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1B9F74-FED9-45CD-9073-475D9D40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67DFA0-1C57-4083-ADD0-A3C4E58C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显式后验与不确定性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9521CF-D3C3-4E2F-BB45-881DEBB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FE6CC1-DBF4-4B41-85B2-0529F7BD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迭代速度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1EC5FF-6616-4BBE-B024-852BFFF8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B7FA1A-F856-4D6C-B0EB-014DB8BB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慢，强依赖人工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9E42C4-81B5-415F-8A3E-E5057A70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DF07BC-FE77-498D-99BF-F278DBCF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中等，常按批次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329939-267B-4935-97C0-48091823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F3DAC5-622F-4FE5-81FF-73ECC22A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快，可闭环运行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9D50D5-F632-43F2-84C4-0EBA67E5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C39CD4-9D2D-442F-9FD1-4B787F88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最强项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44558D-C22D-438B-8708-BF768388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14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D71ED1-0BC9-4C4D-B95E-81F20433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0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早期摸底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1F0175-7DFE-4F6C-836C-7F04C7AD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14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DC667B-41E5-4B06-B7C7-8120C83A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筛选与主效应识别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AA0FD3-E589-4E05-AF18-BF4CC776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14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9B4894-5DB3-4F01-86DF-729B8F1E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昂贵实验下的数据效率</a:t>
            </a:r>
          </a:p>
        </p:txBody>
      </p:sp>
    </p:spTree>
    <p:extLst>
      <p:ext uri="{BB962C8B-B14F-4D97-AF65-F5344CB8AC3E}">
        <p14:creationId xmlns:p14="http://schemas.microsoft.com/office/powerpoint/2010/main" val="129515706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4CFDF-353D-406F-AE8F-79F65ED2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197A3-A450-4568-A981-0BCF4687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连续性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27A60-5270-4138-82F9-825541B5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28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4642C-A758-4891-A4A2-99A25BA4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F8086-D917-4495-819A-49DC44F3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从试错法到 SDL：真正变化的是谁来提出“下一步做什么”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C8D6B-8CA4-40B4-B97E-46404E45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这是方法论上的连续性，也是一条自动化程度逐步提高的路线。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FF799-60CD-4CFD-9B7B-2EC334E8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B361E-3DC4-445C-BFF2-17192014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试错法：主要由研究者直觉提出下一步。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DOE：由预先设计好的统计结构给出下一组实验。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SDL：模型根据现有观测和不确定性，动态推荐下一步。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7D236-E0AC-4DA2-A705-BFABEFB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036A1-29DD-422A-8F0F-CAAF08DE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所以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C62E6-82E6-4260-9E0E-0E7A23A9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DOE 与 SDL 的区别，不只在模型更复杂，而在推荐逻辑从静态设计转向动态闭环。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54683-F123-46DE-9422-8D0DF7CB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5A510-D86A-4594-A683-FF72539F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关键问题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9538C-A6C8-41A8-BB79-570F4A71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“下一步做什么”由谁提出、依据什么提出、如何被验证。</a:t>
            </a:r>
          </a:p>
        </p:txBody>
      </p:sp>
    </p:spTree>
    <p:extLst>
      <p:ext uri="{BB962C8B-B14F-4D97-AF65-F5344CB8AC3E}">
        <p14:creationId xmlns:p14="http://schemas.microsoft.com/office/powerpoint/2010/main" val="205525928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DB6707-E7A5-4451-8413-88D6E651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0DB9B-18AD-413D-A55A-103866EF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DOE 与 SDL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E9F4E-B05F-4894-9495-F9233132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29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EAE8C-CBF3-4D52-880E-B7E35EC0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2BF8B-F968-4067-A86C-8B5E0CA5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 会死吗？不会：它会与 SDL 串联、并联、集成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BCE5D-FE6D-44F1-86E9-EE10CB5C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真正的问题不是谁取代谁，而是谁在什么阶段更合适。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384EE-44EE-4154-9114-9A0C96D8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AA7EC-6F6F-448C-8563-DBA0C2E0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5FD13-DBA1-4E9E-88C2-B5A0E0E8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A9796-C00E-4FAF-AB2F-8B2F22C1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典型场景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8B6C5-97CF-41B9-B2EF-DA7BA399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5B413-D72D-4D27-87A2-46E18C79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DOE 的角色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DA8E8-D8C7-4C33-A431-3B1520B0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DC199-DD6E-4559-BB23-6B89245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SDL 的角色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AFAA3-6FA0-487C-AD9B-BADE0868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71AC5-D500-49A8-9365-4484CDAA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串联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9475C-06E5-4072-AFAF-54851887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EAB6E-A70B-45FC-B12B-FDE502F7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做初始化、筛选、缩空间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63CC6-87EB-4421-BE7E-C7B46876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4C135-0056-4252-841A-051B040E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在高成本区域做序贯优化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1C4AF-89F5-4C38-98A0-6B51795F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8AD3C-27A5-49CC-9506-9B5E24DE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并联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EB7D0-2CD9-4BA4-BCAE-715343D5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0A3B13-1BAE-4C3D-B6E2-6BD18450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某些子问题用批量统计设计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FEAFBC-8E36-41C9-8739-3BB450A4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2D1AED-4A21-455E-8E82-622D2B20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另一些子问题用动态推荐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E3DE57-212C-4050-8104-4961A00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CD724-72AA-440F-822B-44908CDB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集成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25FB8A-8FEC-4376-B12B-ACDBBA4B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6D863-CA4F-4883-BA6A-9D24EBA9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保留因素、响应、约束、设计点语言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224DFC-ABB0-4825-9146-351E2AE3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184FC4-E6CA-4B2D-8279-BE90814B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 DOE 思想嵌入初始化和闭环更新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5259A5-897B-498A-9049-D9E3822A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F6F79A-2B66-40BA-8BAA-D00922DD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共同边界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DF92D7-F1F9-4B20-ABE4-A38A3EF8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CEED45-4C6F-4819-AEFF-58990445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可解释、结构化、低成本学习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3A1978-D4B9-41E7-B1DE-EAB86E44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8A9CEF-B5A0-4EEF-8A4F-CBF2E1F9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高数据效率、动态决策、显式不确定性</a:t>
            </a:r>
          </a:p>
        </p:txBody>
      </p:sp>
    </p:spTree>
    <p:extLst>
      <p:ext uri="{BB962C8B-B14F-4D97-AF65-F5344CB8AC3E}">
        <p14:creationId xmlns:p14="http://schemas.microsoft.com/office/powerpoint/2010/main" val="162524535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223C7E-E3E9-4018-970E-BCC88E29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10794-BA7F-4B1D-A0ED-738993F5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研究工作流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24EFC-78F5-4F92-A4C4-E6D83E98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30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F78AC-E048-4E90-AD8D-35CDA27E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2921A-0EAC-42CC-8195-5E4B6DDE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8 步实验工作流：先把问题翻译成可执行设计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060FF-FF66-46DF-BF59-F3C1FBA1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01–04 不是“前戏”，而是后面所有 DOE、SDL 和统计推断的地基。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1E703-0DF7-4555-8F2D-DE14EB67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0439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4D44F-B943-4C1C-89C1-AE188774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PHASE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6ECB3-1B25-4245-BC50-A3276D38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336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把模糊研究问题收束成可执行、可测量、可重复的实验结构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271A0-64BB-4177-BF5F-AF7B6731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495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C7B63-B050-4ACD-A1EA-94DEC01B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495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D6FF"/>
          </a:solidFill>
          <a:ln xmlns:a="http://schemas.openxmlformats.org/drawingml/2006/main" w="0">
            <a:solidFill>
              <a:srgbClr val="13D6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A0CF8-911F-4498-B840-2EF76880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68C55-59D6-41C0-A34C-ECD9B0F5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问题定义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E8D35-4443-424E-8F93-0E232BDA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把研究问题压缩成可检验假设与可测结果变量。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BD6A8-C91C-45AC-9463-65ACC4FD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FA820-BE9F-431C-B995-9D73A3CF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62475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93A4B8"/>
                </a:solidFill>
                <a:latin typeface="Consolas"/>
                <a:ea typeface="Consolas"/>
                <a:cs typeface="Consolas"/>
              </a:defRPr>
            </a:pPr>
            <a:r>
              <a:t>hypothesis / 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20FC4-121F-4AF5-899D-69A992D6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5814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033F6-815A-4104-B732-983A6DAC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2495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A4EA2-3E74-49EB-A885-FD40A9B7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2495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C417A-8006-41E4-89CA-005BD74E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18877-633D-4252-B9A5-FEF39198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实验设计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4CF41-5B90-4A3D-9713-8FBDEB44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明确因素、响应、对照、样本量与随机化结构。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44930-0956-4A8D-8B09-13E4033E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958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37A65-1D75-4A0D-89D9-5D73C3FA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62475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93A4B8"/>
                </a:solidFill>
                <a:latin typeface="Consolas"/>
                <a:ea typeface="Consolas"/>
                <a:cs typeface="Consolas"/>
              </a:defRPr>
            </a:pPr>
            <a:r>
              <a:t>factor / response /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1EE592-B3CD-4269-91C8-B6E09661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5814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4985F-3EB3-4BF1-B70A-4684C586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2495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EB672-9734-40B7-B671-510AF64C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2495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C66D20-9A64-4751-A516-FF0FA2CA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6EE73E-6275-4F39-95B6-BDF0467C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前期准备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64EF94-CCEB-4AF0-9857-EF63611C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写 SOP、校准设备、验证样品与记录体系。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48E07D-1726-4A2B-8AB7-6D67605D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958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FBBF2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CF73E1-3970-40D3-908C-7DD3F567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62475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93A4B8"/>
                </a:solidFill>
                <a:latin typeface="Consolas"/>
                <a:ea typeface="Consolas"/>
                <a:cs typeface="Consolas"/>
              </a:defRPr>
            </a:pPr>
            <a:r>
              <a:t>SOP / calibration / traceability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0D060B-BE04-47FB-9228-CD7BAC29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5814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F8D571-A1FD-495C-91AA-0BB39EDC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2495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A260AC-67EC-4CA8-88F4-8051F671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2495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CB96C7-8599-433E-9376-234B7D49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7E588D-FDF8-40C7-9FBA-F634DC3A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预实验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117827-EA97-4380-8EA7-4F955676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小规模跑通流程，暴露技术障碍并修正设计。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7DA7AA-DADB-4064-9D45-ED10CEC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FB718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72B594-BC4F-4F87-AAB3-E315AC6A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62475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93A4B8"/>
                </a:solidFill>
                <a:latin typeface="Consolas"/>
                <a:ea typeface="Consolas"/>
                <a:cs typeface="Consolas"/>
              </a:defRPr>
            </a:pPr>
            <a:r>
              <a:t>pilot / revise / de-risk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91B8DD-ACCC-4181-B946-1E8E234F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439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CA4C04-1E20-4E46-92BA-2E350BDE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IF THIS FAILS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6F2457-BBA5-46E3-A570-E1A82710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911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后面的 DOE、优化器和统计推断都会建立在松动地基上。</a:t>
            </a:r>
          </a:p>
        </p:txBody>
      </p:sp>
    </p:spTree>
    <p:extLst>
      <p:ext uri="{BB962C8B-B14F-4D97-AF65-F5344CB8AC3E}">
        <p14:creationId xmlns:p14="http://schemas.microsoft.com/office/powerpoint/2010/main" val="172257458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2629B9-43AF-4C79-A106-3F7A4952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F1E70-86E9-4C8B-B401-42DCA0F1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研究工作流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165A3-936C-4003-B2F9-FE333DB2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31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6F369-463F-4F85-8AA0-51189C2F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2B46A-1043-4E6F-843F-99A71A08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8 步实验工作流：再把实验变成可信结论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B7DFE-4AF0-4210-8E88-C4DCEE4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05–08 决定结果能否被重复、被审计、被真正写进科学结论。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59A79-107F-4EDB-B3C6-AE2FCE7E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0439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6029A-6966-4BD5-BE69-20DB31B4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4D399"/>
                </a:solidFill>
                <a:latin typeface="Consolas"/>
                <a:ea typeface="Consolas"/>
                <a:cs typeface="Consolas"/>
              </a:defRPr>
            </a:pPr>
            <a:r>
              <a:t>PHASE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5EA2D-1558-4417-819A-04E02161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336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把执行、数据、统计和报告接成一条可审计的证据链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0B39D-070E-42A7-86B3-A86DADC9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495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BDE10-54A4-4EB8-9AEE-0A00535D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495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63923-38B9-4AD1-8B27-F1737EB0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4D399"/>
                </a:solidFill>
                <a:latin typeface="Consolas"/>
                <a:ea typeface="Consolas"/>
                <a:cs typeface="Consolas"/>
              </a:defRPr>
            </a:pPr>
            <a: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BFDBF-C43C-4EE3-88A6-B66BE386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实验执行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2D32E-A14D-43DC-8453-26B5BA1E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按随机化与 SOP 执行，并实时记录原始数据与环境条件。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D8383-C2B7-4247-BD82-ED4F999F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F3337-16AB-47F1-AC4A-7417C594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62475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93A4B8"/>
                </a:solidFill>
                <a:latin typeface="Consolas"/>
                <a:ea typeface="Consolas"/>
                <a:cs typeface="Consolas"/>
              </a:defRPr>
            </a:pPr>
            <a:r>
              <a:t>discipline / raw log / QC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F51E4-CCFC-43BF-B47D-F5834EC2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5814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41E69-6162-4480-B3AA-F4165985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2495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895EA-4A1F-4B0D-BB7A-E23E74AC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2495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D6FF"/>
          </a:solidFill>
          <a:ln xmlns:a="http://schemas.openxmlformats.org/drawingml/2006/main" w="0">
            <a:solidFill>
              <a:srgbClr val="13D6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D0D23-3BB9-4EC1-9C50-90C11E69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01B9C-D4DF-4B38-A1A9-AEDA4C0B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数据管理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B08BE-CC89-4D4A-8194-3DE471C2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保留原始文件、元数据和清洗决策，保证可追溯。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8618F-F423-4B06-94C2-2D2CA51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958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F5981C-DFF6-480B-BCA4-88528A2D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62475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93A4B8"/>
                </a:solidFill>
                <a:latin typeface="Consolas"/>
                <a:ea typeface="Consolas"/>
                <a:cs typeface="Consolas"/>
              </a:defRPr>
            </a:pPr>
            <a:r>
              <a:t>FAIR / provenance / backup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0DCA4-7E56-4EAD-96F0-820B7598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5814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DB07B8-6E25-40D5-88F0-C0F041B5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2495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9EDF08-3B8C-4234-B57C-0AA697F0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2495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8FA6A8-AD0F-444B-A7A7-2A91C053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DFEAA5-7C82-4601-BBB1-FFE1D274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统计分析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DBF96-4902-4DCA-B133-C93A862F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按预定计划检验、报告效应量与不确定性。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F9C44C-EF5F-469E-90CF-72C26A18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958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E39CB8-BD30-4B68-B1D9-6D1457BB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62475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93A4B8"/>
                </a:solidFill>
                <a:latin typeface="Consolas"/>
                <a:ea typeface="Consolas"/>
                <a:cs typeface="Consolas"/>
              </a:defRPr>
            </a:pPr>
            <a:r>
              <a:t>effect size / uncertainty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A8FD07-B1A0-4AC0-B254-E30ABE25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581400"/>
            <a:ext cx="285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D23237-82E6-4623-ABFA-421E01CC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24955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C99C3C-6154-44B7-9107-9A0F5176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2495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092B8D-9C55-4A73-BF99-BF7A09C5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256D7A-3836-4A93-B948-1585518D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解释报告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3E3C51-6DBE-4E6A-90D5-9AFB670A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把结果放回机制与边界中解释，并透明报告局限。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307D99-C2A6-4CFF-976E-512BBB87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FBBF2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7398EE-79DC-4468-B87D-F18DA9EB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62475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93A4B8"/>
                </a:solidFill>
                <a:latin typeface="Consolas"/>
                <a:ea typeface="Consolas"/>
                <a:cs typeface="Consolas"/>
              </a:defRPr>
            </a:pPr>
            <a:r>
              <a:t>mechanism / limits / honesty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4993A5-A1EE-47FE-A77C-FAD9757F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439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4328BC-FE8D-4319-84EA-95B00775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WHY IT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BEDBD0-F907-40FB-9627-E8F51C04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911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真正让结果站得住的，通常不是第一个漂亮数字，而是整条证据链是否可复查。</a:t>
            </a:r>
          </a:p>
        </p:txBody>
      </p:sp>
    </p:spTree>
    <p:extLst>
      <p:ext uri="{BB962C8B-B14F-4D97-AF65-F5344CB8AC3E}">
        <p14:creationId xmlns:p14="http://schemas.microsoft.com/office/powerpoint/2010/main" val="28967863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29FD12-BC14-4A68-858E-F65A0308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15904-3982-4347-A370-E52540DD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工作流分工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5F246-E351-4820-B6AC-3BBFAF03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32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DB3B2-5EB6-48AB-8ADB-AF6BE06A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57E8B-FA8B-4A96-82EF-72098331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把 DOE、SDL 和人的判断放回这 8 步里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E71B5-DE85-47FD-A956-539C50F0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它们不是平行替代方案，而是在不同决策节点上承担不同角色。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2CED5-8D21-4F97-848E-F9FCB071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667000" cy="37338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62145-B7A6-4696-A5D2-75FE015C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8-STEP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CEC81-B757-4C6A-A638-445AF1B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8D374-82F0-47AF-9B5E-FA45DE11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E3E34-052D-4FD9-83AC-903CC139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19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问题定义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CF1DF-22F0-4F31-896B-E519DC9B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E4AC2-E61D-4DE6-8395-66E5645D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69E71-3EA6-4BE3-8B15-1032F830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8132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12065-1D14-4D16-9993-AA1C0D66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FBBF2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EF51C-D464-4F0D-A523-03681966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BD647-AE8F-4928-BD81-C3E9404B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432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前期准备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C0E28-9AA6-4156-87A8-36FAE410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FB718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BEF81-A352-47CD-9F7A-5A5A048B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6066D-EF98-47C7-83F4-4BEF6443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0522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预实验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38A57-6790-4EC6-BB2E-21FDBB49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1C8A3-9714-4648-A0D4-EB2743D9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4D399"/>
                </a:solidFill>
                <a:latin typeface="Consolas"/>
                <a:ea typeface="Consolas"/>
                <a:cs typeface="Consolas"/>
              </a:defRPr>
            </a:pPr>
            <a: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937C9-7600-433D-88C7-B8FB6707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671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D332F2-6CB8-4618-9392-A21607C6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95778-03C6-4440-8B6E-35365F9A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E4FC9-8ED0-4004-A0A9-F9542AE5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2912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数据管理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30D1D0-156B-4FAD-BC79-C3248D2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C0D477-689C-44FA-8A32-4401D67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3624F-990C-45DE-B13B-91FD9E95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910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统计分析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B8AB3-7D8C-429C-A388-55958CB5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2171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FBBF2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8FF8A7-9876-43FA-A565-A84F6DB7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24DFC-6B09-448A-862D-B325D793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5302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解释报告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1804FD-FD79-4081-B98A-34E0E498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2381250" cy="3733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FB718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6821ED-A992-415E-A877-04270E4D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479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HUMAN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EEB141-4E24-452C-B355-153B9A71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955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人的判断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24581A-570A-421F-950E-F354CBA4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14650"/>
            <a:ext cx="2038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• 定义真正值得回答的问题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• 规定测量语义与边界条件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• 承担解释与报告责任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3F6FC1-EFB9-4A89-913C-68BF7FA9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76750"/>
            <a:ext cx="2076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FB718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2EBC8F-8F7C-441D-8B5A-2EB57324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最不可外包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971CEE-B12A-4677-B6DB-C713553F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76800"/>
            <a:ext cx="1847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01 / 03 / 08 步。问题、测量含义和科学结论，不能只交给系统自动生成。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68CF83-4B3C-46DC-9093-E821F439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381250" cy="3733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995588-23C5-4AD4-8197-1A674E9C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DOE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65CB12-ADB3-47DE-A656-E0F482F6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955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设计结构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98FF2D-9B9E-45CE-BDDC-7554DF42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2038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• 组织因素、响应与对照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• 安排随机化、样本量与批次结构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• 用预实验修正正式设计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AF4821-06FD-481A-BF12-4CA2DD5F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2076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0EF0BC-E397-4EEC-825B-CE5D4A6C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介入最深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4FB87A-86D0-4754-93C5-D8C2F8FC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76800"/>
            <a:ext cx="1847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02–04 步。DOE 把问题翻译成统计结构，是闭环前最重要的结构化语言。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C7F6AE-3E99-4013-8A4C-1061037E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381250" cy="37338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537F7D-495B-4100-B08C-FF9654D8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4D399"/>
                </a:solidFill>
                <a:latin typeface="Consolas"/>
                <a:ea typeface="Consolas"/>
                <a:cs typeface="Consolas"/>
              </a:defRPr>
            </a:pPr>
            <a:r>
              <a:t>SDL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9B9A75-63D7-432D-9897-2EC0F071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闭环决策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B09407-78F4-4D0A-AF27-C5D3254A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2038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• 把观测、更新和推荐高速串联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• 在昂贵实验中提高信息效率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• 把数据、执行和决策接成系统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823DB2-AB00-4927-9D8A-C7C3B81E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76750"/>
            <a:ext cx="2076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34D399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AC8131-139D-456F-BAA0-9F6E3D1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291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4D399"/>
                </a:solidFill>
                <a:latin typeface="Consolas"/>
                <a:ea typeface="Consolas"/>
                <a:cs typeface="Consolas"/>
              </a:defRPr>
            </a:pPr>
            <a:r>
              <a:t>介入最深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31D0BE-D25E-44CE-8876-E1D23E94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76800"/>
            <a:ext cx="1847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02 / 04 / 05 / 06 / 07 步之间。SDL 改写的是若干决策节点的速度与密度。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8CFB68-13AF-4AD8-9E47-7CFA75DE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0439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E7CAEA-ACAE-4201-9804-3B02265E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9982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93A4B8"/>
                </a:solidFill>
                <a:latin typeface="Consolas"/>
                <a:ea typeface="Consolas"/>
                <a:cs typeface="Consolas"/>
              </a:defRPr>
            </a:pPr>
            <a:r>
              <a:t>结论：AI 时代真正变化的，不是 8 步被取消，而是其中若干决策节点被更密集地数据化、自动化和审计化。</a:t>
            </a:r>
          </a:p>
        </p:txBody>
      </p:sp>
    </p:spTree>
    <p:extLst>
      <p:ext uri="{BB962C8B-B14F-4D97-AF65-F5344CB8AC3E}">
        <p14:creationId xmlns:p14="http://schemas.microsoft.com/office/powerpoint/2010/main" val="47282453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5D0B14-D488-48F4-9982-F4C50815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3AD8B-3759-43D2-BE26-9029C0DC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第四部分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15803-C425-4B7E-B72E-B8A43868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33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4870D-6732-447F-A0FF-D21CE397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4CF4C-C886-4A83-8174-A91C699D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34D399"/>
                </a:solidFill>
                <a:latin typeface="Consolas"/>
                <a:ea typeface="Consolas"/>
                <a:cs typeface="Consolas"/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8BB38-8247-4CB0-83BF-2167714B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AI 时代的实验：什么是 SDL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63485-F1F4-4E85-B802-BDA98A25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SDL 的关键，不在“用上了 AI”，而在“实验开始形成可更新、可执行、可复位的闭环”。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F79D1-16ED-4FAB-A7CB-6F20DBBD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BEC0F-8F27-4FEF-95ED-D9A237D5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模型不再只解释已有结果，而开始进入实验行动链。</a:t>
            </a:r>
          </a:p>
        </p:txBody>
      </p:sp>
    </p:spTree>
    <p:extLst>
      <p:ext uri="{BB962C8B-B14F-4D97-AF65-F5344CB8AC3E}">
        <p14:creationId xmlns:p14="http://schemas.microsoft.com/office/powerpoint/2010/main" val="63441108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2EDD8C-3ED3-4D16-B3C9-2568507B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8D383-9B98-4B04-B275-6CC51A7F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SDL 全景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71D06-C94B-43BD-82D5-90C1BB06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34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74BA7-0D89-4415-BF4E-1CA2C78E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097CF-76F4-4C3C-9BC8-2C34350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在聚焦单个案例前，先看一眼当前 SDL 领域全景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2A9B3-8460-460D-96F1-CFE97401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A-Lab 重要，但它不是唯一代表。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B9E07-31A1-4187-B484-0F569599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2C27D-79E6-487F-8E32-D41381F8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化学反应优化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50341-C3E3-4443-8EC1-39A05923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连续流、催化、反应条件优化是 SDL 最活跃方向之一。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3AA2D-2F5D-4B5C-8344-1DE32C9D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3E6DF-C894-40F6-82D2-8761E7EE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材料合成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15B63-F29B-47AE-8BD0-BBB3F3F5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无机固相、薄膜、配方与聚合物是代表性场景。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E2992-D8D7-459D-87A4-876435E2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89AA5-F139-4950-8EC5-020A1DD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自动化编排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6F06F-29CB-4974-879B-55D37FA4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ChemOS、工作流调度和设备编排提供系统骨架。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BC96F-2333-4323-81F8-A4A07762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4D1D0-2BA5-4EE6-92C0-8F7C054D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高成本实验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CE898-0732-4860-8DA4-8B68BE66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昂贵、慢速或低通量实验更强调数据效率。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E8109-CC22-4124-BB74-7A0DAA25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2B313-EE7B-470B-8E3D-A80D14BB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低成本 SDL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9DD28-C46D-4994-83C1-D94A5825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frugal twin 与低成本平台强调可复制和教育可及性。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B4628-1D56-4EB9-882D-B964D951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4F358-8C09-4B86-8AB5-B04AF414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主流挑战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07B4D-AAE5-43A3-83F4-69E868E6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标准化、观测定义、验证口径和人机协作仍是共性难点。</a:t>
            </a:r>
          </a:p>
        </p:txBody>
      </p:sp>
    </p:spTree>
    <p:extLst>
      <p:ext uri="{BB962C8B-B14F-4D97-AF65-F5344CB8AC3E}">
        <p14:creationId xmlns:p14="http://schemas.microsoft.com/office/powerpoint/2010/main" val="1873357483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4AB0A4-C38C-4696-B32B-F5CADC2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0E93A-02E2-41DD-A63F-1F9394A2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SDL 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82DEE-7D01-4E84-9717-F21D8D91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35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09E8A-DA7D-41B6-8F3D-9054A82B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0BA25-2D78-4C2A-A534-DCFBB0C2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SDL：模型驱动的实验闭环，不是单次预测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42BE9-6DA7-43F0-AAD5-56D1F676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它至少包含目标、观测、更新、推荐和执行五个环节。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FB8AD-335A-4187-BA2E-BFF96558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722C9-BFE6-4C7F-917E-5250D1CE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定义目标：我们到底要优化什么、约束什么、测什么。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执行实验：真实硬件或仿真实验台给出观测结果。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更新模型：把新观测吸收进当前知识状态。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推荐下一点：根据目标与不确定性提出下一个实验。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35891-1B07-471E-861B-A8302408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A5209-7A7F-4342-8550-E2EE4538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一句话定义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29DAD-5C98-4923-AD7A-31CFFC91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= 可自动迭代的实验—观测—建模—决策—再实验系统。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B30BD-4EA5-489F-A1F1-43E13C4F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02DA3-286C-473A-B90B-4B1CB2AA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要强调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34034-6CAA-429E-A796-CDC48097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预测模型本身不等于 SDL；进入闭环才是 SDL。</a:t>
            </a:r>
          </a:p>
        </p:txBody>
      </p:sp>
    </p:spTree>
    <p:extLst>
      <p:ext uri="{BB962C8B-B14F-4D97-AF65-F5344CB8AC3E}">
        <p14:creationId xmlns:p14="http://schemas.microsoft.com/office/powerpoint/2010/main" val="1036595694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290293-52D1-4615-9D9C-509BE0F2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4876D-C6A5-4AEE-9662-C67EBC02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闭环结构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2AE1F-FC0A-4AC1-8507-212642CC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36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03552-3D11-460C-B188-37BF23B3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4A3A8-A55F-4E05-AA2F-AB5778C4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一个最小 SDL 闭环包含哪几步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5B0D2-B16D-4BF6-B406-AC75386C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推荐—执行—观测—更新—再推荐。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780AA-5D3B-44F2-9F93-35B00591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EB98C-E46F-42B8-AE0F-586C4099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035BA-CB27-4F45-AC2D-DE872D13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定义目标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6BF3C-9298-4D97-B481-A42B6F46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目标函数、约束与可测指标被明确。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EB709-8414-4CD1-9954-6A625102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103CA-236A-4C07-B0D1-5876BBE9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6E19A-AD47-4DBD-AC48-F4C66328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08AE6-24F1-4C83-8FE8-10E14E8C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执行实验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69DE6-8957-4174-82B3-FA1AD231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硬件或模拟器运行一次实验。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37C68-E761-488C-8EAC-93D7BBD3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486AE-0AF6-4FB9-B509-CE041D46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EDA7C-9AA1-4784-A955-F92CBAAB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810CA-EA40-4771-A146-2448BDB2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获得观测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D955D-1A22-47ED-887A-842BEEE3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得到谱图、曲线、图像或标量。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71F95-E00B-4A4B-92E8-5863B707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F3A7E-5887-47CE-AAE4-6294A4B3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2F247-8535-4846-A6D9-301E702E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4D399"/>
                </a:solidFill>
                <a:latin typeface="Consolas"/>
                <a:ea typeface="Consolas"/>
                <a:cs typeface="Consolas"/>
              </a:defRPr>
            </a:pPr>
            <a: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18A59-F491-4FA6-93AE-FDAFAC6E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更新模型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FAA932-53DA-432D-AA73-20DE6401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模型吸收新数据，修正对空间的理解。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C70CF5-B5D3-4BBB-9584-AB9C9D72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F12074-92E3-4FE8-8236-D0876443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19716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F21E35-9A70-418C-8DFC-47756BAC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24150"/>
            <a:ext cx="1666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C51EA-91F6-4D01-8DDF-1CA3A22C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推荐下一点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900FD1-5249-4320-BC54-D536E70D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52800"/>
            <a:ext cx="1666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在探索与利用之间做平衡。</a:t>
            </a:r>
          </a:p>
        </p:txBody>
      </p:sp>
    </p:spTree>
    <p:extLst>
      <p:ext uri="{BB962C8B-B14F-4D97-AF65-F5344CB8AC3E}">
        <p14:creationId xmlns:p14="http://schemas.microsoft.com/office/powerpoint/2010/main" val="31176947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7EF4AE-B0DC-415A-B1E5-393F2D09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20226-92D6-4F11-ADC1-EBC186E6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概念分辨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4A8A4-8F90-486C-8FF7-49A301F6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37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01307-5D91-45AF-B440-D4C73106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D1DA2-0F68-45F3-9819-8CD8C409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目标、约束、测量：这三个概念必须分开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0E478-69B5-42DF-AEA9-4E443B65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它们在很多讨论里被混在一起，但在 SDL 设计中完全不同。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94B7A-665A-4668-A5A7-B74DE209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A93A4-1218-4C95-84C0-2C444DE0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03179-E15D-49E5-97A6-B036801D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我们希望优化的东西，例如产率、匹配分数、寿命。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C133C-9133-429A-8B61-03DA2853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961FA-859D-4879-9339-C93F8AF5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2782D-2A1B-423A-9D6D-39B4B900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不能越过的边界，例如安全、成本、时间、材料稳定性。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2EA7A-F43F-4C56-ABB2-AFFBFD20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B2710-0648-408E-88F7-36036186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测量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0CA25-E7CD-48F8-9BBC-C36BB9C9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实验可直接得到的观测，例如峰位、颜色、光谱、电压。</a:t>
            </a:r>
          </a:p>
        </p:txBody>
      </p:sp>
    </p:spTree>
    <p:extLst>
      <p:ext uri="{BB962C8B-B14F-4D97-AF65-F5344CB8AC3E}">
        <p14:creationId xmlns:p14="http://schemas.microsoft.com/office/powerpoint/2010/main" val="889635892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091C19-FE01-4172-AAAF-2316B4C1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6B18D-0FD8-484D-B3B4-A8267D23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核心概念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E66CD-764D-4600-B1E1-03B73737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38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D1315-9B39-472B-8FF0-03DC5476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DC0F4-A37F-4EA9-AAE8-3709C16B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SDL 的三个核心概念：代理模型、不确定性、采集函数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F9E35-D4BA-4F88-836F-E5E8FED8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它们共同回答“下一步做什么”。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0D5B3-CE5C-4168-847D-2B08B6E2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057CD-1706-45DD-95B6-FBBC40AE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Surrogate model（代理模型）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8705D-2A4D-44F8-8B75-9C2BF813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用较便宜的统计模型近似真实实验响应面。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0D74A-BF86-4810-A2A3-F3DC383F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082B1-D0B6-4D97-8196-5C854519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Uncertainty（不确定性）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845C3-332B-444D-82D8-BB79C29D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告诉我们哪些区域还看不清，因此值得继续探索。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EF2BA-D358-4B24-8DBA-66EF54A6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F632B-90F2-439B-94D4-4C022FB9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Acquisition（采集函数）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181A8-1B13-427E-8C79-8646BE82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平衡探索与利用，给出下一实验点。</a:t>
            </a:r>
          </a:p>
        </p:txBody>
      </p:sp>
    </p:spTree>
    <p:extLst>
      <p:ext uri="{BB962C8B-B14F-4D97-AF65-F5344CB8AC3E}">
        <p14:creationId xmlns:p14="http://schemas.microsoft.com/office/powerpoint/2010/main" val="1743059584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1AC824-CAED-45A0-BF8E-DE8273BF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A8126-CF71-48BB-9F2B-B403116A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代理模型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60451-6023-43A3-931E-DD5A87B5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39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41267-E045-4984-9F7F-EFF2ED2B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934CB-0FF9-4C2E-AEA9-82801A30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代理模型不止一种：关键是你要近似什么、数据有多贵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EF007-EE64-44F4-B4B6-7BDEA154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不同 surrogate model（代理模型）适合不同实验地形。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925E2-20FA-4AB6-9C67-76A8E84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68C67-84E0-4649-8E4B-08D3A883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FBEAD-3FBC-4EBF-9940-687FC4B1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2106D-07FE-4EB7-8301-4938B1CD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代表方法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AD766-1497-441F-8036-B38997FF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C5669-8F8D-4851-9F6C-E5787159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优势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6E94F-5766-48F9-A15E-9470EE5E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3C0E4-D313-4606-8239-C87FDBA0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局限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1253A-D468-49E8-B048-1BDD4C72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D3742-074A-42D2-B01E-9BE7DA18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Gaussian Process（高斯过程）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0CC18-6CE8-4892-B140-B955A0D0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4B10A-4FAC-41DF-9BE4-6157E9C0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小样本、可给不确定性、解释性较强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A0506-01A7-4816-83D5-515421FD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7634C-E763-47FC-9FF4-19E77307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高维和大样本下成本上升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DF2A8-867F-4729-B44E-9775EBE7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9AFDE-1503-42E4-97B5-D3D38E93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Random Forest / Tree ensembles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CD2CF-2E4E-44E2-A122-5B41D46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88B60-FCB8-4FEC-979A-D08B81BE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鲁棒、对离散变量友好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599A36-4803-4AD8-B7C9-9C680C75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4E44C0-D51B-4B66-9836-029AD58E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不确定性表述相对间接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0FE2B-A6E4-4101-AF28-7853E65D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B6E1E5-F553-41AA-A664-2275931D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Neural surrogate / deep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852758-B081-4A1F-9536-2A7FB6A2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3E362-6604-46D4-95C5-0E8829EE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适合高维复杂观测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3BB6D8-4F4E-440A-B540-6A2C848A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450D75-4BD2-4522-B03F-BA0D97F9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更吃数据，校准与可解释性更难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720B51-78D1-4FC6-B167-D6C683B3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CAD739-03F3-49F1-BE13-BFBE6C19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Physics-informed / hybrid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04F859-1F93-47A9-ABB1-9643E35D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698DC7-A41C-48EE-AD5C-3730D239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可把机制先验并入学习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FFB378-7203-4B49-9C49-131E1067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AD7F7A-7E40-40B0-8DA4-E893BFD6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建模门槛更高，依赖领域知识</a:t>
            </a:r>
          </a:p>
        </p:txBody>
      </p:sp>
    </p:spTree>
    <p:extLst>
      <p:ext uri="{BB962C8B-B14F-4D97-AF65-F5344CB8AC3E}">
        <p14:creationId xmlns:p14="http://schemas.microsoft.com/office/powerpoint/2010/main" val="2260599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AA2B9B-979B-440A-957A-73F30F9E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050CE-CE3B-489F-8A1C-4CF6A29F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不确定性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A0FE8-BE7C-4317-9396-3E1343C2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40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39E4F-9446-401D-B36F-7BD21409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F620C-928A-45A1-BA5A-5CFB78A5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不确定性不是“没把握”三个字，而是可表示、可利用的对象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CD9E7-5E89-4765-8060-213DD7A2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SDL 的数据效率，很大程度上来自对不确定性的显式处理。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B566F-2B5C-44DC-B0DD-D8B09824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46C99-A696-498F-B0A4-22357333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它表示什么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06A8B-A179-4494-AB80-694CE088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模型对某区域了解不够、数据稀疏或观测噪声较大。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25B1A-6CEE-42B1-A84E-4799A2FE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BAFBC-796B-4EA6-AB60-E555E2B5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如何表示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3F334-E253-49ED-A00F-37A956B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常见为后验方差、置信区间、ensemble 分歧或校准分布。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BA36E-815E-410E-9EEF-3C0A8E03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C7926-2EED-4B0F-ACDF-3D2A1157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如何利用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56310-1EE5-4AB9-BC0F-8CA69272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决定哪些地方值得继续探索，而不是只盯当前最优。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5EB7F-1A08-40CC-9F19-A8FB9226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58FBD-8689-4BBC-87AF-CEFA74FA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为什么重要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164FB-5DCE-4F57-87AA-4A77F6D0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没有不确定性，很多推荐会退化成贪心搜索。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67E3B-A290-4DE4-AB1A-18D7D31B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2B55D-B87C-4506-A936-DB4B69AB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实践难点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3B025-9BA3-489F-B7DC-9E901F0B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模型校准不良时，不确定性会“看起来有，实际上不可信”。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A8383E-4A74-481B-8F6B-3E82F83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651A60-5092-44DC-9847-0A653E11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35D64-C264-4DD7-A01C-4E7F6888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的高效，不只是预测准，更是知道自己哪里不准。</a:t>
            </a:r>
          </a:p>
        </p:txBody>
      </p:sp>
    </p:spTree>
    <p:extLst>
      <p:ext uri="{BB962C8B-B14F-4D97-AF65-F5344CB8AC3E}">
        <p14:creationId xmlns:p14="http://schemas.microsoft.com/office/powerpoint/2010/main" val="795011731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ED72E6-84D3-45A9-84E9-54759335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638D2-ED94-4372-960B-C7185C6A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采集函数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FA3CE-CD5B-4D7C-BE0A-BA95173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41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F0735-A19B-40C0-9CF1-BD52E80B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2800E-A357-4FE4-848C-070030A8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采集函数是在替你回答：现在先做哪一个点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32228-2C57-4AFA-9D8E-E7FFEACF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它不是固定唯一的，也可以按目标和风险偏好自定义。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B2A06-C848-4FF1-910E-B6E2334C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51558-913A-415B-8A9E-14F6CF4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EI / 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AFB7C-6891-4D68-8F06-F0C3F736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强调改进当前最优，常用于单目标优化。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48B4E-66F6-4AAA-BFB2-16EB86D5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4F076-3930-4812-A547-7978DA6F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UCB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C5C9E-6F69-45FE-9881-2D1E131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显式平衡均值与不确定性，调参直观。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B672C-B56D-4FE2-BB01-3C603533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ABA23-6F0B-4D91-BAE7-4A1A02C9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信息型方法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776A3-DCB8-4276-86D3-658B8127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更关注哪一步最能减少整体认知不确定。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0D874-1B15-4EF6-8732-8D4DA9D7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91E22-128A-416F-85AD-B3ACB903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怎么选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4DAB8-BDA2-49AF-9164-7E2B6DC4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看是更重速度、稳健性还是全局认知更新。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40C43-2F47-42BA-908D-35830013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05F9C-CC2C-4E57-A80A-55430AB2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能否自定义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95577-A949-498B-98C0-51BCB30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可以，只要目标、约束和风险偏好定义清楚。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FCD43-C89D-4B5B-9F36-FC090E87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4344C-A92E-4D05-8899-B4661EE3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本质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E8C9D8-1EEB-4300-AD55-7365BBB5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12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采集函数是方法论选择，不只是公式替换。</a:t>
            </a:r>
          </a:p>
        </p:txBody>
      </p:sp>
    </p:spTree>
    <p:extLst>
      <p:ext uri="{BB962C8B-B14F-4D97-AF65-F5344CB8AC3E}">
        <p14:creationId xmlns:p14="http://schemas.microsoft.com/office/powerpoint/2010/main" val="471501924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7BDE51-0984-4A1D-8AD0-17500648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BE70D-43EA-4548-BFA7-69CEF12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SDL 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D11E0-BDE7-41B1-9DB9-BE2A044F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42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7E3A5-CF3A-4B5B-BA1A-137AD1A7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8C7DE-08B6-4629-8987-F5365A9B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从成本看，为什么很多实验问题更值得 SDL 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0034B-25AA-4FF0-B7A1-D7FCE7B8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关键不只是算法，而是实验输出本身很贵、很慢、很难。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24F62-3EF3-407C-BEA4-B54CD642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CD1F4-B6A0-4287-9FB4-1FDF2DE7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真实实验输出可能是谱图、图像、曲线或寿命数据，本身就昂贵且难处理。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很多高价值实验耗时长、成本高、噪声大，盲目试验会迅速耗尽预算。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因此 SDL 的优势不仅是“更聪明”，更是用更少实验换更多信息。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43FE1-AFD1-41E1-B440-C289B09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D1F91-C5BC-4BCB-A4A9-5525BA6E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为什么序贯方法重要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CA0B9-68D8-47E7-9F56-5671ACB7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实验越昂贵、吞吐越低、观测越复杂，越需要把每一步预算花在更有信息量的点上。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90F24-0F5D-41D2-A2EC-D4707CF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D6E1A-97C5-4786-B092-14B52C75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这也解释了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579B1-23CD-436A-B063-AEE384F6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为什么许多 SDL 案例会先用仿真器、代理实验台或低成本平台验证闭环逻辑。</a:t>
            </a:r>
          </a:p>
        </p:txBody>
      </p:sp>
    </p:spTree>
    <p:extLst>
      <p:ext uri="{BB962C8B-B14F-4D97-AF65-F5344CB8AC3E}">
        <p14:creationId xmlns:p14="http://schemas.microsoft.com/office/powerpoint/2010/main" val="502755164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406A4-83EB-40D6-897F-14BD1F16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A45F5-3629-445B-B4C1-CC5217DC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人类角色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C5E14-0BFF-42B1-958E-891B98D4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43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54085-8BFB-4F35-B1C1-4F6D2EA6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202B7-C156-43AF-BBDF-67953495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人为什么仍不可替代：不只因为伦理，也因为科学判断本身需要人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A3ADC-B5DE-47DF-913A-A72F39A3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人在回路中，也在回路上；更重要的是，人仍然提供模型没有的东西。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C577B-335C-4F83-AF44-8AE57048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95756-760D-43DF-AAF2-9AA3BD08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人设定目标、约束、研究问题与可接受风险，这些不是模型自动长出来的。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人提供领域知识、异常直觉、机制假设和反事实想象，这是很多突破的来源。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人监督模型、纠正口径、解释结果，并对最终科学结论负责。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BADD1-AD50-45B5-8467-316749C3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99160-5E86-47D4-9476-38E12E9A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不能让渡的东西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C7683-CCB2-42C5-A4D0-4636A140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问题定义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异常识别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机制想象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责任承担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58F00-C4EC-4790-A010-779AD6E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12A7A-3ACD-40EB-A5CC-6FACD59D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因此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A7515-5782-4A75-A3B4-BF15F963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高质量 SDL 不是“去人化”，而是把人的角色从重复动作上移到判断、监督、解释与创造上。</a:t>
            </a:r>
          </a:p>
        </p:txBody>
      </p:sp>
    </p:spTree>
    <p:extLst>
      <p:ext uri="{BB962C8B-B14F-4D97-AF65-F5344CB8AC3E}">
        <p14:creationId xmlns:p14="http://schemas.microsoft.com/office/powerpoint/2010/main" val="569396543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718C19-1D52-4DBB-83CE-12F81D3E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6EB9F-2FAB-4504-9154-54DEDC41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适配边界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0A7C6-3275-4EFF-A978-57388641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44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BC9DB-0977-423F-830D-B363D14F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C537A-8717-4AFD-A6F5-209FF850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哪些问题更适合 SDL，哪些问题暂时不适合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96758-792E-4DED-83EA-D80F3644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不是所有实验都该 SDL 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ABB6E-5885-4120-9B89-F3E01E58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F9823-679C-4035-9B01-12F368C3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AB659-748A-4F36-9B66-D38CBF93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0F06C-A7D3-415B-BEAA-4E7DC45C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更适合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B5CCD-E9AE-4F65-9744-4A10B4E0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39894-6E27-4FF0-9C5B-F4B83118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不太适合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C54DF-F801-47CA-B047-E9276EFA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63BF7-9613-44FF-91B0-9124620A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判断依据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1152F-8618-40F3-897F-BC5F1593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7F1D8-F84E-420C-9E6F-6E3D2E94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可自动化、可标准化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E05B8-37BC-458F-A3D0-DC22775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C8918-8C9E-47BF-BD34-F21D123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强依赖手工艺与个人手感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63F61-2779-4752-9A36-5226D88A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CB4AF-ACC6-4448-BF19-BC659215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执行是否能稳定复现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CBF7C-FAA7-49BF-99CA-24A160B3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0DA95-B457-4D90-97E6-C1D0D087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可快速测量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0EA84-AE8F-4604-BAF5-C48A33F2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10E4D-6822-4D6A-AC4C-4BEAD6DF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观测极慢、极昂贵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429E0-092C-4F0C-A694-A19FA8EC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E241AF-69FE-411A-A798-019E0C1D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闭环速度是否可接受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0EAF95-E50F-4620-9084-87F946A3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64445C-2141-4AAD-955A-FCCA2A4A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目标和约束较清楚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C7F69-AA49-40E0-AE65-4E32515E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0D3F7-EA54-45E7-8993-1EFADAC4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目标定义模糊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1D6D8C-610F-4029-BB3F-1DC613FF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CDEAD1-FDAA-4C29-96CE-5C169D82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推荐是否有可判定依据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EB07FB-BAC3-4072-9D09-6695B266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776D96-D914-471D-B8D5-20B4CB22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数据可结构化记录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09A61D-6B0B-48AA-8AD5-7047F739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91C22A-2A0A-4F11-A327-E4594060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过程难以被数据化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5DAEAE-CFEE-459E-B15F-1528B04D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5CCCFB-CDE4-47B6-8739-CCC4100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能否形成持续更新模型</a:t>
            </a:r>
          </a:p>
        </p:txBody>
      </p:sp>
    </p:spTree>
    <p:extLst>
      <p:ext uri="{BB962C8B-B14F-4D97-AF65-F5344CB8AC3E}">
        <p14:creationId xmlns:p14="http://schemas.microsoft.com/office/powerpoint/2010/main" val="199769666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1DFFDF-5E73-444E-AC6B-81C28933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0A3A2-71C0-4CC6-B049-9A0B0072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代表系统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9F913-DDC4-4AB2-AB29-C0A4B870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45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BEFAF-B6CE-4658-BE6C-63ACDEB0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1EDBC-CD9F-4AB0-84AE-0F494BAD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聚焦 A-Lab 前，先看几条常被引用的 SDL 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547F0-2A5C-4735-B160-6E2E9F49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A-Lab 很重要，但它只是 SDL 全景中的一个代表。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C45CB-2B42-441F-B517-46C33A9E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5DDB7-DFF2-4CDE-930F-A331341A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ChemOS / 反应优化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3643F-B685-446B-9EBD-709F7A43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强项：把实验编排、设备控制和 BO 工作流接起来。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局限：更偏平台与工作流，不等于某一具体学科问题已被完全解决。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8FBA6-1C61-4400-9059-EFCA6D74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CBF1D-258C-4042-A93F-DBE1686F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NIST AFL（自治配方实验室）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510B7-896C-4831-82B5-4D3F33B5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强项：配方、流变、材料加工场景清晰。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局限：更适合特定 formulation 场景，通用性需谨慎解读。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0AEFF-649F-453F-A604-6EC2BDB2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13EAE-244D-4372-8083-EA7B1680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A-Lab（自治实验室）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74DBC-96F6-4528-B2DC-E338115A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强项：固相无机材料发现链条完整、传播度高。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局限：争议也最集中，定义口径和验证链必须细看。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DE5AB-A78E-454B-81C3-0408B2D7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DB27C-8DEE-4A39-82F6-87BFA4FB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低成本 SDL / frugal twin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2F25A-282D-44CB-AF2B-2EAA245F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强项：可复制、教育友好、便于快速验证闭环逻辑。</a:t>
            </a:r>
          </a:p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局限：常不能替代高价值真实实验的复杂语义。</a:t>
            </a:r>
          </a:p>
        </p:txBody>
      </p:sp>
    </p:spTree>
    <p:extLst>
      <p:ext uri="{BB962C8B-B14F-4D97-AF65-F5344CB8AC3E}">
        <p14:creationId xmlns:p14="http://schemas.microsoft.com/office/powerpoint/2010/main" val="1020082131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F4FC37-8178-4EC5-A822-E9A49166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819F4-1AAA-4D3C-B2AD-F91C6DF2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第五部分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C25C8-BEA9-49D2-A9BC-5D2EC690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46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9ADA9-3EC3-4890-AFFD-5DBA01E6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0181A-29B8-44EB-B98E-AC8CE3A9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E6BD3-2258-4E9D-869C-C348029B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A-Lab：真实系统案例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90289-AA6D-4EA3-9811-9E0BAD7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A-Lab 之所以重要，不只是因为它“做成了什么”，也因为它暴露了什么。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C9D1D-BCA5-4BC7-9865-4E480B26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E5C1E-3624-4FED-A52A-FE3E141A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讲真实案例，必须同时讲能力、争议、修正与启示。</a:t>
            </a:r>
          </a:p>
        </p:txBody>
      </p:sp>
    </p:spTree>
    <p:extLst>
      <p:ext uri="{BB962C8B-B14F-4D97-AF65-F5344CB8AC3E}">
        <p14:creationId xmlns:p14="http://schemas.microsoft.com/office/powerpoint/2010/main" val="1341120263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82ECDF-5235-4B66-91DF-A6EF0B0A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69FB3-492E-4A3F-845F-5E65D333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E3586-7300-4590-9818-A4C95248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47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B1E90-8C52-4B58-8E4C-CE2C0ED9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E1F91-8483-43A3-B9FB-AC258EBA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 想做什么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0FE55-8432-4ABE-B62A-B37566A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目标是把固相无机材料发现组织成一个自治实验流程。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C08D1-D458-451B-95F2-C41D7734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71847-28B7-474D-B922-5F3CB05F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在候选材料空间中筛选目标，自动生成合成配方。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自动完成配料、加热、研磨和 XRD（X射线衍射）测量。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利用机器学习辅助相鉴定，并继续选择下一实验。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E156E-D207-4D01-A088-6E7468C0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8873F-4971-4084-B4B7-3114056A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为什么它有代表性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3BC66-E1E1-48CB-B219-316768C7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它不是 toy benchmark，而是把计算筛选、机器人执行、表征和决策放进同一系统。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8C703-C1DC-4AE7-BFB4-15907D14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A9645-03AC-4DC2-B84E-63A9A185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更关键的是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36B15-679A-4F3F-AB26-75DB7591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它让人看到 SDL 不是单个算法，而是一整套实验系统工程。</a:t>
            </a:r>
          </a:p>
        </p:txBody>
      </p:sp>
    </p:spTree>
    <p:extLst>
      <p:ext uri="{BB962C8B-B14F-4D97-AF65-F5344CB8AC3E}">
        <p14:creationId xmlns:p14="http://schemas.microsoft.com/office/powerpoint/2010/main" val="460661200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A66B83-3576-4E8F-BF1A-501D653D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522E0-379E-44EF-8BB2-85810FA7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9E3E4-FB35-4B73-BA16-1B25E97F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48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F4D7F-F860-4065-9861-51243C7E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93843-360A-48AD-A8A8-40F22581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把 A-Lab 拆开看：它至少包含四个关键层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A61DF-722B-47ED-9540-2F417F12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筛选、执行、表征、解释。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754F8-2B10-4705-8490-FF821AB2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93138-A798-432C-B9BA-FC8E0761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L1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6BCAB-DE4F-485D-B40D-5053E5BC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目标筛选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1D548-D4FC-4608-8969-1F6AB636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从计算数据库中选出值得尝试的候选。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1A68D-27CC-4C4E-9131-252DF0DC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EC748-9D8F-4D2B-84CA-2123B6D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2DEDE-ED0F-4761-81C9-17A6A960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L2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EF395-BA2A-4355-B9B2-DA189494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自动执行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10942-0ED2-415D-8109-55CCABE1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机器人与炉子完成配料、加热、研磨。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DEDD4-716C-496B-9BEF-E343D47F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A1FE0-FA39-4E15-BB85-C084AFD7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EA8D7-EB8F-4294-9CFB-D0BBBBCA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L3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DE60B-C712-47EF-99AB-FBDD7D57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表征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69084-13B7-448D-A3B5-4DA87AE6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XRD 输出结构信息，形成实验观测。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C876F-A7A0-4FAE-B601-EB4F4E51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0F9817-58B8-43BC-BFFB-72CDF78C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FB9E0-63B3-44DD-A164-11EE1CF1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L4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944D86-0D1E-40A4-942D-6092CBC0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解释与推荐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A902B-5010-4CA9-9D3C-B2203C2F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模型辅助相鉴定，并推动后续实验。</a:t>
            </a:r>
          </a:p>
        </p:txBody>
      </p:sp>
    </p:spTree>
    <p:extLst>
      <p:ext uri="{BB962C8B-B14F-4D97-AF65-F5344CB8AC3E}">
        <p14:creationId xmlns:p14="http://schemas.microsoft.com/office/powerpoint/2010/main" val="2102757202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E32BA4-F643-4BA1-B215-0DB50DAD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6043A-2C7F-4870-B6B2-9C3D2B18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目标筛选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DBB00-E782-42D3-9A6F-9A51960A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49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31B2B-22C8-4B44-9691-1EEDBB0F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EA3FF-0A4E-408A-9E31-782ECC06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 的候选筛选逻辑，本质上是“先缩空间，再进实验”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48F27-986A-494F-A01A-DABD854A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这也是很多 SDL 系统的常见策略。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15A44-A352-40CB-A8CD-45691632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04C99-7E30-4965-BB9A-8A2B95AB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先缩空间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1C3DB-6DC6-4152-B608-008FD069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从大量计算候选中，优先保留热力学上较稳定、空气中较可行、前驱体可得的目标。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BBF1D-A4BE-4902-900E-BD08427C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B0351-4AD1-4915-ACEC-99BDFE7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再进实验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152FD-407E-494A-9725-5755C731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把真正昂贵的实验预算，集中花在更有希望的候选上。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9D0B2-F61D-4AB8-9B41-E19E0936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DF639-4ACC-44F1-B604-14D838D0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优势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0AF17-D91E-4203-B17F-91B06C3D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显著减少盲目搜索，提高实验预算利用率。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E358D-6FFE-4D16-81F1-AACF8B4A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56557-3B31-4F8C-A548-CD5DAD9B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5B5C5-6742-4090-B71C-A3DFE4E5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如果前端计算假设有系统偏差，后端实验就可能被整体带偏。</a:t>
            </a:r>
          </a:p>
        </p:txBody>
      </p:sp>
    </p:spTree>
    <p:extLst>
      <p:ext uri="{BB962C8B-B14F-4D97-AF65-F5344CB8AC3E}">
        <p14:creationId xmlns:p14="http://schemas.microsoft.com/office/powerpoint/2010/main" val="2007000354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ECE69-6E45-4CC0-B84E-4CA29576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A7725-0736-4411-A674-72BD0A61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96D9C-9E0B-47E8-955F-5979C5B4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50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F40C7-0715-4911-8C6B-374BB002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D3D2F-C732-4E6E-ACDD-55F73C6C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 引发关注，是因为它同时报告了速度与成功率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3A38F-D656-453C-9759-E432C39C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但学生必须学会区分“报告结果”和“最终共识”。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EF1C1-93B8-417F-B668-69396CAB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F754C-9C85-415D-A833-82F4C647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论文报告了 17 天连续运行、58 个目标尝试、355 次实验。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原始论文将 41 个目标视为成功案例，并给出约 71% 的目标级成功率表述。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这些数字让 A-Lab 成为全球讨论 SDL 的标志性案例。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C1C96-C32C-4FB8-AEFB-52BF2D14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F25CC-AD86-437D-B76F-84495E10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阅读口径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D4B1E-ABD6-4B0D-B098-4DDFD94E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报告结果 ≠ 最终共识。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科研论文发表后，仍可能经历独立复核、争议和修正。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75E17-58B1-4E3D-BB95-6E14B700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EEAB4-86BA-4F07-A694-16F77BA8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因此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74A59-EF8D-4AAD-91EB-5B5CE99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真实案例最值得学的，不只是“数字多漂亮”，而是后续如何被检验。</a:t>
            </a:r>
          </a:p>
        </p:txBody>
      </p:sp>
    </p:spTree>
    <p:extLst>
      <p:ext uri="{BB962C8B-B14F-4D97-AF65-F5344CB8AC3E}">
        <p14:creationId xmlns:p14="http://schemas.microsoft.com/office/powerpoint/2010/main" val="343477564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9BC48-1F3C-4DB5-8998-FE9B909B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233E2-50E0-4385-8DDE-599B6230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时间线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83A8C-15F0-4142-B151-6202D041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51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1D961-133F-4558-942B-9D5D351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0EE87-DCF5-4D86-B265-5E6B965F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把 A-Lab 放回时间线里，才能看清它真正教会我们的东西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9E3EE-F4DE-4886-9F14-742B8BCA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发布、传播、质疑、再分析、修正，缺一不可。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601D7-D30B-4266-8575-34A597CB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B8F1C-89E4-4E83-BD0A-386805C8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2023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E335C-DFFC-4181-9C99-8C28AA2B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发布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9E240-A669-4123-88DF-C5FD569E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Nature 论文让 A-Lab 迅速成为 SDL 标志性案例。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6DA3D-B797-4D45-A729-B5362CE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E151B-768D-417B-836D-A4F0FD07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ABB26-2118-46E7-A7C6-C53EC305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随后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AA236-6D93-4798-BBB3-7E9BCE8B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传播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300D4-3A80-4483-9EFC-8D9C084E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媒体与学界大量转述速度、成功率和自治能力。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BB44B-8D04-4D8D-B94A-3E9B597D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48BE9-C8D3-4E1A-B974-8B45D973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D22E6-57A3-489B-9370-9E616424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BF24"/>
                </a:solidFill>
                <a:latin typeface="Consolas"/>
                <a:ea typeface="Consolas"/>
                <a:cs typeface="Consolas"/>
              </a:defRPr>
            </a:pPr>
            <a:r>
              <a:t>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F87E1-FCD8-42C2-8DEE-913B75A9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质疑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9E358-0DFA-4794-9C4E-AB28070A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独立分析开始追问“新材料”“成功”的定义边界。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7E8EA-DC39-4585-9612-08961FD1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7F12E-8FC3-4535-8FE1-2FC2F55D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717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21B9C-72FE-480E-873D-ADD2CA7A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241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B7185"/>
                </a:solidFill>
                <a:latin typeface="Consolas"/>
                <a:ea typeface="Consolas"/>
                <a:cs typeface="Consolas"/>
              </a:defRPr>
            </a:pPr>
            <a:r>
              <a:t>再分析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D25ED-DA33-40C7-AE45-F86DDD8F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71800"/>
            <a:ext cx="2200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修正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8BF8D-F938-453E-A232-41C74B56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52800"/>
            <a:ext cx="22002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社群逐步把案例从宣传口径拉回到可核查口径。</a:t>
            </a:r>
          </a:p>
        </p:txBody>
      </p:sp>
    </p:spTree>
    <p:extLst>
      <p:ext uri="{BB962C8B-B14F-4D97-AF65-F5344CB8AC3E}">
        <p14:creationId xmlns:p14="http://schemas.microsoft.com/office/powerpoint/2010/main" val="2085961534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51AC0-123B-45B5-BCE7-5CAD2888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B4CB4-28DF-43C2-86F5-9D204852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争议与修正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6B552-AEBE-48A9-BBC0-90A516B5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52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43927-78CA-4153-843B-47409248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AD413-4D0D-4341-B470-86AD1EF6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 的真正教学价值：科学自我纠错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E9FA2-6073-45C5-9B47-518DB0D9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争议不是这件事的失败，而是这件事的重要组成部分。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D9AAC-FAD4-42C6-B23C-BE9724B7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213A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21525-99B4-4A14-90F7-BFA286E3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E0135-40A4-4937-A113-856B94D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74531-672C-4753-890B-89372CF6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原始声称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DB116-02D2-4310-9E51-7114F9FC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87D7B-74FD-4075-B04D-B48A17FA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后续质疑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27373-0101-443E-8E01-A8173370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BED18-DC85-4691-A1E2-FD0C2096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95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对学生的启示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B626E-9457-4905-90C6-1057EE57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7EA21-EDBB-4349-97A3-9A0DE32D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发现了大量新材料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3EF63-C7FF-457C-8DD2-8EBC7FB0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538AF-1D80-40BF-94A5-D980E568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部分“新材料”可能是已知无序相的有序写法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DC8FE-908D-4018-B499-A32794F6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483CB-5E97-499B-8D35-457FD271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“新”必须先定义清楚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18635-879C-4333-8E37-4E3D2CBA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F2863-30BC-44B4-81CA-B20375E7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自动相鉴定有效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DFD8F-04F8-4D00-9450-6C09716C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60E637-34CE-4B3A-8A09-B0E2814B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独立分析认为部分鉴定并不稳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0BAB3E-717E-48A0-BF2E-E638E64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BF259-98F0-4362-9036-2EBE9412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自动化不等于免验证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EA5EA-8DA1-49D8-ABA0-3915D05A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19B5CF-F7FA-458E-8B81-5D48DE81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自治系统表现突出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B34B7-D8D4-4D7D-8882-4B46E4A2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ABD14D-32BA-4D38-9643-9B30D086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系统前端与后端都可能引入系统偏差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D2E90B-40B2-4999-91EB-6F598B96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2476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B12B63-43E7-4A4F-86E4-9DD554F5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系统工程必须接受复核</a:t>
            </a:r>
          </a:p>
        </p:txBody>
      </p:sp>
    </p:spTree>
    <p:extLst>
      <p:ext uri="{BB962C8B-B14F-4D97-AF65-F5344CB8AC3E}">
        <p14:creationId xmlns:p14="http://schemas.microsoft.com/office/powerpoint/2010/main" val="229371850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B74D45-E943-4D6F-B262-C6E85A0B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D3759-27BB-455E-A92A-D20A663D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A-Lab 启示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A5941-602E-41E5-8B9F-DFB4E2CB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53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1D7B6-6F67-46B0-9CBE-442C4E4D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A7424-AD67-4FCE-BF4B-73CB9D7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A-Lab 给学生的六个启示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C2F0C-4C40-4E59-A5D4-0D7E5EF7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真正值得带走的，不是口号，而是判断框架。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E4A56-EAA8-43FA-B3A5-D41A3AAE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ADB82-CE29-4710-A2B1-B85DB07D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SDL 是系统工程，不是单模型工程。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高质量实验语义比漂亮数学曲面更重要。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观测与解释之间，永远可能存在鸿沟。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自动化必须接受独立验证与重复性检验。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“发现”是强概念，定义必须先行。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人类监督不是阻碍，而是可信科学的条件。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6D688-B5CE-472B-983F-F8306FD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9EF15-C90C-48BB-B408-CD7988F2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更值得带走的是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71EF5-C017-4C43-887E-7497D399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不要只记住数字，要带走判断自治实验系统的框架。</a:t>
            </a:r>
          </a:p>
        </p:txBody>
      </p:sp>
    </p:spTree>
    <p:extLst>
      <p:ext uri="{BB962C8B-B14F-4D97-AF65-F5344CB8AC3E}">
        <p14:creationId xmlns:p14="http://schemas.microsoft.com/office/powerpoint/2010/main" val="203667707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29D53B-1E76-4AA8-9E5D-569C1763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7CE94-3A0F-4870-9BF5-67EC3F07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第六部分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60387-E814-4884-A455-4D19D5BE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54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0F3AB-0031-496C-A65D-423B5C31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2D9F4-3F4E-4A01-9C49-2DAF7403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D58D3-45B9-449F-9B25-21E165CD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Case Studio：最小 live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17E4D-5020-4BE6-ADA8-BD5648A6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在课堂上，让学生真正看到“下一实验点为何变化”。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320CB-E848-4220-8A08-C984D17D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D6FF"/>
          </a:solidFill>
          <a:ln xmlns:a="http://schemas.openxmlformats.org/drawingml/2006/main" w="0">
            <a:solidFill>
              <a:srgbClr val="13D6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0A660-F585-4B22-B0EE-68B54110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讲复杂 SDL 系统之前，先让闭环逻辑在一个可解释的小系统里变得可见。</a:t>
            </a:r>
          </a:p>
        </p:txBody>
      </p:sp>
    </p:spTree>
    <p:extLst>
      <p:ext uri="{BB962C8B-B14F-4D97-AF65-F5344CB8AC3E}">
        <p14:creationId xmlns:p14="http://schemas.microsoft.com/office/powerpoint/2010/main" val="518112318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B65D02-854E-4740-95CD-94E89092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A6B9D-E6C8-480B-B248-5BD99155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Case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A3FAE-E09B-48E3-B051-504F687C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55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F4090-967C-4DB8-9F80-88CFEEF6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9B27C-65B2-447C-87A8-8A70D30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为什么选 RGB LED（RGB 发光二极管）颜色匹配作为 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49214-F294-4623-8CD7-5CA9696D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因为它简单、稳定、可重复，而且能清楚体现闭环决策。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2635F-38DD-4EB8-98FA-9D1AB722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EDBD0-7EDD-47CE-B0B5-D3AF9AC5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参数空间只有三个控制量，学生容易立刻建立直觉。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目标颜色、当前最佳结果和下一推荐点可以同时显示。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固定 seed（随机种子）后，演示过程可复位、可重复、可比较。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5D689-1ADE-43D0-B7E5-17AE3B1E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2E797-F350-4620-8741-8DA69824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它教什么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8FBA7-C864-4515-BD47-A902302B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目标是什么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观测是什么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推荐为什么变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闭环如何收敛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36CB3-D1EA-4F35-9056-848E29D5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8B1B5-3E4E-4DA6-A9AF-9274FFEC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它不教什么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BB0B7-7C56-44E3-844B-D961AC65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它不是真实材料仿真，也不取代真实化学/材料案例，只负责把 SDL 闭环讲明白。</a:t>
            </a:r>
          </a:p>
        </p:txBody>
      </p:sp>
    </p:spTree>
    <p:extLst>
      <p:ext uri="{BB962C8B-B14F-4D97-AF65-F5344CB8AC3E}">
        <p14:creationId xmlns:p14="http://schemas.microsoft.com/office/powerpoint/2010/main" val="1623525091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2FA9CE-3938-4744-984B-468C61BE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6BC72-06CC-45B6-AB7B-7FAD1E82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Case Studio 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4E4E4-F1CF-4C66-8340-FAD66A35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56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FB17D-F3CE-4863-9E21-CA073F2D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7859C-DDF9-4FB1-9402-3D9846A0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这个最小案例里，SDL 的每一步都能说清楚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E78CE-3042-41BF-92B4-FE9F0B01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参数、观测、评分与推荐逻辑都显式可见。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6D0F2-1913-469E-8E94-674CC366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D92BF-29F5-49CA-B62F-DCA5EDBA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442F1-E3DD-4CEC-A320-AABD0893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R、G、B 三个控制量，分别对应三路发光强度。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961E2-F9ED-472A-9EE9-DD2934B4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6872D-8B9D-45E7-B614-C51DC6CE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观测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66040-91E7-4C55-9D0A-F5269249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系统根据参数给出当前颜色，并计算与目标颜色的距离。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24088-CA6E-4E96-8BD2-3AB9C94F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E5929-CFA5-4099-A583-8FA672AC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t>评分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252F0-718E-42DA-9297-7B16F7AB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距离越小，匹配分数越高。于是问题被转成一个可优化目标。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5DF01-91C2-4BCD-9315-876DD7EE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71900"/>
            <a:ext cx="5143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87C75-0F30-4FF7-9E4C-3E5F28CE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83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t>推荐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44B2E-5CA4-44D1-8873-D0164C01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4838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模型综合已有观测与不确定性，给出下一实验点。</a:t>
            </a:r>
          </a:p>
        </p:txBody>
      </p:sp>
    </p:spTree>
    <p:extLst>
      <p:ext uri="{BB962C8B-B14F-4D97-AF65-F5344CB8AC3E}">
        <p14:creationId xmlns:p14="http://schemas.microsoft.com/office/powerpoint/2010/main" val="758147493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969592-7BF2-4991-BA08-2A6BB49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86E89-FAB4-40B3-A3DE-A8545901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观看方法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9C0D-5EFA-4222-AE83-C8F1D6B0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57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FFC5A-946F-42ED-BFBC-0C147183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91127-E065-4D2D-A4B0-40D59106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学生在 live demo 里应该看什么，而不只是看分数变化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2A97F-9949-45A4-A57B-410BDC08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把注意力放在闭环机制上。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2D8A9-0B91-4E13-AD46-B2E23F18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18357-AB3C-4FE7-9755-F72886B1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先看目标：系统到底在追什么？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再看当前最佳：系统已经学到了什么？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再看下一推荐：为什么不是别的点？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最后看 reset：同样的 seed（随机种子）是否给出同样演示路径？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2FB4C-E083-4435-9244-5A1AB186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9761A-B618-4159-B50E-543D9D92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课堂操作建议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D0EF5-A98C-4036-B14C-229BD24F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先单步，再五步；先解释，再收敛；最后 reset 证明可复现。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09788-A1C1-4484-AAEC-2827F641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0C14D-1AE1-442F-AD71-17E8D5EE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讲座意义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BE0D7-8FB8-4F34-AAF8-4D9DD993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这里让学生第一次“沉浸式”看到 AI 进入实验决策链。</a:t>
            </a:r>
          </a:p>
        </p:txBody>
      </p:sp>
    </p:spTree>
    <p:extLst>
      <p:ext uri="{BB962C8B-B14F-4D97-AF65-F5344CB8AC3E}">
        <p14:creationId xmlns:p14="http://schemas.microsoft.com/office/powerpoint/2010/main" val="1866379076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A5C644-BF03-442C-9609-487003D7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23E86-AC66-436C-AB7B-3ACAA4A6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F662C-4A88-4DE3-BC79-0DC6CDBC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58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AC6FD-CDD4-4640-8F8B-576805C8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CB617-C9D1-4933-8151-314A203C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37105-373E-44BA-8C7D-D1A09CF0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回到主题：AI 时代，实验发生了什么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F4616-4E02-4EB9-8A21-CA77E3BB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不是实验消失了，而是实验被更深地数据化、编排化、模型化与监督化。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E8B18-3ABB-48F5-A4B6-8B79F502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05D09-211D-4661-9BE9-105D8F70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到这里，讲座应从“知道 SDL 是什么”推进到“知道该如何判断 SDL”。</a:t>
            </a:r>
          </a:p>
        </p:txBody>
      </p:sp>
    </p:spTree>
    <p:extLst>
      <p:ext uri="{BB962C8B-B14F-4D97-AF65-F5344CB8AC3E}">
        <p14:creationId xmlns:p14="http://schemas.microsoft.com/office/powerpoint/2010/main" val="1777418071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92ECD6-0A92-41CE-A8FF-710111D4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114A3-DA1A-4616-9B88-4BFD14AC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核心结论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3A855-E4CF-4683-B97B-950772F6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59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476FB-054E-420B-A560-B84E55AA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4F886-14E2-4079-912A-85185594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三条最重要的结论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C08F9-7764-4254-8763-208F75B4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如果只能带走三句话，我希望是这三句。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E715B-C26C-4F2C-BEAF-65D9E609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B0A18-675A-45F9-9F55-ACE56D28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实验仍是中心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4E93D-69A8-4F5E-92FB-96FBA3D7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AI 并没有替代实验，而是在重构实验的组织方式。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76B22-D660-4A7A-BE2F-3475203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D0909-606C-4F54-8ADD-74BE60CB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  <a:r>
              <a:t>SDL 有前史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42C67-3F54-447C-A794-0463FFA6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SDL 不是孤立新范式，它连接试错法、DOE、自动化与数据化。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67E7C-0662-4E9A-9F33-E59BA9C7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C3C37-50B9-4734-BC95-248B985A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2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t>可信比炫酷更重要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E43B5-7F94-492C-84DF-A8BE40BA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真正高水平的 SDL，必须经得住定义、验证、复现与伦理审查。</a:t>
            </a:r>
          </a:p>
        </p:txBody>
      </p:sp>
    </p:spTree>
    <p:extLst>
      <p:ext uri="{BB962C8B-B14F-4D97-AF65-F5344CB8AC3E}">
        <p14:creationId xmlns:p14="http://schemas.microsoft.com/office/powerpoint/2010/main" val="280809772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9B256-C0B2-456B-9AD1-F682BC80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5B55C-76B9-4C78-A5C5-5D818A43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课程立场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7E2D8-19DD-4058-B86E-26C6BFC6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60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12362-66A2-45E4-9110-01FADC41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707EB-C476-4CE3-A2D3-1E1EA899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既拥抱 AI，也质疑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69AEA-2091-4648-A70A-98A2F218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这不是折中，而是对实验科学最负责任的立场。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AE45C-15CE-40B3-9F76-59BD4889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72C82-51CB-4DC8-832E-20C38491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拥抱 AI：用它组织知识、辅助研究、开发工具、提高实验效率。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质疑 AI：坚持人的直觉、领域知识、实践技能与伦理责任。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负责任的 AI 使用，不是迷信输出，而是让模型进入可监督的科学工作流。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CA297-9413-438B-B74F-385F5E9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E5A35-9265-464C-9402-8909B3FB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给学生的要求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970EF-9BDB-41D8-95F4-756B267E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会用 AI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会审 AI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会纠 AI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会承担结论责任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B4C0F-E952-42AD-90D2-729C13ED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C4C11-D6A0-42B8-BBE8-766E5EBD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讲座之外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CD907-ED47-4DC1-8515-5775F628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这也是整门课程后续建设的最高层原则。</a:t>
            </a:r>
          </a:p>
        </p:txBody>
      </p:sp>
    </p:spTree>
    <p:extLst>
      <p:ext uri="{BB962C8B-B14F-4D97-AF65-F5344CB8AC3E}">
        <p14:creationId xmlns:p14="http://schemas.microsoft.com/office/powerpoint/2010/main" val="1231201375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A5A66D-6D3F-4FB7-B35B-6C2B1F48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77F30-411F-4138-B84F-5317A53E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带走什么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E6D5C-3FFD-4C01-B211-FEE16AD3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61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A4E5E-C4DE-49A6-B2E6-3870AFC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04D49-D3B6-4CE2-A40F-0F5D6CE3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这场讲座之后，学生至少应能完成四件事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89C80-5E5A-48A0-894D-35E42998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如果做不到，说明讲座还没有讲清楚。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B4874-5BD8-4458-AC45-84D4F18E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D2DB3-0898-4D52-BE9E-158EBE5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从实验视角，而不是从 buzzword（热词）视角理解 SDL。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区分试错法、DOE 与 SDL 的关系与边界。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识别一个研究问题是否适合 SDL 化。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对真实自治实验系统提出更严谨的判断与质疑。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C2E30-5CA5-4D47-85E5-F02103C4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69D03-C069-4BD4-BBB1-F8DBCFB4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更高一级的目标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BCD5D-FA8F-4E60-AB85-2419F20C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把自己的课题逐步翻译成 objective、constraint、measurement、workflow 语言。</a:t>
            </a:r>
          </a:p>
        </p:txBody>
      </p:sp>
    </p:spTree>
    <p:extLst>
      <p:ext uri="{BB962C8B-B14F-4D97-AF65-F5344CB8AC3E}">
        <p14:creationId xmlns:p14="http://schemas.microsoft.com/office/powerpoint/2010/main" val="65271220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17775A-453B-49DC-9BAC-5A2D7CE7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E8C3E-9198-46FB-B3FF-AAF07F0D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讲座资源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49DA8-F908-414C-9245-275803ED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62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03E4E-551A-49DC-8320-A0420214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A3D58-3301-46F6-9C90-DD79115E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讲座之后：继续从数字讲义站进入课程主线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09549-0896-4A02-87AF-EFE8D1B9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3A4B8"/>
                </a:solidFill>
                <a:latin typeface="Aptos"/>
                <a:ea typeface="Aptos"/>
                <a:cs typeface="Aptos"/>
              </a:defRPr>
            </a:pPr>
            <a:r>
              <a:t>网站不是展示品，而是课后继续学习的入口。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2C226-0984-4AEB-9AC6-3AD94EE3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85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B3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5C3AF-F3A1-4DA9-9723-F25B5B12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619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从 Foundations（基础）部分回看实验、DOE 与 SDL 的主线。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从 A-Lab（自治实验室）案例页复读真实系统、争议与纠错。</a:t>
            </a:r>
          </a:p>
          <a:p xmlns:a="http://schemas.openxmlformats.org/drawingml/2006/main">
            <a:pPr algn="l">
              <a:defRPr sz="1575" b="0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• 从 Case Studio 自己运行最小 live demo，观察推荐逻辑如何变化。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80778-EB90-43FA-81EC-1D454813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13D6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4DA4B-9D53-43BE-9DD1-E646214E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建议学生课后做什么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637F1-3569-4545-A823-89BAD2DA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743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重看 Foundations（基础）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阅读 A-Lab 案例页</a:t>
            </a:r>
          </a:p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自己运行 Case Studio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B3D37-108C-46EB-BCAC-DDCE9892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B31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AA996-35F7-4209-8702-5083F97B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t>讲者用途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745D0-864F-438C-9A64-C6F121CD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52950"/>
            <a:ext cx="2743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网站保留动态演示与后续课程扩展空间；PPT 保留稳定教学交付能力。</a:t>
            </a:r>
          </a:p>
        </p:txBody>
      </p:sp>
    </p:spTree>
    <p:extLst>
      <p:ext uri="{BB962C8B-B14F-4D97-AF65-F5344CB8AC3E}">
        <p14:creationId xmlns:p14="http://schemas.microsoft.com/office/powerpoint/2010/main" val="151942535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89FB64-8890-4FDD-B1F7-7CFE83D3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CE33B-14B5-4692-9587-9FC2E00E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3D6FF"/>
                </a:solidFill>
                <a:latin typeface="Consolas"/>
                <a:ea typeface="Consolas"/>
                <a:cs typeface="Consolas"/>
              </a:defRPr>
            </a:pPr>
            <a:r>
              <a:t>结束页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F8681-CFDB-4659-AF5C-803B8775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6E829D"/>
                </a:solidFill>
                <a:latin typeface="Consolas"/>
                <a:ea typeface="Consolas"/>
                <a:cs typeface="Consolas"/>
              </a:defRPr>
            </a:pPr>
            <a:r>
              <a:t>63 / 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A1083-08BA-4917-9BFA-1AFA1354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68"/>
          </a:solidFill>
          <a:ln xmlns:a="http://schemas.openxmlformats.org/drawingml/2006/main" w="0">
            <a:solidFill>
              <a:srgbClr val="1B3D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26BAD-FF85-4F52-A10B-C2DC9F7D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9525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t>“在 AI 时代，重要的不是把实验交给机器，而是学会如何让机器进入负责任的实验科学。”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04FE5-E941-4FA3-8627-0A06B0EC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3D6FF"/>
                </a:solidFill>
                <a:latin typeface="Aptos"/>
                <a:ea typeface="Aptos"/>
                <a:cs typeface="Aptos"/>
              </a:defRPr>
            </a:pPr>
            <a:r>
              <a:t>谢谢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C265D-D817-477F-8473-278F8DD6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857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7DFEA"/>
                </a:solidFill>
                <a:latin typeface="Aptos"/>
                <a:ea typeface="Aptos"/>
                <a:cs typeface="Aptos"/>
              </a:defRPr>
            </a:pPr>
            <a:r>
              <a:t>欢迎提问与讨论。</a:t>
            </a:r>
          </a:p>
        </p:txBody>
      </p:sp>
    </p:spTree>
    <p:extLst>
      <p:ext uri="{BB962C8B-B14F-4D97-AF65-F5344CB8AC3E}">
        <p14:creationId xmlns:p14="http://schemas.microsoft.com/office/powerpoint/2010/main" val="109442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2026-06-05T02:28:00.7930000Z</dcterms:created>
  <dcterms:modified xsi:type="dcterms:W3CDTF">2026-06-05T02:28:00.7930000Z</dcterms:modified>
</coreProperties>
</file>