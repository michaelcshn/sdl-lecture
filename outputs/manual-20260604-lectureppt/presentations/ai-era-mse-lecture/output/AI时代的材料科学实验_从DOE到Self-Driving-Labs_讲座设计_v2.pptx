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4930" autoAdjust="0"/>
  </p:normalViewPr>
  <p:slideViewPr>
    <p:cSldViewPr snapToGrid="0">
      <p:cViewPr varScale="1">
        <p:scale>
          <a:sx n="110" d="100"/>
          <a:sy n="110" d="100"/>
        </p:scale>
        <p:origin x="109" y="12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我想先把题目压实一点。今天不是来盘点几个 AI 工具，也不是单讲某个优化算法。我真正想讨论的是：当 AI 进入材料研究之后，实验本身正在怎样被重新组织，DOE 又在这个过程中处在什么位置。</a:t>
            </a:r>
          </a:p>
          <a:p>
            <a:endParaRPr/>
          </a:p>
          <a:p>
            <a:r>
              <a:t>注解：</a:t>
            </a:r>
          </a:p>
          <a:p>
            <a:r>
              <a:t>- Self-Driving Labs（自驱实验室，SDL）</a:t>
            </a:r>
          </a:p>
          <a:p>
            <a:r>
              <a:t>- Design of Experiments（实验设计，DOE）</a:t>
            </a:r>
          </a:p>
          <a:p>
            <a:endParaRPr/>
          </a:p>
          <a:p>
            <a:r>
              <a:t>参考来源：</a:t>
            </a:r>
          </a:p>
          <a:p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先把路径说清楚：今天不是从算法入手，而是从实验入手。先问实验在材料科学里是什么，再问传统方法论做了什么，最后才进入 SDL、真实案例和最小 live demo。</a:t>
            </a:r>
          </a:p>
          <a:p>
            <a:endParaRPr/>
          </a:p>
          <a:p>
            <a:r>
              <a:t>注解：</a:t>
            </a:r>
          </a:p>
          <a:p>
            <a:r>
              <a:t>- 建议把这页讲成“路径声明”，而不是流程说明</a:t>
            </a:r>
          </a:p>
          <a:p>
            <a:endParaRPr/>
          </a:p>
          <a:p>
            <a:r>
              <a:t>节奏建议：</a:t>
            </a:r>
          </a:p>
          <a:p>
            <a:r>
              <a:t>3 分钟左右；只建立路线图，不展开细节。</a:t>
            </a:r>
          </a:p>
          <a:p>
            <a:endParaRPr/>
          </a:p>
          <a:p>
            <a:r>
              <a:t>参考来源：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先压住一个常见误解：这不是 AI 工具清单，也不是某种优化算法导论。更根本的问题是，当 AI 进入实验科学之后，实验本身的组织方式、节奏和判断链条发生了什么变化。</a:t>
            </a:r>
          </a:p>
          <a:p>
            <a:endParaRPr/>
          </a:p>
          <a:p>
            <a:r>
              <a:t>注解：</a:t>
            </a:r>
          </a:p>
          <a:p>
            <a:r>
              <a:t>- Human-in-the-loop（人在回路中）</a:t>
            </a:r>
          </a:p>
          <a:p>
            <a:r>
              <a:t>- Human-on-the-loop（人在回路上）</a:t>
            </a:r>
          </a:p>
          <a:p>
            <a:endParaRPr/>
          </a:p>
          <a:p>
            <a:r>
              <a:t>节奏建议：</a:t>
            </a:r>
          </a:p>
          <a:p>
            <a:r>
              <a:t>4 分钟左右；先立问题意识，再进入实验主线。</a:t>
            </a:r>
          </a:p>
          <a:p>
            <a:endParaRPr/>
          </a:p>
          <a:p>
            <a:r>
              <a:t>参考来源：</a:t>
            </a:r>
          </a:p>
          <a:p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网站和 PPT 不是两套内容，而是同一讲座的两种介质。网站更适合看系统、案例和交互，PPT 更适合把问题、观点和证据链顺着讲清楚。</a:t>
            </a:r>
          </a:p>
          <a:p>
            <a:endParaRPr/>
          </a:p>
          <a:p>
            <a:r>
              <a:t>注解：</a:t>
            </a:r>
          </a:p>
          <a:p>
            <a:r>
              <a:t>- 网站地址：https://sdl-lecture.vercel.app</a:t>
            </a:r>
          </a:p>
          <a:p>
            <a:endParaRPr/>
          </a:p>
          <a:p>
            <a:r>
              <a:t>参考来源：</a:t>
            </a:r>
          </a:p>
          <a:p>
            <a:r>
              <a:t>- SDL 讲座数字讲义站（当前项目线上版）: https://sdl-lecture.vercel.app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先讲一个更根本的问题：实验在科学里到底处在什么位置。只有把这个问题讲清楚，后面关于 DOE、自动化和 SDL 的讨论才不会变成简单的工具崇拜。</a:t>
            </a:r>
          </a:p>
          <a:p>
            <a:endParaRPr/>
          </a:p>
          <a:p>
            <a:r>
              <a:t>注解：</a:t>
            </a:r>
          </a:p>
          <a:p>
            <a:r>
              <a:t>- 本部分建议控制在 20–25 分钟</a:t>
            </a:r>
          </a:p>
          <a:p>
            <a:endParaRPr/>
          </a:p>
          <a:p>
            <a:r>
              <a:t>节奏建议：</a:t>
            </a:r>
          </a:p>
          <a:p>
            <a:r>
              <a:t>1 分钟转场；明确进入“实验是什么”这一部分。</a:t>
            </a:r>
          </a:p>
          <a:p>
            <a:endParaRPr/>
          </a:p>
          <a:p>
            <a:r>
              <a:t>参考来源：</a:t>
            </a:r>
          </a:p>
          <a:p>
            <a:r>
              <a:t>- Kuhn, T. S. The Structure of Scientific Revolutions. University of Chicago Press, 1962/2012.</a:t>
            </a:r>
          </a:p>
          <a:p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先把一个判断说清楚：在材料科学里，实验不是理论后的确认动作，而是直接进入真实材料世界、制造对象、暴露异常和推动纠错的知识生产机制。</a:t>
            </a:r>
          </a:p>
          <a:p>
            <a:endParaRPr/>
          </a:p>
          <a:p>
            <a:r>
              <a:t>注解：</a:t>
            </a:r>
          </a:p>
          <a:p>
            <a:r>
              <a:t>- Materials Science and Engineering（材料科学与工程，MSE）</a:t>
            </a:r>
          </a:p>
          <a:p>
            <a:endParaRPr/>
          </a:p>
          <a:p>
            <a:r>
              <a:t>参考来源：</a:t>
            </a:r>
          </a:p>
          <a:p>
            <a:r>
              <a:t>- Hacking, I. Representing and Intervening. Cambridge University Press, 1983.</a:t>
            </a:r>
          </a:p>
          <a:p>
            <a:r>
              <a:t>- Kuhn, T. S. The Structure of Scientific Revolutions. University of Chicago Press, 1962/2012.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后面讨论 SDL 时，真正的难点常常不在优化器，而在实验给出的观测到底是什么：是谱图、图像、曲线还是标量；这些观测能不能稳定、及时、低成本地进入决策回路。</a:t>
            </a:r>
          </a:p>
          <a:p>
            <a:endParaRPr/>
          </a:p>
          <a:p>
            <a:r>
              <a:t>注解：</a:t>
            </a:r>
          </a:p>
          <a:p>
            <a:r>
              <a:t>- measurement（观测）</a:t>
            </a:r>
          </a:p>
          <a:p>
            <a:r>
              <a:t>- data modality（数据模态）</a:t>
            </a:r>
          </a:p>
          <a:p>
            <a:r>
              <a:t>- high-dimensional observation（高维观测）</a:t>
            </a:r>
          </a:p>
          <a:p>
            <a:endParaRPr/>
          </a:p>
          <a:p>
            <a:r>
              <a:t>参考来源：</a:t>
            </a:r>
          </a:p>
          <a:p>
            <a:r>
              <a:t>- NIST Material Schema: Process. https://pages.nist.gov/material-schema/Process/</a:t>
            </a:r>
          </a:p>
          <a:p>
            <a:r>
              <a:t>- EMMC CHADA / CHAMEO. https://emmc.eu/moda-chada/chada/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把这条链看清楚很重要：从问题提出、样品制备到表征、建模、判断和纠错，实验始终贯穿其中。SDL 改变的不是实验的存在，而是这条链的组织方式、速度和可追踪性。</a:t>
            </a:r>
          </a:p>
          <a:p>
            <a:endParaRPr/>
          </a:p>
          <a:p>
            <a:r>
              <a:t>注解：</a:t>
            </a:r>
          </a:p>
          <a:p>
            <a:r>
              <a:t>- 可与 Process–Structure–Property–Performance（工艺–结构–性能–服役）主线关联</a:t>
            </a:r>
          </a:p>
          <a:p>
            <a:endParaRPr/>
          </a:p>
          <a:p>
            <a:r>
              <a:t>参考来源：</a:t>
            </a:r>
          </a:p>
          <a:p>
            <a:r>
              <a:t>- NIST Material Schema: Process. https://pages.nist.gov/material-schema/Process/</a:t>
            </a:r>
          </a:p>
          <a:p>
            <a:r>
              <a:t>- Hacking, I. Representing and Intervening. Cambridge University Press, 1983.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今天之所以能认真讨论 SDL，不是因为某个模型突然更聪明，而是实验硬件、数据基础设施和模型驱动决策这三条线终于能在一个系统里接上，形成可运行闭环。</a:t>
            </a:r>
          </a:p>
          <a:p>
            <a:endParaRPr/>
          </a:p>
          <a:p>
            <a:r>
              <a:t>注解：</a:t>
            </a:r>
          </a:p>
          <a:p>
            <a:r>
              <a:t>- Closed-loop experimentation（闭环实验）</a:t>
            </a:r>
          </a:p>
          <a:p>
            <a:endParaRPr/>
          </a:p>
          <a:p>
            <a:r>
              <a:t>参考来源：</a:t>
            </a:r>
          </a:p>
          <a:p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>
            <a:r>
              <a:t>- Stach, E. A. et al. The rise of self-driving labs in chemical and materials sciences. Nature Synthesis 2, 2023. https://www.nature.com/articles/s44160-022-00231-0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这一页不要当年表看，要当知识生产方式的演化图看。前面几种范式主要在回答‘我们怎样理解世界’，到这里开始多出一个新问题：模型是否已经进入行动链，开始参与下一步实验。</a:t>
            </a:r>
          </a:p>
          <a:p>
            <a:endParaRPr/>
          </a:p>
          <a:p>
            <a:r>
              <a:t>注解：</a:t>
            </a:r>
          </a:p>
          <a:p>
            <a:r>
              <a:t>- Fourth Paradigm（第四范式）</a:t>
            </a:r>
          </a:p>
          <a:p>
            <a:r>
              <a:t>- Fifth Paradigm（第五范式）</a:t>
            </a:r>
          </a:p>
          <a:p>
            <a:endParaRPr/>
          </a:p>
          <a:p>
            <a:r>
              <a:t>建议图表：</a:t>
            </a:r>
          </a:p>
          <a:p>
            <a:r>
              <a:t>- 优先自绘五范式时间轴；若需引原出处，可参考 Hey et al., The Fourth Paradigm（2009）封面或导言中的 data-intensive science 叙事，再在备注中说明第五范式属于当前扩展性讲法。</a:t>
            </a:r>
          </a:p>
          <a:p>
            <a:r>
              <a:t>- 若要补 SDL 进入实验行动链的代表图，可参考 Stach et al., Nature Synthesis (2023) 或 Tom et al., Chemical Reviews (2024) 中的 SDL workflow schematic。</a:t>
            </a:r>
          </a:p>
          <a:p>
            <a:endParaRPr/>
          </a:p>
          <a:p>
            <a:r>
              <a:t>参考来源：</a:t>
            </a:r>
          </a:p>
          <a:p>
            <a:r>
              <a:t>- Kuhn, T. S. The Structure of Scientific Revolutions. University of Chicago Press, 1962/2012.</a:t>
            </a:r>
          </a:p>
          <a:p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>
            <a:r>
              <a:t>- Stach, E. A. et al. The rise of self-driving labs in chemical and materials sciences. Nature Synthesis 2, 2023. https://www.nature.com/articles/s44160-022-00231-0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第四范式强调的是数据密集科学；第五范式常被用来指模型进一步进入行动链，不再只解释数据，而开始推荐下一步实验。这意味着实验从被观察对象，逐步变成被编排系统。</a:t>
            </a:r>
          </a:p>
          <a:p>
            <a:endParaRPr/>
          </a:p>
          <a:p>
            <a:r>
              <a:t>注解：</a:t>
            </a:r>
          </a:p>
          <a:p>
            <a:r>
              <a:t>- 数据密集科学</a:t>
            </a:r>
          </a:p>
          <a:p>
            <a:r>
              <a:t>- agentic workflow（代理式工作流）</a:t>
            </a:r>
          </a:p>
          <a:p>
            <a:endParaRPr/>
          </a:p>
          <a:p>
            <a:r>
              <a:t>参考来源：</a:t>
            </a:r>
          </a:p>
          <a:p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一个容易被误解的地方在这里：范式变化并不意味着实验越来越不重要。恰恰相反，实验在新范式中更频繁、更系统，也更需要被清晰定义、严格记录和持续监督。</a:t>
            </a:r>
          </a:p>
          <a:p>
            <a:endParaRPr/>
          </a:p>
          <a:p>
            <a:r>
              <a:t>注解：</a:t>
            </a:r>
          </a:p>
          <a:p>
            <a:r>
              <a:t>- 可与下一页“旧范式并未消失”连讲</a:t>
            </a:r>
          </a:p>
          <a:p>
            <a:endParaRPr/>
          </a:p>
          <a:p>
            <a:r>
              <a:t>参考来源：</a:t>
            </a:r>
          </a:p>
          <a:p>
            <a:r>
              <a:t>- Kuhn, T. S. The Structure of Scientific Revolutions. University of Chicago Press, 1962/2012.</a:t>
            </a:r>
          </a:p>
          <a:p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更稳妥的讲法不是‘新范式取代旧范式’，而是旧范式被重新组织：经验仍然重要，理论仍然提供约束，计算仍然参与筛选，只是现在它们被接入了一个更强的数据化和闭环化系统。</a:t>
            </a:r>
          </a:p>
          <a:p>
            <a:endParaRPr/>
          </a:p>
          <a:p>
            <a:r>
              <a:t>注解：</a:t>
            </a:r>
          </a:p>
          <a:p>
            <a:r>
              <a:t>- 这页可直接回应“旧范式会不会死”这一类问题</a:t>
            </a:r>
          </a:p>
          <a:p>
            <a:endParaRPr/>
          </a:p>
          <a:p>
            <a:r>
              <a:t>参考来源：</a:t>
            </a:r>
          </a:p>
          <a:p>
            <a:r>
              <a:t>- Kuhn, T. S. The Structure of Scientific Revolutions. University of Chicago Press, 1962/2012.</a:t>
            </a:r>
          </a:p>
          <a:p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这里开始转向另一类问题：传统研究常把重点放在解释已有结果；到 SDL 这里，重点开始前移到下一轮实验如何被设计、被推荐、被执行。</a:t>
            </a:r>
          </a:p>
          <a:p>
            <a:endParaRPr/>
          </a:p>
          <a:p>
            <a:r>
              <a:t>注解：</a:t>
            </a:r>
          </a:p>
          <a:p>
            <a:r>
              <a:t>- 建议此页稍停顿，作为章节转场</a:t>
            </a:r>
          </a:p>
          <a:p>
            <a:endParaRPr/>
          </a:p>
          <a:p>
            <a:r>
              <a:t>节奏建议：</a:t>
            </a:r>
          </a:p>
          <a:p>
            <a:r>
              <a:t>30–45 秒；停一下，让听众感到问题正在转向。</a:t>
            </a:r>
          </a:p>
          <a:p>
            <a:endParaRPr/>
          </a:p>
          <a:p>
            <a:r>
              <a:t>参考来源：</a:t>
            </a:r>
          </a:p>
          <a:p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这一部分换一个视角来组织材料科学：不是按金属、陶瓷或半导体分，而是按实验类型分。这样更容易看清实验输出、方法选择和 SDL 适配度之间的关系。</a:t>
            </a:r>
          </a:p>
          <a:p>
            <a:endParaRPr/>
          </a:p>
          <a:p>
            <a:r>
              <a:t>注解：</a:t>
            </a:r>
          </a:p>
          <a:p>
            <a:r>
              <a:t>- taxonomy（分类框架）</a:t>
            </a:r>
          </a:p>
          <a:p>
            <a:r>
              <a:t>- catalog（目录学）</a:t>
            </a:r>
          </a:p>
          <a:p>
            <a:endParaRPr/>
          </a:p>
          <a:p>
            <a:r>
              <a:t>参考来源：</a:t>
            </a:r>
          </a:p>
          <a:p>
            <a:r>
              <a:t>- NIST Material Schema: Process. https://pages.nist.gov/material-schema/Process/</a:t>
            </a:r>
          </a:p>
          <a:p>
            <a:r>
              <a:t>- EMMC CHADA / CHAMEO. https://emmc.eu/moda-chada/chada/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这一页可以看成全讲的骨架图：实验不是孤立动作，而是连接问题、样品、观测、数据、模型和决策的中心节点。后面讲 SDL，本质上就是在改造这张网里若干关键连接。</a:t>
            </a:r>
          </a:p>
          <a:p>
            <a:endParaRPr/>
          </a:p>
          <a:p>
            <a:r>
              <a:t>注解：</a:t>
            </a:r>
          </a:p>
          <a:p>
            <a:r>
              <a:t>- objective / measurement / decision 三者需要当场区分</a:t>
            </a:r>
          </a:p>
          <a:p>
            <a:endParaRPr/>
          </a:p>
          <a:p>
            <a:r>
              <a:t>参考来源：</a:t>
            </a:r>
          </a:p>
          <a:p>
            <a:r>
              <a:t>- NIST Material Schema: Process. https://pages.nist.gov/material-schema/Process/</a:t>
            </a:r>
          </a:p>
          <a:p>
            <a:r>
              <a:t>- EMMC CHADA / CHAMEO. https://emmc.eu/moda-chada/chada/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这八类实验不是互斥的，而是从实验目的出发的组织方式。这样分类的最大好处，是能直接连接到输出数据类型和 SDL 适配度，而不是停留在学科目录层面。</a:t>
            </a:r>
          </a:p>
          <a:p>
            <a:endParaRPr/>
          </a:p>
          <a:p>
            <a:r>
              <a:t>注解：</a:t>
            </a:r>
          </a:p>
          <a:p>
            <a:r>
              <a:t>- NIST Material Schemas（美国国家标准与技术研究院材料模式）提供了重要启发</a:t>
            </a:r>
          </a:p>
          <a:p>
            <a:endParaRPr/>
          </a:p>
          <a:p>
            <a:r>
              <a:t>参考来源：</a:t>
            </a:r>
          </a:p>
          <a:p>
            <a:r>
              <a:t>- NIST Material Schema: Process. https://pages.nist.gov/material-schema/Process/</a:t>
            </a:r>
          </a:p>
          <a:p>
            <a:r>
              <a:t>- EMMC CHADA / CHAMEO. https://emmc.eu/moda-chada/chada/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前四类可以连成材料研究的上半程：先把样品做出来，再通过加工把状态调到合适区间，再通过表征知道它是什么，再通过测量知道它具有什么性质。</a:t>
            </a:r>
          </a:p>
          <a:p>
            <a:endParaRPr/>
          </a:p>
          <a:p>
            <a:r>
              <a:t>注解：</a:t>
            </a:r>
          </a:p>
          <a:p>
            <a:r>
              <a:t>- CVD（Chemical Vapor Deposition，化学气相沉积）</a:t>
            </a:r>
          </a:p>
          <a:p>
            <a:r>
              <a:t>- PVD（Physical Vapor Deposition，物理气相沉积）</a:t>
            </a:r>
          </a:p>
          <a:p>
            <a:endParaRPr/>
          </a:p>
          <a:p>
            <a:r>
              <a:t>参考来源：</a:t>
            </a:r>
          </a:p>
          <a:p>
            <a:r>
              <a:t>- NIST Material Schema: Process. https://pages.nist.gov/material-schema/Process/</a:t>
            </a:r>
          </a:p>
          <a:p>
            <a:r>
              <a:t>- EMMC CHADA / CHAMEO. https://emmc.eu/moda-chada/chada/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后四类提醒我们，优化不是终点。功能、可靠性、计量和校准共同决定结果是否可信。SDL 如果只会加速试验，而不管校准和失效，最后很容易跑得快但结论不稳。</a:t>
            </a:r>
          </a:p>
          <a:p>
            <a:endParaRPr/>
          </a:p>
          <a:p>
            <a:r>
              <a:t>注解：</a:t>
            </a:r>
          </a:p>
          <a:p>
            <a:r>
              <a:t>- active learning（主动学习）</a:t>
            </a:r>
          </a:p>
          <a:p>
            <a:r>
              <a:t>- high-throughput experimentation（高通量实验）</a:t>
            </a:r>
          </a:p>
          <a:p>
            <a:endParaRPr/>
          </a:p>
          <a:p>
            <a:r>
              <a:t>参考来源：</a:t>
            </a:r>
          </a:p>
          <a:p>
            <a:r>
              <a:t>- NIST Material Schema: Process. https://pages.nist.gov/material-schema/Process/</a:t>
            </a:r>
          </a:p>
          <a:p>
            <a:r>
              <a:t>- EMMC CHADA / CHAMEO. https://emmc.eu/moda-chada/chada/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这里要把讨论从“优化一个分数”拉出来。真实实验输出可能是谱图、图像、曲线或寿命分布；SDL 的一个核心难点，就是如何把这些复杂观测转成可比较、可决策的对象。</a:t>
            </a:r>
          </a:p>
          <a:p>
            <a:endParaRPr/>
          </a:p>
          <a:p>
            <a:r>
              <a:t>注解：</a:t>
            </a:r>
          </a:p>
          <a:p>
            <a:r>
              <a:t>- observation model（观测模型）</a:t>
            </a:r>
          </a:p>
          <a:p>
            <a:r>
              <a:t>- objective function（目标函数）</a:t>
            </a:r>
          </a:p>
          <a:p>
            <a:endParaRPr/>
          </a:p>
          <a:p>
            <a:r>
              <a:t>参考来源：</a:t>
            </a:r>
          </a:p>
          <a:p>
            <a:r>
              <a:t>- NIST Material Schema: Process. https://pages.nist.gov/material-schema/Process/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这里先把一个误解拿掉：SDL 不是从天而降的新大陆。它和试错法、DOE 有明确的历史连续性，只是把实验设计、数据更新和推荐机制推进到了新的组织层级。</a:t>
            </a:r>
          </a:p>
          <a:p>
            <a:endParaRPr/>
          </a:p>
          <a:p>
            <a:r>
              <a:t>注解：</a:t>
            </a:r>
          </a:p>
          <a:p>
            <a:r>
              <a:t>- 试错法、启发式方法、DOE（实验设计）</a:t>
            </a:r>
          </a:p>
          <a:p>
            <a:endParaRPr/>
          </a:p>
          <a:p>
            <a:r>
              <a:t>节奏建议：</a:t>
            </a:r>
          </a:p>
          <a:p>
            <a:r>
              <a:t>1 分钟转场；从实验地位切入方法论历史。</a:t>
            </a:r>
          </a:p>
          <a:p>
            <a:endParaRPr/>
          </a:p>
          <a:p>
            <a:r>
              <a:t>参考来源：</a:t>
            </a:r>
          </a:p>
          <a:p>
            <a:r>
              <a:t>- Fisher, R. A. The Design of Experiments. Oliver &amp; Boyd, 1935.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Desimpel, R. et al. Bayesian optimization for chemical reactions. Chemical Society Reviews 55, 2026. https://pubs.rsc.org/en/content/articlehtml/2026/cs/d5cs00962f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试错法长期存在，不是因为大家不懂方法，而是因为经验、直觉和局部反馈在很多实验里确实有用。它的问题不在于低级，而在于面对高维、昂贵、多约束问题时很难扩展。</a:t>
            </a:r>
          </a:p>
          <a:p>
            <a:endParaRPr/>
          </a:p>
          <a:p>
            <a:r>
              <a:t>注解：</a:t>
            </a:r>
          </a:p>
          <a:p>
            <a:r>
              <a:t>- heuristics（启发式方法）</a:t>
            </a:r>
          </a:p>
          <a:p>
            <a:endParaRPr/>
          </a:p>
          <a:p>
            <a:r>
              <a:t>参考来源：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Montgomery, D. C. Design and Analysis of Experiments. Wiley, 2017.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如果把 DOE 只讲成几种设计表，那就低估它了。DOE 真正留下来的，是一种很强的方法论意识：预算有限时，实验不能乱做，而要设计成一轮一轮能学到东西的过程。这一点和后面的 SDL 是接得上的。</a:t>
            </a:r>
          </a:p>
          <a:p>
            <a:endParaRPr/>
          </a:p>
          <a:p>
            <a:r>
              <a:t>注解：</a:t>
            </a:r>
          </a:p>
          <a:p>
            <a:r>
              <a:t>- R. A. Fisher（费舍尔）</a:t>
            </a:r>
          </a:p>
          <a:p>
            <a:r>
              <a:t>- George Box（乔治·博克斯）</a:t>
            </a:r>
          </a:p>
          <a:p>
            <a:endParaRPr/>
          </a:p>
          <a:p>
            <a:r>
              <a:t>建议图表：</a:t>
            </a:r>
          </a:p>
          <a:p>
            <a:r>
              <a:t>- 建议引用 Fisher《The Design of Experiments》书影，作为 DOE 起点的原始出处提示。</a:t>
            </a:r>
          </a:p>
          <a:p>
            <a:r>
              <a:t>- 建议引用 Box, Hunter &amp; Hunter《Statistics for Experimenters》封面或目录页，配合说明 DOE 从统计设计走向序贯学习。</a:t>
            </a:r>
          </a:p>
          <a:p>
            <a:r>
              <a:t>- 若要加方法图，优先选 Montgomery《Design and Analysis of Experiments》中响应面或因子设计总览图。</a:t>
            </a:r>
          </a:p>
          <a:p>
            <a:endParaRPr/>
          </a:p>
          <a:p>
            <a:r>
              <a:t>参考来源：</a:t>
            </a:r>
          </a:p>
          <a:p>
            <a:r>
              <a:t>- Fisher, R. A. The Design of Experiments. Oliver &amp; Boyd, 1935.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Montgomery, D. C. Design and Analysis of Experiments. Wiley, 2017.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DOE 的根本贡献不是省几个点，而是把实验设计本身变成可推理对象。它关心的不只是结果，更关心为什么这样采样、哪些因素重要、哪些交互值得追踪。</a:t>
            </a:r>
          </a:p>
          <a:p>
            <a:endParaRPr/>
          </a:p>
          <a:p>
            <a:r>
              <a:t>注解：</a:t>
            </a:r>
          </a:p>
          <a:p>
            <a:r>
              <a:t>- Box–Behnken design（Box–Behnken 设计）</a:t>
            </a:r>
          </a:p>
          <a:p>
            <a:r>
              <a:t>- Response Surface Methodology（响应面方法）</a:t>
            </a:r>
          </a:p>
          <a:p>
            <a:endParaRPr/>
          </a:p>
          <a:p>
            <a:r>
              <a:t>参考来源：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Montgomery, D. C. Design and Analysis of Experiments. Wiley, 2017.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这里最重要的是阶段感。筛选阶段、建模阶段和局部优化阶段面对的问题并不一样，所以用的 DOE 也不一样。方法要跟着问题走，而不是先抱住某个设计名词。</a:t>
            </a:r>
          </a:p>
          <a:p>
            <a:endParaRPr/>
          </a:p>
          <a:p>
            <a:r>
              <a:t>注解：</a:t>
            </a:r>
          </a:p>
          <a:p>
            <a:r>
              <a:t>- factor screening（因素筛选）</a:t>
            </a:r>
          </a:p>
          <a:p>
            <a:r>
              <a:t>- response surface（响应面）</a:t>
            </a:r>
          </a:p>
          <a:p>
            <a:endParaRPr/>
          </a:p>
          <a:p>
            <a:r>
              <a:t>参考来源：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Montgomery, D. C. Design and Analysis of Experiments. Wiley, 2017.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这六个词看起来基础，但后面 SDL 里的 objective、constraint、measurement、parameter space 都建立在这里。如果这里不分清，后面就很容易把响应和目标、变量和约束混为一谈。</a:t>
            </a:r>
          </a:p>
          <a:p>
            <a:endParaRPr/>
          </a:p>
          <a:p>
            <a:r>
              <a:t>注解：</a:t>
            </a:r>
          </a:p>
          <a:p>
            <a:r>
              <a:t>- factor（因素）</a:t>
            </a:r>
          </a:p>
          <a:p>
            <a:r>
              <a:t>- response（响应）</a:t>
            </a:r>
          </a:p>
          <a:p>
            <a:r>
              <a:t>- constraint（约束）</a:t>
            </a:r>
          </a:p>
          <a:p>
            <a:endParaRPr/>
          </a:p>
          <a:p>
            <a:r>
              <a:t>参考来源：</a:t>
            </a:r>
          </a:p>
          <a:p>
            <a:r>
              <a:t>- Fisher, R. A. The Design of Experiments. Oliver &amp; Boyd, 1935.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Montgomery, D. C. Design and Analysis of Experiments. Wiley, 2017.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更接近真实研究现场的讲法不是高下之分，而是连续谱：先靠经验摸边界，再用 DOE 组织设计，最后才在最昂贵、最关键的那段空间里上 SDL。</a:t>
            </a:r>
          </a:p>
          <a:p>
            <a:endParaRPr/>
          </a:p>
          <a:p>
            <a:r>
              <a:t>注解：</a:t>
            </a:r>
          </a:p>
          <a:p>
            <a:r>
              <a:t>- 不要把 SDL 讲成“万能替代者”</a:t>
            </a:r>
          </a:p>
          <a:p>
            <a:endParaRPr/>
          </a:p>
          <a:p>
            <a:r>
              <a:t>参考来源：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Montgomery, D. C. Design and Analysis of Experiments. Wiley, 2017.</a:t>
            </a:r>
          </a:p>
          <a:p>
            <a:r>
              <a:t>- Desimpel, R. et al. Bayesian optimization for chemical reactions. Chemical Society Reviews 55, 2026. https://pubs.rsc.org/en/content/articlehtml/2026/cs/d5cs00962f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如果只用一句话概括这条方法论演化线，我会说：变化最大的是下一步实验的提出机制。从人提出、到设计提出、再到模型在闭环中提出，这改变了实验决策的来源与依据。</a:t>
            </a:r>
          </a:p>
          <a:p>
            <a:endParaRPr/>
          </a:p>
          <a:p>
            <a:r>
              <a:t>注解：</a:t>
            </a:r>
          </a:p>
          <a:p>
            <a:r>
              <a:t>- next experiment recommendation（下一实验推荐）</a:t>
            </a:r>
          </a:p>
          <a:p>
            <a:endParaRPr/>
          </a:p>
          <a:p>
            <a:r>
              <a:t>参考来源：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Shahriari, B. et al. Taking the Human Out of the Loop: A Review of Bayesian Optimization. Proceedings of the IEEE 104(1), 2016.</a:t>
            </a:r>
          </a:p>
          <a:p>
            <a:r>
              <a:t>- Desimpel, R. et al. Bayesian optimization for chemical reactions. Chemical Society Reviews 55, 2026. https://pubs.rsc.org/en/content/articlehtml/2026/cs/d5cs00962f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我对这个问题的判断很明确：DOE 不会死。更好的问法是，它会以什么方式继续存在。通常就是三种：串联、并联、集成。很多 SDL 工作流内部，本来就还在用 DOE 的语言、初始化和结构化采样思想。</a:t>
            </a:r>
          </a:p>
          <a:p>
            <a:endParaRPr/>
          </a:p>
          <a:p>
            <a:r>
              <a:t>注解：</a:t>
            </a:r>
          </a:p>
          <a:p>
            <a:r>
              <a:t>- 这页可直接回应“AI 时代 DOE 是否过时”</a:t>
            </a:r>
          </a:p>
          <a:p>
            <a:endParaRPr/>
          </a:p>
          <a:p>
            <a:r>
              <a:t>参考来源：</a:t>
            </a:r>
          </a:p>
          <a:p>
            <a:r>
              <a:t>- Fisher, R. A. The Design of Experiments. Oliver &amp; Boyd, 1935.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Desimpel, R. et al. Bayesian optimization for chemical reactions. Chemical Society Reviews 55, 2026. https://pubs.rsc.org/en/content/articlehtml/2026/cs/d5cs00962f</a:t>
            </a:r>
          </a:p>
          <a:p>
            <a:r>
              <a:t>- Shahriari, B. et al. Taking the Human Out of the Loop: A Review of Bayesian Optimization. Proceedings of the IEEE 104(1),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从这里开始，重点不再是某个模型名字，而是一个可运行的实验闭环怎样由软件、硬件、数据、模型和人类监督共同构成。</a:t>
            </a:r>
          </a:p>
          <a:p>
            <a:endParaRPr/>
          </a:p>
          <a:p>
            <a:r>
              <a:t>注解：</a:t>
            </a:r>
          </a:p>
          <a:p>
            <a:r>
              <a:t>- Self-Driving Labs（自驱实验室，SDL）</a:t>
            </a:r>
          </a:p>
          <a:p>
            <a:endParaRPr/>
          </a:p>
          <a:p>
            <a:r>
              <a:t>节奏建议：</a:t>
            </a:r>
          </a:p>
          <a:p>
            <a:r>
              <a:t>1 分钟转场；提醒听众现在开始从 DOE 进入 SDL。</a:t>
            </a:r>
          </a:p>
          <a:p>
            <a:endParaRPr/>
          </a:p>
          <a:p>
            <a:r>
              <a:t>参考来源：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Stach, E. A. et al. The rise of self-driving labs in chemical and materials sciences. Nature Synthesis 2, 2023. https://www.nature.com/articles/s44160-022-00231-0</a:t>
            </a:r>
          </a:p>
          <a:p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在进 A-Lab 之前，我想先把视野拉宽一点。SDL 不是一条单线叙事，它至少覆盖反应优化、材料合成、自动化编排和低成本平台几条路线。这样看完再回到 A-Lab，才知道它重要在什么地方，也局限在什么地方。</a:t>
            </a:r>
          </a:p>
          <a:p>
            <a:endParaRPr/>
          </a:p>
          <a:p>
            <a:r>
              <a:t>注解：</a:t>
            </a:r>
          </a:p>
          <a:p>
            <a:r>
              <a:t>- ChemOS（自动化实验编排平台）</a:t>
            </a:r>
          </a:p>
          <a:p>
            <a:r>
              <a:t>- frugal twin（低成本孪生）</a:t>
            </a:r>
          </a:p>
          <a:p>
            <a:endParaRPr/>
          </a:p>
          <a:p>
            <a:r>
              <a:t>建议图表：</a:t>
            </a:r>
          </a:p>
          <a:p>
            <a:r>
              <a:t>- 建议引用 Tom et al., Chemical Reviews (2024) 的 SDL 全景/分类综述图，作为领域地图主图候选。</a:t>
            </a:r>
          </a:p>
          <a:p>
            <a:r>
              <a:t>- 建议引用 Digital Discovery (2024) community survey 中的系统类型或平台比较图/表，帮助说明领域并非只有 A-Lab 一条路线。</a:t>
            </a:r>
          </a:p>
          <a:p>
            <a:endParaRPr/>
          </a:p>
          <a:p>
            <a:r>
              <a:t>参考来源：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Stach, E. A. et al. The rise of self-driving labs in chemical and materials sciences. Nature Synthesis 2, 2023. https://www.nature.com/articles/s44160-022-00231-0</a:t>
            </a:r>
          </a:p>
          <a:p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  <a:p>
            <a:r>
              <a:t>- Aguilar-Granda, A. et al. Review of low-cost self-driving laboratories in chemistry and materials science: the 'frugal twin' concept. Digital Discovery 3, 2024. https://pubs.rsc.org/en/content/articlehtml/2024/dd/d3dd00223c</a:t>
            </a:r>
          </a:p>
          <a:p>
            <a:r>
              <a:t>- Autonomous laboratories for accelerated materials discovery: a community survey and practical insights. Digital Discovery, 2024. https://pubs.rsc.org/en/content/articlelanding/2024/dd/d4dd00059e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把 SDL 理解成‘用机器学习预测实验结果’，还是太浅了。真正关键的地方在于闭环：模型不只解释结果，还要参与下一步行动；而且这个行动必须真的能被执行、被观测、再被验证。</a:t>
            </a:r>
          </a:p>
          <a:p>
            <a:endParaRPr/>
          </a:p>
          <a:p>
            <a:r>
              <a:t>注解：</a:t>
            </a:r>
          </a:p>
          <a:p>
            <a:r>
              <a:t>- closed-loop experimentation（闭环实验）</a:t>
            </a:r>
          </a:p>
          <a:p>
            <a:endParaRPr/>
          </a:p>
          <a:p>
            <a:r>
              <a:t>建议图表：</a:t>
            </a:r>
          </a:p>
          <a:p>
            <a:r>
              <a:t>- 建议引用 Stach et al., Nature Synthesis (2023) 中 SDL 闭环 workflow 图，适合做这一页主图。</a:t>
            </a:r>
          </a:p>
          <a:p>
            <a:r>
              <a:t>- 可备选 Tom et al., Chemical Reviews (2024) 中的 closed-loop experimentation schematic。</a:t>
            </a:r>
          </a:p>
          <a:p>
            <a:endParaRPr/>
          </a:p>
          <a:p>
            <a:r>
              <a:t>参考来源：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Stach, E. A. et al. The rise of self-driving labs in chemical and materials sciences. Nature Synthesis 2, 2023. https://www.nature.com/articles/s44160-022-00231-0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这一页其实就是后面看 Case Studio 的认知模板。只要把这五步记住，后面看到推荐点变化时，就不会把那理解成黑箱魔法，而会知道闭环到底在做什么。</a:t>
            </a:r>
          </a:p>
          <a:p>
            <a:endParaRPr/>
          </a:p>
          <a:p>
            <a:r>
              <a:t>注解：</a:t>
            </a:r>
          </a:p>
          <a:p>
            <a:r>
              <a:t>- exploration vs exploitation（探索与利用）</a:t>
            </a:r>
          </a:p>
          <a:p>
            <a:endParaRPr/>
          </a:p>
          <a:p>
            <a:r>
              <a:t>参考来源：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Shahriari, B. et al. Taking the Human Out of the Loop: A Review of Bayesian Optimization. Proceedings of the IEEE 104(1),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这三个概念一定要分开：目标不一定能直接测，约束也不是附属条件，测量更不等于最终目标。很多高质量 SDL 设计，首先赢在这三者分得清楚。</a:t>
            </a:r>
          </a:p>
          <a:p>
            <a:endParaRPr/>
          </a:p>
          <a:p>
            <a:r>
              <a:t>注解：</a:t>
            </a:r>
          </a:p>
          <a:p>
            <a:r>
              <a:t>- objective（目标）</a:t>
            </a:r>
          </a:p>
          <a:p>
            <a:r>
              <a:t>- constraint（约束）</a:t>
            </a:r>
          </a:p>
          <a:p>
            <a:r>
              <a:t>- measurement（测量）</a:t>
            </a:r>
          </a:p>
          <a:p>
            <a:endParaRPr/>
          </a:p>
          <a:p>
            <a:r>
              <a:t>参考来源：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NIST Material Schema: Process. https://pages.nist.gov/material-schema/Process/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这三者的关系可以讲得很清楚：代理模型负责形成当前知识地图，不确定性负责标出盲区，采集函数负责把目标和盲区综合成下一步行动。三者合起来，才构成推荐逻辑。</a:t>
            </a:r>
          </a:p>
          <a:p>
            <a:endParaRPr/>
          </a:p>
          <a:p>
            <a:r>
              <a:t>注解：</a:t>
            </a:r>
          </a:p>
          <a:p>
            <a:r>
              <a:t>- Gaussian Process（高斯过程，GP）</a:t>
            </a:r>
          </a:p>
          <a:p>
            <a:r>
              <a:t>- Expected Improvement（期望提升，EI）</a:t>
            </a:r>
          </a:p>
          <a:p>
            <a:endParaRPr/>
          </a:p>
          <a:p>
            <a:r>
              <a:t>参考来源：</a:t>
            </a:r>
          </a:p>
          <a:p>
            <a:r>
              <a:t>- Shahriari, B. et al. Taking the Human Out of the Loop: A Review of Bayesian Optimization. Proceedings of the IEEE 104(1), 2016.</a:t>
            </a:r>
          </a:p>
          <a:p>
            <a:r>
              <a:t>- Desimpel, R. et al. Bayesian optimization for chemical reactions. Chemical Society Reviews 55, 2026. https://pubs.rsc.org/en/content/articlehtml/2026/cs/d5cs00962f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代理模型怎么选，不能只看谁最流行，而要看你面对的到底是什么实验空间、什么数据量、什么变量类型。小样本昂贵实验常偏向 GP；一旦观测高维、结构复杂，就可能转向树模型、深模型或混合模型。</a:t>
            </a:r>
          </a:p>
          <a:p>
            <a:endParaRPr/>
          </a:p>
          <a:p>
            <a:r>
              <a:t>注解：</a:t>
            </a:r>
          </a:p>
          <a:p>
            <a:r>
              <a:t>- surrogate model selection（代理模型选择）</a:t>
            </a:r>
          </a:p>
          <a:p>
            <a:endParaRPr/>
          </a:p>
          <a:p>
            <a:r>
              <a:t>建议图表：</a:t>
            </a:r>
          </a:p>
          <a:p>
            <a:r>
              <a:t>- 建议引用 Shahriari et al., Proceedings of the IEEE (2016) 中 GP/BO 示意图，说明 surrogate 的经典语境。</a:t>
            </a:r>
          </a:p>
          <a:p>
            <a:r>
              <a:t>- 若希望更贴近 SDL 语境，可引用 Chemical Reviews (2024) 中对 surrogate model 家族的总结表或分类图。</a:t>
            </a:r>
          </a:p>
          <a:p>
            <a:endParaRPr/>
          </a:p>
          <a:p>
            <a:r>
              <a:t>参考来源：</a:t>
            </a:r>
          </a:p>
          <a:p>
            <a:r>
              <a:t>- Shahriari, B. et al. Taking the Human Out of the Loop: A Review of Bayesian Optimization. Proceedings of the IEEE 104(1), 2016.</a:t>
            </a:r>
          </a:p>
          <a:p>
            <a:r>
              <a:t>- Desimpel, R. et al. Bayesian optimization for chemical reactions. Chemical Society Reviews 55, 2026. https://pubs.rsc.org/en/content/articlehtml/2026/cs/d5cs00962f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这一页最重要的一句其实很简单：好的 SDL 不只是预测得准，而是知道自己哪里还不准。不确定性不是抽象形容词，它直接决定预算该往哪里投，哪些区域该继续探索，哪些区域可以先不碰。</a:t>
            </a:r>
          </a:p>
          <a:p>
            <a:endParaRPr/>
          </a:p>
          <a:p>
            <a:r>
              <a:t>注解：</a:t>
            </a:r>
          </a:p>
          <a:p>
            <a:r>
              <a:t>- posterior variance（后验方差）</a:t>
            </a:r>
          </a:p>
          <a:p>
            <a:r>
              <a:t>- calibration（校准）</a:t>
            </a:r>
          </a:p>
          <a:p>
            <a:endParaRPr/>
          </a:p>
          <a:p>
            <a:r>
              <a:t>建议图表：</a:t>
            </a:r>
          </a:p>
          <a:p>
            <a:r>
              <a:t>- 建议引用 Shahriari et al. (2016) 中 GP posterior mean/variance 示意图，最适合解释 uncertainty 的可视化含义。</a:t>
            </a:r>
          </a:p>
          <a:p>
            <a:r>
              <a:t>- 若强调 calibration，可补一张 BO/SDL 综述中的 uncertainty calibration 或 ensemble disagreement 示例图。</a:t>
            </a:r>
          </a:p>
          <a:p>
            <a:endParaRPr/>
          </a:p>
          <a:p>
            <a:r>
              <a:t>参考来源：</a:t>
            </a:r>
          </a:p>
          <a:p>
            <a:r>
              <a:t>- Shahriari, B. et al. Taking the Human Out of the Loop: A Review of Bayesian Optimization. Proceedings of the IEEE 104(1), 2016.</a:t>
            </a:r>
          </a:p>
          <a:p>
            <a:r>
              <a:t>- Desimpel, R. et al. Bayesian optimization for chemical reactions. Chemical Society Reviews 55, 2026. https://pubs.rsc.org/en/content/articlehtml/2026/cs/d5cs00962f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采集函数不要背成菜单。它本质上在回答一个方法论问题：你现在更想尽快吃到当前最优，还是愿意花预算去补盲区、降不确定性？不同项目、不同阶段，这个答案本来就可能不一样。</a:t>
            </a:r>
          </a:p>
          <a:p>
            <a:endParaRPr/>
          </a:p>
          <a:p>
            <a:r>
              <a:t>注解：</a:t>
            </a:r>
          </a:p>
          <a:p>
            <a:r>
              <a:t>- Expected Improvement（期望提升）</a:t>
            </a:r>
          </a:p>
          <a:p>
            <a:r>
              <a:t>- Upper Confidence Bound（上置信界）</a:t>
            </a:r>
          </a:p>
          <a:p>
            <a:endParaRPr/>
          </a:p>
          <a:p>
            <a:r>
              <a:t>建议图表：</a:t>
            </a:r>
          </a:p>
          <a:p>
            <a:r>
              <a:t>- 建议引用 Shahriari et al. (2016) 中 EI/UCB 等 acquisition function 对比示意图。</a:t>
            </a:r>
          </a:p>
          <a:p>
            <a:r>
              <a:t>- 若需要更课堂化的图，可选 Desimpel et al., CSR (2026) 中说明 exploration–exploitation trade-off 的图或表。</a:t>
            </a:r>
          </a:p>
          <a:p>
            <a:endParaRPr/>
          </a:p>
          <a:p>
            <a:r>
              <a:t>参考来源：</a:t>
            </a:r>
          </a:p>
          <a:p>
            <a:r>
              <a:t>- Shahriari, B. et al. Taking the Human Out of the Loop: A Review of Bayesian Optimization. Proceedings of the IEEE 104(1), 2016.</a:t>
            </a:r>
          </a:p>
          <a:p>
            <a:r>
              <a:t>- Desimpel, R. et al. Bayesian optimization for chemical reactions. Chemical Society Reviews 55, 2026. https://pubs.rsc.org/en/content/articlehtml/2026/cs/d5cs00962f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如果从成本和效率看，SDL 的优势就很好理解了：实验越贵、越慢、越 noisy，越不能靠蛮力去堆点数。真正重要的是，让每一步实验都尽量多带回信息，这也是序贯学习和显式不确定性真正值钱的地方。</a:t>
            </a:r>
          </a:p>
          <a:p>
            <a:endParaRPr/>
          </a:p>
          <a:p>
            <a:r>
              <a:t>注解：</a:t>
            </a:r>
          </a:p>
          <a:p>
            <a:r>
              <a:t>- forward model（前向模型）</a:t>
            </a:r>
          </a:p>
          <a:p>
            <a:r>
              <a:t>- simulator（模拟器）</a:t>
            </a:r>
          </a:p>
          <a:p>
            <a:r>
              <a:t>- experimental emulator（实验仿真器）</a:t>
            </a:r>
          </a:p>
          <a:p>
            <a:endParaRPr/>
          </a:p>
          <a:p>
            <a:r>
              <a:t>建议图表：</a:t>
            </a:r>
          </a:p>
          <a:p>
            <a:r>
              <a:t>- 建议引用 Desimpel et al., CSR (2026) 中关于实验预算、反应优化成本或数据效率的综述图/表。</a:t>
            </a:r>
          </a:p>
          <a:p>
            <a:r>
              <a:t>- 若强调低成本与教学可及性，可引用 Aguilar-Granda et al., Digital Discovery (2024) 中 frugal twin 平台对比图。</a:t>
            </a:r>
          </a:p>
          <a:p>
            <a:endParaRPr/>
          </a:p>
          <a:p>
            <a:r>
              <a:t>参考来源：</a:t>
            </a:r>
          </a:p>
          <a:p>
            <a:r>
              <a:t>- Desimpel, R. et al. Bayesian optimization for chemical reactions. Chemical Society Reviews 55, 2026. https://pubs.rsc.org/en/content/articlehtml/2026/cs/d5cs00962f</a:t>
            </a:r>
          </a:p>
          <a:p>
            <a:r>
              <a:t>- Aguilar-Granda, A. et al. Review of low-cost self-driving laboratories in chemistry and materials science: the 'frugal twin' concept. Digital Discovery 3, 2024. https://pubs.rsc.org/en/content/articlehtml/2024/dd/d3dd00223c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这里我不想只把人的作用讲成伦理兜底。更关键的是，问题是谁提的，异常是谁先察觉的，机制是谁敢提出的，最后结论又是谁来负责的。至少到今天，这几件事仍然主要掌握在人手里，所以高质量 SDL 必然是强人机协作系统。</a:t>
            </a:r>
          </a:p>
          <a:p>
            <a:endParaRPr/>
          </a:p>
          <a:p>
            <a:r>
              <a:t>注解：</a:t>
            </a:r>
          </a:p>
          <a:p>
            <a:r>
              <a:t>- Human-in-the-loop</a:t>
            </a:r>
          </a:p>
          <a:p>
            <a:r>
              <a:t>- Human-on-the-loop</a:t>
            </a:r>
          </a:p>
          <a:p>
            <a:endParaRPr/>
          </a:p>
          <a:p>
            <a:r>
              <a:t>建议图表：</a:t>
            </a:r>
          </a:p>
          <a:p>
            <a:r>
              <a:t>- 建议引用 Häse et al., Digital Discovery (2024) 中 human-in-the-loop / gamification / interactive AI 的概念图。</a:t>
            </a:r>
          </a:p>
          <a:p>
            <a:r>
              <a:t>- 可补 community survey（2024）中关于 human oversight、platform bottleneck 或 adoption barrier 的汇总图表。</a:t>
            </a:r>
          </a:p>
          <a:p>
            <a:endParaRPr/>
          </a:p>
          <a:p>
            <a:r>
              <a:t>参考来源：</a:t>
            </a:r>
          </a:p>
          <a:p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  <a:p>
            <a:r>
              <a:t>- Autonomous laboratories for accelerated materials discovery: a community survey and practical insights. Digital Discovery, 2024. https://pubs.rsc.org/en/content/articlelanding/2024/dd/d4dd00059e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SDL 不是所有实验问题的默认答案。它更适合那些可自动化、可标准化、可快速观测、目标与约束较清楚的问题；反之，它也会有明显边界。</a:t>
            </a:r>
          </a:p>
          <a:p>
            <a:endParaRPr/>
          </a:p>
          <a:p>
            <a:r>
              <a:t>注解：</a:t>
            </a:r>
          </a:p>
          <a:p>
            <a:r>
              <a:t>- feasibility（可行性）</a:t>
            </a:r>
          </a:p>
          <a:p>
            <a:r>
              <a:t>- throughput（吞吐量）</a:t>
            </a:r>
          </a:p>
          <a:p>
            <a:endParaRPr/>
          </a:p>
          <a:p>
            <a:r>
              <a:t>参考来源：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Autonomous laboratories for accelerated materials discovery: a community survey and practical insights. Digital Discovery, 2024. https://pubs.rsc.org/en/content/articlelanding/2024/dd/d4dd00059e</a:t>
            </a:r>
          </a:p>
          <a:p>
            <a:r>
              <a:t>- Aguilar-Granda, A. et al. Review of low-cost self-driving laboratories in chemistry and materials science: the 'frugal twin' concept. Digital Discovery 3, 2024. https://pubs.rsc.org/en/content/articlehtml/2024/dd/d3dd00223c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这页的作用，是先把 SDL 地图摊开，再把 A-Lab 放回去。这样学生会知道：A-Lab 值得讲，不是因为它代表一切，而是因为它正好站在一个很容易被看见、也很容易被质疑的位置上。</a:t>
            </a:r>
          </a:p>
          <a:p>
            <a:endParaRPr/>
          </a:p>
          <a:p>
            <a:r>
              <a:t>注解：</a:t>
            </a:r>
          </a:p>
          <a:p>
            <a:r>
              <a:t>- ChemOS（实验编排平台）</a:t>
            </a:r>
          </a:p>
          <a:p>
            <a:r>
              <a:t>- AFL（Autonomous Formulation Lab，自治配方实验室）</a:t>
            </a:r>
          </a:p>
          <a:p>
            <a:endParaRPr/>
          </a:p>
          <a:p>
            <a:r>
              <a:t>建议图表：</a:t>
            </a:r>
          </a:p>
          <a:p>
            <a:r>
              <a:t>- 建议引用 community survey（Digital Discovery, 2024）中的平台/应用谱系图或比较表。</a:t>
            </a:r>
          </a:p>
          <a:p>
            <a:r>
              <a:t>- 若要单列配方方向，可引用 NIST Autonomous Formulation Lab 官网示意图；若要单列低成本方向，可引用 frugal twin 综述中的平台照片或架构图。</a:t>
            </a:r>
          </a:p>
          <a:p>
            <a:endParaRPr/>
          </a:p>
          <a:p>
            <a:r>
              <a:t>参考来源：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NIST Autonomous Formulation Lab. https://www.nist.gov/node/1895811</a:t>
            </a:r>
          </a:p>
          <a:p>
            <a:r>
              <a:t>- Aguilar-Granda, A. et al. Review of low-cost self-driving laboratories in chemistry and materials science: the 'frugal twin' concept. Digital Discovery 3, 2024. https://pubs.rsc.org/en/content/articlehtml/2024/dd/d3dd00223c</a:t>
            </a:r>
          </a:p>
          <a:p>
            <a:r>
              <a:t>- Autonomous laboratories for accelerated materials discovery: a community survey and practical insights. Digital Discovery, 2024. https://pubs.rsc.org/en/content/articlelanding/2024/dd/d4dd00059e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现在把视角收窄到一个具体案例。A-Lab 值得讲，不只是因为它把自治实验系统做得很完整，也因为它在高关注度之下经历了质疑、复查和修正。</a:t>
            </a:r>
          </a:p>
          <a:p>
            <a:endParaRPr/>
          </a:p>
          <a:p>
            <a:r>
              <a:t>注解：</a:t>
            </a:r>
          </a:p>
          <a:p>
            <a:r>
              <a:t>- A-Lab（自治实验室）</a:t>
            </a:r>
          </a:p>
          <a:p>
            <a:r>
              <a:t>- Nature 2023 论文与后续修正</a:t>
            </a:r>
          </a:p>
          <a:p>
            <a:endParaRPr/>
          </a:p>
          <a:p>
            <a:r>
              <a:t>节奏建议：</a:t>
            </a:r>
          </a:p>
          <a:p>
            <a:r>
              <a:t>1 分钟转场；先从全景收束到案例，再展开细节。</a:t>
            </a:r>
          </a:p>
          <a:p>
            <a:endParaRPr/>
          </a:p>
          <a:p>
            <a:r>
              <a:t>参考来源：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  <a:p>
            <a:r>
              <a:t>- Nature News: Robot chemist sparks row with claim it created new materials, 2023. https://www.nature.com/articles/d41586-023-03956-w</a:t>
            </a:r>
          </a:p>
          <a:p>
            <a:r>
              <a:t>- Chemistry World: New analysis raises doubts over autonomous lab's materials 'discoveries', 2024. https://www.chemistryworld.com/news/new-analysis-raises-doubts-over-autonomous-labs-materials-discoveries/4018791.article</a:t>
            </a:r>
          </a:p>
          <a:p>
            <a:r>
              <a:t>- C&amp;EN: 'Nature' robot chemist paper corrected, but some questions remain unanswered, 2026. https://cen.acs.org/research-integrity/Nature-robot-chemist-paper-corrected/104/web/2026/01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A-Lab 的代表性，不是它某一个算法特别神，而是它把筛选、执行、表征和决策真的接成了一条链。所以这页最值得学生看的，不是 buzzword，而是一个真实 SDL 系统到底长什么样。</a:t>
            </a:r>
          </a:p>
          <a:p>
            <a:endParaRPr/>
          </a:p>
          <a:p>
            <a:r>
              <a:t>注解：</a:t>
            </a:r>
          </a:p>
          <a:p>
            <a:r>
              <a:t>- XRD（X-ray Diffraction，X射线衍射）</a:t>
            </a:r>
          </a:p>
          <a:p>
            <a:endParaRPr/>
          </a:p>
          <a:p>
            <a:r>
              <a:t>建议图表：</a:t>
            </a:r>
          </a:p>
          <a:p>
            <a:r>
              <a:t>- 建议引用 Nature 624 (2023) A-Lab 论文中的 graphical abstract 或系统总览图，最适合做这一页主图。</a:t>
            </a:r>
          </a:p>
          <a:p>
            <a:r>
              <a:t>- 可备选 Berkeley Lab News 对 A-Lab 的系统照片或示意图，用来增强场景感。</a:t>
            </a:r>
          </a:p>
          <a:p>
            <a:endParaRPr/>
          </a:p>
          <a:p>
            <a:r>
              <a:t>参考来源：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  <a:p>
            <a:r>
              <a:t>- Berkeley Lab News: Meet the Autonomous Lab of the Future, 2023. https://newscenter.lbl.gov/2023/04/17/meet-the-autonomous-lab-of-the-future/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真正的 SDL 系统一定是分层的。你可以去质疑其中任何一层做得够不够好，但不能把它简化成一个模型名字。A-Lab 的教学价值，恰好就在于这些层都能被拆出来、逐层审视。</a:t>
            </a:r>
          </a:p>
          <a:p>
            <a:endParaRPr/>
          </a:p>
          <a:p>
            <a:r>
              <a:t>注解：</a:t>
            </a:r>
          </a:p>
          <a:p>
            <a:r>
              <a:t>- Materials Project（材料项目数据库）</a:t>
            </a:r>
          </a:p>
          <a:p>
            <a:r>
              <a:t>- ML-assisted phase identification（机器学习辅助相鉴定）</a:t>
            </a:r>
          </a:p>
          <a:p>
            <a:endParaRPr/>
          </a:p>
          <a:p>
            <a:r>
              <a:t>建议图表：</a:t>
            </a:r>
          </a:p>
          <a:p>
            <a:r>
              <a:t>- 建议引用 Nature 624 (2023) 中 A-Lab workflow / system architecture 图，逐层对应筛选、执行、表征、解释。</a:t>
            </a:r>
          </a:p>
          <a:p>
            <a:r>
              <a:t>- 若要补数据库前端，可配 Materials Project 相关示意截图，但应在备注中注明其与 A-Lab 的前端筛选关系。</a:t>
            </a:r>
          </a:p>
          <a:p>
            <a:endParaRPr/>
          </a:p>
          <a:p>
            <a:r>
              <a:t>参考来源：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  <a:p>
            <a:r>
              <a:t>- Berkeley Lab News: Meet the Autonomous Lab of the Future, 2023. https://newscenter.lbl.gov/2023/04/17/meet-the-autonomous-lab-of-the-future/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A-Lab 的一个关键策略，是先缩空间，再进实验。这个逻辑很常见，也很合理；但它的风险同样明显：如果前端筛选假设有系统偏差，后端自动化就会高效放大这种偏差。</a:t>
            </a:r>
          </a:p>
          <a:p>
            <a:endParaRPr/>
          </a:p>
          <a:p>
            <a:r>
              <a:t>注解：</a:t>
            </a:r>
          </a:p>
          <a:p>
            <a:r>
              <a:t>- thermodynamic stability（热力学稳定性）</a:t>
            </a:r>
          </a:p>
          <a:p>
            <a:endParaRPr/>
          </a:p>
          <a:p>
            <a:r>
              <a:t>参考来源：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这一页不要把数字讲成奖状，而要讲成案例事实。A-Lab 之所以迅速出圈，确实和这些速度、吞吐量、成功率口径有关；但这些数字只是故事的开头，绝不是故事的结论。</a:t>
            </a:r>
          </a:p>
          <a:p>
            <a:endParaRPr/>
          </a:p>
          <a:p>
            <a:r>
              <a:t>注解：</a:t>
            </a:r>
          </a:p>
          <a:p>
            <a:r>
              <a:t>- Nature 624 (2023)</a:t>
            </a:r>
          </a:p>
          <a:p>
            <a:r>
              <a:t>- 需区分 target-level 与 recipe-level 口径</a:t>
            </a:r>
          </a:p>
          <a:p>
            <a:endParaRPr/>
          </a:p>
          <a:p>
            <a:r>
              <a:t>建议图表：</a:t>
            </a:r>
          </a:p>
          <a:p>
            <a:r>
              <a:t>- 建议引用 Nature 624 (2023) 论文中的结果总表或 summary figure，用原始口径展示 17 天、58 个目标、355 次实验等数字。</a:t>
            </a:r>
          </a:p>
          <a:p>
            <a:r>
              <a:t>- 若担心口径误读，可在图旁并列一张自制小表，区分 target-level、recipe-level 与后续争议口径。</a:t>
            </a:r>
          </a:p>
          <a:p>
            <a:endParaRPr/>
          </a:p>
          <a:p>
            <a:r>
              <a:t>参考来源：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  <a:p>
            <a:r>
              <a:t>- Nature News: Robot chemist sparks row with claim it created new materials, 2023. https://www.nature.com/articles/d41586-023-03956-w</a:t>
            </a:r>
          </a:p>
          <a:p>
            <a:r>
              <a:t>- Chemistry World: New analysis raises doubts over autonomous lab's materials 'discoveries', 2024. https://www.chemistryworld.com/news/new-analysis-raises-doubts-over-autonomous-labs-materials-discoveries/4018791.article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把 A-Lab 放回时间线里看，才能避免把它讲成静态海报。更值得关注的是：一个高影响力 SDL 结果如何被传播、被质疑、被重新界定，又如何在社群中被更严谨地理解。</a:t>
            </a:r>
          </a:p>
          <a:p>
            <a:endParaRPr/>
          </a:p>
          <a:p>
            <a:r>
              <a:t>注解：</a:t>
            </a:r>
          </a:p>
          <a:p>
            <a:r>
              <a:t>- scientific self-correction（科学自我纠错）</a:t>
            </a:r>
          </a:p>
          <a:p>
            <a:r>
              <a:t>- claim auditing（声称审计）</a:t>
            </a:r>
          </a:p>
          <a:p>
            <a:endParaRPr/>
          </a:p>
          <a:p>
            <a:r>
              <a:t>参考来源：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  <a:p>
            <a:r>
              <a:t>- Nature News: Robot chemist sparks row with claim it created new materials, 2023. https://www.nature.com/articles/d41586-023-03956-w</a:t>
            </a:r>
          </a:p>
          <a:p>
            <a:r>
              <a:t>- Chemistry World: New analysis raises doubts over autonomous lab's materials 'discoveries', 2024. https://www.chemistryworld.com/news/new-analysis-raises-doubts-over-autonomous-labs-materials-discoveries/4018791.article</a:t>
            </a:r>
          </a:p>
          <a:p>
            <a:r>
              <a:t>- C&amp;EN: 'Nature' robot chemist paper corrected, but some questions remain unanswered, 2026. https://cen.acs.org/research-integrity/Nature-robot-chemist-paper-corrected/104/web/2026/01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如果把 A-Lab 当成英雄叙事，这一页就讲不明白。真正值得学生看到的是：一个高影响力 SDL 结果怎样被质疑、复查、修正。这件事本身就在提醒我们，系统越自动化，定义审计和人类验证越不能省。</a:t>
            </a:r>
          </a:p>
          <a:p>
            <a:endParaRPr/>
          </a:p>
          <a:p>
            <a:r>
              <a:t>注解：</a:t>
            </a:r>
          </a:p>
          <a:p>
            <a:r>
              <a:t>- ChemRxiv 2024 独立再分析</a:t>
            </a:r>
          </a:p>
          <a:p>
            <a:r>
              <a:t>- C&amp;EN 2026 关于更正的报道</a:t>
            </a:r>
          </a:p>
          <a:p>
            <a:endParaRPr/>
          </a:p>
          <a:p>
            <a:r>
              <a:t>建议图表：</a:t>
            </a:r>
          </a:p>
          <a:p>
            <a:r>
              <a:t>- 这一页可优先做并列表：左列 Nature 2023 原始声称，右列 Chemistry World / C&amp;EN 报道中的后续质疑与更正口径。</a:t>
            </a:r>
          </a:p>
          <a:p>
            <a:r>
              <a:t>- 若坚持引原图，建议分别截取 Nature 论文结果图与后续报道中的关键表述，再在页上明确标示“原始声称 / 后续复核”。</a:t>
            </a:r>
          </a:p>
          <a:p>
            <a:endParaRPr/>
          </a:p>
          <a:p>
            <a:r>
              <a:t>参考来源：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  <a:p>
            <a:r>
              <a:t>- Chemistry World: New analysis raises doubts over autonomous lab's materials 'discoveries', 2024. https://www.chemistryworld.com/news/new-analysis-raises-doubts-over-autonomous-labs-materials-discoveries/4018791.article</a:t>
            </a:r>
          </a:p>
          <a:p>
            <a:r>
              <a:t>- C&amp;EN: 'Nature' robot chemist paper corrected, but some questions remain unanswered, 2026. https://cen.acs.org/research-integrity/Nature-robot-chemist-paper-corrected/104/web/2026/01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A-Lab 这一章真正值得带走的，不是几个漂亮数字，而是一套判断自治实验系统的框架：系统结构、观测可信度、定义边界、人类验证，以及发现口径是否足够严格。</a:t>
            </a:r>
          </a:p>
          <a:p>
            <a:endParaRPr/>
          </a:p>
          <a:p>
            <a:r>
              <a:t>注解：</a:t>
            </a:r>
          </a:p>
          <a:p>
            <a:r>
              <a:t>- 可作为 A-Lab 章节的收束页</a:t>
            </a:r>
          </a:p>
          <a:p>
            <a:endParaRPr/>
          </a:p>
          <a:p>
            <a:r>
              <a:t>参考来源：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  <a:p>
            <a:r>
              <a:t>- Chemistry World: New analysis raises doubts over autonomous lab's materials 'discoveries', 2024. https://www.chemistryworld.com/news/new-analysis-raises-doubts-over-autonomous-labs-materials-discoveries/4018791.article</a:t>
            </a:r>
          </a:p>
          <a:p>
            <a:r>
              <a:t>- C&amp;EN: 'Nature' robot chemist paper corrected, but some questions remain unanswered, 2026. https://cen.acs.org/research-integrity/Nature-robot-chemist-paper-corrected/104/web/2026/01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最后回到一个最小 live demo。真实系统当然更复杂，但在复杂性之前，先把闭环结构讲清楚更重要：目标、观测、更新、推荐到底是如何串起来的。</a:t>
            </a:r>
          </a:p>
          <a:p>
            <a:endParaRPr/>
          </a:p>
          <a:p>
            <a:r>
              <a:t>注解：</a:t>
            </a:r>
          </a:p>
          <a:p>
            <a:r>
              <a:t>- benchmark case（基准案例）</a:t>
            </a:r>
          </a:p>
          <a:p>
            <a:endParaRPr/>
          </a:p>
          <a:p>
            <a:r>
              <a:t>节奏建议：</a:t>
            </a:r>
          </a:p>
          <a:p>
            <a:r>
              <a:t>45 秒转场；把复杂真实系统切回可见的最小闭环。</a:t>
            </a:r>
          </a:p>
          <a:p>
            <a:endParaRPr/>
          </a:p>
          <a:p>
            <a:r>
              <a:t>参考来源：</a:t>
            </a:r>
          </a:p>
          <a:p>
            <a:r>
              <a:t>- Baird, S. G. self-driving-lab-demo. GitHub repository. https://github.com/sparks-baird/self-driving-lab-demo</a:t>
            </a:r>
          </a:p>
          <a:p>
            <a:r>
              <a:t>- SDL 讲座数字讲义站（当前项目线上版）: https://sdl-lecture.vercel.app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RGB LED 这个案例的价值，不在科研深度，而在教学透明度。目标颜色、当前最佳结果和下一推荐点都摆在同一屏里，所以学生不是在看一个黑箱，而是在看一个闭环到底怎样一步一步收敛。</a:t>
            </a:r>
          </a:p>
          <a:p>
            <a:endParaRPr/>
          </a:p>
          <a:p>
            <a:r>
              <a:t>注解：</a:t>
            </a:r>
          </a:p>
          <a:p>
            <a:r>
              <a:t>- PWM（Pulse Width Modulation，脉宽调制）</a:t>
            </a:r>
          </a:p>
          <a:p>
            <a:r>
              <a:t>- seeded reproducibility（固定种子复现实验）</a:t>
            </a:r>
          </a:p>
          <a:p>
            <a:endParaRPr/>
          </a:p>
          <a:p>
            <a:r>
              <a:t>建议图表：</a:t>
            </a:r>
          </a:p>
          <a:p>
            <a:r>
              <a:t>- 建议放当前课程网站 Case Studio 的真实截图，优先截取 target、best-so-far、next recommendation 同屏界面。</a:t>
            </a:r>
          </a:p>
          <a:p>
            <a:r>
              <a:t>- 若要补外部出处，可引用 sparks-baird/self-driving-lab-demo 仓库 README 或演示截图，作为教学 benchmark 的来源。</a:t>
            </a:r>
          </a:p>
          <a:p>
            <a:endParaRPr/>
          </a:p>
          <a:p>
            <a:r>
              <a:t>参考来源：</a:t>
            </a:r>
          </a:p>
          <a:p>
            <a:r>
              <a:t>- Baird, S. G. self-driving-lab-demo. GitHub repository. https://github.com/sparks-baird/self-driving-lab-demo</a:t>
            </a:r>
          </a:p>
          <a:p>
            <a:r>
              <a:t>- SDL 讲座数字讲义站（当前项目线上版）: https://sdl-lecture.vercel.app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这页把 live demo 说透。参数、观测、评分、推荐四个环节都清楚，所以学生能直观看到‘下一步为什么是这个点’。这是它比很多黑箱 demo 更适合教学的地方。</a:t>
            </a:r>
          </a:p>
          <a:p>
            <a:endParaRPr/>
          </a:p>
          <a:p>
            <a:r>
              <a:t>注解：</a:t>
            </a:r>
          </a:p>
          <a:p>
            <a:r>
              <a:t>- match score（匹配分数）</a:t>
            </a:r>
          </a:p>
          <a:p>
            <a:r>
              <a:t>- recommendation logic（推荐逻辑）</a:t>
            </a:r>
          </a:p>
          <a:p>
            <a:endParaRPr/>
          </a:p>
          <a:p>
            <a:r>
              <a:t>参考来源：</a:t>
            </a:r>
          </a:p>
          <a:p>
            <a:r>
              <a:t>- Baird, S. G. self-driving-lab-demo. GitHub repository. https://github.com/sparks-baird/self-driving-lab-demo</a:t>
            </a:r>
          </a:p>
          <a:p>
            <a:r>
              <a:t>- SDL 讲座数字讲义站（当前项目线上版）: https://sdl-lecture.vercel.app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live demo 最怕变成‘看按钮点了几下，数字变好了’。真正应该让学生看的，是推荐逻辑怎样随着观测更新而变化，以及同样的初始条件下，这套系统是否可复现。</a:t>
            </a:r>
          </a:p>
          <a:p>
            <a:endParaRPr/>
          </a:p>
          <a:p>
            <a:r>
              <a:t>注解：</a:t>
            </a:r>
          </a:p>
          <a:p>
            <a:r>
              <a:t>- seed（随机种子）</a:t>
            </a:r>
          </a:p>
          <a:p>
            <a:r>
              <a:t>- reset / replay（复位 / 重放）</a:t>
            </a:r>
          </a:p>
          <a:p>
            <a:endParaRPr/>
          </a:p>
          <a:p>
            <a:r>
              <a:t>节奏建议：</a:t>
            </a:r>
          </a:p>
          <a:p>
            <a:r>
              <a:t>演示前 1 分钟说明观看方法；演示过程中不断回指这四个观察点。</a:t>
            </a:r>
          </a:p>
          <a:p>
            <a:endParaRPr/>
          </a:p>
          <a:p>
            <a:r>
              <a:t>参考来源：</a:t>
            </a:r>
          </a:p>
          <a:p>
            <a:r>
              <a:t>- Baird, S. G. self-driving-lab-demo. GitHub repository. https://github.com/sparks-baird/self-driving-lab-demo</a:t>
            </a:r>
          </a:p>
          <a:p>
            <a:r>
              <a:t>- SDL 讲座数字讲义站（当前项目线上版）: https://sdl-lecture.vercel.app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最后一部分不是重复总结，而是把前面所有内容收束成几条判断。学生不需要记住每个案例细节，但应带走对实验、方法论和 SDL 的整体认识框架。</a:t>
            </a:r>
          </a:p>
          <a:p>
            <a:endParaRPr/>
          </a:p>
          <a:p>
            <a:r>
              <a:t>注解：</a:t>
            </a:r>
          </a:p>
          <a:p>
            <a:r>
              <a:t>- 无</a:t>
            </a:r>
          </a:p>
          <a:p>
            <a:endParaRPr/>
          </a:p>
          <a:p>
            <a:r>
              <a:t>节奏建议：</a:t>
            </a:r>
          </a:p>
          <a:p>
            <a:r>
              <a:t>30 秒转场；从内容回收束到判断框架。</a:t>
            </a:r>
          </a:p>
          <a:p>
            <a:endParaRPr/>
          </a:p>
          <a:p>
            <a:r>
              <a:t>参考来源：</a:t>
            </a:r>
          </a:p>
          <a:p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三条结论里，第一条讲对象，第二条讲历史，第三条讲标准。也就是说，我们既要知道 SDL 来自哪里，也要知道怎样判断一个 SDL 系统是否真的站得住。</a:t>
            </a:r>
          </a:p>
          <a:p>
            <a:endParaRPr/>
          </a:p>
          <a:p>
            <a:r>
              <a:t>注解：</a:t>
            </a:r>
          </a:p>
          <a:p>
            <a:r>
              <a:t>- scientific rigor（科学严谨性）</a:t>
            </a:r>
          </a:p>
          <a:p>
            <a:endParaRPr/>
          </a:p>
          <a:p>
            <a:r>
              <a:t>参考来源：</a:t>
            </a:r>
          </a:p>
          <a:p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这一页把我们的价值立场讲出来：我们不把 AI 神化，也不把它妖魔化。最重要的是让学生形成一种成熟的人机协作观：既能借力，也能质疑，既会使用，也能负责。</a:t>
            </a:r>
          </a:p>
          <a:p>
            <a:endParaRPr/>
          </a:p>
          <a:p>
            <a:r>
              <a:t>注解：</a:t>
            </a:r>
          </a:p>
          <a:p>
            <a:r>
              <a:t>- responsible AI（负责任的 AI）</a:t>
            </a:r>
          </a:p>
          <a:p>
            <a:endParaRPr/>
          </a:p>
          <a:p>
            <a:r>
              <a:t>参考来源：</a:t>
            </a:r>
          </a:p>
          <a:p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  <a:p>
            <a:r>
              <a:t>- Autonomous laboratories for accelerated materials discovery: a community survey and practical insights. Digital Discovery, 2024. https://pubs.rsc.org/en/content/articlelanding/2024/dd/d4dd00059e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如果学生能带走这四件事，这场讲座就值了。尤其是最后两条：识别哪些问题适合 SDL，和对真实系统保持判断能力。这比记住几个术语更重要。</a:t>
            </a:r>
          </a:p>
          <a:p>
            <a:endParaRPr/>
          </a:p>
          <a:p>
            <a:r>
              <a:t>注解：</a:t>
            </a:r>
          </a:p>
          <a:p>
            <a:r>
              <a:t>- 无</a:t>
            </a:r>
          </a:p>
          <a:p>
            <a:endParaRPr/>
          </a:p>
          <a:p>
            <a:r>
              <a:t>参考来源：</a:t>
            </a:r>
          </a:p>
          <a:p>
            <a:r>
              <a:t>- Hey, T., Tansley, S., &amp; Tolle, K. (eds.) The Fourth Paradigm: Data-Intensive Scientific Discovery. Microsoft Research, 2009. https://www.microsoft.com/en-us/research/publication/fourth-paradigm-data-intensive-scientific-discovery/</a:t>
            </a:r>
          </a:p>
          <a:p>
            <a:r>
              <a:t>- Box, G. E. P., Hunter, W. G., &amp; Hunter, J. S. Statistics for Experimenters. Wiley, 1978/2005.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最后告诉学生，网站不是讲座结束后就无关了。它是课程的入口，也是案例和 demo 的继续学习平台。讲座结束之后，学生仍然可以从网站回到今天的主线继续理解。</a:t>
            </a:r>
          </a:p>
          <a:p>
            <a:endParaRPr/>
          </a:p>
          <a:p>
            <a:r>
              <a:t>注解：</a:t>
            </a:r>
          </a:p>
          <a:p>
            <a:r>
              <a:t>- 网站：sdl-lecture.vercel.app</a:t>
            </a:r>
          </a:p>
          <a:p>
            <a:endParaRPr/>
          </a:p>
          <a:p>
            <a:r>
              <a:t>参考来源：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  <a:p>
            <a:r>
              <a:t>- Szymanski, N. J. et al. An autonomous laboratory for the accelerated synthesis of inorganic materials. Nature 624, 2023. https://www.nature.com/articles/s41586-023-06734-w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讲解词：</a:t>
            </a:r>
          </a:p>
          <a:p>
            <a:r>
              <a:t>我会用这句话收尾：关键不在于把实验交给机器，而在于如何让机器进入负责任的科学工作流。然后进入问答，优先接学生对适用边界、案例可信度和课题迁移的提问。</a:t>
            </a:r>
          </a:p>
          <a:p>
            <a:endParaRPr/>
          </a:p>
          <a:p>
            <a:r>
              <a:t>注解：</a:t>
            </a:r>
          </a:p>
          <a:p>
            <a:r>
              <a:t>- 无</a:t>
            </a:r>
          </a:p>
          <a:p>
            <a:endParaRPr/>
          </a:p>
          <a:p>
            <a:r>
              <a:t>节奏建议：</a:t>
            </a:r>
          </a:p>
          <a:p>
            <a:r>
              <a:t>结束页停 10–15 秒，再进入问答；优先接边界、争议和迁移类问题。</a:t>
            </a:r>
          </a:p>
          <a:p>
            <a:endParaRPr/>
          </a:p>
          <a:p>
            <a:r>
              <a:t>参考来源：</a:t>
            </a:r>
          </a:p>
          <a:p>
            <a:r>
              <a:t>- Häse, F. et al. The future of self-driving laboratories: from human in the loop interactive AI to gamification. Digital Discovery 3, 2024. https://pubs.rsc.org/en/content/articlehtml/2024/dd/d4dd00040d</a:t>
            </a:r>
          </a:p>
          <a:p>
            <a:r>
              <a:t>- Tom, G. et al. Self-Driving Laboratories for Chemistry and Materials Science. Chemical Reviews 124(16), 2024. https://pubs.acs.org/doi/10.1021/acs.chemrev.4c00055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83F6D57B-2325-44B4-9BEB-5844450C06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9EA7ED3-FA74-4C94-82D1-2857DD8D56B5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讲座封面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A93885-91F7-4EDF-B416-34E708E689D6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01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D4D3F72-9557-4927-A01C-941D5DEB5857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B863231-8EE9-48E9-B2AF-80677A3E3CC8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2000250" cy="323850"/>
          </a:xfrm>
          <a:prstGeom prst="roundRect">
            <a:avLst>
              <a:gd name="adj" fmla="val 23529"/>
            </a:avLst>
          </a:prstGeom>
          <a:solidFill>
            <a:srgbClr val="0E213A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9F97C35-3E18-4A03-95C1-372574C45B6C}"/>
              </a:ext>
            </a:extLst>
          </p:cNvPr>
          <p:cNvSpPr>
            <a:spLocks noGrp="1"/>
          </p:cNvSpPr>
          <p:nvPr/>
        </p:nvSpPr>
        <p:spPr>
          <a:xfrm>
            <a:off x="1028700" y="1295400"/>
            <a:ext cx="1809750" cy="1524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研究生讲座 / 数字讲义版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10D43EA-8958-4CD5-8C38-96B343DADCED}"/>
              </a:ext>
            </a:extLst>
          </p:cNvPr>
          <p:cNvSpPr>
            <a:spLocks noGrp="1"/>
          </p:cNvSpPr>
          <p:nvPr/>
        </p:nvSpPr>
        <p:spPr>
          <a:xfrm>
            <a:off x="838200" y="1847850"/>
            <a:ext cx="9334500" cy="12954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AI时代的材料科学实验：</a:t>
            </a:r>
          </a:p>
          <a:p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 DOE 到 Self-Driving Labs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7AC476E-33FD-4F58-8BA3-47F5D3D77967}"/>
              </a:ext>
            </a:extLst>
          </p:cNvPr>
          <p:cNvSpPr>
            <a:spLocks noGrp="1"/>
          </p:cNvSpPr>
          <p:nvPr/>
        </p:nvSpPr>
        <p:spPr>
          <a:xfrm>
            <a:off x="876300" y="3314700"/>
            <a:ext cx="8572500" cy="4572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500" b="0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重新理解实验、方法论与自驱实验室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A6C981-7E8A-49A9-8DC5-6AD43B884869}"/>
              </a:ext>
            </a:extLst>
          </p:cNvPr>
          <p:cNvSpPr>
            <a:spLocks noGrp="1"/>
          </p:cNvSpPr>
          <p:nvPr/>
        </p:nvSpPr>
        <p:spPr>
          <a:xfrm>
            <a:off x="876300" y="4095750"/>
            <a:ext cx="7239000" cy="6858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本讲面向材料科学与工程相关研究生和高年级本科生。</a:t>
            </a:r>
          </a:p>
          <a:p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主线不是“AI 更强了”，而是“实验正在被重新组织”。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D5D3E23-DBB7-4603-9343-F04B872D8DB0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1524000" cy="57150"/>
          </a:xfrm>
          <a:prstGeom prst="rect">
            <a:avLst/>
          </a:prstGeom>
          <a:solidFill>
            <a:srgbClr val="13D6FF"/>
          </a:solidFill>
          <a:ln w="0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5B4B338-A844-422A-99EE-C090048CD073}"/>
              </a:ext>
            </a:extLst>
          </p:cNvPr>
          <p:cNvSpPr>
            <a:spLocks noGrp="1"/>
          </p:cNvSpPr>
          <p:nvPr/>
        </p:nvSpPr>
        <p:spPr>
          <a:xfrm>
            <a:off x="2514600" y="5334000"/>
            <a:ext cx="2476500" cy="57150"/>
          </a:xfrm>
          <a:prstGeom prst="rect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DECB87F-CE8A-47EB-94FB-5E564B1E616F}"/>
              </a:ext>
            </a:extLst>
          </p:cNvPr>
          <p:cNvSpPr>
            <a:spLocks noGrp="1"/>
          </p:cNvSpPr>
          <p:nvPr/>
        </p:nvSpPr>
        <p:spPr>
          <a:xfrm>
            <a:off x="5105400" y="5334000"/>
            <a:ext cx="1143000" cy="57150"/>
          </a:xfrm>
          <a:prstGeom prst="rect">
            <a:avLst/>
          </a:prstGeom>
          <a:solidFill>
            <a:srgbClr val="FBBF24"/>
          </a:solidFill>
          <a:ln w="0">
            <a:solidFill>
              <a:srgbClr val="FBBF24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2FBCC39-2360-400A-9201-7A717756A4FD}"/>
              </a:ext>
            </a:extLst>
          </p:cNvPr>
          <p:cNvSpPr>
            <a:spLocks noGrp="1"/>
          </p:cNvSpPr>
          <p:nvPr/>
        </p:nvSpPr>
        <p:spPr>
          <a:xfrm>
            <a:off x="876300" y="5772150"/>
            <a:ext cx="8572500" cy="228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00" b="0" i="0">
                <a:solidFill>
                  <a:srgbClr val="6E829D"/>
                </a:solidFill>
                <a:latin typeface="Aptos"/>
                <a:ea typeface="Aptos"/>
                <a:cs typeface="Aptos"/>
              </a:defRPr>
            </a:pPr>
            <a:r>
              <a:t>关键词：Experiment（实验） / Design of Experiments（实验设计，DOE） / Self-Driving Labs（自驱实验室，SDL）</a:t>
            </a:r>
          </a:p>
        </p:txBody>
      </p:sp>
    </p:spTree>
    <p:extLst>
      <p:ext uri="{BB962C8B-B14F-4D97-AF65-F5344CB8AC3E}">
        <p14:creationId xmlns:p14="http://schemas.microsoft.com/office/powerpoint/2010/main" val="19422601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26003B37-EA9A-44C8-9053-7FB4CD4E5E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32E5AE-9649-460F-9D5C-2B740788762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讲座结构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F4E393C-80CE-4EA1-B07F-3EF09A408DBA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02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636D89F-8129-44A2-84DC-EFBCEB3AE933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0A42E3-1FF2-4559-9C36-ED7AB208B52B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今天的六个部分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52BBB53-5E1D-4EA5-96F7-25F59B3394F3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三小时讲座的主线是“实验”而不是“算法清单”。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EC50670-ACBC-4DEE-86A3-668913E94E59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10096500" cy="419100"/>
          </a:xfrm>
          <a:prstGeom prst="roundRect">
            <a:avLst>
              <a:gd name="adj" fmla="val 18182"/>
            </a:avLst>
          </a:prstGeom>
          <a:solidFill>
            <a:srgbClr val="0E213A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C6971BC-B973-48B6-8279-D5041BEA2FFB}"/>
              </a:ext>
            </a:extLst>
          </p:cNvPr>
          <p:cNvSpPr>
            <a:spLocks noGrp="1"/>
          </p:cNvSpPr>
          <p:nvPr/>
        </p:nvSpPr>
        <p:spPr>
          <a:xfrm>
            <a:off x="1181100" y="2190750"/>
            <a:ext cx="47625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C8C3D93-700C-49E2-9314-4822780E7855}"/>
              </a:ext>
            </a:extLst>
          </p:cNvPr>
          <p:cNvSpPr>
            <a:spLocks noGrp="1"/>
          </p:cNvSpPr>
          <p:nvPr/>
        </p:nvSpPr>
        <p:spPr>
          <a:xfrm>
            <a:off x="1790700" y="2190750"/>
            <a:ext cx="876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为什么今天必须重新理解实验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FD39BE7-B472-49E1-978F-EB64E14FC6F4}"/>
              </a:ext>
            </a:extLst>
          </p:cNvPr>
          <p:cNvSpPr>
            <a:spLocks noGrp="1"/>
          </p:cNvSpPr>
          <p:nvPr/>
        </p:nvSpPr>
        <p:spPr>
          <a:xfrm>
            <a:off x="990600" y="2686050"/>
            <a:ext cx="10096500" cy="419100"/>
          </a:xfrm>
          <a:prstGeom prst="roundRect">
            <a:avLst>
              <a:gd name="adj" fmla="val 1818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A40D684-72BC-4D38-B40A-FD8DD3F4A0B6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47625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BC83B70-6674-4FED-953C-A4880B25F527}"/>
              </a:ext>
            </a:extLst>
          </p:cNvPr>
          <p:cNvSpPr>
            <a:spLocks noGrp="1"/>
          </p:cNvSpPr>
          <p:nvPr/>
        </p:nvSpPr>
        <p:spPr>
          <a:xfrm>
            <a:off x="1790700" y="2781300"/>
            <a:ext cx="876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MSE（材料科学与工程）实验图谱与目录学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DA4C1AE-4961-40B3-970A-1D2236AF3328}"/>
              </a:ext>
            </a:extLst>
          </p:cNvPr>
          <p:cNvSpPr>
            <a:spLocks noGrp="1"/>
          </p:cNvSpPr>
          <p:nvPr/>
        </p:nvSpPr>
        <p:spPr>
          <a:xfrm>
            <a:off x="990600" y="3276600"/>
            <a:ext cx="10096500" cy="419100"/>
          </a:xfrm>
          <a:prstGeom prst="roundRect">
            <a:avLst>
              <a:gd name="adj" fmla="val 1818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DD843AF-D3BA-424F-8E0D-B977C2E4FE4E}"/>
              </a:ext>
            </a:extLst>
          </p:cNvPr>
          <p:cNvSpPr>
            <a:spLocks noGrp="1"/>
          </p:cNvSpPr>
          <p:nvPr/>
        </p:nvSpPr>
        <p:spPr>
          <a:xfrm>
            <a:off x="1181100" y="3371850"/>
            <a:ext cx="47625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17D4106-87F6-4CDC-8068-8355F8A56336}"/>
              </a:ext>
            </a:extLst>
          </p:cNvPr>
          <p:cNvSpPr>
            <a:spLocks noGrp="1"/>
          </p:cNvSpPr>
          <p:nvPr/>
        </p:nvSpPr>
        <p:spPr>
          <a:xfrm>
            <a:off x="1790700" y="3371850"/>
            <a:ext cx="876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传统方法论：试错法与 DOE（实验设计）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3C80BA87-B885-454B-BD03-6AB62EE90DE0}"/>
              </a:ext>
            </a:extLst>
          </p:cNvPr>
          <p:cNvSpPr>
            <a:spLocks noGrp="1"/>
          </p:cNvSpPr>
          <p:nvPr/>
        </p:nvSpPr>
        <p:spPr>
          <a:xfrm>
            <a:off x="990600" y="3867150"/>
            <a:ext cx="10096500" cy="419100"/>
          </a:xfrm>
          <a:prstGeom prst="roundRect">
            <a:avLst>
              <a:gd name="adj" fmla="val 1818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5779DC7-70FD-48A4-9735-D927C59AA209}"/>
              </a:ext>
            </a:extLst>
          </p:cNvPr>
          <p:cNvSpPr>
            <a:spLocks noGrp="1"/>
          </p:cNvSpPr>
          <p:nvPr/>
        </p:nvSpPr>
        <p:spPr>
          <a:xfrm>
            <a:off x="1181100" y="3962400"/>
            <a:ext cx="47625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F34D6E4-0BDB-408A-8749-D9CB72DA6760}"/>
              </a:ext>
            </a:extLst>
          </p:cNvPr>
          <p:cNvSpPr>
            <a:spLocks noGrp="1"/>
          </p:cNvSpPr>
          <p:nvPr/>
        </p:nvSpPr>
        <p:spPr>
          <a:xfrm>
            <a:off x="1790700" y="3962400"/>
            <a:ext cx="876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AI 时代的实验：什么是 SDL（自驱实验室）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AC22241-386C-4C83-ACC2-EE020581FBD8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10096500" cy="419100"/>
          </a:xfrm>
          <a:prstGeom prst="roundRect">
            <a:avLst>
              <a:gd name="adj" fmla="val 1818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CCF85F7-221F-4CA3-81A6-1CCEEC9D3DBA}"/>
              </a:ext>
            </a:extLst>
          </p:cNvPr>
          <p:cNvSpPr>
            <a:spLocks noGrp="1"/>
          </p:cNvSpPr>
          <p:nvPr/>
        </p:nvSpPr>
        <p:spPr>
          <a:xfrm>
            <a:off x="1181100" y="4552950"/>
            <a:ext cx="47625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80AD053-7A86-4E47-9C0F-E390CF49EC03}"/>
              </a:ext>
            </a:extLst>
          </p:cNvPr>
          <p:cNvSpPr>
            <a:spLocks noGrp="1"/>
          </p:cNvSpPr>
          <p:nvPr/>
        </p:nvSpPr>
        <p:spPr>
          <a:xfrm>
            <a:off x="1790700" y="4552950"/>
            <a:ext cx="876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A-Lab（自治实验室）作为真实系统案例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FB2E03CD-B048-471A-B9E8-AD466EF51290}"/>
              </a:ext>
            </a:extLst>
          </p:cNvPr>
          <p:cNvSpPr>
            <a:spLocks noGrp="1"/>
          </p:cNvSpPr>
          <p:nvPr/>
        </p:nvSpPr>
        <p:spPr>
          <a:xfrm>
            <a:off x="990600" y="5048250"/>
            <a:ext cx="10096500" cy="419100"/>
          </a:xfrm>
          <a:prstGeom prst="roundRect">
            <a:avLst>
              <a:gd name="adj" fmla="val 1818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8FCC261-F439-41C7-BAFE-F4B7460341A5}"/>
              </a:ext>
            </a:extLst>
          </p:cNvPr>
          <p:cNvSpPr>
            <a:spLocks noGrp="1"/>
          </p:cNvSpPr>
          <p:nvPr/>
        </p:nvSpPr>
        <p:spPr>
          <a:xfrm>
            <a:off x="1181100" y="5143500"/>
            <a:ext cx="47625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0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CA64FDE-9EAF-4DB2-8080-992CF49CB65C}"/>
              </a:ext>
            </a:extLst>
          </p:cNvPr>
          <p:cNvSpPr>
            <a:spLocks noGrp="1"/>
          </p:cNvSpPr>
          <p:nvPr/>
        </p:nvSpPr>
        <p:spPr>
          <a:xfrm>
            <a:off x="1790700" y="5143500"/>
            <a:ext cx="876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Case Studio：最小 live demo 与课程总结</a:t>
            </a:r>
          </a:p>
        </p:txBody>
      </p:sp>
    </p:spTree>
    <p:extLst>
      <p:ext uri="{BB962C8B-B14F-4D97-AF65-F5344CB8AC3E}">
        <p14:creationId xmlns:p14="http://schemas.microsoft.com/office/powerpoint/2010/main" val="2500790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DE718921-DCA0-4346-9D5C-A4155FBA55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95CA728-901F-49EB-A826-1D2A39BFA11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讲座定位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26AAD53-0A3D-4D8F-B7A9-CC55C51815D9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03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9718C13-B991-4C8E-8C14-2C31CB4ACCAC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F6E8DD-4A03-42FD-965C-49F2B9ECA6D0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这不是一场“AI 工具清单”讲座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E88F42B-2635-40F4-AE96-59FC83CC606F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本讲的中心对象是实验，不是某个单独模型。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08FB7B7-63CE-4F55-8DB6-76B98207DE9B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CE6CF6C-73CC-44B7-B052-B4D258245969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我们关心的是：实验如何生产知识，而不是只关心模型是否更强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>
                <a:solidFill>
                  <a:srgbClr val="F5F7FA"/>
                </a:solidFill>
                <a:latin typeface="Aptos"/>
              </a:rPr>
              <a:t>SDL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的出现，是实验方法论、硬件自动化、数据化与算法决策的合流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因此，本讲既谈传统方法，也谈</a:t>
            </a:r>
            <a:r>
              <a:rPr sz="1575" dirty="0">
                <a:solidFill>
                  <a:srgbClr val="F5F7FA"/>
                </a:solidFill>
                <a:latin typeface="Aptos"/>
              </a:rPr>
              <a:t> AI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时代的新组织形式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E06AE9-1C69-4CF9-B34F-71C0BCFDA166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B07B3BA-D296-42B5-A581-1EFFE4FC7D1A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讲座产出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11CC42D-5196-4B4B-9EB2-67169A18CB4B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听完后，学生应该能回答三个问题：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1. 为什么实验仍是中心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2. DOE 与 SDL 的关系是什么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3. 哪些问题适合做 SDL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CB8A842-5E1D-4246-89C5-343863D80BC7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0EE72B3-362E-4C3B-8707-3A224296F4B8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态度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C46E5F6-FC63-47F8-8AA5-6D45E1368259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既拥抱 AI，也质疑 AI。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既重视算法，也坚持人的判断与科学伦理。</a:t>
            </a:r>
          </a:p>
        </p:txBody>
      </p:sp>
    </p:spTree>
    <p:extLst>
      <p:ext uri="{BB962C8B-B14F-4D97-AF65-F5344CB8AC3E}">
        <p14:creationId xmlns:p14="http://schemas.microsoft.com/office/powerpoint/2010/main" val="18641154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C6FC19FF-1216-4E0D-BF35-2A25E26967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6D29DCD-FC9C-4ABE-817E-53AAC28B8BE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讲座路径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A27AD10-84A3-4E1C-8336-B5711BD94EF0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04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1D2A0A8-D690-49AC-8EDC-46ACB369589E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5B98FFE-FE71-4300-A5F6-4B108E0DF4F1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从网站到 PPT：两条交付链路，内容主线一致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E209E1-1A65-48F8-BD7D-11E23984B19D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网站负责动态演示，PPT 负责稳定交付。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0F74292-249C-4340-AE01-5721B2676719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EFAB1D6-3A7D-470A-934C-94CE9212C744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网站版适合展示课程结构、A-Lab</a:t>
            </a:r>
            <a:r>
              <a:rPr sz="1575" dirty="0">
                <a:solidFill>
                  <a:srgbClr val="F5F7FA"/>
                </a:solidFill>
                <a:latin typeface="Aptos"/>
              </a:rPr>
              <a:t>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案例页和</a:t>
            </a:r>
            <a:r>
              <a:rPr sz="1575" dirty="0">
                <a:solidFill>
                  <a:srgbClr val="F5F7FA"/>
                </a:solidFill>
                <a:latin typeface="Aptos"/>
              </a:rPr>
              <a:t> Case Studio live demo。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>
                <a:solidFill>
                  <a:srgbClr val="F5F7FA"/>
                </a:solidFill>
                <a:latin typeface="Aptos"/>
              </a:rPr>
              <a:t>PPT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版适合在网络、浏览器或现场环境不稳定时完整讲完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两条链路服务同一主线：实验</a:t>
            </a:r>
            <a:r>
              <a:rPr sz="1575" dirty="0">
                <a:solidFill>
                  <a:srgbClr val="F5F7FA"/>
                </a:solidFill>
                <a:latin typeface="Aptos"/>
              </a:rPr>
              <a:t> →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方法论</a:t>
            </a:r>
            <a:r>
              <a:rPr sz="1575" dirty="0">
                <a:solidFill>
                  <a:srgbClr val="F5F7FA"/>
                </a:solidFill>
                <a:latin typeface="Aptos"/>
              </a:rPr>
              <a:t> → SDL →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真实案例</a:t>
            </a:r>
            <a:r>
              <a:rPr sz="1575" dirty="0">
                <a:solidFill>
                  <a:srgbClr val="F5F7FA"/>
                </a:solidFill>
                <a:latin typeface="Aptos"/>
              </a:rPr>
              <a:t> →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最小闭环演示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38E3ECEE-450D-4B64-99E4-0801786B8853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1D76BF-3A51-4B1C-8566-682150171DFA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为什么两者并存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84D3D0D-50F8-48B1-AE30-CE9368D60CE7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网站适合系统与交互，PPT 适合稳定叙事；两者服务同一学术主线。</a:t>
            </a:r>
          </a:p>
        </p:txBody>
      </p:sp>
    </p:spTree>
    <p:extLst>
      <p:ext uri="{BB962C8B-B14F-4D97-AF65-F5344CB8AC3E}">
        <p14:creationId xmlns:p14="http://schemas.microsoft.com/office/powerpoint/2010/main" val="1947183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1BE02D51-785F-4BED-A405-1AA125F64B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E36133F-1B7B-4E5F-B821-63E73FC84CB9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第一部分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0B39C2E-3C4D-484F-A2CA-0F2FCA6C3FA6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05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A2BCAC-0CEC-4E3C-B732-A68E446325CE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415228D-2429-4852-A08C-1856B66CD9DD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1428750" cy="1047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5400" b="1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A4DC34B-3F0D-42A0-9376-396F29869B2E}"/>
              </a:ext>
            </a:extLst>
          </p:cNvPr>
          <p:cNvSpPr>
            <a:spLocks noGrp="1"/>
          </p:cNvSpPr>
          <p:nvPr/>
        </p:nvSpPr>
        <p:spPr>
          <a:xfrm>
            <a:off x="2571750" y="1809750"/>
            <a:ext cx="7810500" cy="666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为什么今天必须重新理解实验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8726DC6-2846-4E6F-9221-DB77127F1325}"/>
              </a:ext>
            </a:extLst>
          </p:cNvPr>
          <p:cNvSpPr>
            <a:spLocks noGrp="1"/>
          </p:cNvSpPr>
          <p:nvPr/>
        </p:nvSpPr>
        <p:spPr>
          <a:xfrm>
            <a:off x="2590800" y="2628900"/>
            <a:ext cx="7429500" cy="857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如果不先理解实验的地位，就很容易把 SDL 误解成“算法升级版 DOE”。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9CD4A59-EE5B-4309-A28A-228AD5FC56FB}"/>
              </a:ext>
            </a:extLst>
          </p:cNvPr>
          <p:cNvSpPr>
            <a:spLocks noGrp="1"/>
          </p:cNvSpPr>
          <p:nvPr/>
        </p:nvSpPr>
        <p:spPr>
          <a:xfrm>
            <a:off x="1047750" y="3924300"/>
            <a:ext cx="4000500" cy="76200"/>
          </a:xfrm>
          <a:prstGeom prst="rect">
            <a:avLst/>
          </a:prstGeom>
          <a:solidFill>
            <a:srgbClr val="13D6FF"/>
          </a:solidFill>
          <a:ln w="0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9251DF-C8CC-42C6-AAB1-B691C3B48DBE}"/>
              </a:ext>
            </a:extLst>
          </p:cNvPr>
          <p:cNvSpPr>
            <a:spLocks noGrp="1"/>
          </p:cNvSpPr>
          <p:nvPr/>
        </p:nvSpPr>
        <p:spPr>
          <a:xfrm>
            <a:off x="1047750" y="4438650"/>
            <a:ext cx="8572500" cy="762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如果不先把实验放回中心，后面关于 DOE 和 SDL 的判断都会漂。</a:t>
            </a:r>
          </a:p>
        </p:txBody>
      </p:sp>
    </p:spTree>
    <p:extLst>
      <p:ext uri="{BB962C8B-B14F-4D97-AF65-F5344CB8AC3E}">
        <p14:creationId xmlns:p14="http://schemas.microsoft.com/office/powerpoint/2010/main" val="2140142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4217068D-0BB5-4644-B34E-83AD8600D6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AA732B0-B932-446E-83B3-3F6F4809537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实验的地位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9E91A1-96A5-42D7-A539-A38543903E45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06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9774314-2DE1-4D08-8509-843171E4A2DC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37C9AB2-5F77-4C3B-99EA-C5200C529D84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实验不是理论的附庸，也不是数据的采样器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F084BE8-EE25-4FE0-BA1C-FAE59F515E68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在材料科学中，实验本身就是知识生产机制。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61DB4F1-AAA9-470A-99DD-6E6E20D255A4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B1B8668-1945-4D0C-B47B-4116CDB0DC8D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实验不仅验证理论，也发现现象、制造样品、暴露异常、纠正错误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很多</a:t>
            </a:r>
            <a:r>
              <a:rPr sz="1575" dirty="0">
                <a:solidFill>
                  <a:srgbClr val="F5F7FA"/>
                </a:solidFill>
                <a:latin typeface="Aptos"/>
              </a:rPr>
              <a:t> MSE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问题无法由纯理论直接给出答案，必须依赖实验进入真实材料世界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>
                <a:solidFill>
                  <a:srgbClr val="F5F7FA"/>
                </a:solidFill>
                <a:latin typeface="Aptos"/>
              </a:rPr>
              <a:t>因此，实验不是“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最后一步确认</a:t>
            </a:r>
            <a:r>
              <a:rPr sz="1575" dirty="0">
                <a:solidFill>
                  <a:srgbClr val="F5F7FA"/>
                </a:solidFill>
                <a:latin typeface="Aptos"/>
              </a:rPr>
              <a:t>”，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而是研究链条中的主轴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644E109-D5AC-4061-80B6-DB7323AB983F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291C6A1-CD40-4DC3-A2C6-F9D7BE483C1B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在 MSE 中，实验承担什么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EA640D7-F481-4BC6-82FB-960669A5FAED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发现 / 制备 / 表征 / 测量 / 评价 / 失效分析 / 校准 / 纠错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7EA6568-5AFD-49FC-A7B4-F0F91C886E38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E1BBD46-75A9-486C-ACDD-8B59CA45BA9B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关键判断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A74B5E8-537E-4305-94C3-25CB50792AFC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谁能更高质量地组织实验，谁就可能更快地产生可靠知识。</a:t>
            </a:r>
          </a:p>
        </p:txBody>
      </p:sp>
    </p:spTree>
    <p:extLst>
      <p:ext uri="{BB962C8B-B14F-4D97-AF65-F5344CB8AC3E}">
        <p14:creationId xmlns:p14="http://schemas.microsoft.com/office/powerpoint/2010/main" val="89384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>
            <a:extLst>
              <a:ext uri="{FF2B5EF4-FFF2-40B4-BE49-F238E27FC236}">
                <a16:creationId xmlns:a16="http://schemas.microsoft.com/office/drawing/2014/main" id="{6C990889-C897-4C4A-8C5B-212BD3866B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D5DE022-27F5-496D-9979-03293DCA71C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实验输出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98BA500-DCB8-41F6-A1E0-1FEED126A7AA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07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5BD8B3D-17C1-4745-B349-9C43E98ECD25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07ECECF-F486-4729-834A-08949F757A65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从实验类别到数据形态：SDL 关心的不只是“做了什么实验”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15FD16C-DD56-4680-B54A-85953B524122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它更关心实验会产出什么观测，以及这些观测能否进入决策。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5DCB43C-357F-436C-8247-08B72EBA1177}"/>
              </a:ext>
            </a:extLst>
          </p:cNvPr>
          <p:cNvSpPr>
            <a:spLocks noGrp="1"/>
          </p:cNvSpPr>
          <p:nvPr/>
        </p:nvSpPr>
        <p:spPr>
          <a:xfrm>
            <a:off x="838200" y="2171700"/>
            <a:ext cx="2095500" cy="438150"/>
          </a:xfrm>
          <a:prstGeom prst="roundRect">
            <a:avLst>
              <a:gd name="adj" fmla="val 17391"/>
            </a:avLst>
          </a:prstGeom>
          <a:solidFill>
            <a:srgbClr val="0E213A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FCE595E-0336-4F58-8F67-5E31EB6C01C1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866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9BD084C-A931-4C25-941C-4EE2ACC066A2}"/>
              </a:ext>
            </a:extLst>
          </p:cNvPr>
          <p:cNvSpPr>
            <a:spLocks noGrp="1"/>
          </p:cNvSpPr>
          <p:nvPr/>
        </p:nvSpPr>
        <p:spPr>
          <a:xfrm>
            <a:off x="2933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CAC0742-02C8-4F67-B543-5067F3887892}"/>
              </a:ext>
            </a:extLst>
          </p:cNvPr>
          <p:cNvSpPr>
            <a:spLocks noGrp="1"/>
          </p:cNvSpPr>
          <p:nvPr/>
        </p:nvSpPr>
        <p:spPr>
          <a:xfrm>
            <a:off x="3048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典型输出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BD7D507-19BA-427B-8BC1-39E7C48C41AC}"/>
              </a:ext>
            </a:extLst>
          </p:cNvPr>
          <p:cNvSpPr>
            <a:spLocks noGrp="1"/>
          </p:cNvSpPr>
          <p:nvPr/>
        </p:nvSpPr>
        <p:spPr>
          <a:xfrm>
            <a:off x="54102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5C39301-FEC5-40A3-9B35-E1C0112FB7B7}"/>
              </a:ext>
            </a:extLst>
          </p:cNvPr>
          <p:cNvSpPr>
            <a:spLocks noGrp="1"/>
          </p:cNvSpPr>
          <p:nvPr/>
        </p:nvSpPr>
        <p:spPr>
          <a:xfrm>
            <a:off x="55245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常见数据形态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920962E-B907-48A4-9DC8-B0B28D1413D9}"/>
              </a:ext>
            </a:extLst>
          </p:cNvPr>
          <p:cNvSpPr>
            <a:spLocks noGrp="1"/>
          </p:cNvSpPr>
          <p:nvPr/>
        </p:nvSpPr>
        <p:spPr>
          <a:xfrm>
            <a:off x="7886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3B9AF95-AA67-4D91-B974-23B8D09F111E}"/>
              </a:ext>
            </a:extLst>
          </p:cNvPr>
          <p:cNvSpPr>
            <a:spLocks noGrp="1"/>
          </p:cNvSpPr>
          <p:nvPr/>
        </p:nvSpPr>
        <p:spPr>
          <a:xfrm>
            <a:off x="8001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SDL 化难点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B769B721-C116-4959-B0BD-36F294886F96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693B8FA-7F06-46A7-A969-5CBD6C1ADAD1}"/>
              </a:ext>
            </a:extLst>
          </p:cNvPr>
          <p:cNvSpPr>
            <a:spLocks noGrp="1"/>
          </p:cNvSpPr>
          <p:nvPr/>
        </p:nvSpPr>
        <p:spPr>
          <a:xfrm>
            <a:off x="952500" y="27051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制备/加工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0E03B5E8-522B-4C8A-9D3A-CFF0B00C045F}"/>
              </a:ext>
            </a:extLst>
          </p:cNvPr>
          <p:cNvSpPr>
            <a:spLocks noGrp="1"/>
          </p:cNvSpPr>
          <p:nvPr/>
        </p:nvSpPr>
        <p:spPr>
          <a:xfrm>
            <a:off x="29337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CE55360-C3B5-4C6A-8569-1CF1A0CC7819}"/>
              </a:ext>
            </a:extLst>
          </p:cNvPr>
          <p:cNvSpPr>
            <a:spLocks noGrp="1"/>
          </p:cNvSpPr>
          <p:nvPr/>
        </p:nvSpPr>
        <p:spPr>
          <a:xfrm>
            <a:off x="30480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样品状态变化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6F95768-8BCD-4607-9173-085D8C796759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8E41868-D051-43D8-96C0-6E4B5ABB3DCF}"/>
              </a:ext>
            </a:extLst>
          </p:cNvPr>
          <p:cNvSpPr>
            <a:spLocks noGrp="1"/>
          </p:cNvSpPr>
          <p:nvPr/>
        </p:nvSpPr>
        <p:spPr>
          <a:xfrm>
            <a:off x="55245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配方表、工艺参数、批次记录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D0F85706-04AE-41CF-85ED-F39724E9740B}"/>
              </a:ext>
            </a:extLst>
          </p:cNvPr>
          <p:cNvSpPr>
            <a:spLocks noGrp="1"/>
          </p:cNvSpPr>
          <p:nvPr/>
        </p:nvSpPr>
        <p:spPr>
          <a:xfrm>
            <a:off x="78867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2E247BC-5D21-4BB0-A780-1C40DEA44F23}"/>
              </a:ext>
            </a:extLst>
          </p:cNvPr>
          <p:cNvSpPr>
            <a:spLocks noGrp="1"/>
          </p:cNvSpPr>
          <p:nvPr/>
        </p:nvSpPr>
        <p:spPr>
          <a:xfrm>
            <a:off x="80010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样品历史难标准化，过程漂移强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FC79A7B9-40FF-4ED5-846D-22EEC24752CB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E64FA6E-4192-4F4A-A228-BDB51AED0A29}"/>
              </a:ext>
            </a:extLst>
          </p:cNvPr>
          <p:cNvSpPr>
            <a:spLocks noGrp="1"/>
          </p:cNvSpPr>
          <p:nvPr/>
        </p:nvSpPr>
        <p:spPr>
          <a:xfrm>
            <a:off x="952500" y="31813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结构/成分表征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66C7045-DA68-4D41-AF35-3E648AB51BB1}"/>
              </a:ext>
            </a:extLst>
          </p:cNvPr>
          <p:cNvSpPr>
            <a:spLocks noGrp="1"/>
          </p:cNvSpPr>
          <p:nvPr/>
        </p:nvSpPr>
        <p:spPr>
          <a:xfrm>
            <a:off x="29337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DA2410F-D9E6-46C8-9657-64081CAC478E}"/>
              </a:ext>
            </a:extLst>
          </p:cNvPr>
          <p:cNvSpPr>
            <a:spLocks noGrp="1"/>
          </p:cNvSpPr>
          <p:nvPr/>
        </p:nvSpPr>
        <p:spPr>
          <a:xfrm>
            <a:off x="30480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相、成分、形貌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24AAEEA-F681-4E03-8704-D49AED9334F9}"/>
              </a:ext>
            </a:extLst>
          </p:cNvPr>
          <p:cNvSpPr>
            <a:spLocks noGrp="1"/>
          </p:cNvSpPr>
          <p:nvPr/>
        </p:nvSpPr>
        <p:spPr>
          <a:xfrm>
            <a:off x="54102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12CC00C-79EB-47E1-86AD-9FE35DC6E5A3}"/>
              </a:ext>
            </a:extLst>
          </p:cNvPr>
          <p:cNvSpPr>
            <a:spLocks noGrp="1"/>
          </p:cNvSpPr>
          <p:nvPr/>
        </p:nvSpPr>
        <p:spPr>
          <a:xfrm>
            <a:off x="55245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谱图、峰位、图像、mapping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4E66DB0B-768A-455D-880C-62D331940D22}"/>
              </a:ext>
            </a:extLst>
          </p:cNvPr>
          <p:cNvSpPr>
            <a:spLocks noGrp="1"/>
          </p:cNvSpPr>
          <p:nvPr/>
        </p:nvSpPr>
        <p:spPr>
          <a:xfrm>
            <a:off x="78867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575CC5A-B635-4A71-82B7-4B712BC44148}"/>
              </a:ext>
            </a:extLst>
          </p:cNvPr>
          <p:cNvSpPr>
            <a:spLocks noGrp="1"/>
          </p:cNvSpPr>
          <p:nvPr/>
        </p:nvSpPr>
        <p:spPr>
          <a:xfrm>
            <a:off x="80010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高维数据多，解释链长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AD21BBF-C345-4AED-9B7D-6E9387BF78BE}"/>
              </a:ext>
            </a:extLst>
          </p:cNvPr>
          <p:cNvSpPr>
            <a:spLocks noGrp="1"/>
          </p:cNvSpPr>
          <p:nvPr/>
        </p:nvSpPr>
        <p:spPr>
          <a:xfrm>
            <a:off x="838200" y="35623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4E1B168-F793-4C86-988E-C8A0D5052525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物性/性能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6AB81C5-3357-4443-94B9-5C4F93034AFA}"/>
              </a:ext>
            </a:extLst>
          </p:cNvPr>
          <p:cNvSpPr>
            <a:spLocks noGrp="1"/>
          </p:cNvSpPr>
          <p:nvPr/>
        </p:nvSpPr>
        <p:spPr>
          <a:xfrm>
            <a:off x="29337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ACBB37C-0409-4AF9-8DBE-04BC745599B6}"/>
              </a:ext>
            </a:extLst>
          </p:cNvPr>
          <p:cNvSpPr>
            <a:spLocks noGrp="1"/>
          </p:cNvSpPr>
          <p:nvPr/>
        </p:nvSpPr>
        <p:spPr>
          <a:xfrm>
            <a:off x="30480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电、热、力、化学响应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8EB44C0-69D5-46B8-90C2-E391B4BF07C3}"/>
              </a:ext>
            </a:extLst>
          </p:cNvPr>
          <p:cNvSpPr>
            <a:spLocks noGrp="1"/>
          </p:cNvSpPr>
          <p:nvPr/>
        </p:nvSpPr>
        <p:spPr>
          <a:xfrm>
            <a:off x="54102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E538F6C-2970-4FFA-B941-615B9C3F3C98}"/>
              </a:ext>
            </a:extLst>
          </p:cNvPr>
          <p:cNvSpPr>
            <a:spLocks noGrp="1"/>
          </p:cNvSpPr>
          <p:nvPr/>
        </p:nvSpPr>
        <p:spPr>
          <a:xfrm>
            <a:off x="55245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曲线、标量、循环数据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97BBE64-743B-4638-9548-E8943B63393D}"/>
              </a:ext>
            </a:extLst>
          </p:cNvPr>
          <p:cNvSpPr>
            <a:spLocks noGrp="1"/>
          </p:cNvSpPr>
          <p:nvPr/>
        </p:nvSpPr>
        <p:spPr>
          <a:xfrm>
            <a:off x="78867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B8E2CF2-7A7D-46DA-B9E6-616A7E0E5B8E}"/>
              </a:ext>
            </a:extLst>
          </p:cNvPr>
          <p:cNvSpPr>
            <a:spLocks noGrp="1"/>
          </p:cNvSpPr>
          <p:nvPr/>
        </p:nvSpPr>
        <p:spPr>
          <a:xfrm>
            <a:off x="80010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目标常多元，测量时间不均一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7793750E-7382-458A-BFDE-67001BB943DA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C9F926A-0F87-45FC-BAB4-993E1B3FD84D}"/>
              </a:ext>
            </a:extLst>
          </p:cNvPr>
          <p:cNvSpPr>
            <a:spLocks noGrp="1"/>
          </p:cNvSpPr>
          <p:nvPr/>
        </p:nvSpPr>
        <p:spPr>
          <a:xfrm>
            <a:off x="952500" y="41338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失效/可靠性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E595E366-58AE-4B73-9AE4-9E8076CABAA7}"/>
              </a:ext>
            </a:extLst>
          </p:cNvPr>
          <p:cNvSpPr>
            <a:spLocks noGrp="1"/>
          </p:cNvSpPr>
          <p:nvPr/>
        </p:nvSpPr>
        <p:spPr>
          <a:xfrm>
            <a:off x="29337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88F549E-7AE7-48D4-B6D0-5E26EAA1B59D}"/>
              </a:ext>
            </a:extLst>
          </p:cNvPr>
          <p:cNvSpPr>
            <a:spLocks noGrp="1"/>
          </p:cNvSpPr>
          <p:nvPr/>
        </p:nvSpPr>
        <p:spPr>
          <a:xfrm>
            <a:off x="30480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寿命、退化、异常模式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5943CA56-F187-448E-A173-542DC19EBFC5}"/>
              </a:ext>
            </a:extLst>
          </p:cNvPr>
          <p:cNvSpPr>
            <a:spLocks noGrp="1"/>
          </p:cNvSpPr>
          <p:nvPr/>
        </p:nvSpPr>
        <p:spPr>
          <a:xfrm>
            <a:off x="54102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151B40C-2B4F-45B5-9B34-AC4736E22377}"/>
              </a:ext>
            </a:extLst>
          </p:cNvPr>
          <p:cNvSpPr>
            <a:spLocks noGrp="1"/>
          </p:cNvSpPr>
          <p:nvPr/>
        </p:nvSpPr>
        <p:spPr>
          <a:xfrm>
            <a:off x="55245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时间序列、统计分布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499FE837-CC5C-4479-8D9D-83C34EC9D480}"/>
              </a:ext>
            </a:extLst>
          </p:cNvPr>
          <p:cNvSpPr>
            <a:spLocks noGrp="1"/>
          </p:cNvSpPr>
          <p:nvPr/>
        </p:nvSpPr>
        <p:spPr>
          <a:xfrm>
            <a:off x="78867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29F7207-4524-48A8-BD6D-4F84F2A50E15}"/>
              </a:ext>
            </a:extLst>
          </p:cNvPr>
          <p:cNvSpPr>
            <a:spLocks noGrp="1"/>
          </p:cNvSpPr>
          <p:nvPr/>
        </p:nvSpPr>
        <p:spPr>
          <a:xfrm>
            <a:off x="80010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成本高、时间长、噪声和偶然性强</a:t>
            </a:r>
          </a:p>
        </p:txBody>
      </p:sp>
    </p:spTree>
    <p:extLst>
      <p:ext uri="{BB962C8B-B14F-4D97-AF65-F5344CB8AC3E}">
        <p14:creationId xmlns:p14="http://schemas.microsoft.com/office/powerpoint/2010/main" val="344260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E519D206-DCDA-463E-A304-2920105BD1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1050450-F6F6-4872-BDC3-0065C2AF4A09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实验的角色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8A4E168-8ADB-43E9-8037-A85555DB1ACF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08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F9923F9-8AC5-4F08-899D-B10E2224B511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3536D4-5A9F-4701-943A-3DB578D0DF84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实验如何贯穿一条典型的 MSE 知识链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BDDDCDF-6DA6-4851-936E-853BDC58E22D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它不是单点动作，而是一条连续工作流。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CF0A6C9-6E6E-489E-B43D-BBEC75EAE66E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D9A9BF-AA83-4EA7-A321-B4A246613F94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问题提出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A3DEC63-D903-4403-AF88-B7D586385F07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我们想优化什么、理解什么、验证什么？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3C44C439-E857-471C-8CB9-D6DA3236EE8D}"/>
              </a:ext>
            </a:extLst>
          </p:cNvPr>
          <p:cNvSpPr>
            <a:spLocks noGrp="1"/>
          </p:cNvSpPr>
          <p:nvPr/>
        </p:nvSpPr>
        <p:spPr>
          <a:xfrm>
            <a:off x="443865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DA2D9C4-8FAF-40FA-9748-8C00114DC583}"/>
              </a:ext>
            </a:extLst>
          </p:cNvPr>
          <p:cNvSpPr>
            <a:spLocks noGrp="1"/>
          </p:cNvSpPr>
          <p:nvPr/>
        </p:nvSpPr>
        <p:spPr>
          <a:xfrm>
            <a:off x="459105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样品与制备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EAE6D47-DB4F-44D4-A816-80ACB05C116D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材料从想法变成可被研究的真实对象。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41E32F4-6339-42F1-87FF-604EC2DDE783}"/>
              </a:ext>
            </a:extLst>
          </p:cNvPr>
          <p:cNvSpPr>
            <a:spLocks noGrp="1"/>
          </p:cNvSpPr>
          <p:nvPr/>
        </p:nvSpPr>
        <p:spPr>
          <a:xfrm>
            <a:off x="80391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F18BFA1-8E86-4113-8389-FA5B777D1FCF}"/>
              </a:ext>
            </a:extLst>
          </p:cNvPr>
          <p:cNvSpPr>
            <a:spLocks noGrp="1"/>
          </p:cNvSpPr>
          <p:nvPr/>
        </p:nvSpPr>
        <p:spPr>
          <a:xfrm>
            <a:off x="81915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表征与测量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ADF148B-6357-48B5-AA3D-251E5B421BE7}"/>
              </a:ext>
            </a:extLst>
          </p:cNvPr>
          <p:cNvSpPr>
            <a:spLocks noGrp="1"/>
          </p:cNvSpPr>
          <p:nvPr/>
        </p:nvSpPr>
        <p:spPr>
          <a:xfrm>
            <a:off x="81915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结构、组成、性能、失效等响应被观察和记录。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8C4966B-07F6-4439-86A8-C7A9C7175F92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71C4866-6E66-470A-BF07-E83637E52283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数据与模型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58314D4-566C-4671-9ED5-E1D9472AE0A7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实验结果被整理、比较、建模和解释。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5E147174-E311-40F2-8E51-32A3DB0B8020}"/>
              </a:ext>
            </a:extLst>
          </p:cNvPr>
          <p:cNvSpPr>
            <a:spLocks noGrp="1"/>
          </p:cNvSpPr>
          <p:nvPr/>
        </p:nvSpPr>
        <p:spPr>
          <a:xfrm>
            <a:off x="443865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CC97777-9977-4021-A947-642097B35EC2}"/>
              </a:ext>
            </a:extLst>
          </p:cNvPr>
          <p:cNvSpPr>
            <a:spLocks noGrp="1"/>
          </p:cNvSpPr>
          <p:nvPr/>
        </p:nvSpPr>
        <p:spPr>
          <a:xfrm>
            <a:off x="459105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判断与决策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61869F9-F2D1-40BB-8D19-EC8250144C56}"/>
              </a:ext>
            </a:extLst>
          </p:cNvPr>
          <p:cNvSpPr>
            <a:spLocks noGrp="1"/>
          </p:cNvSpPr>
          <p:nvPr/>
        </p:nvSpPr>
        <p:spPr>
          <a:xfrm>
            <a:off x="459105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研究者决定下一个实验点、下一个变量或下一个机制假说。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D738FE1-597F-4B03-8EBC-278894EA0FE1}"/>
              </a:ext>
            </a:extLst>
          </p:cNvPr>
          <p:cNvSpPr>
            <a:spLocks noGrp="1"/>
          </p:cNvSpPr>
          <p:nvPr/>
        </p:nvSpPr>
        <p:spPr>
          <a:xfrm>
            <a:off x="80391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C24E5AB-DC0D-4037-A2A0-B20A4461ED84}"/>
              </a:ext>
            </a:extLst>
          </p:cNvPr>
          <p:cNvSpPr>
            <a:spLocks noGrp="1"/>
          </p:cNvSpPr>
          <p:nvPr/>
        </p:nvSpPr>
        <p:spPr>
          <a:xfrm>
            <a:off x="81915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反馈与纠错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BAC5AEE-D44D-4573-A1AE-A2EDC4D669DD}"/>
              </a:ext>
            </a:extLst>
          </p:cNvPr>
          <p:cNvSpPr>
            <a:spLocks noGrp="1"/>
          </p:cNvSpPr>
          <p:nvPr/>
        </p:nvSpPr>
        <p:spPr>
          <a:xfrm>
            <a:off x="81915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异常、误差、重复性和反例推动科学自我修正。</a:t>
            </a:r>
          </a:p>
        </p:txBody>
      </p:sp>
    </p:spTree>
    <p:extLst>
      <p:ext uri="{BB962C8B-B14F-4D97-AF65-F5344CB8AC3E}">
        <p14:creationId xmlns:p14="http://schemas.microsoft.com/office/powerpoint/2010/main" val="1070058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D776708-9A35-49BC-B027-DE5A686B98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5AB0059-8901-4CE5-AA14-A9995820DDF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为什么是今天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6D6D42B-A337-4BEB-AFD6-583A54A69B9D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09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C2C61B8-4022-465C-8378-04FCC10E0EA2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64EBDEF-CE60-44B1-954C-59D71C536DB0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为什么今天谈 SDL，而不是十年前或二十年前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BBBC29E-84DC-4269-B89F-AFFD212D954B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因为实验条件、数据条件和计算条件正在同时成熟。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E5124BC-EDBC-4988-820B-57F130D83F58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108EA47-B301-4F92-9107-769911503264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实验硬件更自动化：样品制备、表征、搬运、调度逐渐可编排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实验数据更可计算：传感、记录、数据库和元数据体系更成熟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算法更能进入闭环：不只做离线预测，还能参与下一实验点决策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4FEF826-B088-48D8-99C4-12D21BE65007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33E0C61-43D5-4335-8BC7-9CF49ABC959B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三条线收束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F786CB1-CFE2-4B96-B3D2-7E0E93655ECD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硬件自动化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数据化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模型驱动决策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1DCE883-BC2F-44F4-8410-6CA745865141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EFB08B4-39F0-4656-A0B5-6F3946A54902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因此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DE86DA9-0E1E-4085-930D-F2B665B6F285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SDL 不是突然出现的新名词，而是多条技术线索在实验系统中的收束。</a:t>
            </a:r>
          </a:p>
        </p:txBody>
      </p:sp>
    </p:spTree>
    <p:extLst>
      <p:ext uri="{BB962C8B-B14F-4D97-AF65-F5344CB8AC3E}">
        <p14:creationId xmlns:p14="http://schemas.microsoft.com/office/powerpoint/2010/main" val="1572753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1C97D714-BF93-4F73-9520-0BC2F5674B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A63FEF-530F-414D-97B2-EBDF79DC38A5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科学范式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3BA5F98-34D8-4927-A2D3-60DD05B843DC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10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CDF057-E50D-4298-8EA6-D74565DF164C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48632A1-0E1C-4298-9D52-7C9EAD2BCEA6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从自然观察到自驱实验：知识生产方式如何演化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5B2796A-7836-4C92-97EE-2EC6A17D83FA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范式变化的关键，不只是工具变化，而是“如何得到知识”在变化。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E4FE6B-50F8-4A9F-A0BF-D6CA90117BAB}"/>
              </a:ext>
            </a:extLst>
          </p:cNvPr>
          <p:cNvSpPr>
            <a:spLocks noGrp="1"/>
          </p:cNvSpPr>
          <p:nvPr/>
        </p:nvSpPr>
        <p:spPr>
          <a:xfrm>
            <a:off x="857250" y="2571750"/>
            <a:ext cx="19716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A4FC137-E1FE-423E-9A6D-8731D42CA83E}"/>
              </a:ext>
            </a:extLst>
          </p:cNvPr>
          <p:cNvSpPr>
            <a:spLocks noGrp="1"/>
          </p:cNvSpPr>
          <p:nvPr/>
        </p:nvSpPr>
        <p:spPr>
          <a:xfrm>
            <a:off x="1009650" y="2724150"/>
            <a:ext cx="16668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P1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27E016A-4EB2-4AEE-B3A3-2078D9F5D530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16668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观察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70BBA4F-315A-46CA-88D8-92C0A3D5D919}"/>
              </a:ext>
            </a:extLst>
          </p:cNvPr>
          <p:cNvSpPr>
            <a:spLocks noGrp="1"/>
          </p:cNvSpPr>
          <p:nvPr/>
        </p:nvSpPr>
        <p:spPr>
          <a:xfrm>
            <a:off x="1009650" y="3352800"/>
            <a:ext cx="16668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以经验观察为主，积累现象和记述。</a:t>
            </a:r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091522D9-AF9F-47EC-84E2-0BE55E77E11C}"/>
              </a:ext>
            </a:extLst>
          </p:cNvPr>
          <p:cNvSpPr>
            <a:spLocks noGrp="1"/>
          </p:cNvSpPr>
          <p:nvPr/>
        </p:nvSpPr>
        <p:spPr>
          <a:xfrm>
            <a:off x="2867025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9CE9475-6A0B-45B5-9301-828669903CF7}"/>
              </a:ext>
            </a:extLst>
          </p:cNvPr>
          <p:cNvSpPr>
            <a:spLocks noGrp="1"/>
          </p:cNvSpPr>
          <p:nvPr/>
        </p:nvSpPr>
        <p:spPr>
          <a:xfrm>
            <a:off x="2981325" y="2571750"/>
            <a:ext cx="19716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DA6FC08-A209-480D-AB68-F709C77847E4}"/>
              </a:ext>
            </a:extLst>
          </p:cNvPr>
          <p:cNvSpPr>
            <a:spLocks noGrp="1"/>
          </p:cNvSpPr>
          <p:nvPr/>
        </p:nvSpPr>
        <p:spPr>
          <a:xfrm>
            <a:off x="3133725" y="2724150"/>
            <a:ext cx="16668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P2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3C7BAC-0C26-4B9F-979E-2F0485F48331}"/>
              </a:ext>
            </a:extLst>
          </p:cNvPr>
          <p:cNvSpPr>
            <a:spLocks noGrp="1"/>
          </p:cNvSpPr>
          <p:nvPr/>
        </p:nvSpPr>
        <p:spPr>
          <a:xfrm>
            <a:off x="3133725" y="2971800"/>
            <a:ext cx="16668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理论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A6E5C89-FB5D-4F4A-9BA6-6CBD4798C8CA}"/>
              </a:ext>
            </a:extLst>
          </p:cNvPr>
          <p:cNvSpPr>
            <a:spLocks noGrp="1"/>
          </p:cNvSpPr>
          <p:nvPr/>
        </p:nvSpPr>
        <p:spPr>
          <a:xfrm>
            <a:off x="3133725" y="3352800"/>
            <a:ext cx="16668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通过抽象理论组织现象，形成定律和解释。</a:t>
            </a: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A893C607-0159-4044-B714-5197D691C25C}"/>
              </a:ext>
            </a:extLst>
          </p:cNvPr>
          <p:cNvSpPr>
            <a:spLocks noGrp="1"/>
          </p:cNvSpPr>
          <p:nvPr/>
        </p:nvSpPr>
        <p:spPr>
          <a:xfrm>
            <a:off x="4991100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C8A75B4-6EE1-464B-A527-094474F047AD}"/>
              </a:ext>
            </a:extLst>
          </p:cNvPr>
          <p:cNvSpPr>
            <a:spLocks noGrp="1"/>
          </p:cNvSpPr>
          <p:nvPr/>
        </p:nvSpPr>
        <p:spPr>
          <a:xfrm>
            <a:off x="5105400" y="2571750"/>
            <a:ext cx="19716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322AB70-74E7-4958-A5C6-74C73B1AAEBC}"/>
              </a:ext>
            </a:extLst>
          </p:cNvPr>
          <p:cNvSpPr>
            <a:spLocks noGrp="1"/>
          </p:cNvSpPr>
          <p:nvPr/>
        </p:nvSpPr>
        <p:spPr>
          <a:xfrm>
            <a:off x="5257800" y="2724150"/>
            <a:ext cx="16668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P3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DBF3519-4EAD-4C9C-BAE7-94F2BEC33984}"/>
              </a:ext>
            </a:extLst>
          </p:cNvPr>
          <p:cNvSpPr>
            <a:spLocks noGrp="1"/>
          </p:cNvSpPr>
          <p:nvPr/>
        </p:nvSpPr>
        <p:spPr>
          <a:xfrm>
            <a:off x="5257800" y="2971800"/>
            <a:ext cx="16668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计算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04F7973-43DA-442A-92BA-13523AE65BCA}"/>
              </a:ext>
            </a:extLst>
          </p:cNvPr>
          <p:cNvSpPr>
            <a:spLocks noGrp="1"/>
          </p:cNvSpPr>
          <p:nvPr/>
        </p:nvSpPr>
        <p:spPr>
          <a:xfrm>
            <a:off x="5257800" y="3352800"/>
            <a:ext cx="16668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借助数值模拟和计算模型处理复杂系统。</a:t>
            </a:r>
          </a:p>
        </p:txBody>
      </p:sp>
      <p:sp>
        <p:nvSpPr>
          <p:cNvPr id="21" name="箭头: 右 20">
            <a:extLst>
              <a:ext uri="{FF2B5EF4-FFF2-40B4-BE49-F238E27FC236}">
                <a16:creationId xmlns:a16="http://schemas.microsoft.com/office/drawing/2014/main" id="{3B12071D-620C-498D-9450-D24D2AA0ABBE}"/>
              </a:ext>
            </a:extLst>
          </p:cNvPr>
          <p:cNvSpPr>
            <a:spLocks noGrp="1"/>
          </p:cNvSpPr>
          <p:nvPr/>
        </p:nvSpPr>
        <p:spPr>
          <a:xfrm>
            <a:off x="7115175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76394B8-1B27-456B-8969-280724F81B00}"/>
              </a:ext>
            </a:extLst>
          </p:cNvPr>
          <p:cNvSpPr>
            <a:spLocks noGrp="1"/>
          </p:cNvSpPr>
          <p:nvPr/>
        </p:nvSpPr>
        <p:spPr>
          <a:xfrm>
            <a:off x="7229475" y="2571750"/>
            <a:ext cx="19716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3038E1D-F024-4C81-9D3D-258DA9FF528E}"/>
              </a:ext>
            </a:extLst>
          </p:cNvPr>
          <p:cNvSpPr>
            <a:spLocks noGrp="1"/>
          </p:cNvSpPr>
          <p:nvPr/>
        </p:nvSpPr>
        <p:spPr>
          <a:xfrm>
            <a:off x="7381875" y="2724150"/>
            <a:ext cx="16668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t>P4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7A54EFA-84E1-4188-B5F6-55F9768EE73D}"/>
              </a:ext>
            </a:extLst>
          </p:cNvPr>
          <p:cNvSpPr>
            <a:spLocks noGrp="1"/>
          </p:cNvSpPr>
          <p:nvPr/>
        </p:nvSpPr>
        <p:spPr>
          <a:xfrm>
            <a:off x="7381875" y="2971800"/>
            <a:ext cx="16668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数据密集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791C42F-B9FF-444A-9541-B61652419775}"/>
              </a:ext>
            </a:extLst>
          </p:cNvPr>
          <p:cNvSpPr>
            <a:spLocks noGrp="1"/>
          </p:cNvSpPr>
          <p:nvPr/>
        </p:nvSpPr>
        <p:spPr>
          <a:xfrm>
            <a:off x="7381875" y="3352800"/>
            <a:ext cx="16668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大量数据、数据库和统计/机器学习加入发现过程。</a:t>
            </a: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1FA55F0B-D7FC-4070-875C-C0E6AD1D400E}"/>
              </a:ext>
            </a:extLst>
          </p:cNvPr>
          <p:cNvSpPr>
            <a:spLocks noGrp="1"/>
          </p:cNvSpPr>
          <p:nvPr/>
        </p:nvSpPr>
        <p:spPr>
          <a:xfrm>
            <a:off x="9239250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126F84C2-2F6B-4462-8D0C-CD6C7466412B}"/>
              </a:ext>
            </a:extLst>
          </p:cNvPr>
          <p:cNvSpPr>
            <a:spLocks noGrp="1"/>
          </p:cNvSpPr>
          <p:nvPr/>
        </p:nvSpPr>
        <p:spPr>
          <a:xfrm>
            <a:off x="9353550" y="2571750"/>
            <a:ext cx="19716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1AA57A9-AB2B-47A4-8FBE-9DA573AE7646}"/>
              </a:ext>
            </a:extLst>
          </p:cNvPr>
          <p:cNvSpPr>
            <a:spLocks noGrp="1"/>
          </p:cNvSpPr>
          <p:nvPr/>
        </p:nvSpPr>
        <p:spPr>
          <a:xfrm>
            <a:off x="9505950" y="2724150"/>
            <a:ext cx="16668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P5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D507C60-0529-4D58-B572-86A66A8FE6C5}"/>
              </a:ext>
            </a:extLst>
          </p:cNvPr>
          <p:cNvSpPr>
            <a:spLocks noGrp="1"/>
          </p:cNvSpPr>
          <p:nvPr/>
        </p:nvSpPr>
        <p:spPr>
          <a:xfrm>
            <a:off x="9505950" y="2971800"/>
            <a:ext cx="16668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自驱实验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FBAC712-7D46-46F3-AE0E-235D4251A12F}"/>
              </a:ext>
            </a:extLst>
          </p:cNvPr>
          <p:cNvSpPr>
            <a:spLocks noGrp="1"/>
          </p:cNvSpPr>
          <p:nvPr/>
        </p:nvSpPr>
        <p:spPr>
          <a:xfrm>
            <a:off x="9505950" y="3352800"/>
            <a:ext cx="16668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模型开始进入实验闭环，参与实验设计与执行节奏。</a:t>
            </a:r>
          </a:p>
        </p:txBody>
      </p:sp>
    </p:spTree>
    <p:extLst>
      <p:ext uri="{BB962C8B-B14F-4D97-AF65-F5344CB8AC3E}">
        <p14:creationId xmlns:p14="http://schemas.microsoft.com/office/powerpoint/2010/main" val="904768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>
            <a:extLst>
              <a:ext uri="{FF2B5EF4-FFF2-40B4-BE49-F238E27FC236}">
                <a16:creationId xmlns:a16="http://schemas.microsoft.com/office/drawing/2014/main" id="{B3B93E24-4DCC-4114-99E0-F9245952DD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4B4E4DC-3893-423D-8135-FFD4EE570DFE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范式比较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90781A5-2743-4222-A883-3A657530C2AF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11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40163F2-9517-407A-B6F5-0F7E9258BF82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90EA19A-2C15-4501-8807-E5D575ED8FC5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第四范式与第五范式的差别，不在“数据更多”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00BA5FB-CCE5-46E4-A24E-39CDD80773AD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真正的区别在于模型是否进入行动链。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6C93278-7D54-4278-9627-42629648EF0D}"/>
              </a:ext>
            </a:extLst>
          </p:cNvPr>
          <p:cNvSpPr>
            <a:spLocks noGrp="1"/>
          </p:cNvSpPr>
          <p:nvPr/>
        </p:nvSpPr>
        <p:spPr>
          <a:xfrm>
            <a:off x="838200" y="2171700"/>
            <a:ext cx="2095500" cy="438150"/>
          </a:xfrm>
          <a:prstGeom prst="roundRect">
            <a:avLst>
              <a:gd name="adj" fmla="val 17391"/>
            </a:avLst>
          </a:prstGeom>
          <a:solidFill>
            <a:srgbClr val="0E213A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5B815BD-D38A-46F8-85FB-0C7DC30641A1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866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A6D43A1E-62DD-4739-B088-0837B692E2C1}"/>
              </a:ext>
            </a:extLst>
          </p:cNvPr>
          <p:cNvSpPr>
            <a:spLocks noGrp="1"/>
          </p:cNvSpPr>
          <p:nvPr/>
        </p:nvSpPr>
        <p:spPr>
          <a:xfrm>
            <a:off x="2933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D441D56-8C8E-44EF-8199-D0102EEDB996}"/>
              </a:ext>
            </a:extLst>
          </p:cNvPr>
          <p:cNvSpPr>
            <a:spLocks noGrp="1"/>
          </p:cNvSpPr>
          <p:nvPr/>
        </p:nvSpPr>
        <p:spPr>
          <a:xfrm>
            <a:off x="3048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第四范式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FB063AF-E19C-4665-A3E3-07C311971926}"/>
              </a:ext>
            </a:extLst>
          </p:cNvPr>
          <p:cNvSpPr>
            <a:spLocks noGrp="1"/>
          </p:cNvSpPr>
          <p:nvPr/>
        </p:nvSpPr>
        <p:spPr>
          <a:xfrm>
            <a:off x="54102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EAB48AE-7492-45F6-94D4-21A2AFE6EFB2}"/>
              </a:ext>
            </a:extLst>
          </p:cNvPr>
          <p:cNvSpPr>
            <a:spLocks noGrp="1"/>
          </p:cNvSpPr>
          <p:nvPr/>
        </p:nvSpPr>
        <p:spPr>
          <a:xfrm>
            <a:off x="55245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第五范式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066DC2E-ECED-4546-ADDE-339A6FF9252D}"/>
              </a:ext>
            </a:extLst>
          </p:cNvPr>
          <p:cNvSpPr>
            <a:spLocks noGrp="1"/>
          </p:cNvSpPr>
          <p:nvPr/>
        </p:nvSpPr>
        <p:spPr>
          <a:xfrm>
            <a:off x="7886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F8D8474-1271-4907-AF8A-1188DBF965EB}"/>
              </a:ext>
            </a:extLst>
          </p:cNvPr>
          <p:cNvSpPr>
            <a:spLocks noGrp="1"/>
          </p:cNvSpPr>
          <p:nvPr/>
        </p:nvSpPr>
        <p:spPr>
          <a:xfrm>
            <a:off x="8001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对实验的意义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7FD3A7F-CE51-4985-ABC7-EEBEDB0DB2CB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2A5A286-8172-4CED-90D0-92851473406A}"/>
              </a:ext>
            </a:extLst>
          </p:cNvPr>
          <p:cNvSpPr>
            <a:spLocks noGrp="1"/>
          </p:cNvSpPr>
          <p:nvPr/>
        </p:nvSpPr>
        <p:spPr>
          <a:xfrm>
            <a:off x="952500" y="27051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主要对象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B3F98D2-F718-4153-9AF1-A556B7F93081}"/>
              </a:ext>
            </a:extLst>
          </p:cNvPr>
          <p:cNvSpPr>
            <a:spLocks noGrp="1"/>
          </p:cNvSpPr>
          <p:nvPr/>
        </p:nvSpPr>
        <p:spPr>
          <a:xfrm>
            <a:off x="29337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42F1953-46F0-4B8B-9071-EDC79A21BA8E}"/>
              </a:ext>
            </a:extLst>
          </p:cNvPr>
          <p:cNvSpPr>
            <a:spLocks noGrp="1"/>
          </p:cNvSpPr>
          <p:nvPr/>
        </p:nvSpPr>
        <p:spPr>
          <a:xfrm>
            <a:off x="30480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数据与模式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2DE5B0E-D37E-4D34-970D-56DDCA945216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793F3F7-E7D6-4663-9A65-890577A78FFE}"/>
              </a:ext>
            </a:extLst>
          </p:cNvPr>
          <p:cNvSpPr>
            <a:spLocks noGrp="1"/>
          </p:cNvSpPr>
          <p:nvPr/>
        </p:nvSpPr>
        <p:spPr>
          <a:xfrm>
            <a:off x="55245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数据、模式与行动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ED8F03F-F54D-4FE9-BF75-B909EDE50512}"/>
              </a:ext>
            </a:extLst>
          </p:cNvPr>
          <p:cNvSpPr>
            <a:spLocks noGrp="1"/>
          </p:cNvSpPr>
          <p:nvPr/>
        </p:nvSpPr>
        <p:spPr>
          <a:xfrm>
            <a:off x="78867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4A97EA5-C2A7-4E37-96ED-D0DA140B5829}"/>
              </a:ext>
            </a:extLst>
          </p:cNvPr>
          <p:cNvSpPr>
            <a:spLocks noGrp="1"/>
          </p:cNvSpPr>
          <p:nvPr/>
        </p:nvSpPr>
        <p:spPr>
          <a:xfrm>
            <a:off x="80010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从“看懂”走向“决定下一步”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B92BF8E8-C366-443F-AA4F-6AB21C1C103A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5C4DAC0-FBDC-471A-9119-D4E535316C43}"/>
              </a:ext>
            </a:extLst>
          </p:cNvPr>
          <p:cNvSpPr>
            <a:spLocks noGrp="1"/>
          </p:cNvSpPr>
          <p:nvPr/>
        </p:nvSpPr>
        <p:spPr>
          <a:xfrm>
            <a:off x="952500" y="31813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模型角色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0E1F7A6-A5CD-4F62-B914-1DA25D4B6E43}"/>
              </a:ext>
            </a:extLst>
          </p:cNvPr>
          <p:cNvSpPr>
            <a:spLocks noGrp="1"/>
          </p:cNvSpPr>
          <p:nvPr/>
        </p:nvSpPr>
        <p:spPr>
          <a:xfrm>
            <a:off x="29337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ECCDC82-4115-4E03-8282-DCC7BC1EB538}"/>
              </a:ext>
            </a:extLst>
          </p:cNvPr>
          <p:cNvSpPr>
            <a:spLocks noGrp="1"/>
          </p:cNvSpPr>
          <p:nvPr/>
        </p:nvSpPr>
        <p:spPr>
          <a:xfrm>
            <a:off x="30480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分析与预测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FE9BEA8-C602-4F09-8895-E7DC2857E851}"/>
              </a:ext>
            </a:extLst>
          </p:cNvPr>
          <p:cNvSpPr>
            <a:spLocks noGrp="1"/>
          </p:cNvSpPr>
          <p:nvPr/>
        </p:nvSpPr>
        <p:spPr>
          <a:xfrm>
            <a:off x="54102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83269EC-71E9-4918-AB61-81217E6E6298}"/>
              </a:ext>
            </a:extLst>
          </p:cNvPr>
          <p:cNvSpPr>
            <a:spLocks noGrp="1"/>
          </p:cNvSpPr>
          <p:nvPr/>
        </p:nvSpPr>
        <p:spPr>
          <a:xfrm>
            <a:off x="55245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分析、预测与推荐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6AB2660-71B5-4786-90B9-B1517F3C3C7C}"/>
              </a:ext>
            </a:extLst>
          </p:cNvPr>
          <p:cNvSpPr>
            <a:spLocks noGrp="1"/>
          </p:cNvSpPr>
          <p:nvPr/>
        </p:nvSpPr>
        <p:spPr>
          <a:xfrm>
            <a:off x="78867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C2BE79F-6041-4CF8-8626-246F3E9FDB2E}"/>
              </a:ext>
            </a:extLst>
          </p:cNvPr>
          <p:cNvSpPr>
            <a:spLocks noGrp="1"/>
          </p:cNvSpPr>
          <p:nvPr/>
        </p:nvSpPr>
        <p:spPr>
          <a:xfrm>
            <a:off x="80010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模型开始参与实验决策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9C456411-6CC6-462A-AC36-8DF4BB7A8746}"/>
              </a:ext>
            </a:extLst>
          </p:cNvPr>
          <p:cNvSpPr>
            <a:spLocks noGrp="1"/>
          </p:cNvSpPr>
          <p:nvPr/>
        </p:nvSpPr>
        <p:spPr>
          <a:xfrm>
            <a:off x="838200" y="35623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407E959-A271-40E7-B92E-8AD7203C025A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实验角色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E464D7DC-68DF-4BDF-B72F-00FF17ABB06B}"/>
              </a:ext>
            </a:extLst>
          </p:cNvPr>
          <p:cNvSpPr>
            <a:spLocks noGrp="1"/>
          </p:cNvSpPr>
          <p:nvPr/>
        </p:nvSpPr>
        <p:spPr>
          <a:xfrm>
            <a:off x="29337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E4C9BE9-9F81-4732-9E26-E89F4210E82B}"/>
              </a:ext>
            </a:extLst>
          </p:cNvPr>
          <p:cNvSpPr>
            <a:spLocks noGrp="1"/>
          </p:cNvSpPr>
          <p:nvPr/>
        </p:nvSpPr>
        <p:spPr>
          <a:xfrm>
            <a:off x="30480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数据来源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4DAF33C1-F806-4494-82D1-6D97D428FA31}"/>
              </a:ext>
            </a:extLst>
          </p:cNvPr>
          <p:cNvSpPr>
            <a:spLocks noGrp="1"/>
          </p:cNvSpPr>
          <p:nvPr/>
        </p:nvSpPr>
        <p:spPr>
          <a:xfrm>
            <a:off x="54102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0F6FE74-7B33-4ACC-B40F-E48617231084}"/>
              </a:ext>
            </a:extLst>
          </p:cNvPr>
          <p:cNvSpPr>
            <a:spLocks noGrp="1"/>
          </p:cNvSpPr>
          <p:nvPr/>
        </p:nvSpPr>
        <p:spPr>
          <a:xfrm>
            <a:off x="55245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决策回路的一部分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31E7E67-2852-43EC-84C6-EE619F696193}"/>
              </a:ext>
            </a:extLst>
          </p:cNvPr>
          <p:cNvSpPr>
            <a:spLocks noGrp="1"/>
          </p:cNvSpPr>
          <p:nvPr/>
        </p:nvSpPr>
        <p:spPr>
          <a:xfrm>
            <a:off x="78867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1E95122-C3CC-40F5-9F39-2A9BF4CE865A}"/>
              </a:ext>
            </a:extLst>
          </p:cNvPr>
          <p:cNvSpPr>
            <a:spLocks noGrp="1"/>
          </p:cNvSpPr>
          <p:nvPr/>
        </p:nvSpPr>
        <p:spPr>
          <a:xfrm>
            <a:off x="80010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实验被更紧密地编排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8FE20A2-5D28-4B37-9202-6E3A9D16A352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F292485-1AC7-4587-8C2B-FB8323583819}"/>
              </a:ext>
            </a:extLst>
          </p:cNvPr>
          <p:cNvSpPr>
            <a:spLocks noGrp="1"/>
          </p:cNvSpPr>
          <p:nvPr/>
        </p:nvSpPr>
        <p:spPr>
          <a:xfrm>
            <a:off x="952500" y="41338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研究者角色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59F6471E-74D1-490F-BB00-83F892D8C39C}"/>
              </a:ext>
            </a:extLst>
          </p:cNvPr>
          <p:cNvSpPr>
            <a:spLocks noGrp="1"/>
          </p:cNvSpPr>
          <p:nvPr/>
        </p:nvSpPr>
        <p:spPr>
          <a:xfrm>
            <a:off x="29337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C225BE3-E8AD-441F-9768-7BEA40DF4EF8}"/>
              </a:ext>
            </a:extLst>
          </p:cNvPr>
          <p:cNvSpPr>
            <a:spLocks noGrp="1"/>
          </p:cNvSpPr>
          <p:nvPr/>
        </p:nvSpPr>
        <p:spPr>
          <a:xfrm>
            <a:off x="30480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解释者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B1E11C38-9F9F-4370-A551-7A3EA332A9F3}"/>
              </a:ext>
            </a:extLst>
          </p:cNvPr>
          <p:cNvSpPr>
            <a:spLocks noGrp="1"/>
          </p:cNvSpPr>
          <p:nvPr/>
        </p:nvSpPr>
        <p:spPr>
          <a:xfrm>
            <a:off x="54102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923B979-9DBC-41A5-B565-EDCC6181D3F7}"/>
              </a:ext>
            </a:extLst>
          </p:cNvPr>
          <p:cNvSpPr>
            <a:spLocks noGrp="1"/>
          </p:cNvSpPr>
          <p:nvPr/>
        </p:nvSpPr>
        <p:spPr>
          <a:xfrm>
            <a:off x="55245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解释者 + 监督者 + 约束设定者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4DE3D42-8ABD-4296-8C08-60CF7248867A}"/>
              </a:ext>
            </a:extLst>
          </p:cNvPr>
          <p:cNvSpPr>
            <a:spLocks noGrp="1"/>
          </p:cNvSpPr>
          <p:nvPr/>
        </p:nvSpPr>
        <p:spPr>
          <a:xfrm>
            <a:off x="78867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52FDCB02-766C-4DF2-B592-67BB63853127}"/>
              </a:ext>
            </a:extLst>
          </p:cNvPr>
          <p:cNvSpPr>
            <a:spLocks noGrp="1"/>
          </p:cNvSpPr>
          <p:nvPr/>
        </p:nvSpPr>
        <p:spPr>
          <a:xfrm>
            <a:off x="80010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人不退出，角色重构</a:t>
            </a:r>
          </a:p>
        </p:txBody>
      </p:sp>
    </p:spTree>
    <p:extLst>
      <p:ext uri="{BB962C8B-B14F-4D97-AF65-F5344CB8AC3E}">
        <p14:creationId xmlns:p14="http://schemas.microsoft.com/office/powerpoint/2010/main" val="5882804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EDE7C7D0-9A56-43F8-B491-87C08F6902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E8E1CA-A104-45F1-BA79-0E054C4C27D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实验角色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60D90F3-D3BE-48B1-A033-0CFF1FE23392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12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66E7F44-77B9-4244-A08C-7D6E942C44D8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AD040A9-2311-4FEF-8260-649E7C55BD5E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沿着五种范式看，实验的角色一直在变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5BBC261-7415-4A0C-A3D9-4DB3896799AF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同样叫“实验”，在不同范式中承担的知识功能并不一样。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75D5E71F-2955-41B1-A809-6022EC8BB71F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8C1C343-C1D6-41D6-870C-D0C6C142BFAF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观察范式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8A1C6-3FC6-48E8-B448-45689A23C6E5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实验更像现象采集与经验积累，重点是“看见什么”。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24C0C59-5003-4515-A615-78E79B69D944}"/>
              </a:ext>
            </a:extLst>
          </p:cNvPr>
          <p:cNvSpPr>
            <a:spLocks noGrp="1"/>
          </p:cNvSpPr>
          <p:nvPr/>
        </p:nvSpPr>
        <p:spPr>
          <a:xfrm>
            <a:off x="443865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122B820-553C-4FC6-A836-D75717DB63DC}"/>
              </a:ext>
            </a:extLst>
          </p:cNvPr>
          <p:cNvSpPr>
            <a:spLocks noGrp="1"/>
          </p:cNvSpPr>
          <p:nvPr/>
        </p:nvSpPr>
        <p:spPr>
          <a:xfrm>
            <a:off x="459105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理论范式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2760D02-59E9-4393-9391-8826C435130C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实验常承担验证与校正作用，重点是“理论是否站得住”。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6BEAAED-31CC-44A6-9992-BE6613335557}"/>
              </a:ext>
            </a:extLst>
          </p:cNvPr>
          <p:cNvSpPr>
            <a:spLocks noGrp="1"/>
          </p:cNvSpPr>
          <p:nvPr/>
        </p:nvSpPr>
        <p:spPr>
          <a:xfrm>
            <a:off x="80391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35C9E1E-263A-4BC9-99DE-7D7E11EAD76B}"/>
              </a:ext>
            </a:extLst>
          </p:cNvPr>
          <p:cNvSpPr>
            <a:spLocks noGrp="1"/>
          </p:cNvSpPr>
          <p:nvPr/>
        </p:nvSpPr>
        <p:spPr>
          <a:xfrm>
            <a:off x="81915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计算范式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0C83018-FF45-4F51-BC2A-E64A46014E55}"/>
              </a:ext>
            </a:extLst>
          </p:cNvPr>
          <p:cNvSpPr>
            <a:spLocks noGrp="1"/>
          </p:cNvSpPr>
          <p:nvPr/>
        </p:nvSpPr>
        <p:spPr>
          <a:xfrm>
            <a:off x="81915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实验开始与模拟互相校准，重点是“模型与现实差多远”。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3B2EB43-59D9-47E3-8357-FFA184BF3639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C267748-BC65-44F1-A2D5-D67B11D7311A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数据密集范式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A2D28A4-FFCD-4213-AD87-2FC420E6402E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实验既是数据来源，也是数据库和模型更新的入口。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25200A7-4E40-4F1F-BDA1-309BF9DB68AD}"/>
              </a:ext>
            </a:extLst>
          </p:cNvPr>
          <p:cNvSpPr>
            <a:spLocks noGrp="1"/>
          </p:cNvSpPr>
          <p:nvPr/>
        </p:nvSpPr>
        <p:spPr>
          <a:xfrm>
            <a:off x="443865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18FB4F7-84A7-4AFC-9B36-F7023C3BD65C}"/>
              </a:ext>
            </a:extLst>
          </p:cNvPr>
          <p:cNvSpPr>
            <a:spLocks noGrp="1"/>
          </p:cNvSpPr>
          <p:nvPr/>
        </p:nvSpPr>
        <p:spPr>
          <a:xfrm>
            <a:off x="459105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自驱实验范式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E63BFEA-0F03-40C8-B6B9-BA55CE57C3A3}"/>
              </a:ext>
            </a:extLst>
          </p:cNvPr>
          <p:cNvSpPr>
            <a:spLocks noGrp="1"/>
          </p:cNvSpPr>
          <p:nvPr/>
        </p:nvSpPr>
        <p:spPr>
          <a:xfrm>
            <a:off x="459105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实验进入闭环，被模型调度、被系统编排、被人监督。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7A36ADE7-C2E3-41C1-A8DD-1859EF6C7F9A}"/>
              </a:ext>
            </a:extLst>
          </p:cNvPr>
          <p:cNvSpPr>
            <a:spLocks noGrp="1"/>
          </p:cNvSpPr>
          <p:nvPr/>
        </p:nvSpPr>
        <p:spPr>
          <a:xfrm>
            <a:off x="80391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7D27743-1504-406E-B1C4-8ABB6B71F7C1}"/>
              </a:ext>
            </a:extLst>
          </p:cNvPr>
          <p:cNvSpPr>
            <a:spLocks noGrp="1"/>
          </p:cNvSpPr>
          <p:nvPr/>
        </p:nvSpPr>
        <p:spPr>
          <a:xfrm>
            <a:off x="81915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讲座结论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27212EA-BB4A-477D-B148-7773774FEDA5}"/>
              </a:ext>
            </a:extLst>
          </p:cNvPr>
          <p:cNvSpPr>
            <a:spLocks noGrp="1"/>
          </p:cNvSpPr>
          <p:nvPr/>
        </p:nvSpPr>
        <p:spPr>
          <a:xfrm>
            <a:off x="81915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SDL 不是取消实验，而是把实验推到更高频、更系统、更可追踪的位置。</a:t>
            </a:r>
          </a:p>
        </p:txBody>
      </p:sp>
    </p:spTree>
    <p:extLst>
      <p:ext uri="{BB962C8B-B14F-4D97-AF65-F5344CB8AC3E}">
        <p14:creationId xmlns:p14="http://schemas.microsoft.com/office/powerpoint/2010/main" val="1790904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ED6A039D-ED29-48EA-AEFD-50C76E3E49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DD9F77-0EBD-49D0-8B67-317ACEFE80D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范式关系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4628EC3-3E17-4633-87A3-A684D06C4E38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13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0B70E15-26F4-41F4-81FB-912F65211CE7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4262232-D783-46FC-B616-9A5E1668E860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前三种范式并没有消失，而是被第四、第五范式重新组织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E990C61-F25C-4FAF-902A-F24094940680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新范式不是替身，而是重组、串联和放大。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EA436C8-9FD0-4007-B59E-0983F29E80E0}"/>
              </a:ext>
            </a:extLst>
          </p:cNvPr>
          <p:cNvSpPr>
            <a:spLocks noGrp="1"/>
          </p:cNvSpPr>
          <p:nvPr/>
        </p:nvSpPr>
        <p:spPr>
          <a:xfrm>
            <a:off x="838200" y="2171700"/>
            <a:ext cx="2095500" cy="438150"/>
          </a:xfrm>
          <a:prstGeom prst="roundRect">
            <a:avLst>
              <a:gd name="adj" fmla="val 17391"/>
            </a:avLst>
          </a:prstGeom>
          <a:solidFill>
            <a:srgbClr val="0E213A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2A2090D-D29C-4BE8-A8B8-9B253198285A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866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ECB13E8-509A-47B6-A347-7CAE908489E9}"/>
              </a:ext>
            </a:extLst>
          </p:cNvPr>
          <p:cNvSpPr>
            <a:spLocks noGrp="1"/>
          </p:cNvSpPr>
          <p:nvPr/>
        </p:nvSpPr>
        <p:spPr>
          <a:xfrm>
            <a:off x="2933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90883C3-8BA2-4E2A-9760-DE271281E977}"/>
              </a:ext>
            </a:extLst>
          </p:cNvPr>
          <p:cNvSpPr>
            <a:spLocks noGrp="1"/>
          </p:cNvSpPr>
          <p:nvPr/>
        </p:nvSpPr>
        <p:spPr>
          <a:xfrm>
            <a:off x="3048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前三范式留下什么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97C7F99-FEA5-45C8-BEA0-A079DD74787A}"/>
              </a:ext>
            </a:extLst>
          </p:cNvPr>
          <p:cNvSpPr>
            <a:spLocks noGrp="1"/>
          </p:cNvSpPr>
          <p:nvPr/>
        </p:nvSpPr>
        <p:spPr>
          <a:xfrm>
            <a:off x="54102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0D341DA-9FB4-46CE-9945-C283EFD6A5F3}"/>
              </a:ext>
            </a:extLst>
          </p:cNvPr>
          <p:cNvSpPr>
            <a:spLocks noGrp="1"/>
          </p:cNvSpPr>
          <p:nvPr/>
        </p:nvSpPr>
        <p:spPr>
          <a:xfrm>
            <a:off x="55245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第四/第五范式如何吸收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A5E2AE4-7DFC-4509-8D1F-F53B6DF171D2}"/>
              </a:ext>
            </a:extLst>
          </p:cNvPr>
          <p:cNvSpPr>
            <a:spLocks noGrp="1"/>
          </p:cNvSpPr>
          <p:nvPr/>
        </p:nvSpPr>
        <p:spPr>
          <a:xfrm>
            <a:off x="7886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2CB2BD3-C33F-473C-B1FD-BF574A20B017}"/>
              </a:ext>
            </a:extLst>
          </p:cNvPr>
          <p:cNvSpPr>
            <a:spLocks noGrp="1"/>
          </p:cNvSpPr>
          <p:nvPr/>
        </p:nvSpPr>
        <p:spPr>
          <a:xfrm>
            <a:off x="8001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对今天实验的含义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B469AF1-D473-4E34-A269-A4A78004ED4C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BBAAE13-0320-4AAD-B366-EFE5F2838325}"/>
              </a:ext>
            </a:extLst>
          </p:cNvPr>
          <p:cNvSpPr>
            <a:spLocks noGrp="1"/>
          </p:cNvSpPr>
          <p:nvPr/>
        </p:nvSpPr>
        <p:spPr>
          <a:xfrm>
            <a:off x="952500" y="27051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经验与直觉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63B55809-06A5-4E25-9392-D8B337A2C1F0}"/>
              </a:ext>
            </a:extLst>
          </p:cNvPr>
          <p:cNvSpPr>
            <a:spLocks noGrp="1"/>
          </p:cNvSpPr>
          <p:nvPr/>
        </p:nvSpPr>
        <p:spPr>
          <a:xfrm>
            <a:off x="29337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336DE5C-3E66-486B-92AD-2594AE80F05B}"/>
              </a:ext>
            </a:extLst>
          </p:cNvPr>
          <p:cNvSpPr>
            <a:spLocks noGrp="1"/>
          </p:cNvSpPr>
          <p:nvPr/>
        </p:nvSpPr>
        <p:spPr>
          <a:xfrm>
            <a:off x="30480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成为目标设定、异常判断和早期摸底的重要来源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F362F39-8103-4CD9-88DB-BE8C94C63DDA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CE337AC-E2FF-4100-9DE5-64A3A2AF26FA}"/>
              </a:ext>
            </a:extLst>
          </p:cNvPr>
          <p:cNvSpPr>
            <a:spLocks noGrp="1"/>
          </p:cNvSpPr>
          <p:nvPr/>
        </p:nvSpPr>
        <p:spPr>
          <a:xfrm>
            <a:off x="55245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人类经验仍在回路中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44ECA65-1F7D-4AD7-AD66-A2B77D25B88D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0F375A1-0601-43EF-9B0A-EEF87AEFC3BC}"/>
              </a:ext>
            </a:extLst>
          </p:cNvPr>
          <p:cNvSpPr>
            <a:spLocks noGrp="1"/>
          </p:cNvSpPr>
          <p:nvPr/>
        </p:nvSpPr>
        <p:spPr>
          <a:xfrm>
            <a:off x="952500" y="31813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理论与机制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98AD003C-1BEC-4359-B841-226A4BD85CEA}"/>
              </a:ext>
            </a:extLst>
          </p:cNvPr>
          <p:cNvSpPr>
            <a:spLocks noGrp="1"/>
          </p:cNvSpPr>
          <p:nvPr/>
        </p:nvSpPr>
        <p:spPr>
          <a:xfrm>
            <a:off x="29337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7ACC02E-5642-43C0-B9BC-15B77A5AF206}"/>
              </a:ext>
            </a:extLst>
          </p:cNvPr>
          <p:cNvSpPr>
            <a:spLocks noGrp="1"/>
          </p:cNvSpPr>
          <p:nvPr/>
        </p:nvSpPr>
        <p:spPr>
          <a:xfrm>
            <a:off x="30480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成为约束、先验和可解释性支撑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F715424E-94A2-4E6A-B70B-164A364DA178}"/>
              </a:ext>
            </a:extLst>
          </p:cNvPr>
          <p:cNvSpPr>
            <a:spLocks noGrp="1"/>
          </p:cNvSpPr>
          <p:nvPr/>
        </p:nvSpPr>
        <p:spPr>
          <a:xfrm>
            <a:off x="54102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FFAF6B0-E846-44FB-8E2A-CF18E75F185D}"/>
              </a:ext>
            </a:extLst>
          </p:cNvPr>
          <p:cNvSpPr>
            <a:spLocks noGrp="1"/>
          </p:cNvSpPr>
          <p:nvPr/>
        </p:nvSpPr>
        <p:spPr>
          <a:xfrm>
            <a:off x="55245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不是只有数据拟合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AD46FB4A-476E-47D1-8189-ACD0CAA6477A}"/>
              </a:ext>
            </a:extLst>
          </p:cNvPr>
          <p:cNvSpPr>
            <a:spLocks noGrp="1"/>
          </p:cNvSpPr>
          <p:nvPr/>
        </p:nvSpPr>
        <p:spPr>
          <a:xfrm>
            <a:off x="838200" y="35623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43DBB3A-0B98-4333-8FD9-134E9111CC06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计算与模拟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1B6233A4-8292-44DC-B5E3-F30DB1ACFA4A}"/>
              </a:ext>
            </a:extLst>
          </p:cNvPr>
          <p:cNvSpPr>
            <a:spLocks noGrp="1"/>
          </p:cNvSpPr>
          <p:nvPr/>
        </p:nvSpPr>
        <p:spPr>
          <a:xfrm>
            <a:off x="29337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73D0220-223D-44BB-AFCE-DE23FD3BC8E2}"/>
              </a:ext>
            </a:extLst>
          </p:cNvPr>
          <p:cNvSpPr>
            <a:spLocks noGrp="1"/>
          </p:cNvSpPr>
          <p:nvPr/>
        </p:nvSpPr>
        <p:spPr>
          <a:xfrm>
            <a:off x="30480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成为候选筛选、数字孪生和仿真试验台的一部分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C1005F80-7FEC-41CE-87D6-CDCFA8DE2F75}"/>
              </a:ext>
            </a:extLst>
          </p:cNvPr>
          <p:cNvSpPr>
            <a:spLocks noGrp="1"/>
          </p:cNvSpPr>
          <p:nvPr/>
        </p:nvSpPr>
        <p:spPr>
          <a:xfrm>
            <a:off x="54102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8C62E73-D087-40D9-BCDF-9C33D226FAE7}"/>
              </a:ext>
            </a:extLst>
          </p:cNvPr>
          <p:cNvSpPr>
            <a:spLocks noGrp="1"/>
          </p:cNvSpPr>
          <p:nvPr/>
        </p:nvSpPr>
        <p:spPr>
          <a:xfrm>
            <a:off x="55245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实验前端可被预压缩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EAD44FF4-CCF8-46D0-9271-B825101DE11D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215E733-F504-4A23-9B8F-A264F0DC6005}"/>
              </a:ext>
            </a:extLst>
          </p:cNvPr>
          <p:cNvSpPr>
            <a:spLocks noGrp="1"/>
          </p:cNvSpPr>
          <p:nvPr/>
        </p:nvSpPr>
        <p:spPr>
          <a:xfrm>
            <a:off x="952500" y="41338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数据与自动化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B3F01288-2299-4DFE-9D39-436C45D10E63}"/>
              </a:ext>
            </a:extLst>
          </p:cNvPr>
          <p:cNvSpPr>
            <a:spLocks noGrp="1"/>
          </p:cNvSpPr>
          <p:nvPr/>
        </p:nvSpPr>
        <p:spPr>
          <a:xfrm>
            <a:off x="29337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B3FDAD4-73E9-4C41-93DC-DCB788ED6E86}"/>
              </a:ext>
            </a:extLst>
          </p:cNvPr>
          <p:cNvSpPr>
            <a:spLocks noGrp="1"/>
          </p:cNvSpPr>
          <p:nvPr/>
        </p:nvSpPr>
        <p:spPr>
          <a:xfrm>
            <a:off x="30480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把前三者接入可更新、可执行的闭环系统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E63C511F-1558-4D76-8D81-67BD8632B7EF}"/>
              </a:ext>
            </a:extLst>
          </p:cNvPr>
          <p:cNvSpPr>
            <a:spLocks noGrp="1"/>
          </p:cNvSpPr>
          <p:nvPr/>
        </p:nvSpPr>
        <p:spPr>
          <a:xfrm>
            <a:off x="54102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491C2EE-8BBF-4F4E-B747-6F05A229CB2B}"/>
              </a:ext>
            </a:extLst>
          </p:cNvPr>
          <p:cNvSpPr>
            <a:spLocks noGrp="1"/>
          </p:cNvSpPr>
          <p:nvPr/>
        </p:nvSpPr>
        <p:spPr>
          <a:xfrm>
            <a:off x="55245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方法论开始系统集成</a:t>
            </a:r>
          </a:p>
        </p:txBody>
      </p:sp>
    </p:spTree>
    <p:extLst>
      <p:ext uri="{BB962C8B-B14F-4D97-AF65-F5344CB8AC3E}">
        <p14:creationId xmlns:p14="http://schemas.microsoft.com/office/powerpoint/2010/main" val="12796323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F1E512CD-5627-420A-A101-48C8430047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1099DB0-35D7-4F81-911F-44454419F3C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过渡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1CA7650-4E4C-4AA1-9D5E-9C900B10B987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14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1043009-54BF-4504-9462-4B09373644BC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E8C1B1C-9F59-4C27-9A5D-F0029861341C}"/>
              </a:ext>
            </a:extLst>
          </p:cNvPr>
          <p:cNvSpPr>
            <a:spLocks noGrp="1"/>
          </p:cNvSpPr>
          <p:nvPr/>
        </p:nvSpPr>
        <p:spPr>
          <a:xfrm>
            <a:off x="990600" y="1562100"/>
            <a:ext cx="9525000" cy="1714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4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“问题不再只是‘我们如何理解实验结果’，而是‘我们如何组织下一轮实验’。”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366C090-E3E2-4A74-A334-813B02CE2EC8}"/>
              </a:ext>
            </a:extLst>
          </p:cNvPr>
          <p:cNvSpPr>
            <a:spLocks noGrp="1"/>
          </p:cNvSpPr>
          <p:nvPr/>
        </p:nvSpPr>
        <p:spPr>
          <a:xfrm>
            <a:off x="1028700" y="3752850"/>
            <a:ext cx="4000500" cy="3048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200" b="0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本讲核心转折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C347526-9C7C-4EAF-9A57-CAEB2877B4C1}"/>
              </a:ext>
            </a:extLst>
          </p:cNvPr>
          <p:cNvSpPr>
            <a:spLocks noGrp="1"/>
          </p:cNvSpPr>
          <p:nvPr/>
        </p:nvSpPr>
        <p:spPr>
          <a:xfrm>
            <a:off x="1028700" y="4476750"/>
            <a:ext cx="8572500" cy="952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50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从这里开始，实验的对象、实验的流程、实验的决策者，都会被重新审视。</a:t>
            </a:r>
          </a:p>
        </p:txBody>
      </p:sp>
    </p:spTree>
    <p:extLst>
      <p:ext uri="{BB962C8B-B14F-4D97-AF65-F5344CB8AC3E}">
        <p14:creationId xmlns:p14="http://schemas.microsoft.com/office/powerpoint/2010/main" val="1279317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1333468A-2B6C-4A42-8936-801960691BB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0057AFC-C39B-4BB7-847D-095EA9511D4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第二部分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02A14A-DFE5-44E9-973C-FE3FAA54C3BC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15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69488E-7F93-4A06-8579-A49F440E83AC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82EC8A-C656-4992-85EE-9E6808E27B8B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1428750" cy="1047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5400" b="1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2EED6BA-1DB2-4189-A435-9A7442725F3A}"/>
              </a:ext>
            </a:extLst>
          </p:cNvPr>
          <p:cNvSpPr>
            <a:spLocks noGrp="1"/>
          </p:cNvSpPr>
          <p:nvPr/>
        </p:nvSpPr>
        <p:spPr>
          <a:xfrm>
            <a:off x="2571750" y="1809750"/>
            <a:ext cx="7810500" cy="666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MSE 实验图谱与目录学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303565-7635-43ED-A456-630AE66D3FB2}"/>
              </a:ext>
            </a:extLst>
          </p:cNvPr>
          <p:cNvSpPr>
            <a:spLocks noGrp="1"/>
          </p:cNvSpPr>
          <p:nvPr/>
        </p:nvSpPr>
        <p:spPr>
          <a:xfrm>
            <a:off x="2590800" y="2628900"/>
            <a:ext cx="7429500" cy="857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如果不先知道实验有哪些类型、各自输出什么数据，就谈不上 SDL 化。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E9FBA29-59EB-4C47-BB12-B33E1462D1FB}"/>
              </a:ext>
            </a:extLst>
          </p:cNvPr>
          <p:cNvSpPr>
            <a:spLocks noGrp="1"/>
          </p:cNvSpPr>
          <p:nvPr/>
        </p:nvSpPr>
        <p:spPr>
          <a:xfrm>
            <a:off x="1047750" y="3924300"/>
            <a:ext cx="4000500" cy="76200"/>
          </a:xfrm>
          <a:prstGeom prst="rect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524E725-A625-436C-B03D-5E9C2EDACCF5}"/>
              </a:ext>
            </a:extLst>
          </p:cNvPr>
          <p:cNvSpPr>
            <a:spLocks noGrp="1"/>
          </p:cNvSpPr>
          <p:nvPr/>
        </p:nvSpPr>
        <p:spPr>
          <a:xfrm>
            <a:off x="1047750" y="4438650"/>
            <a:ext cx="8572500" cy="762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按实验而不是按材料类别来组织，才能把数据、方法和 SDL 适配度放在同一张图里。</a:t>
            </a:r>
          </a:p>
        </p:txBody>
      </p:sp>
    </p:spTree>
    <p:extLst>
      <p:ext uri="{BB962C8B-B14F-4D97-AF65-F5344CB8AC3E}">
        <p14:creationId xmlns:p14="http://schemas.microsoft.com/office/powerpoint/2010/main" val="1272311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98EC8D72-C522-4A56-825A-36A8B18E60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EAFE5B8-1A05-45B7-9A4F-DCF65B942B1E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实验图谱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53D6B5B-9303-4179-B903-B785BE346A97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16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982780B-605E-466F-8AB8-358D58097743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80AB0F8-4035-4B08-B21B-A5C0B78AFE31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以实验为中心的 MSE 图谱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0F1999E-9261-458D-A83F-7241C3620A76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实验是中心节点，向外连接问题、样品、测量、模型与工程约束。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DA3EF60-DA25-4505-92F6-E8D78335507C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BEDC0C-5D10-41D6-87B4-42C2089A895D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研究问题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BE467C6-2FA6-4FB1-9A1A-E5F706CCE7DC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目标、约束、假设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867CDBE-5446-4D14-A40D-CA99B4C9F182}"/>
              </a:ext>
            </a:extLst>
          </p:cNvPr>
          <p:cNvSpPr>
            <a:spLocks noGrp="1"/>
          </p:cNvSpPr>
          <p:nvPr/>
        </p:nvSpPr>
        <p:spPr>
          <a:xfrm>
            <a:off x="3562350" y="21336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BC1D7A7-A475-42B4-9B55-9F90AF10A65C}"/>
              </a:ext>
            </a:extLst>
          </p:cNvPr>
          <p:cNvSpPr>
            <a:spLocks noGrp="1"/>
          </p:cNvSpPr>
          <p:nvPr/>
        </p:nvSpPr>
        <p:spPr>
          <a:xfrm>
            <a:off x="3714750" y="22669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样品状态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2145450-02A2-4267-ADB3-F1B6FE0D30B9}"/>
              </a:ext>
            </a:extLst>
          </p:cNvPr>
          <p:cNvSpPr>
            <a:spLocks noGrp="1"/>
          </p:cNvSpPr>
          <p:nvPr/>
        </p:nvSpPr>
        <p:spPr>
          <a:xfrm>
            <a:off x="3714750" y="25146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粉末、薄膜、块体、器件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16EC0D0-8C4C-475F-9460-7A73CCBB63A7}"/>
              </a:ext>
            </a:extLst>
          </p:cNvPr>
          <p:cNvSpPr>
            <a:spLocks noGrp="1"/>
          </p:cNvSpPr>
          <p:nvPr/>
        </p:nvSpPr>
        <p:spPr>
          <a:xfrm>
            <a:off x="6286500" y="21336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5337D65-FAF2-4291-A90B-CD6E037D3409}"/>
              </a:ext>
            </a:extLst>
          </p:cNvPr>
          <p:cNvSpPr>
            <a:spLocks noGrp="1"/>
          </p:cNvSpPr>
          <p:nvPr/>
        </p:nvSpPr>
        <p:spPr>
          <a:xfrm>
            <a:off x="6438900" y="22669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制备/加工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6CDAF52-7667-44F6-8ECD-FD725DF5F54C}"/>
              </a:ext>
            </a:extLst>
          </p:cNvPr>
          <p:cNvSpPr>
            <a:spLocks noGrp="1"/>
          </p:cNvSpPr>
          <p:nvPr/>
        </p:nvSpPr>
        <p:spPr>
          <a:xfrm>
            <a:off x="6438900" y="25146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合成、热处理、沉积、成形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D6713847-78AF-4E8E-A319-12D98F9CDB7B}"/>
              </a:ext>
            </a:extLst>
          </p:cNvPr>
          <p:cNvSpPr>
            <a:spLocks noGrp="1"/>
          </p:cNvSpPr>
          <p:nvPr/>
        </p:nvSpPr>
        <p:spPr>
          <a:xfrm>
            <a:off x="9010650" y="21336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60255B3-AC39-4F2A-9838-63142D08D46C}"/>
              </a:ext>
            </a:extLst>
          </p:cNvPr>
          <p:cNvSpPr>
            <a:spLocks noGrp="1"/>
          </p:cNvSpPr>
          <p:nvPr/>
        </p:nvSpPr>
        <p:spPr>
          <a:xfrm>
            <a:off x="9163050" y="22669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表征/测量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BBCE451-99A3-4BE3-A86A-F0BBCDB274CC}"/>
              </a:ext>
            </a:extLst>
          </p:cNvPr>
          <p:cNvSpPr>
            <a:spLocks noGrp="1"/>
          </p:cNvSpPr>
          <p:nvPr/>
        </p:nvSpPr>
        <p:spPr>
          <a:xfrm>
            <a:off x="9163050" y="25146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结构、成分、性能、失效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BA418AB-BC55-40D8-BDF2-8090B142E646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3D0C5A5-9200-4963-BCF1-2FA4A737335E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数据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0F5BBAF-BDB9-4A46-9E02-7C731209AB10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谱图、图像、曲线、表格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5677FA0-4264-4253-94C6-CDDECF78C81D}"/>
              </a:ext>
            </a:extLst>
          </p:cNvPr>
          <p:cNvSpPr>
            <a:spLocks noGrp="1"/>
          </p:cNvSpPr>
          <p:nvPr/>
        </p:nvSpPr>
        <p:spPr>
          <a:xfrm>
            <a:off x="3562350" y="37719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C11B146-10D3-4069-8847-028813CC2137}"/>
              </a:ext>
            </a:extLst>
          </p:cNvPr>
          <p:cNvSpPr>
            <a:spLocks noGrp="1"/>
          </p:cNvSpPr>
          <p:nvPr/>
        </p:nvSpPr>
        <p:spPr>
          <a:xfrm>
            <a:off x="3714750" y="39052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模型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C4C2DC4-737E-49D4-A446-3E8110C7388D}"/>
              </a:ext>
            </a:extLst>
          </p:cNvPr>
          <p:cNvSpPr>
            <a:spLocks noGrp="1"/>
          </p:cNvSpPr>
          <p:nvPr/>
        </p:nvSpPr>
        <p:spPr>
          <a:xfrm>
            <a:off x="3714750" y="41529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统计、机理、代理模型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E75D83F5-C573-4935-B5B5-D09FDE8B920C}"/>
              </a:ext>
            </a:extLst>
          </p:cNvPr>
          <p:cNvSpPr>
            <a:spLocks noGrp="1"/>
          </p:cNvSpPr>
          <p:nvPr/>
        </p:nvSpPr>
        <p:spPr>
          <a:xfrm>
            <a:off x="6286500" y="37719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D2D402D-58E8-45A6-A804-2686AFA03E25}"/>
              </a:ext>
            </a:extLst>
          </p:cNvPr>
          <p:cNvSpPr>
            <a:spLocks noGrp="1"/>
          </p:cNvSpPr>
          <p:nvPr/>
        </p:nvSpPr>
        <p:spPr>
          <a:xfrm>
            <a:off x="6438900" y="39052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决策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746B265-1341-48B1-8976-A9B96B52B2DD}"/>
              </a:ext>
            </a:extLst>
          </p:cNvPr>
          <p:cNvSpPr>
            <a:spLocks noGrp="1"/>
          </p:cNvSpPr>
          <p:nvPr/>
        </p:nvSpPr>
        <p:spPr>
          <a:xfrm>
            <a:off x="6438900" y="41529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下一个点、下一个配方、下一个条件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62CC66B-1D15-4AE8-B2C8-D18DB0A9CD60}"/>
              </a:ext>
            </a:extLst>
          </p:cNvPr>
          <p:cNvSpPr>
            <a:spLocks noGrp="1"/>
          </p:cNvSpPr>
          <p:nvPr/>
        </p:nvSpPr>
        <p:spPr>
          <a:xfrm>
            <a:off x="9010650" y="37719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4E1C915-434D-4FB1-A51C-2DDCEB93119F}"/>
              </a:ext>
            </a:extLst>
          </p:cNvPr>
          <p:cNvSpPr>
            <a:spLocks noGrp="1"/>
          </p:cNvSpPr>
          <p:nvPr/>
        </p:nvSpPr>
        <p:spPr>
          <a:xfrm>
            <a:off x="9163050" y="39052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验证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5414157-93AB-4288-A7A9-F7DA8B114F04}"/>
              </a:ext>
            </a:extLst>
          </p:cNvPr>
          <p:cNvSpPr>
            <a:spLocks noGrp="1"/>
          </p:cNvSpPr>
          <p:nvPr/>
        </p:nvSpPr>
        <p:spPr>
          <a:xfrm>
            <a:off x="9163050" y="41529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重复性、校准、边界条件</a:t>
            </a:r>
          </a:p>
        </p:txBody>
      </p:sp>
    </p:spTree>
    <p:extLst>
      <p:ext uri="{BB962C8B-B14F-4D97-AF65-F5344CB8AC3E}">
        <p14:creationId xmlns:p14="http://schemas.microsoft.com/office/powerpoint/2010/main" val="13832668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FBA0C6A1-7D6A-4625-83E5-93F2FF5F05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79D046C-DA86-4AA6-B863-C8BC3F79B10C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分类总览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6B1C13F-4B9C-4A4D-A3A1-7CF6FD029A77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17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700E8B-71D4-46DA-BE2B-A51A1F0D6736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39005F-2FA5-4332-AFC4-9FFB851F14AA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我们采用的 8 类 MSE 实验框架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F94EBD3-CC72-40E4-A5B0-990D3542E57F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这是讲座版目录学，不假装是唯一标准，但足够教学和实现。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17F266B-7E8D-4FF2-9531-5F7D9E587A93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A90A9F-9BEB-4193-B281-9D9A9902B2D4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样品制备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E49B7C6-0542-42E7-8C6E-071A5460D7A1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让材料样品被制造出来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22C66C1-61F5-4925-B09B-AF0768D4C711}"/>
              </a:ext>
            </a:extLst>
          </p:cNvPr>
          <p:cNvSpPr>
            <a:spLocks noGrp="1"/>
          </p:cNvSpPr>
          <p:nvPr/>
        </p:nvSpPr>
        <p:spPr>
          <a:xfrm>
            <a:off x="3562350" y="21336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D7FB691-4166-4F03-823E-56A9731821FC}"/>
              </a:ext>
            </a:extLst>
          </p:cNvPr>
          <p:cNvSpPr>
            <a:spLocks noGrp="1"/>
          </p:cNvSpPr>
          <p:nvPr/>
        </p:nvSpPr>
        <p:spPr>
          <a:xfrm>
            <a:off x="3714750" y="22669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加工调控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FD21185-658E-45CA-91E5-63B67B73A926}"/>
              </a:ext>
            </a:extLst>
          </p:cNvPr>
          <p:cNvSpPr>
            <a:spLocks noGrp="1"/>
          </p:cNvSpPr>
          <p:nvPr/>
        </p:nvSpPr>
        <p:spPr>
          <a:xfrm>
            <a:off x="3714750" y="25146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改变已有材料状态与组织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DCF072C-AA1A-4ADB-83BB-51BEF13B0771}"/>
              </a:ext>
            </a:extLst>
          </p:cNvPr>
          <p:cNvSpPr>
            <a:spLocks noGrp="1"/>
          </p:cNvSpPr>
          <p:nvPr/>
        </p:nvSpPr>
        <p:spPr>
          <a:xfrm>
            <a:off x="6286500" y="21336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52EFD0F-F1DC-4E7E-8C58-227DA8968AEC}"/>
              </a:ext>
            </a:extLst>
          </p:cNvPr>
          <p:cNvSpPr>
            <a:spLocks noGrp="1"/>
          </p:cNvSpPr>
          <p:nvPr/>
        </p:nvSpPr>
        <p:spPr>
          <a:xfrm>
            <a:off x="6438900" y="22669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结构表征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F9DDAAA-9203-422E-90E1-FFD94A1564F7}"/>
              </a:ext>
            </a:extLst>
          </p:cNvPr>
          <p:cNvSpPr>
            <a:spLocks noGrp="1"/>
          </p:cNvSpPr>
          <p:nvPr/>
        </p:nvSpPr>
        <p:spPr>
          <a:xfrm>
            <a:off x="6438900" y="25146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材料是什么、长什么样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54166239-9E76-4E7B-ADC7-EEF4D254AE3C}"/>
              </a:ext>
            </a:extLst>
          </p:cNvPr>
          <p:cNvSpPr>
            <a:spLocks noGrp="1"/>
          </p:cNvSpPr>
          <p:nvPr/>
        </p:nvSpPr>
        <p:spPr>
          <a:xfrm>
            <a:off x="9010650" y="21336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131A09E-BCD3-460D-83F0-3899867628B2}"/>
              </a:ext>
            </a:extLst>
          </p:cNvPr>
          <p:cNvSpPr>
            <a:spLocks noGrp="1"/>
          </p:cNvSpPr>
          <p:nvPr/>
        </p:nvSpPr>
        <p:spPr>
          <a:xfrm>
            <a:off x="9163050" y="22669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物性测量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D393304-105A-4026-82E2-4CCD381ADEB1}"/>
              </a:ext>
            </a:extLst>
          </p:cNvPr>
          <p:cNvSpPr>
            <a:spLocks noGrp="1"/>
          </p:cNvSpPr>
          <p:nvPr/>
        </p:nvSpPr>
        <p:spPr>
          <a:xfrm>
            <a:off x="9163050" y="25146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材料有哪些基础性质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2A52297-90E1-48FC-93E9-94BEADC2C6AA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236D902-D0E9-4702-A515-99EBC56C52D0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功能测试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FF3D4FF-54A1-49F3-9A58-173D8F1929C6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材料在应用情境下表现如何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7851CE1F-75D6-4EFC-86ED-C0760A3A8319}"/>
              </a:ext>
            </a:extLst>
          </p:cNvPr>
          <p:cNvSpPr>
            <a:spLocks noGrp="1"/>
          </p:cNvSpPr>
          <p:nvPr/>
        </p:nvSpPr>
        <p:spPr>
          <a:xfrm>
            <a:off x="3562350" y="37719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5216034-1326-4F2F-98AD-A030E5D2C777}"/>
              </a:ext>
            </a:extLst>
          </p:cNvPr>
          <p:cNvSpPr>
            <a:spLocks noGrp="1"/>
          </p:cNvSpPr>
          <p:nvPr/>
        </p:nvSpPr>
        <p:spPr>
          <a:xfrm>
            <a:off x="3714750" y="39052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稳定与失效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1BA9BE0-7E78-470E-A88C-066AD72DCBC7}"/>
              </a:ext>
            </a:extLst>
          </p:cNvPr>
          <p:cNvSpPr>
            <a:spLocks noGrp="1"/>
          </p:cNvSpPr>
          <p:nvPr/>
        </p:nvSpPr>
        <p:spPr>
          <a:xfrm>
            <a:off x="3714750" y="41529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材料能撑多久、怎么坏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F83F87C0-6555-4373-ACFA-2F75211F5E96}"/>
              </a:ext>
            </a:extLst>
          </p:cNvPr>
          <p:cNvSpPr>
            <a:spLocks noGrp="1"/>
          </p:cNvSpPr>
          <p:nvPr/>
        </p:nvSpPr>
        <p:spPr>
          <a:xfrm>
            <a:off x="6286500" y="37719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D95545A-46CE-41DB-AD14-51FDE0DF2120}"/>
              </a:ext>
            </a:extLst>
          </p:cNvPr>
          <p:cNvSpPr>
            <a:spLocks noGrp="1"/>
          </p:cNvSpPr>
          <p:nvPr/>
        </p:nvSpPr>
        <p:spPr>
          <a:xfrm>
            <a:off x="6438900" y="39052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计量与校准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29DFBF6-5067-46EF-B56D-292E9538B924}"/>
              </a:ext>
            </a:extLst>
          </p:cNvPr>
          <p:cNvSpPr>
            <a:spLocks noGrp="1"/>
          </p:cNvSpPr>
          <p:nvPr/>
        </p:nvSpPr>
        <p:spPr>
          <a:xfrm>
            <a:off x="6438900" y="41529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结果是否可信、可比较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41F2F1EA-CFB5-4F51-9F67-0FEF348CEA1C}"/>
              </a:ext>
            </a:extLst>
          </p:cNvPr>
          <p:cNvSpPr>
            <a:spLocks noGrp="1"/>
          </p:cNvSpPr>
          <p:nvPr/>
        </p:nvSpPr>
        <p:spPr>
          <a:xfrm>
            <a:off x="9010650" y="3771900"/>
            <a:ext cx="25527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858BB99-C836-4E67-9278-A133192B88E8}"/>
              </a:ext>
            </a:extLst>
          </p:cNvPr>
          <p:cNvSpPr>
            <a:spLocks noGrp="1"/>
          </p:cNvSpPr>
          <p:nvPr/>
        </p:nvSpPr>
        <p:spPr>
          <a:xfrm>
            <a:off x="9163050" y="3905250"/>
            <a:ext cx="22479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高通量与闭环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C7C3035-E986-482B-8476-3073B59EC91C}"/>
              </a:ext>
            </a:extLst>
          </p:cNvPr>
          <p:cNvSpPr>
            <a:spLocks noGrp="1"/>
          </p:cNvSpPr>
          <p:nvPr/>
        </p:nvSpPr>
        <p:spPr>
          <a:xfrm>
            <a:off x="9163050" y="4152900"/>
            <a:ext cx="22479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如何加速筛选与优化</a:t>
            </a:r>
          </a:p>
        </p:txBody>
      </p:sp>
    </p:spTree>
    <p:extLst>
      <p:ext uri="{BB962C8B-B14F-4D97-AF65-F5344CB8AC3E}">
        <p14:creationId xmlns:p14="http://schemas.microsoft.com/office/powerpoint/2010/main" val="1254805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06DD85D4-6654-4256-A04B-65922F923E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9B5380B-83BE-45A3-A2C5-8A6B5043684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分类细化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99774EE-D1A2-4C03-B343-9892EFB1C7D2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18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54E861B-D5BA-40A6-943D-568EB337EDFB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6954BEA-B141-4975-BFC1-BE107812C694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前四类：从做出样品，到知道样品是什么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B99D45-78E3-472E-8C26-29196522501D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这四类往往决定实验链的上半程。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56F7A06-5A3B-4D65-AAB5-4B83B007DCAD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1EE0812-9C1B-49B1-9F24-DF7829562362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样品制备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6ED383-18E6-42ED-BCB1-B5E971007836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定义：生成样品或样品库。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例：固相合成、溶胶凝胶、CVD（化学气相沉积）、PVD（物理气相沉积）。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SDL 关系：常是闭环中的执行端。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0984EFD-01B9-45CF-81EC-C30267EB04EC}"/>
              </a:ext>
            </a:extLst>
          </p:cNvPr>
          <p:cNvSpPr>
            <a:spLocks noGrp="1"/>
          </p:cNvSpPr>
          <p:nvPr/>
        </p:nvSpPr>
        <p:spPr>
          <a:xfrm>
            <a:off x="6153150" y="21336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3ACEF06-7BAF-4A50-973E-E6DA3FF1B625}"/>
              </a:ext>
            </a:extLst>
          </p:cNvPr>
          <p:cNvSpPr>
            <a:spLocks noGrp="1"/>
          </p:cNvSpPr>
          <p:nvPr/>
        </p:nvSpPr>
        <p:spPr>
          <a:xfrm>
            <a:off x="6305550" y="22669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加工调控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DDEE798-24D1-4DC1-BC1F-1746A37EDB78}"/>
              </a:ext>
            </a:extLst>
          </p:cNvPr>
          <p:cNvSpPr>
            <a:spLocks noGrp="1"/>
          </p:cNvSpPr>
          <p:nvPr/>
        </p:nvSpPr>
        <p:spPr>
          <a:xfrm>
            <a:off x="6305550" y="25146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定义：改变已有材料状态。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例：退火、淬火、轧制、表面改性。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SDL 关系：常与工艺优化、结构演化问题相连。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A979AF1-547E-4A9B-8C60-E6640F535BFB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6F4F221-AC67-4727-A0A3-F0E587C4B4CE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结构表征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A9D1734-FC30-47A7-A3FC-31B40666BCBD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定义：回答材料的结构、成分与形貌。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例：XRD（X射线衍射）、SEM（扫描电镜）、TEM（透射电镜）、XPS。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A1432F4-D374-43F8-B00F-3E33E09B183E}"/>
              </a:ext>
            </a:extLst>
          </p:cNvPr>
          <p:cNvSpPr>
            <a:spLocks noGrp="1"/>
          </p:cNvSpPr>
          <p:nvPr/>
        </p:nvSpPr>
        <p:spPr>
          <a:xfrm>
            <a:off x="6153150" y="37719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C9D78D1-AF0C-41BB-89AE-58319EBD81B8}"/>
              </a:ext>
            </a:extLst>
          </p:cNvPr>
          <p:cNvSpPr>
            <a:spLocks noGrp="1"/>
          </p:cNvSpPr>
          <p:nvPr/>
        </p:nvSpPr>
        <p:spPr>
          <a:xfrm>
            <a:off x="6305550" y="39052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物性测量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17394B7-0183-41FD-A764-B5F533A3A54B}"/>
              </a:ext>
            </a:extLst>
          </p:cNvPr>
          <p:cNvSpPr>
            <a:spLocks noGrp="1"/>
          </p:cNvSpPr>
          <p:nvPr/>
        </p:nvSpPr>
        <p:spPr>
          <a:xfrm>
            <a:off x="6305550" y="41529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定义：回答材料的本征或近本征性质。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例：电导率、热导率、硬度、磁化、带隙。</a:t>
            </a:r>
          </a:p>
        </p:txBody>
      </p:sp>
    </p:spTree>
    <p:extLst>
      <p:ext uri="{BB962C8B-B14F-4D97-AF65-F5344CB8AC3E}">
        <p14:creationId xmlns:p14="http://schemas.microsoft.com/office/powerpoint/2010/main" val="18197749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EA7D2DD2-E067-4961-8159-658A59226C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F3834C-2598-43DB-A138-1EA8411B186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分类细化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BE1A133-58C7-4EAA-A2D4-765604E6F44F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19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DABED2-E354-4688-88D5-C8932872BA40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ADA700-145B-4A53-838C-F0FED58EE5B9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后四类：从能不能工作，到结果是否可信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C3091AC-3AA3-47E9-815B-F8775F138F35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这四类决定实验链的下半程和结果质量。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D67A4C4-DC3D-4C6C-9252-7D8E89B73F17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F9DCB07-376B-4B86-8D68-906CB3FC1444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功能测试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29B3D2F-944E-471F-B681-1C7038177894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定义：材料在目标应用场景中表现如何。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例：电池循环、催化转化率、器件 I–V 曲线、传感响应。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D6833B9-569C-4833-8189-FFB892B191F4}"/>
              </a:ext>
            </a:extLst>
          </p:cNvPr>
          <p:cNvSpPr>
            <a:spLocks noGrp="1"/>
          </p:cNvSpPr>
          <p:nvPr/>
        </p:nvSpPr>
        <p:spPr>
          <a:xfrm>
            <a:off x="6153150" y="21336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C10EAD0-854B-4229-9CBA-70B7824E2F1F}"/>
              </a:ext>
            </a:extLst>
          </p:cNvPr>
          <p:cNvSpPr>
            <a:spLocks noGrp="1"/>
          </p:cNvSpPr>
          <p:nvPr/>
        </p:nvSpPr>
        <p:spPr>
          <a:xfrm>
            <a:off x="6305550" y="22669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稳定与失效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F4F38A-1903-443D-93CE-CC58AC08B18D}"/>
              </a:ext>
            </a:extLst>
          </p:cNvPr>
          <p:cNvSpPr>
            <a:spLocks noGrp="1"/>
          </p:cNvSpPr>
          <p:nvPr/>
        </p:nvSpPr>
        <p:spPr>
          <a:xfrm>
            <a:off x="6305550" y="25146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定义：材料会不会退化、如何失效。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例：疲劳、腐蚀、热循环、湿热老化、击穿。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F7137F0-F940-421C-A267-5B5C931F05AD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2227CEC-6986-456A-96E4-9DD44E4393B8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计量与校准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88CBB0C-FF4C-4758-B294-A0052B094FF3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定义：保证结果可重复、可比较、可追溯。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例：标准样校准、空白对照、实验室间比对、不确定度评估。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32D5CB7F-8AA6-4343-A2E3-6FC52E3933C1}"/>
              </a:ext>
            </a:extLst>
          </p:cNvPr>
          <p:cNvSpPr>
            <a:spLocks noGrp="1"/>
          </p:cNvSpPr>
          <p:nvPr/>
        </p:nvSpPr>
        <p:spPr>
          <a:xfrm>
            <a:off x="6153150" y="37719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6B9DC67-51C2-4CEB-B4C8-211B8B014C74}"/>
              </a:ext>
            </a:extLst>
          </p:cNvPr>
          <p:cNvSpPr>
            <a:spLocks noGrp="1"/>
          </p:cNvSpPr>
          <p:nvPr/>
        </p:nvSpPr>
        <p:spPr>
          <a:xfrm>
            <a:off x="6305550" y="39052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高通量与闭环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80E7036-7643-483D-AC50-EBF59D77F10B}"/>
              </a:ext>
            </a:extLst>
          </p:cNvPr>
          <p:cNvSpPr>
            <a:spLocks noGrp="1"/>
          </p:cNvSpPr>
          <p:nvPr/>
        </p:nvSpPr>
        <p:spPr>
          <a:xfrm>
            <a:off x="6305550" y="41529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定义：将制备、测量与决策集成为加速系统。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例：组合材料库、自动化 DOE、主动学习、自驱实验室。</a:t>
            </a:r>
          </a:p>
        </p:txBody>
      </p:sp>
    </p:spTree>
    <p:extLst>
      <p:ext uri="{BB962C8B-B14F-4D97-AF65-F5344CB8AC3E}">
        <p14:creationId xmlns:p14="http://schemas.microsoft.com/office/powerpoint/2010/main" val="2450166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DE3B9443-BB03-4D9D-B3B2-2547350D2C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B712692-C590-43C9-90EC-607654E0D7FA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输出数据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2EE3C21-2FA6-4E91-8378-504DCB9D9C8B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20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1F15C39-8BAA-4EA6-ABBA-A2B67FFA96A1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AEC9B31-B42B-41B9-855E-5E7FD0BE2ADC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不同实验类型，天然对应不同数据形态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CA34304-FEE6-40B4-8D5A-4EEF32086A9A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SDL 不是只优化一个分数，而是要面对不同观测输出。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7FED7B0-FC61-4E43-98AD-4F56987AA227}"/>
              </a:ext>
            </a:extLst>
          </p:cNvPr>
          <p:cNvSpPr>
            <a:spLocks noGrp="1"/>
          </p:cNvSpPr>
          <p:nvPr/>
        </p:nvSpPr>
        <p:spPr>
          <a:xfrm>
            <a:off x="838200" y="2171700"/>
            <a:ext cx="2095500" cy="438150"/>
          </a:xfrm>
          <a:prstGeom prst="roundRect">
            <a:avLst>
              <a:gd name="adj" fmla="val 17391"/>
            </a:avLst>
          </a:prstGeom>
          <a:solidFill>
            <a:srgbClr val="0E213A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68611F-EC52-4861-AB3C-F1D050246EBB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866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E903DE23-891B-4240-AB61-9ED9271875AA}"/>
              </a:ext>
            </a:extLst>
          </p:cNvPr>
          <p:cNvSpPr>
            <a:spLocks noGrp="1"/>
          </p:cNvSpPr>
          <p:nvPr/>
        </p:nvSpPr>
        <p:spPr>
          <a:xfrm>
            <a:off x="2933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54C5273-C72B-4EA3-AF9F-101EEF6D5CAB}"/>
              </a:ext>
            </a:extLst>
          </p:cNvPr>
          <p:cNvSpPr>
            <a:spLocks noGrp="1"/>
          </p:cNvSpPr>
          <p:nvPr/>
        </p:nvSpPr>
        <p:spPr>
          <a:xfrm>
            <a:off x="3048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典型输出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4A58B7B-951E-46FB-BBE1-ABF29F992572}"/>
              </a:ext>
            </a:extLst>
          </p:cNvPr>
          <p:cNvSpPr>
            <a:spLocks noGrp="1"/>
          </p:cNvSpPr>
          <p:nvPr/>
        </p:nvSpPr>
        <p:spPr>
          <a:xfrm>
            <a:off x="54102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0222E5-D25D-4443-A370-0CFD200A703A}"/>
              </a:ext>
            </a:extLst>
          </p:cNvPr>
          <p:cNvSpPr>
            <a:spLocks noGrp="1"/>
          </p:cNvSpPr>
          <p:nvPr/>
        </p:nvSpPr>
        <p:spPr>
          <a:xfrm>
            <a:off x="55245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常见数据形态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A66E83-47D3-4D2B-A460-36C07D72B238}"/>
              </a:ext>
            </a:extLst>
          </p:cNvPr>
          <p:cNvSpPr>
            <a:spLocks noGrp="1"/>
          </p:cNvSpPr>
          <p:nvPr/>
        </p:nvSpPr>
        <p:spPr>
          <a:xfrm>
            <a:off x="7886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A472F01-E4DD-4F5B-9052-045056974C8F}"/>
              </a:ext>
            </a:extLst>
          </p:cNvPr>
          <p:cNvSpPr>
            <a:spLocks noGrp="1"/>
          </p:cNvSpPr>
          <p:nvPr/>
        </p:nvSpPr>
        <p:spPr>
          <a:xfrm>
            <a:off x="8001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对 SDL 的启发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AC7688B3-2FA1-4CD6-BB6D-CB5F83178107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A162D99-4B57-4B88-BC7D-C75B917207AA}"/>
              </a:ext>
            </a:extLst>
          </p:cNvPr>
          <p:cNvSpPr>
            <a:spLocks noGrp="1"/>
          </p:cNvSpPr>
          <p:nvPr/>
        </p:nvSpPr>
        <p:spPr>
          <a:xfrm>
            <a:off x="952500" y="27051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结构表征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60724ADC-226F-4BB8-8C42-755F6E70CD4A}"/>
              </a:ext>
            </a:extLst>
          </p:cNvPr>
          <p:cNvSpPr>
            <a:spLocks noGrp="1"/>
          </p:cNvSpPr>
          <p:nvPr/>
        </p:nvSpPr>
        <p:spPr>
          <a:xfrm>
            <a:off x="29337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9B7102C-F362-4F38-9644-24B993FCF490}"/>
              </a:ext>
            </a:extLst>
          </p:cNvPr>
          <p:cNvSpPr>
            <a:spLocks noGrp="1"/>
          </p:cNvSpPr>
          <p:nvPr/>
        </p:nvSpPr>
        <p:spPr>
          <a:xfrm>
            <a:off x="30480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衍射峰、谱图、显微图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5D58E696-1752-4024-9DEC-09391A523AC1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F19E45A-8DDA-460F-AA6F-6890A86380D0}"/>
              </a:ext>
            </a:extLst>
          </p:cNvPr>
          <p:cNvSpPr>
            <a:spLocks noGrp="1"/>
          </p:cNvSpPr>
          <p:nvPr/>
        </p:nvSpPr>
        <p:spPr>
          <a:xfrm>
            <a:off x="55245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图像/谱图类输出需先定义可比较观测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ED06969-2926-4BBB-8C92-00F0B107855F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2CEF1C1-7F0E-4923-AE4B-8884E6AC63A2}"/>
              </a:ext>
            </a:extLst>
          </p:cNvPr>
          <p:cNvSpPr>
            <a:spLocks noGrp="1"/>
          </p:cNvSpPr>
          <p:nvPr/>
        </p:nvSpPr>
        <p:spPr>
          <a:xfrm>
            <a:off x="952500" y="31813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物性测量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8B21B796-E0AD-4E2C-B1C5-72209A47634F}"/>
              </a:ext>
            </a:extLst>
          </p:cNvPr>
          <p:cNvSpPr>
            <a:spLocks noGrp="1"/>
          </p:cNvSpPr>
          <p:nvPr/>
        </p:nvSpPr>
        <p:spPr>
          <a:xfrm>
            <a:off x="29337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279CBDB-4626-4AF2-A462-AD5E47425855}"/>
              </a:ext>
            </a:extLst>
          </p:cNvPr>
          <p:cNvSpPr>
            <a:spLocks noGrp="1"/>
          </p:cNvSpPr>
          <p:nvPr/>
        </p:nvSpPr>
        <p:spPr>
          <a:xfrm>
            <a:off x="30480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标量、曲线、张量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81A1C99-56AC-4E9E-99E5-73F2DBEDDFE1}"/>
              </a:ext>
            </a:extLst>
          </p:cNvPr>
          <p:cNvSpPr>
            <a:spLocks noGrp="1"/>
          </p:cNvSpPr>
          <p:nvPr/>
        </p:nvSpPr>
        <p:spPr>
          <a:xfrm>
            <a:off x="54102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1560278-A71E-407E-9943-291AB7259926}"/>
              </a:ext>
            </a:extLst>
          </p:cNvPr>
          <p:cNvSpPr>
            <a:spLocks noGrp="1"/>
          </p:cNvSpPr>
          <p:nvPr/>
        </p:nvSpPr>
        <p:spPr>
          <a:xfrm>
            <a:off x="55245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目标函数常较清晰，但噪声与重复性关键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FFDF99BC-60F1-4E13-9FAF-EE040D0DD71D}"/>
              </a:ext>
            </a:extLst>
          </p:cNvPr>
          <p:cNvSpPr>
            <a:spLocks noGrp="1"/>
          </p:cNvSpPr>
          <p:nvPr/>
        </p:nvSpPr>
        <p:spPr>
          <a:xfrm>
            <a:off x="838200" y="35623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6FEF354-5B84-463B-A93E-A1FE9E701BB5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功能测试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455C3BB8-D067-4311-A318-EF95F7BD5253}"/>
              </a:ext>
            </a:extLst>
          </p:cNvPr>
          <p:cNvSpPr>
            <a:spLocks noGrp="1"/>
          </p:cNvSpPr>
          <p:nvPr/>
        </p:nvSpPr>
        <p:spPr>
          <a:xfrm>
            <a:off x="29337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9209DC4-FF47-4494-90E0-9448CE488397}"/>
              </a:ext>
            </a:extLst>
          </p:cNvPr>
          <p:cNvSpPr>
            <a:spLocks noGrp="1"/>
          </p:cNvSpPr>
          <p:nvPr/>
        </p:nvSpPr>
        <p:spPr>
          <a:xfrm>
            <a:off x="30480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效率、寿命、选择性、I–V 曲线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2C918E2D-CAA5-4FAA-8025-95BA7AC8C655}"/>
              </a:ext>
            </a:extLst>
          </p:cNvPr>
          <p:cNvSpPr>
            <a:spLocks noGrp="1"/>
          </p:cNvSpPr>
          <p:nvPr/>
        </p:nvSpPr>
        <p:spPr>
          <a:xfrm>
            <a:off x="54102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4DD2AD0-B04A-452F-8F47-E4FA336DE1B8}"/>
              </a:ext>
            </a:extLst>
          </p:cNvPr>
          <p:cNvSpPr>
            <a:spLocks noGrp="1"/>
          </p:cNvSpPr>
          <p:nvPr/>
        </p:nvSpPr>
        <p:spPr>
          <a:xfrm>
            <a:off x="55245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往往是多目标、多约束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04AB4707-3A38-479F-825A-86709C80A997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F5F73E6-0A73-4C82-9E8E-14CE5DA74AE9}"/>
              </a:ext>
            </a:extLst>
          </p:cNvPr>
          <p:cNvSpPr>
            <a:spLocks noGrp="1"/>
          </p:cNvSpPr>
          <p:nvPr/>
        </p:nvSpPr>
        <p:spPr>
          <a:xfrm>
            <a:off x="952500" y="41338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失效实验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7640ABFA-5FB6-47F2-A4E5-29847B77C004}"/>
              </a:ext>
            </a:extLst>
          </p:cNvPr>
          <p:cNvSpPr>
            <a:spLocks noGrp="1"/>
          </p:cNvSpPr>
          <p:nvPr/>
        </p:nvSpPr>
        <p:spPr>
          <a:xfrm>
            <a:off x="29337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3583706-4624-47FE-B791-B424FEF8D045}"/>
              </a:ext>
            </a:extLst>
          </p:cNvPr>
          <p:cNvSpPr>
            <a:spLocks noGrp="1"/>
          </p:cNvSpPr>
          <p:nvPr/>
        </p:nvSpPr>
        <p:spPr>
          <a:xfrm>
            <a:off x="30480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寿命分布、失效模式、阈值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2FC2868-896E-4BFA-B5A1-3052D40626BB}"/>
              </a:ext>
            </a:extLst>
          </p:cNvPr>
          <p:cNvSpPr>
            <a:spLocks noGrp="1"/>
          </p:cNvSpPr>
          <p:nvPr/>
        </p:nvSpPr>
        <p:spPr>
          <a:xfrm>
            <a:off x="54102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CACF3C0-9AED-4B6D-B5D7-D047ED836ACF}"/>
              </a:ext>
            </a:extLst>
          </p:cNvPr>
          <p:cNvSpPr>
            <a:spLocks noGrp="1"/>
          </p:cNvSpPr>
          <p:nvPr/>
        </p:nvSpPr>
        <p:spPr>
          <a:xfrm>
            <a:off x="55245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时间成本高，闭环更需谨慎设计</a:t>
            </a:r>
          </a:p>
        </p:txBody>
      </p:sp>
    </p:spTree>
    <p:extLst>
      <p:ext uri="{BB962C8B-B14F-4D97-AF65-F5344CB8AC3E}">
        <p14:creationId xmlns:p14="http://schemas.microsoft.com/office/powerpoint/2010/main" val="8210344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99C3A815-AEF2-4840-8272-48996127C7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02EA97E-967E-47BE-AF4E-AD7F57392C2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第三部分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2CF7216-A9CA-427C-9A14-6C84CC07CCDA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21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60DC676-2DBA-4847-8C52-800B13B04106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95BC02E-4BFE-46F6-AAE9-6C81F40C72FB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1428750" cy="1047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5400" b="1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9BFFF79-46DB-4A1A-AF61-252A1D098D3B}"/>
              </a:ext>
            </a:extLst>
          </p:cNvPr>
          <p:cNvSpPr>
            <a:spLocks noGrp="1"/>
          </p:cNvSpPr>
          <p:nvPr/>
        </p:nvSpPr>
        <p:spPr>
          <a:xfrm>
            <a:off x="2571750" y="1809750"/>
            <a:ext cx="7810500" cy="666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传统方法论：试错法与 DOE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29758A0-A66E-4DF0-8EF3-9CC27888D91F}"/>
              </a:ext>
            </a:extLst>
          </p:cNvPr>
          <p:cNvSpPr>
            <a:spLocks noGrp="1"/>
          </p:cNvSpPr>
          <p:nvPr/>
        </p:nvSpPr>
        <p:spPr>
          <a:xfrm>
            <a:off x="2590800" y="2628900"/>
            <a:ext cx="7429500" cy="857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SDL 不是从天而降，而是沿着传统实验方法论继续往前走。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4204CB-3715-4602-B14C-8EE44D7061E4}"/>
              </a:ext>
            </a:extLst>
          </p:cNvPr>
          <p:cNvSpPr>
            <a:spLocks noGrp="1"/>
          </p:cNvSpPr>
          <p:nvPr/>
        </p:nvSpPr>
        <p:spPr>
          <a:xfrm>
            <a:off x="1047750" y="3924300"/>
            <a:ext cx="4000500" cy="76200"/>
          </a:xfrm>
          <a:prstGeom prst="rect">
            <a:avLst/>
          </a:prstGeom>
          <a:solidFill>
            <a:srgbClr val="FBBF24"/>
          </a:solidFill>
          <a:ln w="0">
            <a:solidFill>
              <a:srgbClr val="FBBF24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4AAD7E5-A509-4712-97B3-B9F74784330D}"/>
              </a:ext>
            </a:extLst>
          </p:cNvPr>
          <p:cNvSpPr>
            <a:spLocks noGrp="1"/>
          </p:cNvSpPr>
          <p:nvPr/>
        </p:nvSpPr>
        <p:spPr>
          <a:xfrm>
            <a:off x="1047750" y="4438650"/>
            <a:ext cx="8572500" cy="762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理解传统方法的成功与边界，是理解 SDL 的前提。</a:t>
            </a:r>
          </a:p>
        </p:txBody>
      </p:sp>
    </p:spTree>
    <p:extLst>
      <p:ext uri="{BB962C8B-B14F-4D97-AF65-F5344CB8AC3E}">
        <p14:creationId xmlns:p14="http://schemas.microsoft.com/office/powerpoint/2010/main" val="307705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F4BD12BB-FB24-4DFF-9113-DBCA0F3894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97E42FF-52A6-457D-BDBF-FF407AF3ECBC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试错法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EB263FA-4FF1-4C65-AF13-5462511AC1B3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22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ADE788-E4C1-48D7-B9E3-E8A63D2CF854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A49331E-2157-46CF-BE29-5BC43501D863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试错法为什么能长期存在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36723B7-B519-40C4-9543-8F23828D065E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因为它并不愚蠢，而是把经验、直觉和局部反馈编织在一起。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5578DEC-7ED1-4AAD-A641-FC4C617DDFB9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D2B021D-1E03-4387-BBF7-0A14A493011C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很多实验空间在早期并不清楚，研究者先靠经验摸索局部可行区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资深研究者常具备强烈的材料直觉和工艺手感，这在复杂系统中非常有价值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当实验吞吐量低、变量数有限时，试错法往往是现实且高效的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39ADF50-6222-48D8-8271-EC13BDA39663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E598549-A412-4F60-9BFB-0D41FD0B113E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要防止的误解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EA67DE3-2975-4C7E-87C6-E2F488A020A1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不能把传统方法 caricature 成“瞎试”。很多真正高水平的试错，本质上是压缩版的人类启发式搜索。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60D90BC-ABF4-4EC3-AE36-F0112AD9A2F6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A6DF088-1472-4B4C-8256-C70FD08036E0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但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C88402-1529-4213-86C6-144A99D9CB0E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一旦变量增多、实验代价升高、目标转为多目标优化，试错法就很快遇到上限。</a:t>
            </a:r>
          </a:p>
        </p:txBody>
      </p:sp>
    </p:spTree>
    <p:extLst>
      <p:ext uri="{BB962C8B-B14F-4D97-AF65-F5344CB8AC3E}">
        <p14:creationId xmlns:p14="http://schemas.microsoft.com/office/powerpoint/2010/main" val="1263674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E4CA169A-FB39-4D45-BB25-A226AFCBED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152DCDF-935A-4312-B09A-5095BC9516D5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DOE 谱系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BF51849-7871-4D8E-B67A-CC13320ECAA1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23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E789205-919C-4747-A53E-5B5E2EC5344C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9A2E2C-ECAA-4355-9112-9F3E9361DC93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 Fisher 到 Box：DOE 是现代实验方法论的主干之一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7080C5-C6E5-4897-9288-C6C0B5DE537A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它先解决“怎么设计实验”，再逐步走向“怎么在实验中学习”。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935D6FD-20EC-44BB-80F4-BCFB5534D1B0}"/>
              </a:ext>
            </a:extLst>
          </p:cNvPr>
          <p:cNvSpPr>
            <a:spLocks noGrp="1"/>
          </p:cNvSpPr>
          <p:nvPr/>
        </p:nvSpPr>
        <p:spPr>
          <a:xfrm>
            <a:off x="857250" y="2571750"/>
            <a:ext cx="25050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32BB8C-8985-4AAF-9D46-1E0C75D161CF}"/>
              </a:ext>
            </a:extLst>
          </p:cNvPr>
          <p:cNvSpPr>
            <a:spLocks noGrp="1"/>
          </p:cNvSpPr>
          <p:nvPr/>
        </p:nvSpPr>
        <p:spPr>
          <a:xfrm>
            <a:off x="1009650" y="2724150"/>
            <a:ext cx="22002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1930s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501650F-1ACF-4CFF-A4F3-9EFE6CCADDFD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22002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Fisher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A72973-64D6-41E9-BE60-8C5D63F92FDE}"/>
              </a:ext>
            </a:extLst>
          </p:cNvPr>
          <p:cNvSpPr>
            <a:spLocks noGrp="1"/>
          </p:cNvSpPr>
          <p:nvPr/>
        </p:nvSpPr>
        <p:spPr>
          <a:xfrm>
            <a:off x="1009650" y="3352800"/>
            <a:ext cx="22002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把随机化、重复和方差分析系统化，建立现代实验设计基础。</a:t>
            </a:r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3D3363EA-DC02-41EE-BB1B-B4BF8E1D8D11}"/>
              </a:ext>
            </a:extLst>
          </p:cNvPr>
          <p:cNvSpPr>
            <a:spLocks noGrp="1"/>
          </p:cNvSpPr>
          <p:nvPr/>
        </p:nvSpPr>
        <p:spPr>
          <a:xfrm>
            <a:off x="3400425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E87BF2C-8B5B-45BE-8386-5F6DF5B1E79E}"/>
              </a:ext>
            </a:extLst>
          </p:cNvPr>
          <p:cNvSpPr>
            <a:spLocks noGrp="1"/>
          </p:cNvSpPr>
          <p:nvPr/>
        </p:nvSpPr>
        <p:spPr>
          <a:xfrm>
            <a:off x="3514725" y="2571750"/>
            <a:ext cx="25050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71B60AF-B1FD-48B7-B67C-B6C184F80C03}"/>
              </a:ext>
            </a:extLst>
          </p:cNvPr>
          <p:cNvSpPr>
            <a:spLocks noGrp="1"/>
          </p:cNvSpPr>
          <p:nvPr/>
        </p:nvSpPr>
        <p:spPr>
          <a:xfrm>
            <a:off x="3667125" y="2724150"/>
            <a:ext cx="22002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1950s–70s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D4FD56D-A8C4-4E6B-B2D9-DAE766BB25C7}"/>
              </a:ext>
            </a:extLst>
          </p:cNvPr>
          <p:cNvSpPr>
            <a:spLocks noGrp="1"/>
          </p:cNvSpPr>
          <p:nvPr/>
        </p:nvSpPr>
        <p:spPr>
          <a:xfrm>
            <a:off x="3667125" y="2971800"/>
            <a:ext cx="22002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工业 DOE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6D6DBBD-F613-4E6F-BF03-0CB5666D410F}"/>
              </a:ext>
            </a:extLst>
          </p:cNvPr>
          <p:cNvSpPr>
            <a:spLocks noGrp="1"/>
          </p:cNvSpPr>
          <p:nvPr/>
        </p:nvSpPr>
        <p:spPr>
          <a:xfrm>
            <a:off x="3667125" y="3352800"/>
            <a:ext cx="22002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全因子、部分因子、响应面等方法进入工程与工艺优化。</a:t>
            </a: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74AB6950-0EB7-4C3F-AC56-26A39AC146C1}"/>
              </a:ext>
            </a:extLst>
          </p:cNvPr>
          <p:cNvSpPr>
            <a:spLocks noGrp="1"/>
          </p:cNvSpPr>
          <p:nvPr/>
        </p:nvSpPr>
        <p:spPr>
          <a:xfrm>
            <a:off x="6057900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7F894C6E-A8CF-46C9-B69A-ABD68DD910A6}"/>
              </a:ext>
            </a:extLst>
          </p:cNvPr>
          <p:cNvSpPr>
            <a:spLocks noGrp="1"/>
          </p:cNvSpPr>
          <p:nvPr/>
        </p:nvSpPr>
        <p:spPr>
          <a:xfrm>
            <a:off x="6172200" y="2571750"/>
            <a:ext cx="25050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3A515F-2196-4794-AE56-5E25831A218E}"/>
              </a:ext>
            </a:extLst>
          </p:cNvPr>
          <p:cNvSpPr>
            <a:spLocks noGrp="1"/>
          </p:cNvSpPr>
          <p:nvPr/>
        </p:nvSpPr>
        <p:spPr>
          <a:xfrm>
            <a:off x="6324600" y="2724150"/>
            <a:ext cx="22002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Box 时代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518A21B-2660-4533-B829-7D9241112584}"/>
              </a:ext>
            </a:extLst>
          </p:cNvPr>
          <p:cNvSpPr>
            <a:spLocks noGrp="1"/>
          </p:cNvSpPr>
          <p:nvPr/>
        </p:nvSpPr>
        <p:spPr>
          <a:xfrm>
            <a:off x="6324600" y="2971800"/>
            <a:ext cx="22002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序贯思想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C476CC3-5496-4CEE-B14C-67DB7CCAE45B}"/>
              </a:ext>
            </a:extLst>
          </p:cNvPr>
          <p:cNvSpPr>
            <a:spLocks noGrp="1"/>
          </p:cNvSpPr>
          <p:nvPr/>
        </p:nvSpPr>
        <p:spPr>
          <a:xfrm>
            <a:off x="6324600" y="3352800"/>
            <a:ext cx="22002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强调试验、学习、再试验；统计设计开始接近闭环思维。</a:t>
            </a:r>
          </a:p>
        </p:txBody>
      </p:sp>
      <p:sp>
        <p:nvSpPr>
          <p:cNvPr id="21" name="箭头: 右 20">
            <a:extLst>
              <a:ext uri="{FF2B5EF4-FFF2-40B4-BE49-F238E27FC236}">
                <a16:creationId xmlns:a16="http://schemas.microsoft.com/office/drawing/2014/main" id="{A94FCB8A-38BB-4871-9D23-804188D50A06}"/>
              </a:ext>
            </a:extLst>
          </p:cNvPr>
          <p:cNvSpPr>
            <a:spLocks noGrp="1"/>
          </p:cNvSpPr>
          <p:nvPr/>
        </p:nvSpPr>
        <p:spPr>
          <a:xfrm>
            <a:off x="8715375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232D7B4-C54B-429F-9C50-3AF2798D73F9}"/>
              </a:ext>
            </a:extLst>
          </p:cNvPr>
          <p:cNvSpPr>
            <a:spLocks noGrp="1"/>
          </p:cNvSpPr>
          <p:nvPr/>
        </p:nvSpPr>
        <p:spPr>
          <a:xfrm>
            <a:off x="8829675" y="2571750"/>
            <a:ext cx="25050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4B02A09-CB78-48B0-9E98-ABC754615EB1}"/>
              </a:ext>
            </a:extLst>
          </p:cNvPr>
          <p:cNvSpPr>
            <a:spLocks noGrp="1"/>
          </p:cNvSpPr>
          <p:nvPr/>
        </p:nvSpPr>
        <p:spPr>
          <a:xfrm>
            <a:off x="8982075" y="2724150"/>
            <a:ext cx="22002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今天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3CE70E3-E115-4914-839E-8B9CA4507248}"/>
              </a:ext>
            </a:extLst>
          </p:cNvPr>
          <p:cNvSpPr>
            <a:spLocks noGrp="1"/>
          </p:cNvSpPr>
          <p:nvPr/>
        </p:nvSpPr>
        <p:spPr>
          <a:xfrm>
            <a:off x="8982075" y="2971800"/>
            <a:ext cx="22002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与 SDL 汇流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FB88629-35BB-456D-85CC-7D04E51469D7}"/>
              </a:ext>
            </a:extLst>
          </p:cNvPr>
          <p:cNvSpPr>
            <a:spLocks noGrp="1"/>
          </p:cNvSpPr>
          <p:nvPr/>
        </p:nvSpPr>
        <p:spPr>
          <a:xfrm>
            <a:off x="8982075" y="3352800"/>
            <a:ext cx="22002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DOE 继续负责初始化、筛选、结构化采样，并与 BO/SDL 集成。</a:t>
            </a:r>
          </a:p>
        </p:txBody>
      </p:sp>
    </p:spTree>
    <p:extLst>
      <p:ext uri="{BB962C8B-B14F-4D97-AF65-F5344CB8AC3E}">
        <p14:creationId xmlns:p14="http://schemas.microsoft.com/office/powerpoint/2010/main" val="19489908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10197F2B-FC4F-44BF-9D97-FBD5E6192D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20DCB54-8773-43BF-8867-EB2721BBEFD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DOE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3A78A1F-B378-4C0D-BABE-6139135E51BB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24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F41C5A6-7FD6-4B12-B911-8824448CD3AD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B2230E1-083A-4193-95BE-F9BEC1D322F3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DOE 的核心贡献：把实验从“凭感觉改变量”变成“结构化采样”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1DD7C75-D623-4AD4-93B9-C9EF86C6B992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它解决的是实验设计问题，而不只是统计分析问题。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527DBAE-5C66-46A6-B502-5FF2CC4F87EE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665A8B8-EC75-4231-8A78-A9952D3DBA86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明确因素、水平、响应和约束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通过有计划的采样区分主效应、交互效应和噪声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在有限实验预算下，提高信息增益和解释能力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32F63BA-F435-4D75-B025-E63E5E8EBA47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F46C216-67EA-4B53-92D9-23E3EF47021E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DOE 常见家族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E2DDB5D-FEC8-4F9B-9804-D44A62ECD22C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全因子 / 部分因子 / 响应面 / 中心复合 / Box–Behnken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CDC6856-0136-4FFF-AA3B-73F57ABDB964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F19A720-FAA5-4816-90AC-D2475C0BF918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更重要的是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2A641BD-2BE1-4740-9508-15200AB90292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DOE 的价值不仅在“省实验”，更在于让实验变得可解释、可复盘、可交流。</a:t>
            </a:r>
          </a:p>
        </p:txBody>
      </p:sp>
    </p:spTree>
    <p:extLst>
      <p:ext uri="{BB962C8B-B14F-4D97-AF65-F5344CB8AC3E}">
        <p14:creationId xmlns:p14="http://schemas.microsoft.com/office/powerpoint/2010/main" val="17079707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91B9653E-DDD6-46CA-994B-F5A39F2443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45761A-F640-4462-85EE-EB9131F3F60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DOE 家族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EE83D59-421A-436F-8C4E-DF66561E3B4C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25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E3A1D3-81A1-4FD0-BFFC-54A34FB19286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BCFA513-0285-4594-9AF3-038E926712D3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DOE 家族怎么选：筛选、建模、优化各有分工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DFD796A-2C12-4110-99F0-32A3C7B8EF9F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DOE 不是一个方法，而是一组针对不同实验阶段的设计策略。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84BB78D-1DBC-4880-9F66-9DC7D93D7933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01E59B2-02AA-444B-8AF2-E919F0C54485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全因子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5AC8A4-692A-44E1-9EBF-A5C623AC6FC9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因素少、预算足时，完整摸清主效应与交互。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A312600-4C9C-4FDE-8FC4-E5B58CF18A6D}"/>
              </a:ext>
            </a:extLst>
          </p:cNvPr>
          <p:cNvSpPr>
            <a:spLocks noGrp="1"/>
          </p:cNvSpPr>
          <p:nvPr/>
        </p:nvSpPr>
        <p:spPr>
          <a:xfrm>
            <a:off x="443865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5CA56D8-35A9-4099-BD2F-7A5D3178132E}"/>
              </a:ext>
            </a:extLst>
          </p:cNvPr>
          <p:cNvSpPr>
            <a:spLocks noGrp="1"/>
          </p:cNvSpPr>
          <p:nvPr/>
        </p:nvSpPr>
        <p:spPr>
          <a:xfrm>
            <a:off x="459105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部分因子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3ACE5C6-576E-4530-AE5D-21AE18C89DC6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筛选阶段优先，快速找出重要因素。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BF03387-1929-4850-BCA3-D8B842E3A6C2}"/>
              </a:ext>
            </a:extLst>
          </p:cNvPr>
          <p:cNvSpPr>
            <a:spLocks noGrp="1"/>
          </p:cNvSpPr>
          <p:nvPr/>
        </p:nvSpPr>
        <p:spPr>
          <a:xfrm>
            <a:off x="80391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2F69070-99D7-4296-8555-7D8F85590E8B}"/>
              </a:ext>
            </a:extLst>
          </p:cNvPr>
          <p:cNvSpPr>
            <a:spLocks noGrp="1"/>
          </p:cNvSpPr>
          <p:nvPr/>
        </p:nvSpPr>
        <p:spPr>
          <a:xfrm>
            <a:off x="81915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中心复合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43F0C7E-FE8D-4F40-AD82-4D56FE377957}"/>
              </a:ext>
            </a:extLst>
          </p:cNvPr>
          <p:cNvSpPr>
            <a:spLocks noGrp="1"/>
          </p:cNvSpPr>
          <p:nvPr/>
        </p:nvSpPr>
        <p:spPr>
          <a:xfrm>
            <a:off x="81915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适合建立二次响应面，观察曲率。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1C51DBF-8593-4DA4-9A85-EDAB45427D94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AD2CE7D-25A5-4539-B695-C2BD8883823D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Box–Behnken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B4FB742-C90A-4214-947D-686A3F5EE5A3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减少极端组合，常用于工艺优化。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1A31CE56-1C4B-4DD6-AAE4-2FF61AC3FCC8}"/>
              </a:ext>
            </a:extLst>
          </p:cNvPr>
          <p:cNvSpPr>
            <a:spLocks noGrp="1"/>
          </p:cNvSpPr>
          <p:nvPr/>
        </p:nvSpPr>
        <p:spPr>
          <a:xfrm>
            <a:off x="443865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7CFE5A9-F1A3-4D73-A36F-859441FB1809}"/>
              </a:ext>
            </a:extLst>
          </p:cNvPr>
          <p:cNvSpPr>
            <a:spLocks noGrp="1"/>
          </p:cNvSpPr>
          <p:nvPr/>
        </p:nvSpPr>
        <p:spPr>
          <a:xfrm>
            <a:off x="459105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响应面方法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79D79BE-57F8-4512-A9A4-FA6BA919A30A}"/>
              </a:ext>
            </a:extLst>
          </p:cNvPr>
          <p:cNvSpPr>
            <a:spLocks noGrp="1"/>
          </p:cNvSpPr>
          <p:nvPr/>
        </p:nvSpPr>
        <p:spPr>
          <a:xfrm>
            <a:off x="459105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在局部区域建立可解释近似模型。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C971E6A-57F6-4061-B0D1-158BE2B483EC}"/>
              </a:ext>
            </a:extLst>
          </p:cNvPr>
          <p:cNvSpPr>
            <a:spLocks noGrp="1"/>
          </p:cNvSpPr>
          <p:nvPr/>
        </p:nvSpPr>
        <p:spPr>
          <a:xfrm>
            <a:off x="80391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96BF9DF-B1BC-49F1-ACF1-68FBB469D7A2}"/>
              </a:ext>
            </a:extLst>
          </p:cNvPr>
          <p:cNvSpPr>
            <a:spLocks noGrp="1"/>
          </p:cNvSpPr>
          <p:nvPr/>
        </p:nvSpPr>
        <p:spPr>
          <a:xfrm>
            <a:off x="81915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真正的顺序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69D0E8E-F1AC-4413-BD0E-61E99120EC7E}"/>
              </a:ext>
            </a:extLst>
          </p:cNvPr>
          <p:cNvSpPr>
            <a:spLocks noGrp="1"/>
          </p:cNvSpPr>
          <p:nvPr/>
        </p:nvSpPr>
        <p:spPr>
          <a:xfrm>
            <a:off x="81915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先问实验处在哪个阶段，再选 DOE，而不是反过来。</a:t>
            </a:r>
          </a:p>
        </p:txBody>
      </p:sp>
    </p:spTree>
    <p:extLst>
      <p:ext uri="{BB962C8B-B14F-4D97-AF65-F5344CB8AC3E}">
        <p14:creationId xmlns:p14="http://schemas.microsoft.com/office/powerpoint/2010/main" val="14231881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963A6831-E4D7-45E7-8D92-42B0C260FE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98B8D5-7478-46A9-903C-71EEE15EB9A8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DOE 框架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A7D36E-85D6-4904-A69E-5742CEFCA5FB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26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C061D1-E3D6-4557-86FB-8A64B8CC0792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4BFEE5-EB8C-4B78-9EF3-E3FF5D43E619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DOE 的最小词汇表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99523B9-5E5A-4676-8C32-8B159E67908A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学生至少要区分这六个词，否则后面讲 SDL 会混。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A7D25C3A-B0A3-40D0-8E00-07D37DD102C0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9A48E80-860F-43ED-BEDE-18A7720CA59B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因素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92A447-4744-4732-8784-2B998907510F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我们主动控制的变量。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0DDC16F-A28B-448D-A569-8AF1BDA655F4}"/>
              </a:ext>
            </a:extLst>
          </p:cNvPr>
          <p:cNvSpPr>
            <a:spLocks noGrp="1"/>
          </p:cNvSpPr>
          <p:nvPr/>
        </p:nvSpPr>
        <p:spPr>
          <a:xfrm>
            <a:off x="443865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4FDC92-148D-462E-B87F-CCA65823CB6A}"/>
              </a:ext>
            </a:extLst>
          </p:cNvPr>
          <p:cNvSpPr>
            <a:spLocks noGrp="1"/>
          </p:cNvSpPr>
          <p:nvPr/>
        </p:nvSpPr>
        <p:spPr>
          <a:xfrm>
            <a:off x="459105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水平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3BDF952-9BE1-4408-9F0B-B139FD1E1FD6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每个因素允许取到的值。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E3C0DE1-4D67-42A4-99CD-FAABA9E18658}"/>
              </a:ext>
            </a:extLst>
          </p:cNvPr>
          <p:cNvSpPr>
            <a:spLocks noGrp="1"/>
          </p:cNvSpPr>
          <p:nvPr/>
        </p:nvSpPr>
        <p:spPr>
          <a:xfrm>
            <a:off x="80391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C0C66C7-21B5-46BA-8B98-27628406E463}"/>
              </a:ext>
            </a:extLst>
          </p:cNvPr>
          <p:cNvSpPr>
            <a:spLocks noGrp="1"/>
          </p:cNvSpPr>
          <p:nvPr/>
        </p:nvSpPr>
        <p:spPr>
          <a:xfrm>
            <a:off x="81915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响应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B45A0C0-ED6E-46EB-95B8-01D246C41C75}"/>
              </a:ext>
            </a:extLst>
          </p:cNvPr>
          <p:cNvSpPr>
            <a:spLocks noGrp="1"/>
          </p:cNvSpPr>
          <p:nvPr/>
        </p:nvSpPr>
        <p:spPr>
          <a:xfrm>
            <a:off x="81915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实验测得的结果或输出。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9CFA7D3-8DE3-4F49-B080-7DBAE15CE5BA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D7FFA12-0067-4558-A164-55386F432CFD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约束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0865679-FE52-4F39-93D5-AA31000712E8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安全、成本、可行性边界。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E785870D-8D19-473D-924E-D0CF55706932}"/>
              </a:ext>
            </a:extLst>
          </p:cNvPr>
          <p:cNvSpPr>
            <a:spLocks noGrp="1"/>
          </p:cNvSpPr>
          <p:nvPr/>
        </p:nvSpPr>
        <p:spPr>
          <a:xfrm>
            <a:off x="443865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178753F-34EE-4D74-978B-F7E5D77198DF}"/>
              </a:ext>
            </a:extLst>
          </p:cNvPr>
          <p:cNvSpPr>
            <a:spLocks noGrp="1"/>
          </p:cNvSpPr>
          <p:nvPr/>
        </p:nvSpPr>
        <p:spPr>
          <a:xfrm>
            <a:off x="459105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主效应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CEC792C-3CC2-415C-907D-6CEB3857AC3C}"/>
              </a:ext>
            </a:extLst>
          </p:cNvPr>
          <p:cNvSpPr>
            <a:spLocks noGrp="1"/>
          </p:cNvSpPr>
          <p:nvPr/>
        </p:nvSpPr>
        <p:spPr>
          <a:xfrm>
            <a:off x="459105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单个因素变化带来的影响。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10ADBE5-9D92-4BD9-8F3F-84D310C60B3D}"/>
              </a:ext>
            </a:extLst>
          </p:cNvPr>
          <p:cNvSpPr>
            <a:spLocks noGrp="1"/>
          </p:cNvSpPr>
          <p:nvPr/>
        </p:nvSpPr>
        <p:spPr>
          <a:xfrm>
            <a:off x="80391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6D2FA26-EBCF-4305-9F7D-B025EB8267F1}"/>
              </a:ext>
            </a:extLst>
          </p:cNvPr>
          <p:cNvSpPr>
            <a:spLocks noGrp="1"/>
          </p:cNvSpPr>
          <p:nvPr/>
        </p:nvSpPr>
        <p:spPr>
          <a:xfrm>
            <a:off x="81915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交互效应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9A8CEB0-CA97-465A-9BE8-131749E50C90}"/>
              </a:ext>
            </a:extLst>
          </p:cNvPr>
          <p:cNvSpPr>
            <a:spLocks noGrp="1"/>
          </p:cNvSpPr>
          <p:nvPr/>
        </p:nvSpPr>
        <p:spPr>
          <a:xfrm>
            <a:off x="81915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因素组合共同作用产生的影响。</a:t>
            </a:r>
          </a:p>
        </p:txBody>
      </p:sp>
    </p:spTree>
    <p:extLst>
      <p:ext uri="{BB962C8B-B14F-4D97-AF65-F5344CB8AC3E}">
        <p14:creationId xmlns:p14="http://schemas.microsoft.com/office/powerpoint/2010/main" val="10471711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矩形 54">
            <a:extLst>
              <a:ext uri="{FF2B5EF4-FFF2-40B4-BE49-F238E27FC236}">
                <a16:creationId xmlns:a16="http://schemas.microsoft.com/office/drawing/2014/main" id="{53290065-5406-4A32-8D7F-1810854678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E6491C-9754-4D14-A68F-88A15106C61A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方法比较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845CE1-4205-41F5-8067-D1ED905FAD29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27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9AAD8C4-D236-4250-9BEE-1224B6150066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268B0F3-848D-475E-BD42-A66226A82B7D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试错法、DOE、SDL：不是替代关系，而是连续谱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3C5F08F-CC20-4271-8379-C02D6E020652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每种方法都有适用边界。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E0D588E-E844-4E09-9692-E81F5DA11FF6}"/>
              </a:ext>
            </a:extLst>
          </p:cNvPr>
          <p:cNvSpPr>
            <a:spLocks noGrp="1"/>
          </p:cNvSpPr>
          <p:nvPr/>
        </p:nvSpPr>
        <p:spPr>
          <a:xfrm>
            <a:off x="838200" y="2171700"/>
            <a:ext cx="2095500" cy="438150"/>
          </a:xfrm>
          <a:prstGeom prst="roundRect">
            <a:avLst>
              <a:gd name="adj" fmla="val 17391"/>
            </a:avLst>
          </a:prstGeom>
          <a:solidFill>
            <a:srgbClr val="0E213A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5F7D069-A6F0-4685-8096-AA1E3BD8B15F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866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EDFC3357-4891-42E3-A1E0-B62411F5C1C6}"/>
              </a:ext>
            </a:extLst>
          </p:cNvPr>
          <p:cNvSpPr>
            <a:spLocks noGrp="1"/>
          </p:cNvSpPr>
          <p:nvPr/>
        </p:nvSpPr>
        <p:spPr>
          <a:xfrm>
            <a:off x="2933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8ECAE93-E0DB-479A-BE0D-0DAB343BEFE7}"/>
              </a:ext>
            </a:extLst>
          </p:cNvPr>
          <p:cNvSpPr>
            <a:spLocks noGrp="1"/>
          </p:cNvSpPr>
          <p:nvPr/>
        </p:nvSpPr>
        <p:spPr>
          <a:xfrm>
            <a:off x="3048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试错法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AD19524-FEF0-4AAC-AE45-3AA9E02C16A7}"/>
              </a:ext>
            </a:extLst>
          </p:cNvPr>
          <p:cNvSpPr>
            <a:spLocks noGrp="1"/>
          </p:cNvSpPr>
          <p:nvPr/>
        </p:nvSpPr>
        <p:spPr>
          <a:xfrm>
            <a:off x="54102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137442-6142-4D75-9888-E6AB22EE3343}"/>
              </a:ext>
            </a:extLst>
          </p:cNvPr>
          <p:cNvSpPr>
            <a:spLocks noGrp="1"/>
          </p:cNvSpPr>
          <p:nvPr/>
        </p:nvSpPr>
        <p:spPr>
          <a:xfrm>
            <a:off x="55245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DOE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8C5FC2E-4461-4CD4-9C6D-E15C77F0AD21}"/>
              </a:ext>
            </a:extLst>
          </p:cNvPr>
          <p:cNvSpPr>
            <a:spLocks noGrp="1"/>
          </p:cNvSpPr>
          <p:nvPr/>
        </p:nvSpPr>
        <p:spPr>
          <a:xfrm>
            <a:off x="7886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3EC39A9-6F46-4C11-A5E9-3F92FE1D5AA4}"/>
              </a:ext>
            </a:extLst>
          </p:cNvPr>
          <p:cNvSpPr>
            <a:spLocks noGrp="1"/>
          </p:cNvSpPr>
          <p:nvPr/>
        </p:nvSpPr>
        <p:spPr>
          <a:xfrm>
            <a:off x="8001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SDL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D010446B-A116-40BE-8AEA-951BAE7840EA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A9F30AD-A06F-491C-B126-AAD791134E57}"/>
              </a:ext>
            </a:extLst>
          </p:cNvPr>
          <p:cNvSpPr>
            <a:spLocks noGrp="1"/>
          </p:cNvSpPr>
          <p:nvPr/>
        </p:nvSpPr>
        <p:spPr>
          <a:xfrm>
            <a:off x="952500" y="27051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策略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7CDD43E8-6E00-44F8-A9D1-25D86AD8F6C4}"/>
              </a:ext>
            </a:extLst>
          </p:cNvPr>
          <p:cNvSpPr>
            <a:spLocks noGrp="1"/>
          </p:cNvSpPr>
          <p:nvPr/>
        </p:nvSpPr>
        <p:spPr>
          <a:xfrm>
            <a:off x="29337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1F5E019-E1C8-49E2-A238-4EA0E447E3FE}"/>
              </a:ext>
            </a:extLst>
          </p:cNvPr>
          <p:cNvSpPr>
            <a:spLocks noGrp="1"/>
          </p:cNvSpPr>
          <p:nvPr/>
        </p:nvSpPr>
        <p:spPr>
          <a:xfrm>
            <a:off x="30480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经验与直觉驱动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84A1B39-6092-492D-B973-ECACF64D383E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E3779DF-F176-48AD-AEA3-FC888113FDAA}"/>
              </a:ext>
            </a:extLst>
          </p:cNvPr>
          <p:cNvSpPr>
            <a:spLocks noGrp="1"/>
          </p:cNvSpPr>
          <p:nvPr/>
        </p:nvSpPr>
        <p:spPr>
          <a:xfrm>
            <a:off x="55245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统计设计驱动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B727B1B4-C93E-46B3-BEC0-8368300A15B9}"/>
              </a:ext>
            </a:extLst>
          </p:cNvPr>
          <p:cNvSpPr>
            <a:spLocks noGrp="1"/>
          </p:cNvSpPr>
          <p:nvPr/>
        </p:nvSpPr>
        <p:spPr>
          <a:xfrm>
            <a:off x="78867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01A2648-4272-4180-A51D-583332573515}"/>
              </a:ext>
            </a:extLst>
          </p:cNvPr>
          <p:cNvSpPr>
            <a:spLocks noGrp="1"/>
          </p:cNvSpPr>
          <p:nvPr/>
        </p:nvSpPr>
        <p:spPr>
          <a:xfrm>
            <a:off x="80010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模型与闭环决策驱动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0183A5B-0035-48DE-8E5B-5C226A2A8C4F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B1301AB-512D-40D9-98B3-53853FF8DEB9}"/>
              </a:ext>
            </a:extLst>
          </p:cNvPr>
          <p:cNvSpPr>
            <a:spLocks noGrp="1"/>
          </p:cNvSpPr>
          <p:nvPr/>
        </p:nvSpPr>
        <p:spPr>
          <a:xfrm>
            <a:off x="952500" y="31813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变量空间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7AED83C6-661A-42A1-B472-B522EB798C73}"/>
              </a:ext>
            </a:extLst>
          </p:cNvPr>
          <p:cNvSpPr>
            <a:spLocks noGrp="1"/>
          </p:cNvSpPr>
          <p:nvPr/>
        </p:nvSpPr>
        <p:spPr>
          <a:xfrm>
            <a:off x="29337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3F4C100-BBB8-4215-BE3E-318F1F14B7D9}"/>
              </a:ext>
            </a:extLst>
          </p:cNvPr>
          <p:cNvSpPr>
            <a:spLocks noGrp="1"/>
          </p:cNvSpPr>
          <p:nvPr/>
        </p:nvSpPr>
        <p:spPr>
          <a:xfrm>
            <a:off x="30480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低维更友好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2ADE55A-9341-451E-9C91-1693534C54B1}"/>
              </a:ext>
            </a:extLst>
          </p:cNvPr>
          <p:cNvSpPr>
            <a:spLocks noGrp="1"/>
          </p:cNvSpPr>
          <p:nvPr/>
        </p:nvSpPr>
        <p:spPr>
          <a:xfrm>
            <a:off x="54102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EEE9E13-0226-40E4-B89C-4C4FBEA653E1}"/>
              </a:ext>
            </a:extLst>
          </p:cNvPr>
          <p:cNvSpPr>
            <a:spLocks noGrp="1"/>
          </p:cNvSpPr>
          <p:nvPr/>
        </p:nvSpPr>
        <p:spPr>
          <a:xfrm>
            <a:off x="55245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中低维较合适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25508EE1-52EE-4D7B-AB4C-3FE78A697B08}"/>
              </a:ext>
            </a:extLst>
          </p:cNvPr>
          <p:cNvSpPr>
            <a:spLocks noGrp="1"/>
          </p:cNvSpPr>
          <p:nvPr/>
        </p:nvSpPr>
        <p:spPr>
          <a:xfrm>
            <a:off x="78867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55429B6-2004-4A12-834B-0AAC6F34E935}"/>
              </a:ext>
            </a:extLst>
          </p:cNvPr>
          <p:cNvSpPr>
            <a:spLocks noGrp="1"/>
          </p:cNvSpPr>
          <p:nvPr/>
        </p:nvSpPr>
        <p:spPr>
          <a:xfrm>
            <a:off x="80010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高维潜力更大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DBD3B8BC-C1A3-499C-9C71-C648C9A0072A}"/>
              </a:ext>
            </a:extLst>
          </p:cNvPr>
          <p:cNvSpPr>
            <a:spLocks noGrp="1"/>
          </p:cNvSpPr>
          <p:nvPr/>
        </p:nvSpPr>
        <p:spPr>
          <a:xfrm>
            <a:off x="838200" y="35623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CDF43AA-C38A-46F6-884E-7506F45050FF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不确定性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F9E2AA5-AA1B-4E52-8657-081BB06DEB45}"/>
              </a:ext>
            </a:extLst>
          </p:cNvPr>
          <p:cNvSpPr>
            <a:spLocks noGrp="1"/>
          </p:cNvSpPr>
          <p:nvPr/>
        </p:nvSpPr>
        <p:spPr>
          <a:xfrm>
            <a:off x="29337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497C672-B655-49C8-8B9F-7CE198A8B8D0}"/>
              </a:ext>
            </a:extLst>
          </p:cNvPr>
          <p:cNvSpPr>
            <a:spLocks noGrp="1"/>
          </p:cNvSpPr>
          <p:nvPr/>
        </p:nvSpPr>
        <p:spPr>
          <a:xfrm>
            <a:off x="30480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通常隐含处理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18A8A551-BFD3-4B59-ADBA-C8419485F1D6}"/>
              </a:ext>
            </a:extLst>
          </p:cNvPr>
          <p:cNvSpPr>
            <a:spLocks noGrp="1"/>
          </p:cNvSpPr>
          <p:nvPr/>
        </p:nvSpPr>
        <p:spPr>
          <a:xfrm>
            <a:off x="54102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E21B784-1DC3-4C38-ABCA-E571C0453FAB}"/>
              </a:ext>
            </a:extLst>
          </p:cNvPr>
          <p:cNvSpPr>
            <a:spLocks noGrp="1"/>
          </p:cNvSpPr>
          <p:nvPr/>
        </p:nvSpPr>
        <p:spPr>
          <a:xfrm>
            <a:off x="55245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残差与显著性分析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20BA6CC2-1324-4DE9-8E36-8130A73B8701}"/>
              </a:ext>
            </a:extLst>
          </p:cNvPr>
          <p:cNvSpPr>
            <a:spLocks noGrp="1"/>
          </p:cNvSpPr>
          <p:nvPr/>
        </p:nvSpPr>
        <p:spPr>
          <a:xfrm>
            <a:off x="78867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1A51A13-16B7-4C8B-8C27-853D265FF010}"/>
              </a:ext>
            </a:extLst>
          </p:cNvPr>
          <p:cNvSpPr>
            <a:spLocks noGrp="1"/>
          </p:cNvSpPr>
          <p:nvPr/>
        </p:nvSpPr>
        <p:spPr>
          <a:xfrm>
            <a:off x="80010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显式后验与不确定性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F158564A-CA46-4C46-ACE1-6E6DB1BC27E5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6672BBE-C0CC-4BC9-8CA0-673420B58EB5}"/>
              </a:ext>
            </a:extLst>
          </p:cNvPr>
          <p:cNvSpPr>
            <a:spLocks noGrp="1"/>
          </p:cNvSpPr>
          <p:nvPr/>
        </p:nvSpPr>
        <p:spPr>
          <a:xfrm>
            <a:off x="952500" y="41338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迭代速度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0A109BD-6388-4559-9D1D-F32DCB2B26FA}"/>
              </a:ext>
            </a:extLst>
          </p:cNvPr>
          <p:cNvSpPr>
            <a:spLocks noGrp="1"/>
          </p:cNvSpPr>
          <p:nvPr/>
        </p:nvSpPr>
        <p:spPr>
          <a:xfrm>
            <a:off x="29337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219CAA7-AF6E-44BA-B364-AD6717A10D68}"/>
              </a:ext>
            </a:extLst>
          </p:cNvPr>
          <p:cNvSpPr>
            <a:spLocks noGrp="1"/>
          </p:cNvSpPr>
          <p:nvPr/>
        </p:nvSpPr>
        <p:spPr>
          <a:xfrm>
            <a:off x="30480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慢，强依赖人工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1FE3A12E-BDD3-43E0-A65D-569261B3AD95}"/>
              </a:ext>
            </a:extLst>
          </p:cNvPr>
          <p:cNvSpPr>
            <a:spLocks noGrp="1"/>
          </p:cNvSpPr>
          <p:nvPr/>
        </p:nvSpPr>
        <p:spPr>
          <a:xfrm>
            <a:off x="54102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184EEA1-9955-4EF8-9CD2-8DC57E13B314}"/>
              </a:ext>
            </a:extLst>
          </p:cNvPr>
          <p:cNvSpPr>
            <a:spLocks noGrp="1"/>
          </p:cNvSpPr>
          <p:nvPr/>
        </p:nvSpPr>
        <p:spPr>
          <a:xfrm>
            <a:off x="55245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中等，常按批次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AFFDADB2-5B01-4EB7-8DAA-EECEE91EAF2C}"/>
              </a:ext>
            </a:extLst>
          </p:cNvPr>
          <p:cNvSpPr>
            <a:spLocks noGrp="1"/>
          </p:cNvSpPr>
          <p:nvPr/>
        </p:nvSpPr>
        <p:spPr>
          <a:xfrm>
            <a:off x="78867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7BDEC1C-D280-4964-AE0B-896F1ABBAB25}"/>
              </a:ext>
            </a:extLst>
          </p:cNvPr>
          <p:cNvSpPr>
            <a:spLocks noGrp="1"/>
          </p:cNvSpPr>
          <p:nvPr/>
        </p:nvSpPr>
        <p:spPr>
          <a:xfrm>
            <a:off x="80010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快，可闭环运行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7BAEEDF7-8812-4644-B440-139D42B5A2A8}"/>
              </a:ext>
            </a:extLst>
          </p:cNvPr>
          <p:cNvSpPr>
            <a:spLocks noGrp="1"/>
          </p:cNvSpPr>
          <p:nvPr/>
        </p:nvSpPr>
        <p:spPr>
          <a:xfrm>
            <a:off x="838200" y="45148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57C5EFB-CF1A-484A-A678-E590EF62E752}"/>
              </a:ext>
            </a:extLst>
          </p:cNvPr>
          <p:cNvSpPr>
            <a:spLocks noGrp="1"/>
          </p:cNvSpPr>
          <p:nvPr/>
        </p:nvSpPr>
        <p:spPr>
          <a:xfrm>
            <a:off x="952500" y="46101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最强项</a:t>
            </a: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1DCC34BC-2711-48A2-9E3D-D0D9C9AF1373}"/>
              </a:ext>
            </a:extLst>
          </p:cNvPr>
          <p:cNvSpPr>
            <a:spLocks noGrp="1"/>
          </p:cNvSpPr>
          <p:nvPr/>
        </p:nvSpPr>
        <p:spPr>
          <a:xfrm>
            <a:off x="2933700" y="4514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D138109-35E6-47CB-997F-CE99BB81AF7B}"/>
              </a:ext>
            </a:extLst>
          </p:cNvPr>
          <p:cNvSpPr>
            <a:spLocks noGrp="1"/>
          </p:cNvSpPr>
          <p:nvPr/>
        </p:nvSpPr>
        <p:spPr>
          <a:xfrm>
            <a:off x="3048000" y="4610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早期摸底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426B073F-4CE3-452B-BD6D-1753C7C497A4}"/>
              </a:ext>
            </a:extLst>
          </p:cNvPr>
          <p:cNvSpPr>
            <a:spLocks noGrp="1"/>
          </p:cNvSpPr>
          <p:nvPr/>
        </p:nvSpPr>
        <p:spPr>
          <a:xfrm>
            <a:off x="5410200" y="4514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9B8BD13B-35C4-442B-9EC7-4E8674CE0F47}"/>
              </a:ext>
            </a:extLst>
          </p:cNvPr>
          <p:cNvSpPr>
            <a:spLocks noGrp="1"/>
          </p:cNvSpPr>
          <p:nvPr/>
        </p:nvSpPr>
        <p:spPr>
          <a:xfrm>
            <a:off x="5524500" y="4610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筛选与主效应识别</a:t>
            </a: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08A9BAD4-FFA4-43B8-9136-97E67DCDF8DE}"/>
              </a:ext>
            </a:extLst>
          </p:cNvPr>
          <p:cNvSpPr>
            <a:spLocks noGrp="1"/>
          </p:cNvSpPr>
          <p:nvPr/>
        </p:nvSpPr>
        <p:spPr>
          <a:xfrm>
            <a:off x="7886700" y="4514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AA049C8-306D-44C0-B85F-346075F29473}"/>
              </a:ext>
            </a:extLst>
          </p:cNvPr>
          <p:cNvSpPr>
            <a:spLocks noGrp="1"/>
          </p:cNvSpPr>
          <p:nvPr/>
        </p:nvSpPr>
        <p:spPr>
          <a:xfrm>
            <a:off x="8001000" y="4610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昂贵实验下的数据效率</a:t>
            </a:r>
          </a:p>
        </p:txBody>
      </p:sp>
    </p:spTree>
    <p:extLst>
      <p:ext uri="{BB962C8B-B14F-4D97-AF65-F5344CB8AC3E}">
        <p14:creationId xmlns:p14="http://schemas.microsoft.com/office/powerpoint/2010/main" val="4304148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13AF5F16-EBE6-4381-884C-7751D96C9C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567E6E6-C06B-4F40-B19C-7B0DA5406099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连续性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7B922BD-9735-47E1-B532-8EFFA7C73999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28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593489B-1A00-4E22-8F90-F8FF684456DD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0A91429-E7FD-4E8C-8347-B6A6E9394366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从试错法到 SDL：真正变化的是谁来提出“下一步做什么”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2AB2359-86AF-4F4E-A062-1945CA09F22E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这是方法论上的连续性，也是一条自动化程度逐步提高的路线。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7C0EDC6-3D93-4237-B656-AFC22EADF775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27E0477-DBEA-486A-B401-2661A71F3674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试错法：主要由研究者直觉提出下一步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DOE：由预先设计好的统计结构给出下一组实验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SDL：模型根据现有观测和不确定性，动态推荐下一步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D9BABE09-53B7-4F78-8E7B-37875A81CEB2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13781AD-56D0-45CD-BC8F-5397AFBD4533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所以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7FBA3BC-8A81-4C2E-A2BC-D9890593D9C5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DOE 与 SDL 的区别，不只在模型更复杂，而在推荐逻辑从静态设计转向动态闭环。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B2CFFCC3-96B7-48F1-B931-EF5EB3E0D794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EB8CA2-CB77-42DC-B8A2-CBF8AF9CFB1E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关键问题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AFAB507-2978-43AD-8981-86FCB69EBCAD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“下一步做什么”由谁提出、依据什么提出、如何被验证。</a:t>
            </a:r>
          </a:p>
        </p:txBody>
      </p:sp>
    </p:spTree>
    <p:extLst>
      <p:ext uri="{BB962C8B-B14F-4D97-AF65-F5344CB8AC3E}">
        <p14:creationId xmlns:p14="http://schemas.microsoft.com/office/powerpoint/2010/main" val="15887923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5C9D6493-AEDF-45E0-8CBF-497D3D9CE0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F64A1CB-7CE5-43C7-BBAA-FEBD7E999C27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DOE 与 SDL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6C357-1BF6-4A5A-B6EA-52901A631DC8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29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9B06453-48FF-4849-BEE3-51DECD91F907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805E76-8DF9-40E5-869E-801DFC907E12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DOE 会死吗？不会：它会与 SDL 串联、并联、集成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C83D9B1-80DD-4001-A96D-868318560926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真正的问题不是谁取代谁，而是谁在什么阶段更合适。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64BEF68-0C34-4C5B-B623-16E7FD53014B}"/>
              </a:ext>
            </a:extLst>
          </p:cNvPr>
          <p:cNvSpPr>
            <a:spLocks noGrp="1"/>
          </p:cNvSpPr>
          <p:nvPr/>
        </p:nvSpPr>
        <p:spPr>
          <a:xfrm>
            <a:off x="838200" y="2171700"/>
            <a:ext cx="2095500" cy="438150"/>
          </a:xfrm>
          <a:prstGeom prst="roundRect">
            <a:avLst>
              <a:gd name="adj" fmla="val 17391"/>
            </a:avLst>
          </a:prstGeom>
          <a:solidFill>
            <a:srgbClr val="0E213A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956208-ECB3-4299-9BA4-7EF4F1CAD12D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866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D265F055-6D60-42BD-A835-AC3FA905871F}"/>
              </a:ext>
            </a:extLst>
          </p:cNvPr>
          <p:cNvSpPr>
            <a:spLocks noGrp="1"/>
          </p:cNvSpPr>
          <p:nvPr/>
        </p:nvSpPr>
        <p:spPr>
          <a:xfrm>
            <a:off x="2933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389B63-21A3-4B55-B7A3-454E757D90B0}"/>
              </a:ext>
            </a:extLst>
          </p:cNvPr>
          <p:cNvSpPr>
            <a:spLocks noGrp="1"/>
          </p:cNvSpPr>
          <p:nvPr/>
        </p:nvSpPr>
        <p:spPr>
          <a:xfrm>
            <a:off x="3048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典型场景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4A6AC72-B2D1-4F28-9A4D-F9610CB65619}"/>
              </a:ext>
            </a:extLst>
          </p:cNvPr>
          <p:cNvSpPr>
            <a:spLocks noGrp="1"/>
          </p:cNvSpPr>
          <p:nvPr/>
        </p:nvSpPr>
        <p:spPr>
          <a:xfrm>
            <a:off x="54102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49FD7CB-B672-40BF-9023-92F6356F1259}"/>
              </a:ext>
            </a:extLst>
          </p:cNvPr>
          <p:cNvSpPr>
            <a:spLocks noGrp="1"/>
          </p:cNvSpPr>
          <p:nvPr/>
        </p:nvSpPr>
        <p:spPr>
          <a:xfrm>
            <a:off x="55245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DOE 的角色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A4571B0-2FF6-4A0A-B41D-C8D417B14E2E}"/>
              </a:ext>
            </a:extLst>
          </p:cNvPr>
          <p:cNvSpPr>
            <a:spLocks noGrp="1"/>
          </p:cNvSpPr>
          <p:nvPr/>
        </p:nvSpPr>
        <p:spPr>
          <a:xfrm>
            <a:off x="7886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D1FFBE0-B4EB-4B2F-B086-54B5D687B907}"/>
              </a:ext>
            </a:extLst>
          </p:cNvPr>
          <p:cNvSpPr>
            <a:spLocks noGrp="1"/>
          </p:cNvSpPr>
          <p:nvPr/>
        </p:nvSpPr>
        <p:spPr>
          <a:xfrm>
            <a:off x="8001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SDL 的角色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F82A894F-296A-4AB1-B560-B05DEE8D99F8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5A6928F-BB76-4681-9B3D-405E3A16313A}"/>
              </a:ext>
            </a:extLst>
          </p:cNvPr>
          <p:cNvSpPr>
            <a:spLocks noGrp="1"/>
          </p:cNvSpPr>
          <p:nvPr/>
        </p:nvSpPr>
        <p:spPr>
          <a:xfrm>
            <a:off x="952500" y="27051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串联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F1681C59-9533-4B26-8EAD-4E6426ECCB4B}"/>
              </a:ext>
            </a:extLst>
          </p:cNvPr>
          <p:cNvSpPr>
            <a:spLocks noGrp="1"/>
          </p:cNvSpPr>
          <p:nvPr/>
        </p:nvSpPr>
        <p:spPr>
          <a:xfrm>
            <a:off x="29337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D2D42F1-38B0-41A6-89E3-7B94A11CFE14}"/>
              </a:ext>
            </a:extLst>
          </p:cNvPr>
          <p:cNvSpPr>
            <a:spLocks noGrp="1"/>
          </p:cNvSpPr>
          <p:nvPr/>
        </p:nvSpPr>
        <p:spPr>
          <a:xfrm>
            <a:off x="30480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做初始化、筛选、缩空间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1911E966-CCE8-46D4-BB9B-5E695A9306CA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CFF19B0-D6B5-4B8C-B94D-21EDD229190E}"/>
              </a:ext>
            </a:extLst>
          </p:cNvPr>
          <p:cNvSpPr>
            <a:spLocks noGrp="1"/>
          </p:cNvSpPr>
          <p:nvPr/>
        </p:nvSpPr>
        <p:spPr>
          <a:xfrm>
            <a:off x="55245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在高成本区域做序贯优化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29580385-3082-4B96-92F5-C810DC7A7A54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D5E9B29-15CF-4348-B91A-9B91B89B57BA}"/>
              </a:ext>
            </a:extLst>
          </p:cNvPr>
          <p:cNvSpPr>
            <a:spLocks noGrp="1"/>
          </p:cNvSpPr>
          <p:nvPr/>
        </p:nvSpPr>
        <p:spPr>
          <a:xfrm>
            <a:off x="952500" y="31813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并联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66781478-5FA1-4F57-94AB-543F10E166DB}"/>
              </a:ext>
            </a:extLst>
          </p:cNvPr>
          <p:cNvSpPr>
            <a:spLocks noGrp="1"/>
          </p:cNvSpPr>
          <p:nvPr/>
        </p:nvSpPr>
        <p:spPr>
          <a:xfrm>
            <a:off x="29337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A9AC955-E3E5-4973-A9F2-93496553A938}"/>
              </a:ext>
            </a:extLst>
          </p:cNvPr>
          <p:cNvSpPr>
            <a:spLocks noGrp="1"/>
          </p:cNvSpPr>
          <p:nvPr/>
        </p:nvSpPr>
        <p:spPr>
          <a:xfrm>
            <a:off x="30480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某些子问题用批量统计设计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503EF2A-7791-4587-AD5D-3B8F9946303B}"/>
              </a:ext>
            </a:extLst>
          </p:cNvPr>
          <p:cNvSpPr>
            <a:spLocks noGrp="1"/>
          </p:cNvSpPr>
          <p:nvPr/>
        </p:nvSpPr>
        <p:spPr>
          <a:xfrm>
            <a:off x="54102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14BA2EE-5109-4D99-80AE-564721F7A19D}"/>
              </a:ext>
            </a:extLst>
          </p:cNvPr>
          <p:cNvSpPr>
            <a:spLocks noGrp="1"/>
          </p:cNvSpPr>
          <p:nvPr/>
        </p:nvSpPr>
        <p:spPr>
          <a:xfrm>
            <a:off x="55245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另一些子问题用动态推荐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09934B5B-CDDD-4F19-821C-4FE53127610F}"/>
              </a:ext>
            </a:extLst>
          </p:cNvPr>
          <p:cNvSpPr>
            <a:spLocks noGrp="1"/>
          </p:cNvSpPr>
          <p:nvPr/>
        </p:nvSpPr>
        <p:spPr>
          <a:xfrm>
            <a:off x="838200" y="35623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7030644-E45C-44DD-8156-13F2BF9D3CD4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集成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7187D166-5992-4886-82A5-E06B51FA8ECF}"/>
              </a:ext>
            </a:extLst>
          </p:cNvPr>
          <p:cNvSpPr>
            <a:spLocks noGrp="1"/>
          </p:cNvSpPr>
          <p:nvPr/>
        </p:nvSpPr>
        <p:spPr>
          <a:xfrm>
            <a:off x="29337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9844733-5E5D-4CFE-909F-4ABF7E19214E}"/>
              </a:ext>
            </a:extLst>
          </p:cNvPr>
          <p:cNvSpPr>
            <a:spLocks noGrp="1"/>
          </p:cNvSpPr>
          <p:nvPr/>
        </p:nvSpPr>
        <p:spPr>
          <a:xfrm>
            <a:off x="30480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保留因素、响应、约束、设计点语言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8382C10-14B1-4FE9-B350-555009081734}"/>
              </a:ext>
            </a:extLst>
          </p:cNvPr>
          <p:cNvSpPr>
            <a:spLocks noGrp="1"/>
          </p:cNvSpPr>
          <p:nvPr/>
        </p:nvSpPr>
        <p:spPr>
          <a:xfrm>
            <a:off x="54102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61AA778-A4AB-4F10-AC90-6AEB7AAB9EA0}"/>
              </a:ext>
            </a:extLst>
          </p:cNvPr>
          <p:cNvSpPr>
            <a:spLocks noGrp="1"/>
          </p:cNvSpPr>
          <p:nvPr/>
        </p:nvSpPr>
        <p:spPr>
          <a:xfrm>
            <a:off x="55245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 DOE 思想嵌入初始化和闭环更新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15DDF07B-3D0C-4537-895F-D8E0831F3140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C4003AC-35AC-4AAC-A3FA-DD7FE71082F1}"/>
              </a:ext>
            </a:extLst>
          </p:cNvPr>
          <p:cNvSpPr>
            <a:spLocks noGrp="1"/>
          </p:cNvSpPr>
          <p:nvPr/>
        </p:nvSpPr>
        <p:spPr>
          <a:xfrm>
            <a:off x="952500" y="41338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共同边界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528AC4B6-E662-41A6-B5B8-C33E91135F09}"/>
              </a:ext>
            </a:extLst>
          </p:cNvPr>
          <p:cNvSpPr>
            <a:spLocks noGrp="1"/>
          </p:cNvSpPr>
          <p:nvPr/>
        </p:nvSpPr>
        <p:spPr>
          <a:xfrm>
            <a:off x="29337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CF949BB-7931-4809-B646-05289EA028E7}"/>
              </a:ext>
            </a:extLst>
          </p:cNvPr>
          <p:cNvSpPr>
            <a:spLocks noGrp="1"/>
          </p:cNvSpPr>
          <p:nvPr/>
        </p:nvSpPr>
        <p:spPr>
          <a:xfrm>
            <a:off x="30480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可解释、结构化、低成本学习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7427665-2CDE-4ED4-8211-FDE50C59B570}"/>
              </a:ext>
            </a:extLst>
          </p:cNvPr>
          <p:cNvSpPr>
            <a:spLocks noGrp="1"/>
          </p:cNvSpPr>
          <p:nvPr/>
        </p:nvSpPr>
        <p:spPr>
          <a:xfrm>
            <a:off x="54102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EE098B9-3E05-469D-9931-CAE6454C9A0E}"/>
              </a:ext>
            </a:extLst>
          </p:cNvPr>
          <p:cNvSpPr>
            <a:spLocks noGrp="1"/>
          </p:cNvSpPr>
          <p:nvPr/>
        </p:nvSpPr>
        <p:spPr>
          <a:xfrm>
            <a:off x="55245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高数据效率、动态决策、显式不确定性</a:t>
            </a:r>
          </a:p>
        </p:txBody>
      </p:sp>
    </p:spTree>
    <p:extLst>
      <p:ext uri="{BB962C8B-B14F-4D97-AF65-F5344CB8AC3E}">
        <p14:creationId xmlns:p14="http://schemas.microsoft.com/office/powerpoint/2010/main" val="21406099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38844CDA-C589-4B7F-818F-0D137B1AFA4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B3A9D3-C260-4267-B677-88467CC8D73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第四部分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24250E8-4D14-4021-8EAF-F927E5B59DA5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30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F87389F-312D-40C8-A5DF-72847ED351D3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60025DE-4357-4107-BBE0-FA31A7949161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1428750" cy="1047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5400" b="1" i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48E9B21-4003-4858-9292-03B2EC1F2C87}"/>
              </a:ext>
            </a:extLst>
          </p:cNvPr>
          <p:cNvSpPr>
            <a:spLocks noGrp="1"/>
          </p:cNvSpPr>
          <p:nvPr/>
        </p:nvSpPr>
        <p:spPr>
          <a:xfrm>
            <a:off x="2571750" y="1809750"/>
            <a:ext cx="7810500" cy="666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AI 时代的实验：什么是 SDL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683A70-0D08-41D9-B2BB-14B73D65DF1E}"/>
              </a:ext>
            </a:extLst>
          </p:cNvPr>
          <p:cNvSpPr>
            <a:spLocks noGrp="1"/>
          </p:cNvSpPr>
          <p:nvPr/>
        </p:nvSpPr>
        <p:spPr>
          <a:xfrm>
            <a:off x="2590800" y="2628900"/>
            <a:ext cx="7429500" cy="857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SDL 的关键，不在“用上了 AI”，而在“实验开始形成可更新、可执行、可复位的闭环”。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EFC1D7F-FF31-4AEF-B7BF-BDFDDFEC52CB}"/>
              </a:ext>
            </a:extLst>
          </p:cNvPr>
          <p:cNvSpPr>
            <a:spLocks noGrp="1"/>
          </p:cNvSpPr>
          <p:nvPr/>
        </p:nvSpPr>
        <p:spPr>
          <a:xfrm>
            <a:off x="1047750" y="3924300"/>
            <a:ext cx="4000500" cy="76200"/>
          </a:xfrm>
          <a:prstGeom prst="rect">
            <a:avLst/>
          </a:prstGeom>
          <a:solidFill>
            <a:srgbClr val="34D399"/>
          </a:solidFill>
          <a:ln w="0">
            <a:solidFill>
              <a:srgbClr val="34D399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866C30A-2456-4FF2-BE80-F94B6F3674FC}"/>
              </a:ext>
            </a:extLst>
          </p:cNvPr>
          <p:cNvSpPr>
            <a:spLocks noGrp="1"/>
          </p:cNvSpPr>
          <p:nvPr/>
        </p:nvSpPr>
        <p:spPr>
          <a:xfrm>
            <a:off x="1047750" y="4438650"/>
            <a:ext cx="8572500" cy="762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模型不再只解释已有结果，而开始进入实验行动链。</a:t>
            </a:r>
          </a:p>
        </p:txBody>
      </p:sp>
    </p:spTree>
    <p:extLst>
      <p:ext uri="{BB962C8B-B14F-4D97-AF65-F5344CB8AC3E}">
        <p14:creationId xmlns:p14="http://schemas.microsoft.com/office/powerpoint/2010/main" val="10059190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E981A4BD-F91F-412B-BA81-EF6C4C1C53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FD47141-6BD8-49C4-9F7F-14D0FB4397BD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SDL 全景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F00891-E33F-47D4-9E08-11E09CAE38E7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31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25D8958-8280-4E33-92FF-AC6B7EF7CB24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A8E79DD-C305-4EF3-AF0C-E8537584CA9F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在聚焦单个案例前，先看一眼当前 SDL 领域全景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7837E16-716C-4C8A-84FA-467A11FFEC04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A-Lab 重要，但它不是唯一代表。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EB8ADFC-F91A-476F-B5FB-CBF9C6A78D6D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BA1FF05-C93F-4B00-BF24-6304F4EC8B04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化学反应优化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6C7EC98-3611-4693-A6B3-D3A13C15A95D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连续流、催化、反应条件优化是 SDL 最活跃方向之一。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DF057AA-6580-4AA2-B0A8-6273EFC33C15}"/>
              </a:ext>
            </a:extLst>
          </p:cNvPr>
          <p:cNvSpPr>
            <a:spLocks noGrp="1"/>
          </p:cNvSpPr>
          <p:nvPr/>
        </p:nvSpPr>
        <p:spPr>
          <a:xfrm>
            <a:off x="443865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03DA3CB-A10E-4472-B76A-1A937D056C5A}"/>
              </a:ext>
            </a:extLst>
          </p:cNvPr>
          <p:cNvSpPr>
            <a:spLocks noGrp="1"/>
          </p:cNvSpPr>
          <p:nvPr/>
        </p:nvSpPr>
        <p:spPr>
          <a:xfrm>
            <a:off x="459105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材料合成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06342BA-1FB6-40E9-991A-CB59196461F1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无机固相、薄膜、配方与聚合物是代表性场景。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66CEFC1-848C-4426-ACC4-5E3CD87ADCA0}"/>
              </a:ext>
            </a:extLst>
          </p:cNvPr>
          <p:cNvSpPr>
            <a:spLocks noGrp="1"/>
          </p:cNvSpPr>
          <p:nvPr/>
        </p:nvSpPr>
        <p:spPr>
          <a:xfrm>
            <a:off x="80391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A31B1E3-3084-43E9-B9C3-5FF3D541A1CE}"/>
              </a:ext>
            </a:extLst>
          </p:cNvPr>
          <p:cNvSpPr>
            <a:spLocks noGrp="1"/>
          </p:cNvSpPr>
          <p:nvPr/>
        </p:nvSpPr>
        <p:spPr>
          <a:xfrm>
            <a:off x="81915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自动化编排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FC9D087-C06F-4529-BD57-1E71C4AB21CF}"/>
              </a:ext>
            </a:extLst>
          </p:cNvPr>
          <p:cNvSpPr>
            <a:spLocks noGrp="1"/>
          </p:cNvSpPr>
          <p:nvPr/>
        </p:nvSpPr>
        <p:spPr>
          <a:xfrm>
            <a:off x="81915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ChemOS、工作流调度和设备编排提供系统骨架。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288DB56D-8CB0-491D-B9B8-6200B0B2CE54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0922B67-D0E2-4719-8AB9-BB48088C0CE7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高成本实验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BA8DDB9-FCAF-4408-A500-371C34E9F234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昂贵、慢速或低通量实验更强调数据效率。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420DA0-85D7-4951-9955-F141FAF151FA}"/>
              </a:ext>
            </a:extLst>
          </p:cNvPr>
          <p:cNvSpPr>
            <a:spLocks noGrp="1"/>
          </p:cNvSpPr>
          <p:nvPr/>
        </p:nvSpPr>
        <p:spPr>
          <a:xfrm>
            <a:off x="443865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1292D1C-012E-4142-9D7F-DFDD315C2F56}"/>
              </a:ext>
            </a:extLst>
          </p:cNvPr>
          <p:cNvSpPr>
            <a:spLocks noGrp="1"/>
          </p:cNvSpPr>
          <p:nvPr/>
        </p:nvSpPr>
        <p:spPr>
          <a:xfrm>
            <a:off x="459105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低成本 SDL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2E07C7B-5337-4AC7-8111-49DE3F28CBFA}"/>
              </a:ext>
            </a:extLst>
          </p:cNvPr>
          <p:cNvSpPr>
            <a:spLocks noGrp="1"/>
          </p:cNvSpPr>
          <p:nvPr/>
        </p:nvSpPr>
        <p:spPr>
          <a:xfrm>
            <a:off x="459105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frugal twin 与低成本平台强调可复制和教育可及性。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F0BBACB2-6C64-4205-8A3D-974BCEE8421C}"/>
              </a:ext>
            </a:extLst>
          </p:cNvPr>
          <p:cNvSpPr>
            <a:spLocks noGrp="1"/>
          </p:cNvSpPr>
          <p:nvPr/>
        </p:nvSpPr>
        <p:spPr>
          <a:xfrm>
            <a:off x="80391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64A7E53-317B-4133-876C-66AEB1B51486}"/>
              </a:ext>
            </a:extLst>
          </p:cNvPr>
          <p:cNvSpPr>
            <a:spLocks noGrp="1"/>
          </p:cNvSpPr>
          <p:nvPr/>
        </p:nvSpPr>
        <p:spPr>
          <a:xfrm>
            <a:off x="81915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主流挑战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A8D08A1-42B2-4610-AE6D-FAE282D8CF71}"/>
              </a:ext>
            </a:extLst>
          </p:cNvPr>
          <p:cNvSpPr>
            <a:spLocks noGrp="1"/>
          </p:cNvSpPr>
          <p:nvPr/>
        </p:nvSpPr>
        <p:spPr>
          <a:xfrm>
            <a:off x="81915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标准化、观测定义、验证口径和人机协作仍是共性难点。</a:t>
            </a:r>
          </a:p>
        </p:txBody>
      </p:sp>
    </p:spTree>
    <p:extLst>
      <p:ext uri="{BB962C8B-B14F-4D97-AF65-F5344CB8AC3E}">
        <p14:creationId xmlns:p14="http://schemas.microsoft.com/office/powerpoint/2010/main" val="11093550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ADA321D7-DA1B-4149-869F-F4416EE8CC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A1558CF-276E-42DE-B37A-1BA7D97A7898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SDL 定义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4422D4B-6DAB-4D9F-A857-3CA9CC7FB7A0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32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CF35EB8-6163-41FE-9D8D-8B3E1DF47684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F5CB33B-B2C3-47D6-B585-5D6D1EAEB9F8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SDL：模型驱动的实验闭环，不是单次预测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82CD97-62B3-4666-BD63-751E11533641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它至少包含目标、观测、更新、推荐和执行五个环节。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9E8BBF7-2213-43DA-A736-18FFB0E01E91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0C8B111-113C-4386-934A-16F950F64F63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定义目标：我们到底要优化什么、约束什么、测什么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执行实验：真实硬件或仿真实验台给出观测结果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更新模型：把新观测吸收进当前知识状态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推荐下一点：根据目标与不确定性提出下一个实验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D017DC7B-773B-4480-AFEF-AAC7716A2827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B015E57-5FF5-4326-9DB6-E0F46E7CAF64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一句话定义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C56FE26-D8F2-47DD-AA11-9D918AA1BF8E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SDL = 可自动迭代的实验—观测—建模—决策—再实验系统。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7BB7D27-5940-4DEA-956D-0F4DD827F7D7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316D86B-7BB5-4CD7-A199-E4F57ADA51DC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要强调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51BCAAF-CEAF-4894-B12E-31BE8349A17F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预测模型本身不等于 SDL；进入闭环才是 SDL。</a:t>
            </a:r>
          </a:p>
        </p:txBody>
      </p:sp>
    </p:spTree>
    <p:extLst>
      <p:ext uri="{BB962C8B-B14F-4D97-AF65-F5344CB8AC3E}">
        <p14:creationId xmlns:p14="http://schemas.microsoft.com/office/powerpoint/2010/main" val="2420175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97C34DEE-B25C-4DA9-82CE-76419E1060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1749C44-E86E-4477-8A23-F148582FD71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闭环结构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0A4163C-2E3B-42AA-9914-909507BAC03B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33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4867B82-8A52-4C22-9C16-86A1C0FFFC70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DD14828-6635-4884-858C-D18C4D185A88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一个最小 SDL 闭环包含哪几步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7CF592A-4859-4275-A0D6-1B1167E6F5FD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推荐—执行—观测—更新—再推荐。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D8DC69-C890-40CA-8FA7-D5F995578EF8}"/>
              </a:ext>
            </a:extLst>
          </p:cNvPr>
          <p:cNvSpPr>
            <a:spLocks noGrp="1"/>
          </p:cNvSpPr>
          <p:nvPr/>
        </p:nvSpPr>
        <p:spPr>
          <a:xfrm>
            <a:off x="857250" y="2571750"/>
            <a:ext cx="19716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C8A63A3-1144-4894-9B04-840209D0A8D5}"/>
              </a:ext>
            </a:extLst>
          </p:cNvPr>
          <p:cNvSpPr>
            <a:spLocks noGrp="1"/>
          </p:cNvSpPr>
          <p:nvPr/>
        </p:nvSpPr>
        <p:spPr>
          <a:xfrm>
            <a:off x="1009650" y="2724150"/>
            <a:ext cx="16668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1320FAA-8975-44DE-8B21-2EA8AE099E5F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16668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定义目标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6FA10F-E4C6-435D-85DB-C1C1793F5970}"/>
              </a:ext>
            </a:extLst>
          </p:cNvPr>
          <p:cNvSpPr>
            <a:spLocks noGrp="1"/>
          </p:cNvSpPr>
          <p:nvPr/>
        </p:nvSpPr>
        <p:spPr>
          <a:xfrm>
            <a:off x="1009650" y="3352800"/>
            <a:ext cx="16668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目标函数、约束与可测指标被明确。</a:t>
            </a:r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3477A282-2A21-4B03-A266-5E8FFE80C7FB}"/>
              </a:ext>
            </a:extLst>
          </p:cNvPr>
          <p:cNvSpPr>
            <a:spLocks noGrp="1"/>
          </p:cNvSpPr>
          <p:nvPr/>
        </p:nvSpPr>
        <p:spPr>
          <a:xfrm>
            <a:off x="2867025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0448868-57E7-4AD1-A4C2-F85063948906}"/>
              </a:ext>
            </a:extLst>
          </p:cNvPr>
          <p:cNvSpPr>
            <a:spLocks noGrp="1"/>
          </p:cNvSpPr>
          <p:nvPr/>
        </p:nvSpPr>
        <p:spPr>
          <a:xfrm>
            <a:off x="2981325" y="2571750"/>
            <a:ext cx="19716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8E047D-F1E3-4BB6-8AA0-A86DF4A3C890}"/>
              </a:ext>
            </a:extLst>
          </p:cNvPr>
          <p:cNvSpPr>
            <a:spLocks noGrp="1"/>
          </p:cNvSpPr>
          <p:nvPr/>
        </p:nvSpPr>
        <p:spPr>
          <a:xfrm>
            <a:off x="3133725" y="2724150"/>
            <a:ext cx="16668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F3E5F7C-DB51-40D5-9986-265AB8408033}"/>
              </a:ext>
            </a:extLst>
          </p:cNvPr>
          <p:cNvSpPr>
            <a:spLocks noGrp="1"/>
          </p:cNvSpPr>
          <p:nvPr/>
        </p:nvSpPr>
        <p:spPr>
          <a:xfrm>
            <a:off x="3133725" y="2971800"/>
            <a:ext cx="16668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执行实验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0D5DD1D-C4ED-4D07-89E6-5C60F96D1EDF}"/>
              </a:ext>
            </a:extLst>
          </p:cNvPr>
          <p:cNvSpPr>
            <a:spLocks noGrp="1"/>
          </p:cNvSpPr>
          <p:nvPr/>
        </p:nvSpPr>
        <p:spPr>
          <a:xfrm>
            <a:off x="3133725" y="3352800"/>
            <a:ext cx="16668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硬件或模拟器运行一次实验。</a:t>
            </a: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9FCA50F2-6618-47E0-9DCF-CDEF7EC7CF8E}"/>
              </a:ext>
            </a:extLst>
          </p:cNvPr>
          <p:cNvSpPr>
            <a:spLocks noGrp="1"/>
          </p:cNvSpPr>
          <p:nvPr/>
        </p:nvSpPr>
        <p:spPr>
          <a:xfrm>
            <a:off x="4991100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968A1FA5-328E-49E3-B322-4FF115735451}"/>
              </a:ext>
            </a:extLst>
          </p:cNvPr>
          <p:cNvSpPr>
            <a:spLocks noGrp="1"/>
          </p:cNvSpPr>
          <p:nvPr/>
        </p:nvSpPr>
        <p:spPr>
          <a:xfrm>
            <a:off x="5105400" y="2571750"/>
            <a:ext cx="19716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696A1E7-A2CA-49F3-9A07-1B91BFD1BBC9}"/>
              </a:ext>
            </a:extLst>
          </p:cNvPr>
          <p:cNvSpPr>
            <a:spLocks noGrp="1"/>
          </p:cNvSpPr>
          <p:nvPr/>
        </p:nvSpPr>
        <p:spPr>
          <a:xfrm>
            <a:off x="5257800" y="2724150"/>
            <a:ext cx="16668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3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2C16407-3C7E-4EFF-B650-886C44E28AF5}"/>
              </a:ext>
            </a:extLst>
          </p:cNvPr>
          <p:cNvSpPr>
            <a:spLocks noGrp="1"/>
          </p:cNvSpPr>
          <p:nvPr/>
        </p:nvSpPr>
        <p:spPr>
          <a:xfrm>
            <a:off x="5257800" y="2971800"/>
            <a:ext cx="16668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获得观测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55B5B3-1413-4F33-97B7-C0D27FBB15EB}"/>
              </a:ext>
            </a:extLst>
          </p:cNvPr>
          <p:cNvSpPr>
            <a:spLocks noGrp="1"/>
          </p:cNvSpPr>
          <p:nvPr/>
        </p:nvSpPr>
        <p:spPr>
          <a:xfrm>
            <a:off x="5257800" y="3352800"/>
            <a:ext cx="16668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得到谱图、曲线、图像或标量。</a:t>
            </a:r>
          </a:p>
        </p:txBody>
      </p:sp>
      <p:sp>
        <p:nvSpPr>
          <p:cNvPr id="21" name="箭头: 右 20">
            <a:extLst>
              <a:ext uri="{FF2B5EF4-FFF2-40B4-BE49-F238E27FC236}">
                <a16:creationId xmlns:a16="http://schemas.microsoft.com/office/drawing/2014/main" id="{FE6D712F-5D3F-45FF-8F4E-47270B0A16D1}"/>
              </a:ext>
            </a:extLst>
          </p:cNvPr>
          <p:cNvSpPr>
            <a:spLocks noGrp="1"/>
          </p:cNvSpPr>
          <p:nvPr/>
        </p:nvSpPr>
        <p:spPr>
          <a:xfrm>
            <a:off x="7115175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D6859296-382C-4F17-ABF0-0F7830129561}"/>
              </a:ext>
            </a:extLst>
          </p:cNvPr>
          <p:cNvSpPr>
            <a:spLocks noGrp="1"/>
          </p:cNvSpPr>
          <p:nvPr/>
        </p:nvSpPr>
        <p:spPr>
          <a:xfrm>
            <a:off x="7229475" y="2571750"/>
            <a:ext cx="19716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9C6595C-5538-4EAB-9595-68148C4FC4A5}"/>
              </a:ext>
            </a:extLst>
          </p:cNvPr>
          <p:cNvSpPr>
            <a:spLocks noGrp="1"/>
          </p:cNvSpPr>
          <p:nvPr/>
        </p:nvSpPr>
        <p:spPr>
          <a:xfrm>
            <a:off x="7381875" y="2724150"/>
            <a:ext cx="16668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34D399"/>
                </a:solidFill>
                <a:latin typeface="Consolas"/>
                <a:ea typeface="Consolas"/>
                <a:cs typeface="Consolas"/>
              </a:defRPr>
            </a:pPr>
            <a:r>
              <a:t>4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B85266D-0ADD-4079-ABC6-5D8BCF173704}"/>
              </a:ext>
            </a:extLst>
          </p:cNvPr>
          <p:cNvSpPr>
            <a:spLocks noGrp="1"/>
          </p:cNvSpPr>
          <p:nvPr/>
        </p:nvSpPr>
        <p:spPr>
          <a:xfrm>
            <a:off x="7381875" y="2971800"/>
            <a:ext cx="16668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更新模型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3A4AE13-319D-4B3C-9D82-4F2AB7D57A01}"/>
              </a:ext>
            </a:extLst>
          </p:cNvPr>
          <p:cNvSpPr>
            <a:spLocks noGrp="1"/>
          </p:cNvSpPr>
          <p:nvPr/>
        </p:nvSpPr>
        <p:spPr>
          <a:xfrm>
            <a:off x="7381875" y="3352800"/>
            <a:ext cx="16668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模型吸收新数据，修正对空间的理解。</a:t>
            </a: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8A07D9A7-D6F9-4EF5-B3B4-7BA3D165DA71}"/>
              </a:ext>
            </a:extLst>
          </p:cNvPr>
          <p:cNvSpPr>
            <a:spLocks noGrp="1"/>
          </p:cNvSpPr>
          <p:nvPr/>
        </p:nvSpPr>
        <p:spPr>
          <a:xfrm>
            <a:off x="9239250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A9978357-9DA4-4BFE-B7FB-9AE73F237931}"/>
              </a:ext>
            </a:extLst>
          </p:cNvPr>
          <p:cNvSpPr>
            <a:spLocks noGrp="1"/>
          </p:cNvSpPr>
          <p:nvPr/>
        </p:nvSpPr>
        <p:spPr>
          <a:xfrm>
            <a:off x="9353550" y="2571750"/>
            <a:ext cx="19716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F492ABA-137E-4168-B87C-2F8135B550C7}"/>
              </a:ext>
            </a:extLst>
          </p:cNvPr>
          <p:cNvSpPr>
            <a:spLocks noGrp="1"/>
          </p:cNvSpPr>
          <p:nvPr/>
        </p:nvSpPr>
        <p:spPr>
          <a:xfrm>
            <a:off x="9505950" y="2724150"/>
            <a:ext cx="16668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5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360315B-7D21-4126-A3D6-6C8133C1FF32}"/>
              </a:ext>
            </a:extLst>
          </p:cNvPr>
          <p:cNvSpPr>
            <a:spLocks noGrp="1"/>
          </p:cNvSpPr>
          <p:nvPr/>
        </p:nvSpPr>
        <p:spPr>
          <a:xfrm>
            <a:off x="9505950" y="2971800"/>
            <a:ext cx="16668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推荐下一点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755363D-0952-4511-AEB8-839734F5662B}"/>
              </a:ext>
            </a:extLst>
          </p:cNvPr>
          <p:cNvSpPr>
            <a:spLocks noGrp="1"/>
          </p:cNvSpPr>
          <p:nvPr/>
        </p:nvSpPr>
        <p:spPr>
          <a:xfrm>
            <a:off x="9505950" y="3352800"/>
            <a:ext cx="16668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在探索与利用之间做平衡。</a:t>
            </a:r>
          </a:p>
        </p:txBody>
      </p:sp>
    </p:spTree>
    <p:extLst>
      <p:ext uri="{BB962C8B-B14F-4D97-AF65-F5344CB8AC3E}">
        <p14:creationId xmlns:p14="http://schemas.microsoft.com/office/powerpoint/2010/main" val="20708324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DEDFC688-2A7B-4131-90B7-B626224BD7D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E5579F4-BAC8-489B-997C-992B0C5FCC7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概念分辨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3BC77DB-EFA1-413E-8F95-E6503B2A67B1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34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9C7476D-CA84-4329-B20A-01268AD0CAB4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5DA4973-D1A7-4151-9D83-49C203F6119B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目标、约束、测量：这三个概念必须分开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A6AA0EA-2AF4-48F9-ADFD-C2516C40FF7A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它们在很多讨论里被混在一起，但在 SDL 设计中完全不同。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0481EC6-86D8-4E56-838F-62CF3E4A40D5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3429000" cy="1619250"/>
          </a:xfrm>
          <a:prstGeom prst="roundRect">
            <a:avLst>
              <a:gd name="adj" fmla="val 4706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0A8A791-B812-4490-8E3E-FCD52BCB6A56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目标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E997157-95FE-4374-9248-4F17768CAE78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3124200" cy="1143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我们希望优化的东西，例如产率、匹配分数、寿命。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308DC85-2DA6-421B-8A50-23E065710E42}"/>
              </a:ext>
            </a:extLst>
          </p:cNvPr>
          <p:cNvSpPr>
            <a:spLocks noGrp="1"/>
          </p:cNvSpPr>
          <p:nvPr/>
        </p:nvSpPr>
        <p:spPr>
          <a:xfrm>
            <a:off x="4438650" y="2133600"/>
            <a:ext cx="3429000" cy="1619250"/>
          </a:xfrm>
          <a:prstGeom prst="roundRect">
            <a:avLst>
              <a:gd name="adj" fmla="val 4706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C61567C-B858-4284-B7F0-E89F52B290D6}"/>
              </a:ext>
            </a:extLst>
          </p:cNvPr>
          <p:cNvSpPr>
            <a:spLocks noGrp="1"/>
          </p:cNvSpPr>
          <p:nvPr/>
        </p:nvSpPr>
        <p:spPr>
          <a:xfrm>
            <a:off x="459105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约束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4866AAC-8454-4569-A6A2-77502D9A04FE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3124200" cy="1143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不能越过的边界，例如安全、成本、时间、材料稳定性。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16A0045E-61B5-472B-A4F1-AA4022D7F58D}"/>
              </a:ext>
            </a:extLst>
          </p:cNvPr>
          <p:cNvSpPr>
            <a:spLocks noGrp="1"/>
          </p:cNvSpPr>
          <p:nvPr/>
        </p:nvSpPr>
        <p:spPr>
          <a:xfrm>
            <a:off x="8039100" y="2133600"/>
            <a:ext cx="3429000" cy="1619250"/>
          </a:xfrm>
          <a:prstGeom prst="roundRect">
            <a:avLst>
              <a:gd name="adj" fmla="val 4706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4390281-67F1-40BB-80DC-2E881CD3460E}"/>
              </a:ext>
            </a:extLst>
          </p:cNvPr>
          <p:cNvSpPr>
            <a:spLocks noGrp="1"/>
          </p:cNvSpPr>
          <p:nvPr/>
        </p:nvSpPr>
        <p:spPr>
          <a:xfrm>
            <a:off x="81915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测量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5949EF0-D952-4E8B-B918-5299E6E1F7C4}"/>
              </a:ext>
            </a:extLst>
          </p:cNvPr>
          <p:cNvSpPr>
            <a:spLocks noGrp="1"/>
          </p:cNvSpPr>
          <p:nvPr/>
        </p:nvSpPr>
        <p:spPr>
          <a:xfrm>
            <a:off x="8191500" y="2514600"/>
            <a:ext cx="3124200" cy="1143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实验可直接得到的观测，例如峰位、颜色、光谱、电压。</a:t>
            </a:r>
          </a:p>
        </p:txBody>
      </p:sp>
    </p:spTree>
    <p:extLst>
      <p:ext uri="{BB962C8B-B14F-4D97-AF65-F5344CB8AC3E}">
        <p14:creationId xmlns:p14="http://schemas.microsoft.com/office/powerpoint/2010/main" val="9495809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95C877C5-11D9-472C-A745-5688839CD7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8F80D1-E4EA-4DE1-BA99-DC45ED3BE8A8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核心概念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EE969FA-515F-4694-AADD-7349AD1DA2AF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35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4CF0109-C4B0-4E66-A565-24DC987EBDDE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F574F14-C736-41E2-80F7-1C5CA8FF7D06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SDL 的三个核心概念：代理模型、不确定性、采集函数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3FA135-A2CA-4593-8F97-4B8362F96CA4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它们共同回答“下一步做什么”。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7C47C73-1E59-4B52-9B58-0C90F47D3FFB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3429000" cy="1619250"/>
          </a:xfrm>
          <a:prstGeom prst="roundRect">
            <a:avLst>
              <a:gd name="adj" fmla="val 4706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8D22F94-0CAF-47E5-B653-971DCA050452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Surrogate model（代理模型）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D0F161-C46B-4E81-9B89-4DE088B0DC63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3124200" cy="1143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用较便宜的统计模型近似真实实验响应面。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E50FB54-2726-4E19-910A-7D0BF72A3134}"/>
              </a:ext>
            </a:extLst>
          </p:cNvPr>
          <p:cNvSpPr>
            <a:spLocks noGrp="1"/>
          </p:cNvSpPr>
          <p:nvPr/>
        </p:nvSpPr>
        <p:spPr>
          <a:xfrm>
            <a:off x="4438650" y="2133600"/>
            <a:ext cx="3429000" cy="1619250"/>
          </a:xfrm>
          <a:prstGeom prst="roundRect">
            <a:avLst>
              <a:gd name="adj" fmla="val 4706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DA98420-AE0C-4060-A6E9-FF88C40154E7}"/>
              </a:ext>
            </a:extLst>
          </p:cNvPr>
          <p:cNvSpPr>
            <a:spLocks noGrp="1"/>
          </p:cNvSpPr>
          <p:nvPr/>
        </p:nvSpPr>
        <p:spPr>
          <a:xfrm>
            <a:off x="459105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Uncertainty（不确定性）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BF6A4F4-4522-408E-8841-61962B6A2A1D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3124200" cy="1143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告诉我们哪些区域还看不清，因此值得继续探索。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CF0A5C7-C97A-4058-A28C-1AEB9262888F}"/>
              </a:ext>
            </a:extLst>
          </p:cNvPr>
          <p:cNvSpPr>
            <a:spLocks noGrp="1"/>
          </p:cNvSpPr>
          <p:nvPr/>
        </p:nvSpPr>
        <p:spPr>
          <a:xfrm>
            <a:off x="8039100" y="2133600"/>
            <a:ext cx="3429000" cy="1619250"/>
          </a:xfrm>
          <a:prstGeom prst="roundRect">
            <a:avLst>
              <a:gd name="adj" fmla="val 4706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52E31D3-FE8B-4E70-8522-98BC2E768E5C}"/>
              </a:ext>
            </a:extLst>
          </p:cNvPr>
          <p:cNvSpPr>
            <a:spLocks noGrp="1"/>
          </p:cNvSpPr>
          <p:nvPr/>
        </p:nvSpPr>
        <p:spPr>
          <a:xfrm>
            <a:off x="81915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Acquisition（采集函数）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0E77EFC-03DE-407B-8FC7-D3F2D52A0D04}"/>
              </a:ext>
            </a:extLst>
          </p:cNvPr>
          <p:cNvSpPr>
            <a:spLocks noGrp="1"/>
          </p:cNvSpPr>
          <p:nvPr/>
        </p:nvSpPr>
        <p:spPr>
          <a:xfrm>
            <a:off x="8191500" y="2514600"/>
            <a:ext cx="3124200" cy="1143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平衡探索与利用，给出下一实验点。</a:t>
            </a:r>
          </a:p>
        </p:txBody>
      </p:sp>
    </p:spTree>
    <p:extLst>
      <p:ext uri="{BB962C8B-B14F-4D97-AF65-F5344CB8AC3E}">
        <p14:creationId xmlns:p14="http://schemas.microsoft.com/office/powerpoint/2010/main" val="894229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15BBAFDA-25E9-4217-8EF7-B7C4DA560B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76930C5-4E49-4699-8DDB-7ACA77C23DCC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代理模型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1C586F3-4C91-40B8-AD66-A7BF43A714FC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36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07D9A68-CE32-4C90-89BE-1AC4CFEDC001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ECFABA4-E1E0-40CB-827B-1559C534B139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代理模型不止一种：关键是你要近似什么、数据有多贵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93972EF-145B-4ECE-810C-4C1601CCB801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不同 surrogate model（代理模型）适合不同实验地形。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4442AB1-40E0-4E7C-8D4D-239E85384D89}"/>
              </a:ext>
            </a:extLst>
          </p:cNvPr>
          <p:cNvSpPr>
            <a:spLocks noGrp="1"/>
          </p:cNvSpPr>
          <p:nvPr/>
        </p:nvSpPr>
        <p:spPr>
          <a:xfrm>
            <a:off x="838200" y="2171700"/>
            <a:ext cx="2095500" cy="438150"/>
          </a:xfrm>
          <a:prstGeom prst="roundRect">
            <a:avLst>
              <a:gd name="adj" fmla="val 17391"/>
            </a:avLst>
          </a:prstGeom>
          <a:solidFill>
            <a:srgbClr val="0E213A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6252EC2-AF64-4C7C-A3D9-6FB45E4FB9F7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866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768DFB1-D0CA-4B69-98B7-773B33D5E3AF}"/>
              </a:ext>
            </a:extLst>
          </p:cNvPr>
          <p:cNvSpPr>
            <a:spLocks noGrp="1"/>
          </p:cNvSpPr>
          <p:nvPr/>
        </p:nvSpPr>
        <p:spPr>
          <a:xfrm>
            <a:off x="2933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8031DDB-02EC-49AF-8377-D1BFD872C753}"/>
              </a:ext>
            </a:extLst>
          </p:cNvPr>
          <p:cNvSpPr>
            <a:spLocks noGrp="1"/>
          </p:cNvSpPr>
          <p:nvPr/>
        </p:nvSpPr>
        <p:spPr>
          <a:xfrm>
            <a:off x="3048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代表方法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525F250-509C-4A05-A8D4-4BE4EC31D664}"/>
              </a:ext>
            </a:extLst>
          </p:cNvPr>
          <p:cNvSpPr>
            <a:spLocks noGrp="1"/>
          </p:cNvSpPr>
          <p:nvPr/>
        </p:nvSpPr>
        <p:spPr>
          <a:xfrm>
            <a:off x="54102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8801A51-6441-49C4-B269-914E78B81825}"/>
              </a:ext>
            </a:extLst>
          </p:cNvPr>
          <p:cNvSpPr>
            <a:spLocks noGrp="1"/>
          </p:cNvSpPr>
          <p:nvPr/>
        </p:nvSpPr>
        <p:spPr>
          <a:xfrm>
            <a:off x="55245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优势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81D275F-35E6-4F5D-871F-1519FBDB5E94}"/>
              </a:ext>
            </a:extLst>
          </p:cNvPr>
          <p:cNvSpPr>
            <a:spLocks noGrp="1"/>
          </p:cNvSpPr>
          <p:nvPr/>
        </p:nvSpPr>
        <p:spPr>
          <a:xfrm>
            <a:off x="7886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2228ED-05F1-452C-909A-B19CD29313DE}"/>
              </a:ext>
            </a:extLst>
          </p:cNvPr>
          <p:cNvSpPr>
            <a:spLocks noGrp="1"/>
          </p:cNvSpPr>
          <p:nvPr/>
        </p:nvSpPr>
        <p:spPr>
          <a:xfrm>
            <a:off x="8001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局限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279B2DE1-7D55-4A36-A93D-03FE3BCE1096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703FA2-469A-4B55-80AB-5D29823BAB3A}"/>
              </a:ext>
            </a:extLst>
          </p:cNvPr>
          <p:cNvSpPr>
            <a:spLocks noGrp="1"/>
          </p:cNvSpPr>
          <p:nvPr/>
        </p:nvSpPr>
        <p:spPr>
          <a:xfrm>
            <a:off x="952500" y="27051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Gaussian Process（高斯过程）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47CCB272-287C-4BD6-B73F-638034365F99}"/>
              </a:ext>
            </a:extLst>
          </p:cNvPr>
          <p:cNvSpPr>
            <a:spLocks noGrp="1"/>
          </p:cNvSpPr>
          <p:nvPr/>
        </p:nvSpPr>
        <p:spPr>
          <a:xfrm>
            <a:off x="29337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229B60F-463C-448F-A44B-1077A190FFCC}"/>
              </a:ext>
            </a:extLst>
          </p:cNvPr>
          <p:cNvSpPr>
            <a:spLocks noGrp="1"/>
          </p:cNvSpPr>
          <p:nvPr/>
        </p:nvSpPr>
        <p:spPr>
          <a:xfrm>
            <a:off x="30480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小样本、可给不确定性、解释性较强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855D341-EE5B-459B-99A5-1B2424BFB5F9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56EA4F9-4284-473A-94F7-6027E62863F5}"/>
              </a:ext>
            </a:extLst>
          </p:cNvPr>
          <p:cNvSpPr>
            <a:spLocks noGrp="1"/>
          </p:cNvSpPr>
          <p:nvPr/>
        </p:nvSpPr>
        <p:spPr>
          <a:xfrm>
            <a:off x="55245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高维和大样本下成本上升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0F116F4-868C-4BFD-B1A4-5EDAC3B74595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94F8CDF-2F17-4EAE-94D4-CA0E7A7AF531}"/>
              </a:ext>
            </a:extLst>
          </p:cNvPr>
          <p:cNvSpPr>
            <a:spLocks noGrp="1"/>
          </p:cNvSpPr>
          <p:nvPr/>
        </p:nvSpPr>
        <p:spPr>
          <a:xfrm>
            <a:off x="952500" y="31813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Random Forest / Tree ensembles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BCD79A7-ED4A-4F9F-8405-B4C25EAED0B2}"/>
              </a:ext>
            </a:extLst>
          </p:cNvPr>
          <p:cNvSpPr>
            <a:spLocks noGrp="1"/>
          </p:cNvSpPr>
          <p:nvPr/>
        </p:nvSpPr>
        <p:spPr>
          <a:xfrm>
            <a:off x="29337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F69087D-2283-4B33-A19C-D1F51BE1952D}"/>
              </a:ext>
            </a:extLst>
          </p:cNvPr>
          <p:cNvSpPr>
            <a:spLocks noGrp="1"/>
          </p:cNvSpPr>
          <p:nvPr/>
        </p:nvSpPr>
        <p:spPr>
          <a:xfrm>
            <a:off x="30480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鲁棒、对离散变量友好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20D72BE-5B1A-4136-BDE0-5E6044DEC064}"/>
              </a:ext>
            </a:extLst>
          </p:cNvPr>
          <p:cNvSpPr>
            <a:spLocks noGrp="1"/>
          </p:cNvSpPr>
          <p:nvPr/>
        </p:nvSpPr>
        <p:spPr>
          <a:xfrm>
            <a:off x="54102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E3A78FE-F752-435D-BA30-029664C837F1}"/>
              </a:ext>
            </a:extLst>
          </p:cNvPr>
          <p:cNvSpPr>
            <a:spLocks noGrp="1"/>
          </p:cNvSpPr>
          <p:nvPr/>
        </p:nvSpPr>
        <p:spPr>
          <a:xfrm>
            <a:off x="55245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不确定性表述相对间接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E6640A4E-97A0-4105-8C09-4365AF0F42FB}"/>
              </a:ext>
            </a:extLst>
          </p:cNvPr>
          <p:cNvSpPr>
            <a:spLocks noGrp="1"/>
          </p:cNvSpPr>
          <p:nvPr/>
        </p:nvSpPr>
        <p:spPr>
          <a:xfrm>
            <a:off x="838200" y="35623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CB67950-010F-4D70-B601-7413FE381397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Neural surrogate / deep model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45439F51-4FD5-475E-89A6-69BCFB4F5C07}"/>
              </a:ext>
            </a:extLst>
          </p:cNvPr>
          <p:cNvSpPr>
            <a:spLocks noGrp="1"/>
          </p:cNvSpPr>
          <p:nvPr/>
        </p:nvSpPr>
        <p:spPr>
          <a:xfrm>
            <a:off x="29337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899A092-87C8-489B-BCDC-3DB17D955AC6}"/>
              </a:ext>
            </a:extLst>
          </p:cNvPr>
          <p:cNvSpPr>
            <a:spLocks noGrp="1"/>
          </p:cNvSpPr>
          <p:nvPr/>
        </p:nvSpPr>
        <p:spPr>
          <a:xfrm>
            <a:off x="30480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适合高维复杂观测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DA6671A6-A91E-48EA-8C96-41FEEC2727EA}"/>
              </a:ext>
            </a:extLst>
          </p:cNvPr>
          <p:cNvSpPr>
            <a:spLocks noGrp="1"/>
          </p:cNvSpPr>
          <p:nvPr/>
        </p:nvSpPr>
        <p:spPr>
          <a:xfrm>
            <a:off x="54102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9B843CC-A89A-4F8F-A510-05758BC38664}"/>
              </a:ext>
            </a:extLst>
          </p:cNvPr>
          <p:cNvSpPr>
            <a:spLocks noGrp="1"/>
          </p:cNvSpPr>
          <p:nvPr/>
        </p:nvSpPr>
        <p:spPr>
          <a:xfrm>
            <a:off x="55245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更吃数据，校准与可解释性更难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430A8DB7-26ED-437E-B64C-9E964F8D500F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50134ED-7ACD-4CC6-8611-2F1134C3807E}"/>
              </a:ext>
            </a:extLst>
          </p:cNvPr>
          <p:cNvSpPr>
            <a:spLocks noGrp="1"/>
          </p:cNvSpPr>
          <p:nvPr/>
        </p:nvSpPr>
        <p:spPr>
          <a:xfrm>
            <a:off x="952500" y="41338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Physics-informed / hybrid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0415C91-0443-457F-8C3F-5530D2BBCA6B}"/>
              </a:ext>
            </a:extLst>
          </p:cNvPr>
          <p:cNvSpPr>
            <a:spLocks noGrp="1"/>
          </p:cNvSpPr>
          <p:nvPr/>
        </p:nvSpPr>
        <p:spPr>
          <a:xfrm>
            <a:off x="29337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A4719AE-F3BB-421C-82F7-DB84B0D79DED}"/>
              </a:ext>
            </a:extLst>
          </p:cNvPr>
          <p:cNvSpPr>
            <a:spLocks noGrp="1"/>
          </p:cNvSpPr>
          <p:nvPr/>
        </p:nvSpPr>
        <p:spPr>
          <a:xfrm>
            <a:off x="30480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可把机制先验并入学习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27CB35B7-C65A-4425-80DD-3AB1C9A34E93}"/>
              </a:ext>
            </a:extLst>
          </p:cNvPr>
          <p:cNvSpPr>
            <a:spLocks noGrp="1"/>
          </p:cNvSpPr>
          <p:nvPr/>
        </p:nvSpPr>
        <p:spPr>
          <a:xfrm>
            <a:off x="54102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398BBEA-808A-4F36-93EA-F4B77E043CB9}"/>
              </a:ext>
            </a:extLst>
          </p:cNvPr>
          <p:cNvSpPr>
            <a:spLocks noGrp="1"/>
          </p:cNvSpPr>
          <p:nvPr/>
        </p:nvSpPr>
        <p:spPr>
          <a:xfrm>
            <a:off x="55245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建模门槛更高，依赖领域知识</a:t>
            </a:r>
          </a:p>
        </p:txBody>
      </p:sp>
    </p:spTree>
    <p:extLst>
      <p:ext uri="{BB962C8B-B14F-4D97-AF65-F5344CB8AC3E}">
        <p14:creationId xmlns:p14="http://schemas.microsoft.com/office/powerpoint/2010/main" val="10084121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D492A5E0-A532-4B31-BBB4-DB0E0C1244C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A3FA107-DE99-46C4-A8F3-8B7756EC774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不确定性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C3588C6-924F-4F38-B7CA-EA5BBAC8C7A1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37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42F80E2-FBA3-49BE-A99F-E4FFD6F00D6B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B791F06-495E-4E46-9A20-65DDADA09784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不确定性不是“没把握”三个字，而是可表示、可利用的对象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89218C2-94DB-4DD7-8C0A-3EDAB0B316A2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SDL 的数据效率，很大程度上来自对不确定性的显式处理。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C1777D5-67F2-4B53-95DF-D86CC3111703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E807EF-DDEE-47A9-BC0F-EFD5213BD5F1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它表示什么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90C75A3-2971-4C13-8BDA-E82AE41085CE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模型对某区域了解不够、数据稀疏或观测噪声较大。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240A86F-F8D6-4117-86EE-B397A397DE99}"/>
              </a:ext>
            </a:extLst>
          </p:cNvPr>
          <p:cNvSpPr>
            <a:spLocks noGrp="1"/>
          </p:cNvSpPr>
          <p:nvPr/>
        </p:nvSpPr>
        <p:spPr>
          <a:xfrm>
            <a:off x="443865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161684D-45A1-47F2-B262-2602198CD320}"/>
              </a:ext>
            </a:extLst>
          </p:cNvPr>
          <p:cNvSpPr>
            <a:spLocks noGrp="1"/>
          </p:cNvSpPr>
          <p:nvPr/>
        </p:nvSpPr>
        <p:spPr>
          <a:xfrm>
            <a:off x="459105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如何表示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F304F72-6F64-490B-8488-12ABFD5FDD58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常见为后验方差、置信区间、ensemble 分歧或校准分布。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7CC1984-3AB7-4E40-A215-C42EC870FD9C}"/>
              </a:ext>
            </a:extLst>
          </p:cNvPr>
          <p:cNvSpPr>
            <a:spLocks noGrp="1"/>
          </p:cNvSpPr>
          <p:nvPr/>
        </p:nvSpPr>
        <p:spPr>
          <a:xfrm>
            <a:off x="80391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F1137E0-46B7-4DC2-8C2D-C1A60DE38599}"/>
              </a:ext>
            </a:extLst>
          </p:cNvPr>
          <p:cNvSpPr>
            <a:spLocks noGrp="1"/>
          </p:cNvSpPr>
          <p:nvPr/>
        </p:nvSpPr>
        <p:spPr>
          <a:xfrm>
            <a:off x="81915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如何利用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A79FB6B-E120-4FE1-844D-6400D46D56BB}"/>
              </a:ext>
            </a:extLst>
          </p:cNvPr>
          <p:cNvSpPr>
            <a:spLocks noGrp="1"/>
          </p:cNvSpPr>
          <p:nvPr/>
        </p:nvSpPr>
        <p:spPr>
          <a:xfrm>
            <a:off x="81915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决定哪些地方值得继续探索，而不是只盯当前最优。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D2958CF-E2DF-4E8D-A0E4-53E18429EACC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B4165CB-061A-4977-B2F2-A2DCC9A61AE2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为什么重要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1A16984-AA54-4443-9C20-20477280865C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没有不确定性，很多推荐会退化成贪心搜索。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D83F6BF-80A6-4709-93EB-5F4DAEEE3789}"/>
              </a:ext>
            </a:extLst>
          </p:cNvPr>
          <p:cNvSpPr>
            <a:spLocks noGrp="1"/>
          </p:cNvSpPr>
          <p:nvPr/>
        </p:nvSpPr>
        <p:spPr>
          <a:xfrm>
            <a:off x="443865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3171548-D910-4365-8B9D-3AE40D1227CA}"/>
              </a:ext>
            </a:extLst>
          </p:cNvPr>
          <p:cNvSpPr>
            <a:spLocks noGrp="1"/>
          </p:cNvSpPr>
          <p:nvPr/>
        </p:nvSpPr>
        <p:spPr>
          <a:xfrm>
            <a:off x="459105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实践难点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DF54510-3A20-4DDB-8C74-C05DDFE837B8}"/>
              </a:ext>
            </a:extLst>
          </p:cNvPr>
          <p:cNvSpPr>
            <a:spLocks noGrp="1"/>
          </p:cNvSpPr>
          <p:nvPr/>
        </p:nvSpPr>
        <p:spPr>
          <a:xfrm>
            <a:off x="459105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模型校准不良时，不确定性会“看起来有，实际上不可信”。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FC4F899-C178-4CA7-A9B9-767B080D7945}"/>
              </a:ext>
            </a:extLst>
          </p:cNvPr>
          <p:cNvSpPr>
            <a:spLocks noGrp="1"/>
          </p:cNvSpPr>
          <p:nvPr/>
        </p:nvSpPr>
        <p:spPr>
          <a:xfrm>
            <a:off x="80391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5567C9-1ABA-465F-A344-A6AAE76A136B}"/>
              </a:ext>
            </a:extLst>
          </p:cNvPr>
          <p:cNvSpPr>
            <a:spLocks noGrp="1"/>
          </p:cNvSpPr>
          <p:nvPr/>
        </p:nvSpPr>
        <p:spPr>
          <a:xfrm>
            <a:off x="81915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结论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2C22829-B247-4137-84DC-0987EAFB1E4D}"/>
              </a:ext>
            </a:extLst>
          </p:cNvPr>
          <p:cNvSpPr>
            <a:spLocks noGrp="1"/>
          </p:cNvSpPr>
          <p:nvPr/>
        </p:nvSpPr>
        <p:spPr>
          <a:xfrm>
            <a:off x="81915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rPr dirty="0"/>
              <a:t>SDL </a:t>
            </a:r>
            <a:r>
              <a:rPr dirty="0" err="1"/>
              <a:t>的高效，不只是预测准，更是知道自己哪里不准</a:t>
            </a:r>
            <a:r>
              <a:rPr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0117260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E7AF7A98-47CC-4085-AA53-9DEA3AA576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EA7CE3F-BE90-4C5E-9274-3568EE3D1EED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采集函数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636C58-88BD-4510-806D-75056B9489C7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38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DFEFB2C-6F12-4358-9E3A-7DB279E67F55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2363AC-448B-4709-A3C7-2ED576343C94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采集函数是在替你回答：现在先做哪一个点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4DF3B3-7687-4F86-97D7-DDF9EA458CE3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它不是固定唯一的，也可以按目标和风险偏好自定义。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CC759CD-D266-4C1F-9393-1CC4918EB15B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081AB08-2769-406D-AD90-CE405E024035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EI / PI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0174B8-048C-4517-B065-C2C4C8A2F605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强调改进当前最优，常用于单目标优化。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782001E-0EC5-4B18-B1E3-4ECA3D116C20}"/>
              </a:ext>
            </a:extLst>
          </p:cNvPr>
          <p:cNvSpPr>
            <a:spLocks noGrp="1"/>
          </p:cNvSpPr>
          <p:nvPr/>
        </p:nvSpPr>
        <p:spPr>
          <a:xfrm>
            <a:off x="443865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B907AF9-8474-4011-BFFC-50FA0FB1D10F}"/>
              </a:ext>
            </a:extLst>
          </p:cNvPr>
          <p:cNvSpPr>
            <a:spLocks noGrp="1"/>
          </p:cNvSpPr>
          <p:nvPr/>
        </p:nvSpPr>
        <p:spPr>
          <a:xfrm>
            <a:off x="459105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UCB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E15E75-CC59-42AF-A084-07617B93DD23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显式平衡均值与不确定性，调参直观。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9E30B40-F0AE-4039-9194-CBB31C71E797}"/>
              </a:ext>
            </a:extLst>
          </p:cNvPr>
          <p:cNvSpPr>
            <a:spLocks noGrp="1"/>
          </p:cNvSpPr>
          <p:nvPr/>
        </p:nvSpPr>
        <p:spPr>
          <a:xfrm>
            <a:off x="8039100" y="21336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3620988-1C27-4934-BFA0-FDB24E00EFE2}"/>
              </a:ext>
            </a:extLst>
          </p:cNvPr>
          <p:cNvSpPr>
            <a:spLocks noGrp="1"/>
          </p:cNvSpPr>
          <p:nvPr/>
        </p:nvSpPr>
        <p:spPr>
          <a:xfrm>
            <a:off x="81915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信息型方法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BE71B7E-71C0-4FCD-B699-E40E2D31965C}"/>
              </a:ext>
            </a:extLst>
          </p:cNvPr>
          <p:cNvSpPr>
            <a:spLocks noGrp="1"/>
          </p:cNvSpPr>
          <p:nvPr/>
        </p:nvSpPr>
        <p:spPr>
          <a:xfrm>
            <a:off x="8191500" y="25146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更关注哪一步最能减少整体认知不确定。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2CBA8AA3-0FB0-407B-A38B-428F244FEFBF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9EE300E-A791-47D2-A327-4A00C9298CC9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怎么选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2C45679-8BEA-475A-9F9D-2707B3D54B2B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看是更重速度、稳健性还是全局认知更新。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FD4BC1-7CF7-436B-BA74-60021AA51F9A}"/>
              </a:ext>
            </a:extLst>
          </p:cNvPr>
          <p:cNvSpPr>
            <a:spLocks noGrp="1"/>
          </p:cNvSpPr>
          <p:nvPr/>
        </p:nvSpPr>
        <p:spPr>
          <a:xfrm>
            <a:off x="443865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2C12A98-DBFF-4F17-B2A4-4A847AF1F114}"/>
              </a:ext>
            </a:extLst>
          </p:cNvPr>
          <p:cNvSpPr>
            <a:spLocks noGrp="1"/>
          </p:cNvSpPr>
          <p:nvPr/>
        </p:nvSpPr>
        <p:spPr>
          <a:xfrm>
            <a:off x="459105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能否自定义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7191A21-984C-4913-9105-652BED2C118E}"/>
              </a:ext>
            </a:extLst>
          </p:cNvPr>
          <p:cNvSpPr>
            <a:spLocks noGrp="1"/>
          </p:cNvSpPr>
          <p:nvPr/>
        </p:nvSpPr>
        <p:spPr>
          <a:xfrm>
            <a:off x="459105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可以，只要目标、约束和风险偏好定义清楚。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4CC3519C-9145-4AD1-A8B5-851518E5136F}"/>
              </a:ext>
            </a:extLst>
          </p:cNvPr>
          <p:cNvSpPr>
            <a:spLocks noGrp="1"/>
          </p:cNvSpPr>
          <p:nvPr/>
        </p:nvSpPr>
        <p:spPr>
          <a:xfrm>
            <a:off x="8039100" y="3771900"/>
            <a:ext cx="34290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772A25F-81B8-4448-BA07-6B5C47397B3B}"/>
              </a:ext>
            </a:extLst>
          </p:cNvPr>
          <p:cNvSpPr>
            <a:spLocks noGrp="1"/>
          </p:cNvSpPr>
          <p:nvPr/>
        </p:nvSpPr>
        <p:spPr>
          <a:xfrm>
            <a:off x="8191500" y="39052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本质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70BC5EC-9F02-43A2-B244-86F7297ED722}"/>
              </a:ext>
            </a:extLst>
          </p:cNvPr>
          <p:cNvSpPr>
            <a:spLocks noGrp="1"/>
          </p:cNvSpPr>
          <p:nvPr/>
        </p:nvSpPr>
        <p:spPr>
          <a:xfrm>
            <a:off x="8191500" y="4152900"/>
            <a:ext cx="31242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采集函数是方法论选择，不只是公式替换。</a:t>
            </a:r>
          </a:p>
        </p:txBody>
      </p:sp>
    </p:spTree>
    <p:extLst>
      <p:ext uri="{BB962C8B-B14F-4D97-AF65-F5344CB8AC3E}">
        <p14:creationId xmlns:p14="http://schemas.microsoft.com/office/powerpoint/2010/main" val="9293039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5515ED86-4DB7-4B83-AEB4-83B2BEBDDE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5193B55-9C53-4AB5-B2D2-E648735E173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SDL 难点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C4C0B60-7AE3-4B62-94B0-57A094727DEC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39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6C26463-ACE7-487A-9A36-310275365762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BD47FF0-EA0D-4D7D-8D90-F5D52A364C75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从成本看，为什么很多实验问题更值得 SDL 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3F4597-7155-4EA8-9978-D7B2A32DAF1F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关键不只是算法，而是实验输出本身很贵、很慢、很难。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80316AE-1F06-49ED-85D9-184E91FC14D4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9BFAFF3-7702-4BC5-8432-543984D0E6CD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真实实验输出可能是谱图、图像、曲线或寿命数据，本身就昂贵且难处理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很多高价值实验耗时长、成本高、噪声大，盲目试验会迅速耗尽预算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因此</a:t>
            </a:r>
            <a:r>
              <a:rPr sz="1575" dirty="0">
                <a:solidFill>
                  <a:srgbClr val="F5F7FA"/>
                </a:solidFill>
                <a:latin typeface="Aptos"/>
              </a:rPr>
              <a:t> SDL 的优势不仅是“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更聪明</a:t>
            </a:r>
            <a:r>
              <a:rPr sz="1575" dirty="0">
                <a:solidFill>
                  <a:srgbClr val="F5F7FA"/>
                </a:solidFill>
                <a:latin typeface="Aptos"/>
              </a:rPr>
              <a:t>”，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更是用更少实验换更多信息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0D3C19-A033-4010-A8EC-5E3CA13183F8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3A30F48-349E-4C41-A64A-2D07FC04C3A3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为什么序贯方法重要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63C238C-EBE1-4345-8CE9-5F882DC588A7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实验越昂贵、吞吐越低、观测越复杂，越需要把每一步预算花在更有信息量的点上。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B4C014A-0088-4C02-BB86-E0D8F72B5234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24CBAFF-A8B5-445D-AD81-FC1297F24681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这也解释了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1F0B5D6-8792-4CC0-90FE-873FE6905B73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为什么许多 SDL 案例会先用仿真器、代理实验台或低成本平台验证闭环逻辑。</a:t>
            </a:r>
          </a:p>
        </p:txBody>
      </p:sp>
    </p:spTree>
    <p:extLst>
      <p:ext uri="{BB962C8B-B14F-4D97-AF65-F5344CB8AC3E}">
        <p14:creationId xmlns:p14="http://schemas.microsoft.com/office/powerpoint/2010/main" val="9452125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AFAC8452-FF25-4493-80F9-D3D4B40942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AFA7F9A-0B83-4CDA-9AC0-0BF0653A92A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人类角色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EBE52CB-C359-409F-982F-794F0CDD853F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40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B7CD76-E278-4943-930A-0A75FB0E1FE3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5F946F-1CCA-4707-94E3-D04C9C5399A0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人为什么仍不可替代：不只因为伦理，也因为科学判断本身需要人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677DD77-4D05-4812-9405-93ACD2AD9D95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人在回路中，也在回路上；更重要的是，人仍然提供模型没有的东西。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49C4744B-90DD-4785-9AFF-BD1CBA9B34A8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DF1FB1-14F1-454A-8FB9-2E6FCBFCA9E8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人设定目标、约束、研究问题与可接受风险，这些不是模型自动长出来的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人提供领域知识、异常直觉、机制假设和反事实想象，这是很多突破的来源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人监督模型、纠正口径、解释结果，并对最终科学结论负责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A6547CCB-C162-4EE8-8C95-96DA9A174F19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2BF6A85-78C2-41D5-B522-D2978FDCA5A5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不能让渡的东西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EA2169-9962-454C-A8CC-B11AD47EB783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问题定义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异常识别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机制想象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责任承担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A49BE24-CED5-49FD-8E82-DE19D6799A07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2C884D0-7FA1-4295-BDDD-37F3B77F14AC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因此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595DE3F-5BF4-4B25-B03B-22EABF768B68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高质量 SDL 不是“去人化”，而是把人的角色从重复动作上移到判断、监督、解释与创造上。</a:t>
            </a:r>
          </a:p>
        </p:txBody>
      </p:sp>
    </p:spTree>
    <p:extLst>
      <p:ext uri="{BB962C8B-B14F-4D97-AF65-F5344CB8AC3E}">
        <p14:creationId xmlns:p14="http://schemas.microsoft.com/office/powerpoint/2010/main" val="3864061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1093ADEE-AD35-4D3B-A716-3A6F935096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E46D56A-A943-4F05-BEAA-F1D8E9F65D4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适配边界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0E08A90-7DE2-4F7F-BA67-2A9B6C67A8F4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41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E3F1B5D-4088-4BD4-8B06-7F24894D9937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5D7B7ED-3500-4B6F-8FFC-4A7E7988B67D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哪些问题更适合 SDL，哪些问题暂时不适合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AEC89C-45EA-4A2F-BC0E-2983EB490E82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不是所有实验都该 SDL 化。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786157D7-7B6B-4010-B9D9-5EC34D8860A0}"/>
              </a:ext>
            </a:extLst>
          </p:cNvPr>
          <p:cNvSpPr>
            <a:spLocks noGrp="1"/>
          </p:cNvSpPr>
          <p:nvPr/>
        </p:nvSpPr>
        <p:spPr>
          <a:xfrm>
            <a:off x="838200" y="2171700"/>
            <a:ext cx="2095500" cy="438150"/>
          </a:xfrm>
          <a:prstGeom prst="roundRect">
            <a:avLst>
              <a:gd name="adj" fmla="val 17391"/>
            </a:avLst>
          </a:prstGeom>
          <a:solidFill>
            <a:srgbClr val="0E213A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6924E9-2E36-4369-B455-6CD09A942EE1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866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B645C97-1553-4AFB-A7EC-7B42EECB5BAC}"/>
              </a:ext>
            </a:extLst>
          </p:cNvPr>
          <p:cNvSpPr>
            <a:spLocks noGrp="1"/>
          </p:cNvSpPr>
          <p:nvPr/>
        </p:nvSpPr>
        <p:spPr>
          <a:xfrm>
            <a:off x="2933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4CDAE1D-16E8-4CD3-AD00-5BF5BF7B0FF8}"/>
              </a:ext>
            </a:extLst>
          </p:cNvPr>
          <p:cNvSpPr>
            <a:spLocks noGrp="1"/>
          </p:cNvSpPr>
          <p:nvPr/>
        </p:nvSpPr>
        <p:spPr>
          <a:xfrm>
            <a:off x="3048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更适合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24055B3-4A32-4BD4-8E64-1FBB5216D00E}"/>
              </a:ext>
            </a:extLst>
          </p:cNvPr>
          <p:cNvSpPr>
            <a:spLocks noGrp="1"/>
          </p:cNvSpPr>
          <p:nvPr/>
        </p:nvSpPr>
        <p:spPr>
          <a:xfrm>
            <a:off x="54102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43FE5E1-5FF1-431C-8B2B-438E5DF22985}"/>
              </a:ext>
            </a:extLst>
          </p:cNvPr>
          <p:cNvSpPr>
            <a:spLocks noGrp="1"/>
          </p:cNvSpPr>
          <p:nvPr/>
        </p:nvSpPr>
        <p:spPr>
          <a:xfrm>
            <a:off x="55245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不太适合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40492163-1670-4ABD-BE1E-54C151C10DF1}"/>
              </a:ext>
            </a:extLst>
          </p:cNvPr>
          <p:cNvSpPr>
            <a:spLocks noGrp="1"/>
          </p:cNvSpPr>
          <p:nvPr/>
        </p:nvSpPr>
        <p:spPr>
          <a:xfrm>
            <a:off x="7886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9130D2A-02CE-4396-8DDB-C8EB1A50C722}"/>
              </a:ext>
            </a:extLst>
          </p:cNvPr>
          <p:cNvSpPr>
            <a:spLocks noGrp="1"/>
          </p:cNvSpPr>
          <p:nvPr/>
        </p:nvSpPr>
        <p:spPr>
          <a:xfrm>
            <a:off x="8001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判断依据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086DB9A-8336-4506-8ED9-0962ABD958AB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30159CB-6969-4ACA-9A50-F0A9B59AD6BA}"/>
              </a:ext>
            </a:extLst>
          </p:cNvPr>
          <p:cNvSpPr>
            <a:spLocks noGrp="1"/>
          </p:cNvSpPr>
          <p:nvPr/>
        </p:nvSpPr>
        <p:spPr>
          <a:xfrm>
            <a:off x="952500" y="27051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可自动化、可标准化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6DA13151-DEB3-4049-86D4-5B47ADD18CE9}"/>
              </a:ext>
            </a:extLst>
          </p:cNvPr>
          <p:cNvSpPr>
            <a:spLocks noGrp="1"/>
          </p:cNvSpPr>
          <p:nvPr/>
        </p:nvSpPr>
        <p:spPr>
          <a:xfrm>
            <a:off x="29337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34BAB3B-F3AF-487D-A3C1-F552F55A9F78}"/>
              </a:ext>
            </a:extLst>
          </p:cNvPr>
          <p:cNvSpPr>
            <a:spLocks noGrp="1"/>
          </p:cNvSpPr>
          <p:nvPr/>
        </p:nvSpPr>
        <p:spPr>
          <a:xfrm>
            <a:off x="30480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强依赖手工艺与个人手感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484CF54-23CA-48EB-B292-BBFCD9E0C33E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9EDF7EC-3A9C-4D60-9161-0A62C1BB5EAF}"/>
              </a:ext>
            </a:extLst>
          </p:cNvPr>
          <p:cNvSpPr>
            <a:spLocks noGrp="1"/>
          </p:cNvSpPr>
          <p:nvPr/>
        </p:nvSpPr>
        <p:spPr>
          <a:xfrm>
            <a:off x="55245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执行是否能稳定复现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E3365F7D-3EE4-42C3-9E5E-028E8920CE49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23E76A6-EC73-4731-B724-9DE5E79A3819}"/>
              </a:ext>
            </a:extLst>
          </p:cNvPr>
          <p:cNvSpPr>
            <a:spLocks noGrp="1"/>
          </p:cNvSpPr>
          <p:nvPr/>
        </p:nvSpPr>
        <p:spPr>
          <a:xfrm>
            <a:off x="952500" y="31813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可快速测量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74603E20-EE2B-4212-B3A8-AC46D645FD98}"/>
              </a:ext>
            </a:extLst>
          </p:cNvPr>
          <p:cNvSpPr>
            <a:spLocks noGrp="1"/>
          </p:cNvSpPr>
          <p:nvPr/>
        </p:nvSpPr>
        <p:spPr>
          <a:xfrm>
            <a:off x="29337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E73FA0A-162B-4EB7-9E27-52A1455C9A32}"/>
              </a:ext>
            </a:extLst>
          </p:cNvPr>
          <p:cNvSpPr>
            <a:spLocks noGrp="1"/>
          </p:cNvSpPr>
          <p:nvPr/>
        </p:nvSpPr>
        <p:spPr>
          <a:xfrm>
            <a:off x="30480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观测极慢、极昂贵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EB66CC3-0BB0-4B69-A4AB-AFD6B2C7C5B1}"/>
              </a:ext>
            </a:extLst>
          </p:cNvPr>
          <p:cNvSpPr>
            <a:spLocks noGrp="1"/>
          </p:cNvSpPr>
          <p:nvPr/>
        </p:nvSpPr>
        <p:spPr>
          <a:xfrm>
            <a:off x="54102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92A5628-05F7-44AD-B544-C23F670C97F4}"/>
              </a:ext>
            </a:extLst>
          </p:cNvPr>
          <p:cNvSpPr>
            <a:spLocks noGrp="1"/>
          </p:cNvSpPr>
          <p:nvPr/>
        </p:nvSpPr>
        <p:spPr>
          <a:xfrm>
            <a:off x="55245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闭环速度是否可接受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13848F7D-65CF-46B4-A2AD-965ACA9E503B}"/>
              </a:ext>
            </a:extLst>
          </p:cNvPr>
          <p:cNvSpPr>
            <a:spLocks noGrp="1"/>
          </p:cNvSpPr>
          <p:nvPr/>
        </p:nvSpPr>
        <p:spPr>
          <a:xfrm>
            <a:off x="838200" y="35623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87490D2-D607-4E99-8CF7-8A47978E8E9E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目标和约束较清楚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45652260-20B1-4A54-86FA-190DE9ACA6D9}"/>
              </a:ext>
            </a:extLst>
          </p:cNvPr>
          <p:cNvSpPr>
            <a:spLocks noGrp="1"/>
          </p:cNvSpPr>
          <p:nvPr/>
        </p:nvSpPr>
        <p:spPr>
          <a:xfrm>
            <a:off x="29337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4C2D358-5C84-42CD-81C3-D0C9AB6B0FCE}"/>
              </a:ext>
            </a:extLst>
          </p:cNvPr>
          <p:cNvSpPr>
            <a:spLocks noGrp="1"/>
          </p:cNvSpPr>
          <p:nvPr/>
        </p:nvSpPr>
        <p:spPr>
          <a:xfrm>
            <a:off x="30480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目标定义模糊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4D27F87-9019-489E-843D-48A30277A33E}"/>
              </a:ext>
            </a:extLst>
          </p:cNvPr>
          <p:cNvSpPr>
            <a:spLocks noGrp="1"/>
          </p:cNvSpPr>
          <p:nvPr/>
        </p:nvSpPr>
        <p:spPr>
          <a:xfrm>
            <a:off x="54102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4FA29E5-752E-41F6-A689-A5A21541AB0F}"/>
              </a:ext>
            </a:extLst>
          </p:cNvPr>
          <p:cNvSpPr>
            <a:spLocks noGrp="1"/>
          </p:cNvSpPr>
          <p:nvPr/>
        </p:nvSpPr>
        <p:spPr>
          <a:xfrm>
            <a:off x="55245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推荐是否有可判定依据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B250E99-6EB1-4EA0-B0BE-BA20C58C373E}"/>
              </a:ext>
            </a:extLst>
          </p:cNvPr>
          <p:cNvSpPr>
            <a:spLocks noGrp="1"/>
          </p:cNvSpPr>
          <p:nvPr/>
        </p:nvSpPr>
        <p:spPr>
          <a:xfrm>
            <a:off x="838200" y="40386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FB5DA62-5AEC-4E52-8EE5-289D0296D867}"/>
              </a:ext>
            </a:extLst>
          </p:cNvPr>
          <p:cNvSpPr>
            <a:spLocks noGrp="1"/>
          </p:cNvSpPr>
          <p:nvPr/>
        </p:nvSpPr>
        <p:spPr>
          <a:xfrm>
            <a:off x="952500" y="41338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数据可结构化记录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3FBE4059-6137-4688-8965-75001D30B70A}"/>
              </a:ext>
            </a:extLst>
          </p:cNvPr>
          <p:cNvSpPr>
            <a:spLocks noGrp="1"/>
          </p:cNvSpPr>
          <p:nvPr/>
        </p:nvSpPr>
        <p:spPr>
          <a:xfrm>
            <a:off x="29337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796C967-829A-42B8-9228-9E0AE7912536}"/>
              </a:ext>
            </a:extLst>
          </p:cNvPr>
          <p:cNvSpPr>
            <a:spLocks noGrp="1"/>
          </p:cNvSpPr>
          <p:nvPr/>
        </p:nvSpPr>
        <p:spPr>
          <a:xfrm>
            <a:off x="30480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过程难以被数据化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E05BF9A-33CF-4F92-9105-D7DC30E4D874}"/>
              </a:ext>
            </a:extLst>
          </p:cNvPr>
          <p:cNvSpPr>
            <a:spLocks noGrp="1"/>
          </p:cNvSpPr>
          <p:nvPr/>
        </p:nvSpPr>
        <p:spPr>
          <a:xfrm>
            <a:off x="5410200" y="40386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156A426-DCAB-4E4E-9E1B-09E7FFCFDE37}"/>
              </a:ext>
            </a:extLst>
          </p:cNvPr>
          <p:cNvSpPr>
            <a:spLocks noGrp="1"/>
          </p:cNvSpPr>
          <p:nvPr/>
        </p:nvSpPr>
        <p:spPr>
          <a:xfrm>
            <a:off x="5524500" y="41338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能否形成持续更新模型</a:t>
            </a:r>
          </a:p>
        </p:txBody>
      </p:sp>
    </p:spTree>
    <p:extLst>
      <p:ext uri="{BB962C8B-B14F-4D97-AF65-F5344CB8AC3E}">
        <p14:creationId xmlns:p14="http://schemas.microsoft.com/office/powerpoint/2010/main" val="10345398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1F5267EA-0DD5-44C3-B9B7-9A7B3D5803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190B386-78E4-45A3-BE38-E3F41DEF5EAD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代表系统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E0680A5-E73F-40E3-8BCD-75D7FA9E14E9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42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6B0FA18-20C1-4754-AF01-78E3C3B1755D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0CB3674-D19A-4FA6-A633-B3381879B39F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聚焦 A-Lab 前，先看几条常被引用的 SDL 路线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8DDFB35-AFDE-45BD-A4C6-0201734101FE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A-Lab 很重要，但它只是 SDL 全景中的一个代表。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E2CE297-AD4B-4FB5-BFD8-D8EECF4F3FE1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F7FBB44-1F58-4CCC-B8BC-B1EEA1519700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ChemOS / 反应优化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65BAD7C-4400-40FC-AFE6-47ABFBE124B9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强项：把实验编排、设备控制和 BO 工作流接起来。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局限：更偏平台与工作流，不等于某一具体学科问题已被完全解决。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BA64ED8-DCD2-4832-9B25-12A5A1859997}"/>
              </a:ext>
            </a:extLst>
          </p:cNvPr>
          <p:cNvSpPr>
            <a:spLocks noGrp="1"/>
          </p:cNvSpPr>
          <p:nvPr/>
        </p:nvSpPr>
        <p:spPr>
          <a:xfrm>
            <a:off x="6153150" y="21336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C00388F-99A4-4C6B-89AB-2E193951604D}"/>
              </a:ext>
            </a:extLst>
          </p:cNvPr>
          <p:cNvSpPr>
            <a:spLocks noGrp="1"/>
          </p:cNvSpPr>
          <p:nvPr/>
        </p:nvSpPr>
        <p:spPr>
          <a:xfrm>
            <a:off x="6305550" y="22669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NIST AFL（自治配方实验室）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8A6925C-5184-49D6-8379-0C2E18C48953}"/>
              </a:ext>
            </a:extLst>
          </p:cNvPr>
          <p:cNvSpPr>
            <a:spLocks noGrp="1"/>
          </p:cNvSpPr>
          <p:nvPr/>
        </p:nvSpPr>
        <p:spPr>
          <a:xfrm>
            <a:off x="6305550" y="25146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强项：配方、流变、材料加工场景清晰。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局限：更适合特定 formulation 场景，通用性需谨慎解读。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45DF350-9AD0-442E-B787-6E74442385E5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E21A3E1-1149-424F-8F8C-F869F351A8E6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A-Lab（自治实验室）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E5B969B-94D5-4501-AA1B-6A9893B44390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强项：固相无机材料发现链条完整、传播度高。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局限：争议也最集中，定义口径和验证链必须细看。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1B2246D-F9FA-411A-AF04-08453E697572}"/>
              </a:ext>
            </a:extLst>
          </p:cNvPr>
          <p:cNvSpPr>
            <a:spLocks noGrp="1"/>
          </p:cNvSpPr>
          <p:nvPr/>
        </p:nvSpPr>
        <p:spPr>
          <a:xfrm>
            <a:off x="6153150" y="37719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AA47CEC-F03D-4742-A440-335E6DF7B680}"/>
              </a:ext>
            </a:extLst>
          </p:cNvPr>
          <p:cNvSpPr>
            <a:spLocks noGrp="1"/>
          </p:cNvSpPr>
          <p:nvPr/>
        </p:nvSpPr>
        <p:spPr>
          <a:xfrm>
            <a:off x="6305550" y="39052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低成本 SDL / frugal twin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9A06747-99EC-4237-BA91-AA858FDFBAF3}"/>
              </a:ext>
            </a:extLst>
          </p:cNvPr>
          <p:cNvSpPr>
            <a:spLocks noGrp="1"/>
          </p:cNvSpPr>
          <p:nvPr/>
        </p:nvSpPr>
        <p:spPr>
          <a:xfrm>
            <a:off x="6305550" y="41529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强项：可复制、教育友好、便于快速验证闭环逻辑。</a:t>
            </a:r>
          </a:p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局限：常不能替代高价值真实实验的复杂语义。</a:t>
            </a:r>
          </a:p>
        </p:txBody>
      </p:sp>
    </p:spTree>
    <p:extLst>
      <p:ext uri="{BB962C8B-B14F-4D97-AF65-F5344CB8AC3E}">
        <p14:creationId xmlns:p14="http://schemas.microsoft.com/office/powerpoint/2010/main" val="11738132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7D862C66-BDF7-4F7F-A706-C9AA84456E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598C0CE-4347-4F9D-A6BC-512A287649B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第五部分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1D64D8A-09A4-445A-BEE6-B6F24B4B4F97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43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E4E245C-774E-4571-8845-A5939FA59245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30A1A6-73BB-4BE9-AC1D-6501A929CEF0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1428750" cy="1047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5400" b="1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9C71B17-DFC5-48F4-BACC-82823C85E141}"/>
              </a:ext>
            </a:extLst>
          </p:cNvPr>
          <p:cNvSpPr>
            <a:spLocks noGrp="1"/>
          </p:cNvSpPr>
          <p:nvPr/>
        </p:nvSpPr>
        <p:spPr>
          <a:xfrm>
            <a:off x="2571750" y="1809750"/>
            <a:ext cx="7810500" cy="666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A-Lab：真实系统案例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EA4824-D788-4DB5-BE71-BC3D1ABA5130}"/>
              </a:ext>
            </a:extLst>
          </p:cNvPr>
          <p:cNvSpPr>
            <a:spLocks noGrp="1"/>
          </p:cNvSpPr>
          <p:nvPr/>
        </p:nvSpPr>
        <p:spPr>
          <a:xfrm>
            <a:off x="2590800" y="2628900"/>
            <a:ext cx="7429500" cy="857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A-Lab 之所以重要，不只是因为它“做成了什么”，也因为它暴露了什么。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22C585D-2EFF-4BE0-97E2-CB83E42901CC}"/>
              </a:ext>
            </a:extLst>
          </p:cNvPr>
          <p:cNvSpPr>
            <a:spLocks noGrp="1"/>
          </p:cNvSpPr>
          <p:nvPr/>
        </p:nvSpPr>
        <p:spPr>
          <a:xfrm>
            <a:off x="1047750" y="3924300"/>
            <a:ext cx="4000500" cy="76200"/>
          </a:xfrm>
          <a:prstGeom prst="rect">
            <a:avLst/>
          </a:prstGeom>
          <a:solidFill>
            <a:srgbClr val="FB7185"/>
          </a:solidFill>
          <a:ln w="0">
            <a:solidFill>
              <a:srgbClr val="FB7185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440992D-4F43-41F1-8A8B-9A914E9823AE}"/>
              </a:ext>
            </a:extLst>
          </p:cNvPr>
          <p:cNvSpPr>
            <a:spLocks noGrp="1"/>
          </p:cNvSpPr>
          <p:nvPr/>
        </p:nvSpPr>
        <p:spPr>
          <a:xfrm>
            <a:off x="1047750" y="4438650"/>
            <a:ext cx="8572500" cy="762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讲真实案例，必须同时讲能力、争议、修正与启示。</a:t>
            </a:r>
          </a:p>
        </p:txBody>
      </p:sp>
    </p:spTree>
    <p:extLst>
      <p:ext uri="{BB962C8B-B14F-4D97-AF65-F5344CB8AC3E}">
        <p14:creationId xmlns:p14="http://schemas.microsoft.com/office/powerpoint/2010/main" val="20114017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F43657FF-573A-413A-BABA-4E61A11D08D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35CC61-C590-4327-A85E-AB6A33C378D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A-Lab 概览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68D30B9-0A94-4F03-8BC7-7A3FCBAC3808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44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EC648DE-D1AD-4270-8B16-0F5B594A82D5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DF4EF3-1723-4F81-AEBF-A5DA7FA076C2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 想做什么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F1EC48F-0D43-44FE-9574-28B33D685715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目标是把固相无机材料发现组织成一个自治实验流程。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192A0BC-B203-44C4-ABFE-22F23BF50355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AA4C4B-D4E7-48CD-B63F-63027478FBB0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在候选材料空间中筛选目标，自动生成合成配方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自动完成配料、加热、研磨和</a:t>
            </a:r>
            <a:r>
              <a:rPr sz="1575" dirty="0">
                <a:solidFill>
                  <a:srgbClr val="F5F7FA"/>
                </a:solidFill>
                <a:latin typeface="Aptos"/>
              </a:rPr>
              <a:t>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XRD（X射线衍射）测量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利用机器学习辅助相鉴定，并继续选择下一实验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B396AA2-4334-4264-9A8A-DBCF4C79567D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6EC6890-C65D-4BC1-B630-874705B68765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825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rPr sz="1000" b="1" dirty="0" err="1"/>
              <a:t>为什么它有代表性</a:t>
            </a:r>
            <a:endParaRPr sz="1000" b="1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D04CE71-479B-4112-B519-BB63BDF3AF12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它不是 toy benchmark，而是把计算筛选、机器人执行、表征和决策放进同一系统。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62302DB-129D-4ED0-AE97-2ECADB70A385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6EEA73B-4548-433D-B01F-B5DDC21F3AD1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更关键的是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B2D41DF-0F70-4023-971C-39F6826A7816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它让人看到 SDL 不是单个算法，而是一整套实验系统工程。</a:t>
            </a:r>
          </a:p>
        </p:txBody>
      </p:sp>
    </p:spTree>
    <p:extLst>
      <p:ext uri="{BB962C8B-B14F-4D97-AF65-F5344CB8AC3E}">
        <p14:creationId xmlns:p14="http://schemas.microsoft.com/office/powerpoint/2010/main" val="12823974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0341CC71-7A47-4C6D-8CD0-E70C0C9AB7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B57833-DDC8-48DA-A8ED-0E81B787CBEC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A-Lab 架构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6D60F4A-1DDC-4E05-B2C3-4C55D6330C5F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45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7B5C6C-C08B-46B0-AED4-6D858071B5DE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AB37AA-1548-458B-BFE9-CB35488FDC35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把 A-Lab 拆开看：它至少包含四个关键层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2E58AA4-8465-4B43-A827-433F407CB164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筛选、执行、表征、解释。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A3431A8-7E07-4EE9-A849-E5DED253AA27}"/>
              </a:ext>
            </a:extLst>
          </p:cNvPr>
          <p:cNvSpPr>
            <a:spLocks noGrp="1"/>
          </p:cNvSpPr>
          <p:nvPr/>
        </p:nvSpPr>
        <p:spPr>
          <a:xfrm>
            <a:off x="857250" y="2571750"/>
            <a:ext cx="25050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FF29BB2-FE01-4151-A774-7C47FBA83C31}"/>
              </a:ext>
            </a:extLst>
          </p:cNvPr>
          <p:cNvSpPr>
            <a:spLocks noGrp="1"/>
          </p:cNvSpPr>
          <p:nvPr/>
        </p:nvSpPr>
        <p:spPr>
          <a:xfrm>
            <a:off x="1009650" y="2724150"/>
            <a:ext cx="22002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L1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44EBF8C-D629-47A1-9208-B82FA39828C1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22002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目标筛选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2DA705C-627E-40F6-9967-93569F9142BD}"/>
              </a:ext>
            </a:extLst>
          </p:cNvPr>
          <p:cNvSpPr>
            <a:spLocks noGrp="1"/>
          </p:cNvSpPr>
          <p:nvPr/>
        </p:nvSpPr>
        <p:spPr>
          <a:xfrm>
            <a:off x="1009650" y="3352800"/>
            <a:ext cx="22002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从计算数据库中选出值得尝试的候选。</a:t>
            </a:r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8E94C327-194D-41EA-8C7D-45C8E5D9AC4D}"/>
              </a:ext>
            </a:extLst>
          </p:cNvPr>
          <p:cNvSpPr>
            <a:spLocks noGrp="1"/>
          </p:cNvSpPr>
          <p:nvPr/>
        </p:nvSpPr>
        <p:spPr>
          <a:xfrm>
            <a:off x="3400425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55E92F12-EFDC-40EE-884F-C2BBAAC3F16D}"/>
              </a:ext>
            </a:extLst>
          </p:cNvPr>
          <p:cNvSpPr>
            <a:spLocks noGrp="1"/>
          </p:cNvSpPr>
          <p:nvPr/>
        </p:nvSpPr>
        <p:spPr>
          <a:xfrm>
            <a:off x="3514725" y="2571750"/>
            <a:ext cx="25050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5DB2707-F00C-4158-8428-08A818BCB84A}"/>
              </a:ext>
            </a:extLst>
          </p:cNvPr>
          <p:cNvSpPr>
            <a:spLocks noGrp="1"/>
          </p:cNvSpPr>
          <p:nvPr/>
        </p:nvSpPr>
        <p:spPr>
          <a:xfrm>
            <a:off x="3667125" y="2724150"/>
            <a:ext cx="22002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L2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320D2EB-DC73-4C93-A9D7-95AFC5BB4701}"/>
              </a:ext>
            </a:extLst>
          </p:cNvPr>
          <p:cNvSpPr>
            <a:spLocks noGrp="1"/>
          </p:cNvSpPr>
          <p:nvPr/>
        </p:nvSpPr>
        <p:spPr>
          <a:xfrm>
            <a:off x="3667125" y="2971800"/>
            <a:ext cx="22002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自动执行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2371B86-69FF-4897-88EE-F9C18F09E4D3}"/>
              </a:ext>
            </a:extLst>
          </p:cNvPr>
          <p:cNvSpPr>
            <a:spLocks noGrp="1"/>
          </p:cNvSpPr>
          <p:nvPr/>
        </p:nvSpPr>
        <p:spPr>
          <a:xfrm>
            <a:off x="3667125" y="3352800"/>
            <a:ext cx="22002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机器人与炉子完成配料、加热、研磨。</a:t>
            </a: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F3258617-0DE0-423E-A6B2-6C2815CB9205}"/>
              </a:ext>
            </a:extLst>
          </p:cNvPr>
          <p:cNvSpPr>
            <a:spLocks noGrp="1"/>
          </p:cNvSpPr>
          <p:nvPr/>
        </p:nvSpPr>
        <p:spPr>
          <a:xfrm>
            <a:off x="6057900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C7658F42-C65D-4636-A4DE-945F496E04C2}"/>
              </a:ext>
            </a:extLst>
          </p:cNvPr>
          <p:cNvSpPr>
            <a:spLocks noGrp="1"/>
          </p:cNvSpPr>
          <p:nvPr/>
        </p:nvSpPr>
        <p:spPr>
          <a:xfrm>
            <a:off x="6172200" y="2571750"/>
            <a:ext cx="25050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21323EA-4C8B-41E6-912A-A98D00B21035}"/>
              </a:ext>
            </a:extLst>
          </p:cNvPr>
          <p:cNvSpPr>
            <a:spLocks noGrp="1"/>
          </p:cNvSpPr>
          <p:nvPr/>
        </p:nvSpPr>
        <p:spPr>
          <a:xfrm>
            <a:off x="6324600" y="2724150"/>
            <a:ext cx="22002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L3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78075D0-D962-416D-924E-58F215D9A788}"/>
              </a:ext>
            </a:extLst>
          </p:cNvPr>
          <p:cNvSpPr>
            <a:spLocks noGrp="1"/>
          </p:cNvSpPr>
          <p:nvPr/>
        </p:nvSpPr>
        <p:spPr>
          <a:xfrm>
            <a:off x="6324600" y="2971800"/>
            <a:ext cx="22002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表征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10C3F5B-5870-4033-91D9-0E1136FD7D2F}"/>
              </a:ext>
            </a:extLst>
          </p:cNvPr>
          <p:cNvSpPr>
            <a:spLocks noGrp="1"/>
          </p:cNvSpPr>
          <p:nvPr/>
        </p:nvSpPr>
        <p:spPr>
          <a:xfrm>
            <a:off x="6324600" y="3352800"/>
            <a:ext cx="22002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XRD 输出结构信息，形成实验观测。</a:t>
            </a:r>
          </a:p>
        </p:txBody>
      </p:sp>
      <p:sp>
        <p:nvSpPr>
          <p:cNvPr id="21" name="箭头: 右 20">
            <a:extLst>
              <a:ext uri="{FF2B5EF4-FFF2-40B4-BE49-F238E27FC236}">
                <a16:creationId xmlns:a16="http://schemas.microsoft.com/office/drawing/2014/main" id="{CDBF8D1D-6D24-4588-A92D-395621057B16}"/>
              </a:ext>
            </a:extLst>
          </p:cNvPr>
          <p:cNvSpPr>
            <a:spLocks noGrp="1"/>
          </p:cNvSpPr>
          <p:nvPr/>
        </p:nvSpPr>
        <p:spPr>
          <a:xfrm>
            <a:off x="8715375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8DD023C5-782E-4D69-9615-A3147C113324}"/>
              </a:ext>
            </a:extLst>
          </p:cNvPr>
          <p:cNvSpPr>
            <a:spLocks noGrp="1"/>
          </p:cNvSpPr>
          <p:nvPr/>
        </p:nvSpPr>
        <p:spPr>
          <a:xfrm>
            <a:off x="8829675" y="2571750"/>
            <a:ext cx="25050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45BB3D8-03A5-44FB-BCFE-CD66D24509CC}"/>
              </a:ext>
            </a:extLst>
          </p:cNvPr>
          <p:cNvSpPr>
            <a:spLocks noGrp="1"/>
          </p:cNvSpPr>
          <p:nvPr/>
        </p:nvSpPr>
        <p:spPr>
          <a:xfrm>
            <a:off x="8982075" y="2724150"/>
            <a:ext cx="22002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L4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7EBAB6D-D257-44CD-AC5D-18640BCC0DAA}"/>
              </a:ext>
            </a:extLst>
          </p:cNvPr>
          <p:cNvSpPr>
            <a:spLocks noGrp="1"/>
          </p:cNvSpPr>
          <p:nvPr/>
        </p:nvSpPr>
        <p:spPr>
          <a:xfrm>
            <a:off x="8982075" y="2971800"/>
            <a:ext cx="22002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解释与推荐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8B7D5B2-A7E0-455F-A303-1F73E215C460}"/>
              </a:ext>
            </a:extLst>
          </p:cNvPr>
          <p:cNvSpPr>
            <a:spLocks noGrp="1"/>
          </p:cNvSpPr>
          <p:nvPr/>
        </p:nvSpPr>
        <p:spPr>
          <a:xfrm>
            <a:off x="8982075" y="3352800"/>
            <a:ext cx="22002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模型辅助相鉴定，并推动后续实验。</a:t>
            </a:r>
          </a:p>
        </p:txBody>
      </p:sp>
    </p:spTree>
    <p:extLst>
      <p:ext uri="{BB962C8B-B14F-4D97-AF65-F5344CB8AC3E}">
        <p14:creationId xmlns:p14="http://schemas.microsoft.com/office/powerpoint/2010/main" val="11039833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0D05EC7-17CF-4C36-B319-1A152D00BA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AEA9840-07FF-4893-92CE-5AB0E0398F97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A-Lab 目标筛选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865BECB-ADE4-4040-925C-BF38D9D9F91D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46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C36C69F-38AC-4D7F-BF48-44B15AD6CE01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37D785F-7424-412E-A142-B9101A23DC14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 的候选筛选逻辑，本质上是“先缩空间，再进实验”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E468C61-C4DD-48C9-AC49-59096844E738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这也是很多 SDL 系统的常见策略。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4ECDE80-A3E5-4B91-B5C7-D8ABD6B818C9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32542D-58CD-4D10-B701-F46FCB06203D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先缩空间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865FE1F-4B3D-410C-B875-6D47943708CF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从大量计算候选中，优先保留热力学上较稳定、空气中较可行、前驱体可得的目标。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EC6FDCD-26D3-4EE7-BDC9-DE124E5D9D84}"/>
              </a:ext>
            </a:extLst>
          </p:cNvPr>
          <p:cNvSpPr>
            <a:spLocks noGrp="1"/>
          </p:cNvSpPr>
          <p:nvPr/>
        </p:nvSpPr>
        <p:spPr>
          <a:xfrm>
            <a:off x="6153150" y="21336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EAE7B6B-21D4-4A4E-BC8E-63D20959B57F}"/>
              </a:ext>
            </a:extLst>
          </p:cNvPr>
          <p:cNvSpPr>
            <a:spLocks noGrp="1"/>
          </p:cNvSpPr>
          <p:nvPr/>
        </p:nvSpPr>
        <p:spPr>
          <a:xfrm>
            <a:off x="6305550" y="22669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再进实验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58D6C7E-3E45-4146-8F15-625263CED776}"/>
              </a:ext>
            </a:extLst>
          </p:cNvPr>
          <p:cNvSpPr>
            <a:spLocks noGrp="1"/>
          </p:cNvSpPr>
          <p:nvPr/>
        </p:nvSpPr>
        <p:spPr>
          <a:xfrm>
            <a:off x="6305550" y="25146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把真正昂贵的实验预算，集中花在更有希望的候选上。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F0F14C2-907D-48E3-9192-99E6F4EE96A3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42BE07F-EEE0-4990-A994-BB6913BC80E8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优势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D826EFF-F1B0-496D-AACB-458B6A440B7D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显著减少盲目搜索，提高实验预算利用率。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1F3BC2C5-9633-4CA2-8998-48FE18357CF7}"/>
              </a:ext>
            </a:extLst>
          </p:cNvPr>
          <p:cNvSpPr>
            <a:spLocks noGrp="1"/>
          </p:cNvSpPr>
          <p:nvPr/>
        </p:nvSpPr>
        <p:spPr>
          <a:xfrm>
            <a:off x="6153150" y="37719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D07B6FE-3F38-46DE-9CDE-FC98A77CF77B}"/>
              </a:ext>
            </a:extLst>
          </p:cNvPr>
          <p:cNvSpPr>
            <a:spLocks noGrp="1"/>
          </p:cNvSpPr>
          <p:nvPr/>
        </p:nvSpPr>
        <p:spPr>
          <a:xfrm>
            <a:off x="6305550" y="39052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风险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CCB0CD0-3BD4-45DF-B042-FD0763CAF784}"/>
              </a:ext>
            </a:extLst>
          </p:cNvPr>
          <p:cNvSpPr>
            <a:spLocks noGrp="1"/>
          </p:cNvSpPr>
          <p:nvPr/>
        </p:nvSpPr>
        <p:spPr>
          <a:xfrm>
            <a:off x="6305550" y="41529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如果前端计算假设有系统偏差，后端实验就可能被整体带偏。</a:t>
            </a:r>
          </a:p>
        </p:txBody>
      </p:sp>
    </p:spTree>
    <p:extLst>
      <p:ext uri="{BB962C8B-B14F-4D97-AF65-F5344CB8AC3E}">
        <p14:creationId xmlns:p14="http://schemas.microsoft.com/office/powerpoint/2010/main" val="4179633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E16C1B6C-5759-49E9-BA2B-5D8D46A627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E8E4566-8DD1-4347-AD7D-54642DD588B7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A-Lab 结果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3C2781-C606-4202-99CE-0E3484DF2EB0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47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8C8DABE-5131-4A65-9773-3ABF2ED2CCEE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07A9D41-3DB6-4EEE-8535-56271C4BE3FC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 引发关注，是因为它同时报告了速度与成功率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2B97F6F-2D28-461E-8D0A-73D0828D72F9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但学生必须学会区分“报告结果”和“最终共识”。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63C72D9-B305-4BC2-AAE3-C2DD4DE1F699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ED55DA-BE46-4F1C-8625-70FCC84003A9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论文报告了</a:t>
            </a:r>
            <a:r>
              <a:rPr sz="1575" dirty="0">
                <a:solidFill>
                  <a:srgbClr val="F5F7FA"/>
                </a:solidFill>
                <a:latin typeface="Aptos"/>
              </a:rPr>
              <a:t> 17 天连续运行、58 个目标尝试、355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次实验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原始论文将</a:t>
            </a:r>
            <a:r>
              <a:rPr sz="1575" dirty="0">
                <a:solidFill>
                  <a:srgbClr val="F5F7FA"/>
                </a:solidFill>
                <a:latin typeface="Aptos"/>
              </a:rPr>
              <a:t> 41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个目标视为成功案例，并给出约</a:t>
            </a:r>
            <a:r>
              <a:rPr sz="1575" dirty="0">
                <a:solidFill>
                  <a:srgbClr val="F5F7FA"/>
                </a:solidFill>
                <a:latin typeface="Aptos"/>
              </a:rPr>
              <a:t> 71%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的目标级成功率表述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这些数字让</a:t>
            </a:r>
            <a:r>
              <a:rPr sz="1575" dirty="0">
                <a:solidFill>
                  <a:srgbClr val="F5F7FA"/>
                </a:solidFill>
                <a:latin typeface="Aptos"/>
              </a:rPr>
              <a:t> A-Lab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成为全球讨论</a:t>
            </a:r>
            <a:r>
              <a:rPr sz="1575" dirty="0">
                <a:solidFill>
                  <a:srgbClr val="F5F7FA"/>
                </a:solidFill>
                <a:latin typeface="Aptos"/>
              </a:rPr>
              <a:t> SDL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的标志性案例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20EBD49-E30E-413C-AEF9-488D46889667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62CF9DC-B38F-4190-9231-7BD0E7E3B5F1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阅读口径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939C705-D0FA-4B5D-8C4F-40903C2C02AE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报告结果 ≠ 最终共识。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科研论文发表后，仍可能经历独立复核、争议和修正。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8FC7EB9-DF44-482A-8B97-017FC6E5FCC9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08A0390-75BE-45D5-9329-DEBB1A6D91DF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825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rPr sz="1000" b="1"/>
              <a:t>因此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384FE4E-DBCA-4FEF-A29A-90F647D54A0D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真实案例最值得学的，不只是“数字多漂亮”，而是后续如何被检验。</a:t>
            </a:r>
          </a:p>
        </p:txBody>
      </p:sp>
    </p:spTree>
    <p:extLst>
      <p:ext uri="{BB962C8B-B14F-4D97-AF65-F5344CB8AC3E}">
        <p14:creationId xmlns:p14="http://schemas.microsoft.com/office/powerpoint/2010/main" val="20076324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43A212A9-4131-46A9-8DF9-A4AFD12CB8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6422508-9369-43EF-B2A3-DFDF8907866D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A-Lab 时间线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57E6E9B-397E-4BBA-8BCA-27EC7CF7FD27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48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7BC124-45F1-4315-B616-7B0A76711B2C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7C7DEC8-D9F7-4BD5-AF0E-A7A0090E5AAD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把 A-Lab 放回时间线里，才能看清它真正教会我们的东西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BD9728C-F814-4330-BDC3-C5209DBAA29A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发布、传播、质疑、再分析、修正，缺一不可。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7A8A77B-2A8D-4D21-B7C3-A35A795B9741}"/>
              </a:ext>
            </a:extLst>
          </p:cNvPr>
          <p:cNvSpPr>
            <a:spLocks noGrp="1"/>
          </p:cNvSpPr>
          <p:nvPr/>
        </p:nvSpPr>
        <p:spPr>
          <a:xfrm>
            <a:off x="857250" y="2571750"/>
            <a:ext cx="25050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4F80266-1A2D-45AC-88CC-4520C2CBDE43}"/>
              </a:ext>
            </a:extLst>
          </p:cNvPr>
          <p:cNvSpPr>
            <a:spLocks noGrp="1"/>
          </p:cNvSpPr>
          <p:nvPr/>
        </p:nvSpPr>
        <p:spPr>
          <a:xfrm>
            <a:off x="1009650" y="2724150"/>
            <a:ext cx="22002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2023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C91488-2D6C-4B70-9AF0-E636B575D01E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22002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发布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9E0F7F5-E6C2-40C2-A2CF-1D36E7A67646}"/>
              </a:ext>
            </a:extLst>
          </p:cNvPr>
          <p:cNvSpPr>
            <a:spLocks noGrp="1"/>
          </p:cNvSpPr>
          <p:nvPr/>
        </p:nvSpPr>
        <p:spPr>
          <a:xfrm>
            <a:off x="1009650" y="3352800"/>
            <a:ext cx="22002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Nature 论文让 A-Lab 迅速成为 SDL 标志性案例。</a:t>
            </a:r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1F33A187-DA89-408C-A028-80AC0D418C39}"/>
              </a:ext>
            </a:extLst>
          </p:cNvPr>
          <p:cNvSpPr>
            <a:spLocks noGrp="1"/>
          </p:cNvSpPr>
          <p:nvPr/>
        </p:nvSpPr>
        <p:spPr>
          <a:xfrm>
            <a:off x="3400425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13B609C-87AB-4671-9B63-AFD1264D7AF4}"/>
              </a:ext>
            </a:extLst>
          </p:cNvPr>
          <p:cNvSpPr>
            <a:spLocks noGrp="1"/>
          </p:cNvSpPr>
          <p:nvPr/>
        </p:nvSpPr>
        <p:spPr>
          <a:xfrm>
            <a:off x="3514725" y="2571750"/>
            <a:ext cx="25050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5516533-FE8C-414C-964F-340F979B2E44}"/>
              </a:ext>
            </a:extLst>
          </p:cNvPr>
          <p:cNvSpPr>
            <a:spLocks noGrp="1"/>
          </p:cNvSpPr>
          <p:nvPr/>
        </p:nvSpPr>
        <p:spPr>
          <a:xfrm>
            <a:off x="3667125" y="2724150"/>
            <a:ext cx="22002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随后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89C651A-2BC6-4B98-8F9F-A174A00C5E9C}"/>
              </a:ext>
            </a:extLst>
          </p:cNvPr>
          <p:cNvSpPr>
            <a:spLocks noGrp="1"/>
          </p:cNvSpPr>
          <p:nvPr/>
        </p:nvSpPr>
        <p:spPr>
          <a:xfrm>
            <a:off x="3667125" y="2971800"/>
            <a:ext cx="22002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传播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AB8E9EA-0727-413C-A8CF-96C425A5312D}"/>
              </a:ext>
            </a:extLst>
          </p:cNvPr>
          <p:cNvSpPr>
            <a:spLocks noGrp="1"/>
          </p:cNvSpPr>
          <p:nvPr/>
        </p:nvSpPr>
        <p:spPr>
          <a:xfrm>
            <a:off x="3667125" y="3352800"/>
            <a:ext cx="22002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媒体与学界大量转述速度、成功率和自治能力。</a:t>
            </a: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ECAFA7A4-6DD5-4B51-B8C4-C800F6C9E32E}"/>
              </a:ext>
            </a:extLst>
          </p:cNvPr>
          <p:cNvSpPr>
            <a:spLocks noGrp="1"/>
          </p:cNvSpPr>
          <p:nvPr/>
        </p:nvSpPr>
        <p:spPr>
          <a:xfrm>
            <a:off x="6057900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2F46446-1176-4FEE-A069-C9A153E46441}"/>
              </a:ext>
            </a:extLst>
          </p:cNvPr>
          <p:cNvSpPr>
            <a:spLocks noGrp="1"/>
          </p:cNvSpPr>
          <p:nvPr/>
        </p:nvSpPr>
        <p:spPr>
          <a:xfrm>
            <a:off x="6172200" y="2571750"/>
            <a:ext cx="25050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520F384-35CE-4C65-90B4-C85FE3CAEAE2}"/>
              </a:ext>
            </a:extLst>
          </p:cNvPr>
          <p:cNvSpPr>
            <a:spLocks noGrp="1"/>
          </p:cNvSpPr>
          <p:nvPr/>
        </p:nvSpPr>
        <p:spPr>
          <a:xfrm>
            <a:off x="6324600" y="2724150"/>
            <a:ext cx="22002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FBBF24"/>
                </a:solidFill>
                <a:latin typeface="Consolas"/>
                <a:ea typeface="Consolas"/>
                <a:cs typeface="Consolas"/>
              </a:defRPr>
            </a:pPr>
            <a:r>
              <a:t>2024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C8C632D-A489-4926-9230-35B4A9E1D591}"/>
              </a:ext>
            </a:extLst>
          </p:cNvPr>
          <p:cNvSpPr>
            <a:spLocks noGrp="1"/>
          </p:cNvSpPr>
          <p:nvPr/>
        </p:nvSpPr>
        <p:spPr>
          <a:xfrm>
            <a:off x="6324600" y="2971800"/>
            <a:ext cx="22002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质疑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8D787DB-44D3-4184-80FB-2A75FEC71F59}"/>
              </a:ext>
            </a:extLst>
          </p:cNvPr>
          <p:cNvSpPr>
            <a:spLocks noGrp="1"/>
          </p:cNvSpPr>
          <p:nvPr/>
        </p:nvSpPr>
        <p:spPr>
          <a:xfrm>
            <a:off x="6324600" y="3352800"/>
            <a:ext cx="22002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独立分析开始追问“新材料”“成功”的定义边界。</a:t>
            </a:r>
          </a:p>
        </p:txBody>
      </p:sp>
      <p:sp>
        <p:nvSpPr>
          <p:cNvPr id="21" name="箭头: 右 20">
            <a:extLst>
              <a:ext uri="{FF2B5EF4-FFF2-40B4-BE49-F238E27FC236}">
                <a16:creationId xmlns:a16="http://schemas.microsoft.com/office/drawing/2014/main" id="{D786FE47-1ADD-4F75-9D6A-3EF191EA2E70}"/>
              </a:ext>
            </a:extLst>
          </p:cNvPr>
          <p:cNvSpPr>
            <a:spLocks noGrp="1"/>
          </p:cNvSpPr>
          <p:nvPr/>
        </p:nvSpPr>
        <p:spPr>
          <a:xfrm>
            <a:off x="8715375" y="3238500"/>
            <a:ext cx="228600" cy="266700"/>
          </a:xfrm>
          <a:prstGeom prst="rightArrow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B18CDA1-980A-4572-8796-53EEF5BC7A9A}"/>
              </a:ext>
            </a:extLst>
          </p:cNvPr>
          <p:cNvSpPr>
            <a:spLocks noGrp="1"/>
          </p:cNvSpPr>
          <p:nvPr/>
        </p:nvSpPr>
        <p:spPr>
          <a:xfrm>
            <a:off x="8829675" y="2571750"/>
            <a:ext cx="2505075" cy="1714500"/>
          </a:xfrm>
          <a:prstGeom prst="roundRect">
            <a:avLst>
              <a:gd name="adj" fmla="val 4444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33A588F-16E8-41E7-BB02-9997AAA42CF4}"/>
              </a:ext>
            </a:extLst>
          </p:cNvPr>
          <p:cNvSpPr>
            <a:spLocks noGrp="1"/>
          </p:cNvSpPr>
          <p:nvPr/>
        </p:nvSpPr>
        <p:spPr>
          <a:xfrm>
            <a:off x="8982075" y="2724150"/>
            <a:ext cx="2200275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FB7185"/>
                </a:solidFill>
                <a:latin typeface="Consolas"/>
                <a:ea typeface="Consolas"/>
                <a:cs typeface="Consolas"/>
              </a:defRPr>
            </a:pPr>
            <a:r>
              <a:t>再分析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59BC1E2-EBC2-42C8-BEC5-ABE8DB7A77CB}"/>
              </a:ext>
            </a:extLst>
          </p:cNvPr>
          <p:cNvSpPr>
            <a:spLocks noGrp="1"/>
          </p:cNvSpPr>
          <p:nvPr/>
        </p:nvSpPr>
        <p:spPr>
          <a:xfrm>
            <a:off x="8982075" y="2971800"/>
            <a:ext cx="2200275" cy="266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修正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4A23CD2-0830-4D4B-8AEA-32AA02DF926D}"/>
              </a:ext>
            </a:extLst>
          </p:cNvPr>
          <p:cNvSpPr>
            <a:spLocks noGrp="1"/>
          </p:cNvSpPr>
          <p:nvPr/>
        </p:nvSpPr>
        <p:spPr>
          <a:xfrm>
            <a:off x="8982075" y="3352800"/>
            <a:ext cx="2200275" cy="8191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社群逐步把案例从宣传口径拉回到可核查口径。</a:t>
            </a:r>
          </a:p>
        </p:txBody>
      </p:sp>
    </p:spTree>
    <p:extLst>
      <p:ext uri="{BB962C8B-B14F-4D97-AF65-F5344CB8AC3E}">
        <p14:creationId xmlns:p14="http://schemas.microsoft.com/office/powerpoint/2010/main" val="5895064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9C40ADE3-BEA5-4345-A491-B71BB621ED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81C6AC4-B05C-4959-BF16-4A3D088A155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争议与修正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3320D8D-2EBF-4239-B716-0FD9E854C4D0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49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2C878A6-C254-4DAD-8704-0198E7C66681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C19D9D6-32A3-4B8E-8491-2A25F567BABF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 的真正教学价值：科学自我纠错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2CA86A-5FAB-4FA8-AF95-66435FCB9779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争议不是这件事的失败，而是这件事的重要组成部分。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2E036A29-3C6C-4B58-9A28-DCF1A04051D4}"/>
              </a:ext>
            </a:extLst>
          </p:cNvPr>
          <p:cNvSpPr>
            <a:spLocks noGrp="1"/>
          </p:cNvSpPr>
          <p:nvPr/>
        </p:nvSpPr>
        <p:spPr>
          <a:xfrm>
            <a:off x="838200" y="2171700"/>
            <a:ext cx="2095500" cy="438150"/>
          </a:xfrm>
          <a:prstGeom prst="roundRect">
            <a:avLst>
              <a:gd name="adj" fmla="val 17391"/>
            </a:avLst>
          </a:prstGeom>
          <a:solidFill>
            <a:srgbClr val="0E213A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049B64-F67F-4F5D-95C7-055FE511ECD2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866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维度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E2E8914-59C2-4AB1-A27B-4EFAE5F1B169}"/>
              </a:ext>
            </a:extLst>
          </p:cNvPr>
          <p:cNvSpPr>
            <a:spLocks noGrp="1"/>
          </p:cNvSpPr>
          <p:nvPr/>
        </p:nvSpPr>
        <p:spPr>
          <a:xfrm>
            <a:off x="2933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21335C0-9344-4A32-8191-17131A291E40}"/>
              </a:ext>
            </a:extLst>
          </p:cNvPr>
          <p:cNvSpPr>
            <a:spLocks noGrp="1"/>
          </p:cNvSpPr>
          <p:nvPr/>
        </p:nvSpPr>
        <p:spPr>
          <a:xfrm>
            <a:off x="3048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原始声称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10FB4F4-ACCE-44D3-B8A7-F76EFF0D5995}"/>
              </a:ext>
            </a:extLst>
          </p:cNvPr>
          <p:cNvSpPr>
            <a:spLocks noGrp="1"/>
          </p:cNvSpPr>
          <p:nvPr/>
        </p:nvSpPr>
        <p:spPr>
          <a:xfrm>
            <a:off x="54102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93A8C0-1612-49DF-96AA-6F55C98F1C82}"/>
              </a:ext>
            </a:extLst>
          </p:cNvPr>
          <p:cNvSpPr>
            <a:spLocks noGrp="1"/>
          </p:cNvSpPr>
          <p:nvPr/>
        </p:nvSpPr>
        <p:spPr>
          <a:xfrm>
            <a:off x="55245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后续质疑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55B0ABE-8084-4013-A0D8-E63343717948}"/>
              </a:ext>
            </a:extLst>
          </p:cNvPr>
          <p:cNvSpPr>
            <a:spLocks noGrp="1"/>
          </p:cNvSpPr>
          <p:nvPr/>
        </p:nvSpPr>
        <p:spPr>
          <a:xfrm>
            <a:off x="7886700" y="217170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E306E30-FCB5-40F1-866E-07EA42105BE6}"/>
              </a:ext>
            </a:extLst>
          </p:cNvPr>
          <p:cNvSpPr>
            <a:spLocks noGrp="1"/>
          </p:cNvSpPr>
          <p:nvPr/>
        </p:nvSpPr>
        <p:spPr>
          <a:xfrm>
            <a:off x="8001000" y="2295525"/>
            <a:ext cx="22479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ctr">
              <a:defRPr sz="10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对学生的启示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4233812-BAEB-4BFF-B857-0A452DEC85D4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515DD6-E73F-4370-866D-A0003C55F03A}"/>
              </a:ext>
            </a:extLst>
          </p:cNvPr>
          <p:cNvSpPr>
            <a:spLocks noGrp="1"/>
          </p:cNvSpPr>
          <p:nvPr/>
        </p:nvSpPr>
        <p:spPr>
          <a:xfrm>
            <a:off x="952500" y="27051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发现了大量新材料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E91AA2D0-1B40-498E-B6D2-15FF79661031}"/>
              </a:ext>
            </a:extLst>
          </p:cNvPr>
          <p:cNvSpPr>
            <a:spLocks noGrp="1"/>
          </p:cNvSpPr>
          <p:nvPr/>
        </p:nvSpPr>
        <p:spPr>
          <a:xfrm>
            <a:off x="29337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F98B5EA-79C1-400E-A51A-B7D993430F10}"/>
              </a:ext>
            </a:extLst>
          </p:cNvPr>
          <p:cNvSpPr>
            <a:spLocks noGrp="1"/>
          </p:cNvSpPr>
          <p:nvPr/>
        </p:nvSpPr>
        <p:spPr>
          <a:xfrm>
            <a:off x="30480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部分“新材料”可能是已知无序相的有序写法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F4100C9-B67C-40CE-8208-9DD06ED3A216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8C853EB-B886-4729-8AFC-D2D3F55CC484}"/>
              </a:ext>
            </a:extLst>
          </p:cNvPr>
          <p:cNvSpPr>
            <a:spLocks noGrp="1"/>
          </p:cNvSpPr>
          <p:nvPr/>
        </p:nvSpPr>
        <p:spPr>
          <a:xfrm>
            <a:off x="5524500" y="27051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“新”必须先定义清楚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2C299B5-E416-4ADA-A025-322197C5FF5C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F957DEB-EE4F-4E20-9724-B022B4CEFA58}"/>
              </a:ext>
            </a:extLst>
          </p:cNvPr>
          <p:cNvSpPr>
            <a:spLocks noGrp="1"/>
          </p:cNvSpPr>
          <p:nvPr/>
        </p:nvSpPr>
        <p:spPr>
          <a:xfrm>
            <a:off x="952500" y="318135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自动相鉴定有效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45B0514-EA90-457F-AABE-D75017BF6782}"/>
              </a:ext>
            </a:extLst>
          </p:cNvPr>
          <p:cNvSpPr>
            <a:spLocks noGrp="1"/>
          </p:cNvSpPr>
          <p:nvPr/>
        </p:nvSpPr>
        <p:spPr>
          <a:xfrm>
            <a:off x="29337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A2AABC6-2333-4A7C-8AAA-82F68CEF3E5C}"/>
              </a:ext>
            </a:extLst>
          </p:cNvPr>
          <p:cNvSpPr>
            <a:spLocks noGrp="1"/>
          </p:cNvSpPr>
          <p:nvPr/>
        </p:nvSpPr>
        <p:spPr>
          <a:xfrm>
            <a:off x="30480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独立分析认为部分鉴定并不稳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991C7CA-D25B-45C0-9A99-3586A97E57BA}"/>
              </a:ext>
            </a:extLst>
          </p:cNvPr>
          <p:cNvSpPr>
            <a:spLocks noGrp="1"/>
          </p:cNvSpPr>
          <p:nvPr/>
        </p:nvSpPr>
        <p:spPr>
          <a:xfrm>
            <a:off x="5410200" y="308610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242DAD-D324-46A5-9CA5-B154A2267D00}"/>
              </a:ext>
            </a:extLst>
          </p:cNvPr>
          <p:cNvSpPr>
            <a:spLocks noGrp="1"/>
          </p:cNvSpPr>
          <p:nvPr/>
        </p:nvSpPr>
        <p:spPr>
          <a:xfrm>
            <a:off x="5524500" y="318135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自动化不等于免验证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581A3B6E-3622-40A5-8447-A4D85B345F66}"/>
              </a:ext>
            </a:extLst>
          </p:cNvPr>
          <p:cNvSpPr>
            <a:spLocks noGrp="1"/>
          </p:cNvSpPr>
          <p:nvPr/>
        </p:nvSpPr>
        <p:spPr>
          <a:xfrm>
            <a:off x="838200" y="3562350"/>
            <a:ext cx="2095500" cy="476250"/>
          </a:xfrm>
          <a:prstGeom prst="roundRect">
            <a:avLst>
              <a:gd name="adj" fmla="val 16000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22C30CF-C3E1-4400-84FF-7279EB967A02}"/>
              </a:ext>
            </a:extLst>
          </p:cNvPr>
          <p:cNvSpPr>
            <a:spLocks noGrp="1"/>
          </p:cNvSpPr>
          <p:nvPr/>
        </p:nvSpPr>
        <p:spPr>
          <a:xfrm>
            <a:off x="952500" y="3657600"/>
            <a:ext cx="1866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自治系统表现突出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8A71ECBA-42C0-4B8D-891A-4BA5314C452E}"/>
              </a:ext>
            </a:extLst>
          </p:cNvPr>
          <p:cNvSpPr>
            <a:spLocks noGrp="1"/>
          </p:cNvSpPr>
          <p:nvPr/>
        </p:nvSpPr>
        <p:spPr>
          <a:xfrm>
            <a:off x="29337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08D0CF5-0059-489F-9F4F-D0B9CC0496C4}"/>
              </a:ext>
            </a:extLst>
          </p:cNvPr>
          <p:cNvSpPr>
            <a:spLocks noGrp="1"/>
          </p:cNvSpPr>
          <p:nvPr/>
        </p:nvSpPr>
        <p:spPr>
          <a:xfrm>
            <a:off x="30480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系统前端与后端都可能引入系统偏差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F61D7753-4CB3-4645-9C77-DE9A9AF1DE84}"/>
              </a:ext>
            </a:extLst>
          </p:cNvPr>
          <p:cNvSpPr>
            <a:spLocks noGrp="1"/>
          </p:cNvSpPr>
          <p:nvPr/>
        </p:nvSpPr>
        <p:spPr>
          <a:xfrm>
            <a:off x="5410200" y="3562350"/>
            <a:ext cx="2476500" cy="476250"/>
          </a:xfrm>
          <a:prstGeom prst="roundRect">
            <a:avLst>
              <a:gd name="adj" fmla="val 16000"/>
            </a:avLst>
          </a:prstGeom>
          <a:solidFill>
            <a:srgbClr val="071426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989D9D4-B015-413F-8CCC-31413A24504B}"/>
              </a:ext>
            </a:extLst>
          </p:cNvPr>
          <p:cNvSpPr>
            <a:spLocks noGrp="1"/>
          </p:cNvSpPr>
          <p:nvPr/>
        </p:nvSpPr>
        <p:spPr>
          <a:xfrm>
            <a:off x="5524500" y="3657600"/>
            <a:ext cx="2247900" cy="285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97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系统工程必须接受复核</a:t>
            </a:r>
          </a:p>
        </p:txBody>
      </p:sp>
    </p:spTree>
    <p:extLst>
      <p:ext uri="{BB962C8B-B14F-4D97-AF65-F5344CB8AC3E}">
        <p14:creationId xmlns:p14="http://schemas.microsoft.com/office/powerpoint/2010/main" val="20330453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720C308C-8EF8-4672-B02D-884274566C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D4FAA7F-6AFF-4CF4-A3FC-F9A516FED56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A-Lab 启示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1CD6E8C-83BA-4BE0-8649-23AC2567A025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50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CAF769-4A62-402C-98B3-D1CF91A7284F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F51B75-337C-4DD3-ABA4-FDBCF38E5AFE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A-Lab 给学生的六个启示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979CFDA-1013-4DF4-A0E5-2FB2E33D1801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真正值得带走的，不是口号，而是判断框架。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270A9A7-A2C3-4C81-9ECF-C98937112834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CADC0CE-C0C9-4F9D-AC78-79C0D38E78D7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>
                <a:solidFill>
                  <a:srgbClr val="F5F7FA"/>
                </a:solidFill>
                <a:latin typeface="Aptos"/>
              </a:rPr>
              <a:t>SDL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是系统工程，不是单模型工程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高质量实验语义比漂亮数学曲面更重要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观测与解释之间，永远可能存在鸿沟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自动化必须接受独立验证与重复性检验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>
                <a:solidFill>
                  <a:srgbClr val="F5F7FA"/>
                </a:solidFill>
                <a:latin typeface="Aptos"/>
              </a:rPr>
              <a:t>“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发现”是强概念，定义必须先行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人类监督不是阻碍，而是可信科学的条件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DFC79B3-68BE-49D1-8780-2743FECE61FE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4BFC7C2-AEC0-4EC3-99B1-945F5E23F8C6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更值得带走的是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46722DE-ECB9-4D5B-89A1-99D80626DEF0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不要只记住数字，要带走判断自治实验系统的框架。</a:t>
            </a:r>
          </a:p>
        </p:txBody>
      </p:sp>
    </p:spTree>
    <p:extLst>
      <p:ext uri="{BB962C8B-B14F-4D97-AF65-F5344CB8AC3E}">
        <p14:creationId xmlns:p14="http://schemas.microsoft.com/office/powerpoint/2010/main" val="14447997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237734BD-067B-46F6-9338-536660DF7C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654E5C9-3A79-42E1-9A3A-3D5C890E29D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第六部分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8236609-885C-4C94-8158-7A4BEF2262A0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51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135DE0D-330A-4CEF-A432-082447BC8F02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46568E3-90D1-4F54-9391-8E0C979AB733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1428750" cy="1047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5400" b="1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358FC9A-0166-468D-84E0-8ED134141602}"/>
              </a:ext>
            </a:extLst>
          </p:cNvPr>
          <p:cNvSpPr>
            <a:spLocks noGrp="1"/>
          </p:cNvSpPr>
          <p:nvPr/>
        </p:nvSpPr>
        <p:spPr>
          <a:xfrm>
            <a:off x="2571750" y="1809750"/>
            <a:ext cx="7810500" cy="666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Case Studio：最小 live demo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A9F0F2A-43FC-4FAC-BBC5-811C892E407E}"/>
              </a:ext>
            </a:extLst>
          </p:cNvPr>
          <p:cNvSpPr>
            <a:spLocks noGrp="1"/>
          </p:cNvSpPr>
          <p:nvPr/>
        </p:nvSpPr>
        <p:spPr>
          <a:xfrm>
            <a:off x="2590800" y="2628900"/>
            <a:ext cx="7429500" cy="857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在课堂上，让学生真正看到“下一实验点为何变化”。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9D77E15-536B-45D4-B991-7CB4CF7ABB45}"/>
              </a:ext>
            </a:extLst>
          </p:cNvPr>
          <p:cNvSpPr>
            <a:spLocks noGrp="1"/>
          </p:cNvSpPr>
          <p:nvPr/>
        </p:nvSpPr>
        <p:spPr>
          <a:xfrm>
            <a:off x="1047750" y="3924300"/>
            <a:ext cx="4000500" cy="76200"/>
          </a:xfrm>
          <a:prstGeom prst="rect">
            <a:avLst/>
          </a:prstGeom>
          <a:solidFill>
            <a:srgbClr val="13D6FF"/>
          </a:solidFill>
          <a:ln w="0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90D82FE-EC1C-48C2-BFAD-BD9E2E8310A0}"/>
              </a:ext>
            </a:extLst>
          </p:cNvPr>
          <p:cNvSpPr>
            <a:spLocks noGrp="1"/>
          </p:cNvSpPr>
          <p:nvPr/>
        </p:nvSpPr>
        <p:spPr>
          <a:xfrm>
            <a:off x="1047750" y="4438650"/>
            <a:ext cx="8572500" cy="762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讲复杂 SDL 系统之前，先让闭环逻辑在一个可解释的小系统里变得可见。</a:t>
            </a:r>
          </a:p>
        </p:txBody>
      </p:sp>
    </p:spTree>
    <p:extLst>
      <p:ext uri="{BB962C8B-B14F-4D97-AF65-F5344CB8AC3E}">
        <p14:creationId xmlns:p14="http://schemas.microsoft.com/office/powerpoint/2010/main" val="13282904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410CB89A-593F-4A57-8451-3467DCCE9A8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8097F9B-637B-4A22-ADFE-C1E697C8267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Case Studio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B2FBE58-B9E3-4D62-BA94-CC6F16F59550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52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34A8F5C-593C-4F52-9B4D-287632D614EE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526C5E1-AE40-4203-9C2A-7704E206DC84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为什么选 RGB LED（RGB 发光二极管）颜色匹配作为 live demo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8322719-0332-4795-A903-6A7DA8AFB03D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因为它简单、稳定、可重复，而且能清楚体现闭环决策。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BA25227-2066-4BEA-8B4E-641BCA992871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4942DDE-45C1-43D2-BB3C-999DFDD64083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参数空间只有三个控制量，学生容易立刻建立直觉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目标颜色、当前最佳结果和下一推荐点可以同时显示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固定</a:t>
            </a:r>
            <a:r>
              <a:rPr sz="1575" dirty="0">
                <a:solidFill>
                  <a:srgbClr val="F5F7FA"/>
                </a:solidFill>
                <a:latin typeface="Aptos"/>
              </a:rPr>
              <a:t>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seed（随机种子）后，演示过程可复位、可重复、可比较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A4781A2A-759C-4CDF-A6A2-646176BB4FD2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722053D-90EA-4E23-BF22-FE9B52BD8541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它教什么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A98C84F-406D-472E-B925-715A09E5C8FD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目标是什么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观测是什么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推荐为什么变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闭环如何收敛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F2FF9F0-14FD-4702-A925-81FBAADB38CE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B712F2-7CE0-4FD1-8F19-A79E0021985E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它不教什么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19FF0A-E632-42DC-ACF9-E29BE81F2C78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它不是真实材料仿真，也不取代真实化学/材料案例，只负责把 SDL 闭环讲明白。</a:t>
            </a:r>
          </a:p>
        </p:txBody>
      </p:sp>
    </p:spTree>
    <p:extLst>
      <p:ext uri="{BB962C8B-B14F-4D97-AF65-F5344CB8AC3E}">
        <p14:creationId xmlns:p14="http://schemas.microsoft.com/office/powerpoint/2010/main" val="5214379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B946139-EE01-46C7-9AEC-B50EECD949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64E6F92-1CF3-4D1E-AB00-792D855CF1E8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Case Studio 机制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3C3B331-375C-4601-AF2B-9C576E5EA75E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53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99B33F-EBFA-4742-BC1F-3B1356466E7C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197BFAF-9544-4850-A0B1-CB6F48A55160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这个最小案例里，SDL 的每一步都能说清楚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410097C-F8D6-4DF5-8E7D-6BE1771066B0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参数、观测、评分与推荐逻辑都显式可见。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0F28515-09D3-4189-BD43-DC4A4A8BC2F1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73C4EB-79A1-4470-95C6-C5380B84FF15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参数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ABC62F3-D4B0-4F5A-9FDA-887FF094A9C9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R、G、B 三个控制量，分别对应三路发光强度。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CFA635E-D5E1-4D72-A11B-36F3793A434D}"/>
              </a:ext>
            </a:extLst>
          </p:cNvPr>
          <p:cNvSpPr>
            <a:spLocks noGrp="1"/>
          </p:cNvSpPr>
          <p:nvPr/>
        </p:nvSpPr>
        <p:spPr>
          <a:xfrm>
            <a:off x="6153150" y="21336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1F7A1E-D6CA-43FF-9679-69D12A05F1A9}"/>
              </a:ext>
            </a:extLst>
          </p:cNvPr>
          <p:cNvSpPr>
            <a:spLocks noGrp="1"/>
          </p:cNvSpPr>
          <p:nvPr/>
        </p:nvSpPr>
        <p:spPr>
          <a:xfrm>
            <a:off x="6305550" y="22669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观测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DC5D058-A307-43D1-8A71-53E822B37E92}"/>
              </a:ext>
            </a:extLst>
          </p:cNvPr>
          <p:cNvSpPr>
            <a:spLocks noGrp="1"/>
          </p:cNvSpPr>
          <p:nvPr/>
        </p:nvSpPr>
        <p:spPr>
          <a:xfrm>
            <a:off x="6305550" y="25146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系统根据参数给出当前颜色，并计算与目标颜色的距离。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984FC2C-CFBC-4E6D-B515-E5EC151E0D77}"/>
              </a:ext>
            </a:extLst>
          </p:cNvPr>
          <p:cNvSpPr>
            <a:spLocks noGrp="1"/>
          </p:cNvSpPr>
          <p:nvPr/>
        </p:nvSpPr>
        <p:spPr>
          <a:xfrm>
            <a:off x="838200" y="37719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30167BA-0EE8-4D95-97EB-37C2551FE8DE}"/>
              </a:ext>
            </a:extLst>
          </p:cNvPr>
          <p:cNvSpPr>
            <a:spLocks noGrp="1"/>
          </p:cNvSpPr>
          <p:nvPr/>
        </p:nvSpPr>
        <p:spPr>
          <a:xfrm>
            <a:off x="990600" y="39052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BF24"/>
                </a:solidFill>
                <a:latin typeface="Aptos"/>
                <a:ea typeface="Aptos"/>
                <a:cs typeface="Aptos"/>
              </a:defRPr>
            </a:pPr>
            <a:r>
              <a:t>评分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2B4B07-F82C-4A16-857E-D21986F7E700}"/>
              </a:ext>
            </a:extLst>
          </p:cNvPr>
          <p:cNvSpPr>
            <a:spLocks noGrp="1"/>
          </p:cNvSpPr>
          <p:nvPr/>
        </p:nvSpPr>
        <p:spPr>
          <a:xfrm>
            <a:off x="990600" y="41529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距离越小，匹配分数越高。于是问题被转成一个可优化目标。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29590E3-4FEA-41A1-AB7B-F45C70C088AE}"/>
              </a:ext>
            </a:extLst>
          </p:cNvPr>
          <p:cNvSpPr>
            <a:spLocks noGrp="1"/>
          </p:cNvSpPr>
          <p:nvPr/>
        </p:nvSpPr>
        <p:spPr>
          <a:xfrm>
            <a:off x="6153150" y="3771900"/>
            <a:ext cx="5143500" cy="1466850"/>
          </a:xfrm>
          <a:prstGeom prst="roundRect">
            <a:avLst>
              <a:gd name="adj" fmla="val 5195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049D24E-C6FE-4167-BFF5-1C8E12306C9D}"/>
              </a:ext>
            </a:extLst>
          </p:cNvPr>
          <p:cNvSpPr>
            <a:spLocks noGrp="1"/>
          </p:cNvSpPr>
          <p:nvPr/>
        </p:nvSpPr>
        <p:spPr>
          <a:xfrm>
            <a:off x="6305550" y="3905250"/>
            <a:ext cx="48387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4D399"/>
                </a:solidFill>
                <a:latin typeface="Aptos"/>
                <a:ea typeface="Aptos"/>
                <a:cs typeface="Aptos"/>
              </a:defRPr>
            </a:pPr>
            <a:r>
              <a:t>推荐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D91A927-8D2D-45F3-934F-6DE5BCD37770}"/>
              </a:ext>
            </a:extLst>
          </p:cNvPr>
          <p:cNvSpPr>
            <a:spLocks noGrp="1"/>
          </p:cNvSpPr>
          <p:nvPr/>
        </p:nvSpPr>
        <p:spPr>
          <a:xfrm>
            <a:off x="6305550" y="4152900"/>
            <a:ext cx="4838700" cy="9906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模型综合已有观测与不确定性，给出下一实验点。</a:t>
            </a:r>
          </a:p>
        </p:txBody>
      </p:sp>
    </p:spTree>
    <p:extLst>
      <p:ext uri="{BB962C8B-B14F-4D97-AF65-F5344CB8AC3E}">
        <p14:creationId xmlns:p14="http://schemas.microsoft.com/office/powerpoint/2010/main" val="1580409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A0A2763C-959B-4F28-9EB0-F8736D52AB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D29E9C7-21CD-4CAA-AF9A-A6F34751DF4A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观看方法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9917902-EC6E-4527-9E33-099235E07178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54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3B79D80-111E-4CE2-9F51-ACC3D7A12499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5B11C96-6BD2-439F-A216-0EFD1E1145EF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学生在 live demo 里应该看什么，而不只是看分数变化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AA95E6F-E6C8-4FD4-A7EE-468A2433C109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把注意力放在闭环机制上。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40B9D2D-B02A-4CCD-9E05-BA946C061626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477B99A-80DB-4A34-B0D4-E17F5E3ED191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先看目标：系统到底在追什么</a:t>
            </a:r>
            <a:r>
              <a:rPr sz="1575" dirty="0">
                <a:solidFill>
                  <a:srgbClr val="F5F7FA"/>
                </a:solidFill>
                <a:latin typeface="Aptos"/>
              </a:rPr>
              <a:t>？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再看当前最佳：系统已经学到了什么</a:t>
            </a:r>
            <a:r>
              <a:rPr sz="1575" dirty="0">
                <a:solidFill>
                  <a:srgbClr val="F5F7FA"/>
                </a:solidFill>
                <a:latin typeface="Aptos"/>
              </a:rPr>
              <a:t>？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再看下一推荐：为什么不是别的点</a:t>
            </a:r>
            <a:r>
              <a:rPr sz="1575" dirty="0">
                <a:solidFill>
                  <a:srgbClr val="F5F7FA"/>
                </a:solidFill>
                <a:latin typeface="Aptos"/>
              </a:rPr>
              <a:t>？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最后看</a:t>
            </a:r>
            <a:r>
              <a:rPr sz="1575" dirty="0">
                <a:solidFill>
                  <a:srgbClr val="F5F7FA"/>
                </a:solidFill>
                <a:latin typeface="Aptos"/>
              </a:rPr>
              <a:t>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reset：同样的</a:t>
            </a:r>
            <a:r>
              <a:rPr sz="1575" dirty="0">
                <a:solidFill>
                  <a:srgbClr val="F5F7FA"/>
                </a:solidFill>
                <a:latin typeface="Aptos"/>
              </a:rPr>
              <a:t>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seed（随机种子）是否给出同样演示路径</a:t>
            </a:r>
            <a:r>
              <a:rPr sz="1575" dirty="0">
                <a:solidFill>
                  <a:srgbClr val="F5F7FA"/>
                </a:solidFill>
                <a:latin typeface="Aptos"/>
              </a:rPr>
              <a:t>？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3573375-4F94-40A9-9C2E-76C4CA157826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A6FE27A-62B0-42E0-B868-46F3451C3661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课堂操作建议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CD50E99-3F95-48AF-863C-AE1E4E4842CA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先单步，再五步；先解释，再收敛；最后 reset 证明可复现。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27FE4B8-40D3-40A7-82F5-447AEA8B0703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6AC5165-2501-4F10-ACCA-17516C58545B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讲座意义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99656F5-9585-404D-A32E-7F418C0E7DFD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这里让学生第一次“沉浸式”看到 AI 进入实验决策链。</a:t>
            </a:r>
          </a:p>
        </p:txBody>
      </p:sp>
    </p:spTree>
    <p:extLst>
      <p:ext uri="{BB962C8B-B14F-4D97-AF65-F5344CB8AC3E}">
        <p14:creationId xmlns:p14="http://schemas.microsoft.com/office/powerpoint/2010/main" val="19216228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66248C92-F7F5-404A-BA3A-FBCFB9A0A8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C1DD155-E95B-4255-A372-B20428B3010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收束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AF76F5-39BD-45E7-B624-A59AF84A409A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55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1DA90E8-E3FE-40BE-B7B7-E21358A105C7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160C0C5-9C80-4941-A729-29DA5096A0AB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1428750" cy="1047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5400" b="1" i="0">
                <a:solidFill>
                  <a:srgbClr val="3B82F6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4C359E-8E34-4900-9048-9F1ED79D84C6}"/>
              </a:ext>
            </a:extLst>
          </p:cNvPr>
          <p:cNvSpPr>
            <a:spLocks noGrp="1"/>
          </p:cNvSpPr>
          <p:nvPr/>
        </p:nvSpPr>
        <p:spPr>
          <a:xfrm>
            <a:off x="2571750" y="1809750"/>
            <a:ext cx="7810500" cy="6667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5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回到主题：AI 时代，实验发生了什么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D7F813-C877-4066-8262-62BC7C27304B}"/>
              </a:ext>
            </a:extLst>
          </p:cNvPr>
          <p:cNvSpPr>
            <a:spLocks noGrp="1"/>
          </p:cNvSpPr>
          <p:nvPr/>
        </p:nvSpPr>
        <p:spPr>
          <a:xfrm>
            <a:off x="2590800" y="2628900"/>
            <a:ext cx="7429500" cy="857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50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不是实验消失了，而是实验被更深地数据化、编排化、模型化与监督化。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F90C58-C994-451F-94EC-77BA3EFD23E5}"/>
              </a:ext>
            </a:extLst>
          </p:cNvPr>
          <p:cNvSpPr>
            <a:spLocks noGrp="1"/>
          </p:cNvSpPr>
          <p:nvPr/>
        </p:nvSpPr>
        <p:spPr>
          <a:xfrm>
            <a:off x="1047750" y="3924300"/>
            <a:ext cx="4000500" cy="76200"/>
          </a:xfrm>
          <a:prstGeom prst="rect">
            <a:avLst/>
          </a:prstGeom>
          <a:solidFill>
            <a:srgbClr val="3B82F6"/>
          </a:solidFill>
          <a:ln w="0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ED2D461-EF16-460A-A9E2-EB100DF7E005}"/>
              </a:ext>
            </a:extLst>
          </p:cNvPr>
          <p:cNvSpPr>
            <a:spLocks noGrp="1"/>
          </p:cNvSpPr>
          <p:nvPr/>
        </p:nvSpPr>
        <p:spPr>
          <a:xfrm>
            <a:off x="1047750" y="4438650"/>
            <a:ext cx="8572500" cy="762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3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到这里，讲座应从“知道 SDL 是什么”推进到“知道该如何判断 SDL”。</a:t>
            </a:r>
          </a:p>
        </p:txBody>
      </p:sp>
    </p:spTree>
    <p:extLst>
      <p:ext uri="{BB962C8B-B14F-4D97-AF65-F5344CB8AC3E}">
        <p14:creationId xmlns:p14="http://schemas.microsoft.com/office/powerpoint/2010/main" val="13341895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D039531F-455C-4596-8758-D791890894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933CBC-C582-4A02-A642-31F344CBFC6C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核心结论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44D96EF-E4C7-474C-A8E8-46C166C60343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56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930DBB-53CE-49FE-B21A-433C70494551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01B0C95-5DFB-4498-9F99-4487F7A629EA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三条最重要的结论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58A3BE2-B9B8-443D-BCB4-E7402460FB38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如果只能带走三句话，我希望是这三句。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4D757F5-05E8-4ED2-8BEC-EA60AD2F60F2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3429000" cy="1619250"/>
          </a:xfrm>
          <a:prstGeom prst="roundRect">
            <a:avLst>
              <a:gd name="adj" fmla="val 4706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4B2D633-1356-4738-9883-9B498BD5FF69}"/>
              </a:ext>
            </a:extLst>
          </p:cNvPr>
          <p:cNvSpPr>
            <a:spLocks noGrp="1"/>
          </p:cNvSpPr>
          <p:nvPr/>
        </p:nvSpPr>
        <p:spPr>
          <a:xfrm>
            <a:off x="9906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实验仍是中心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E09C2BD-E30D-4D0A-889E-67CAC7A6572A}"/>
              </a:ext>
            </a:extLst>
          </p:cNvPr>
          <p:cNvSpPr>
            <a:spLocks noGrp="1"/>
          </p:cNvSpPr>
          <p:nvPr/>
        </p:nvSpPr>
        <p:spPr>
          <a:xfrm>
            <a:off x="990600" y="2514600"/>
            <a:ext cx="3124200" cy="1143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AI 并没有替代实验，而是在重构实验的组织方式。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3BE28AE0-078E-4A54-A2A4-F1F0D04014D9}"/>
              </a:ext>
            </a:extLst>
          </p:cNvPr>
          <p:cNvSpPr>
            <a:spLocks noGrp="1"/>
          </p:cNvSpPr>
          <p:nvPr/>
        </p:nvSpPr>
        <p:spPr>
          <a:xfrm>
            <a:off x="4438650" y="2133600"/>
            <a:ext cx="3429000" cy="1619250"/>
          </a:xfrm>
          <a:prstGeom prst="roundRect">
            <a:avLst>
              <a:gd name="adj" fmla="val 4706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D4C68AA-869D-4770-A7AE-894E2CC0C47F}"/>
              </a:ext>
            </a:extLst>
          </p:cNvPr>
          <p:cNvSpPr>
            <a:spLocks noGrp="1"/>
          </p:cNvSpPr>
          <p:nvPr/>
        </p:nvSpPr>
        <p:spPr>
          <a:xfrm>
            <a:off x="459105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3B82F6"/>
                </a:solidFill>
                <a:latin typeface="Aptos"/>
                <a:ea typeface="Aptos"/>
                <a:cs typeface="Aptos"/>
              </a:defRPr>
            </a:pPr>
            <a:r>
              <a:t>SDL 有前史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7784C1E-6E9A-45BD-A5E1-83916DEABB70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3124200" cy="1143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SDL 不是孤立新范式，它连接试错法、DOE、自动化与数据化。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E98EA43E-74A9-4545-9382-A66D60DE434F}"/>
              </a:ext>
            </a:extLst>
          </p:cNvPr>
          <p:cNvSpPr>
            <a:spLocks noGrp="1"/>
          </p:cNvSpPr>
          <p:nvPr/>
        </p:nvSpPr>
        <p:spPr>
          <a:xfrm>
            <a:off x="8039100" y="2133600"/>
            <a:ext cx="3429000" cy="1619250"/>
          </a:xfrm>
          <a:prstGeom prst="roundRect">
            <a:avLst>
              <a:gd name="adj" fmla="val 4706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1C50788-70E3-46C2-97CD-82EC73D47113}"/>
              </a:ext>
            </a:extLst>
          </p:cNvPr>
          <p:cNvSpPr>
            <a:spLocks noGrp="1"/>
          </p:cNvSpPr>
          <p:nvPr/>
        </p:nvSpPr>
        <p:spPr>
          <a:xfrm>
            <a:off x="8191500" y="2266950"/>
            <a:ext cx="3124200" cy="190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t>可信比炫酷更重要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7A56A2-76AA-4E71-A3A5-2E61B09ED21A}"/>
              </a:ext>
            </a:extLst>
          </p:cNvPr>
          <p:cNvSpPr>
            <a:spLocks noGrp="1"/>
          </p:cNvSpPr>
          <p:nvPr/>
        </p:nvSpPr>
        <p:spPr>
          <a:xfrm>
            <a:off x="8191500" y="2514600"/>
            <a:ext cx="3124200" cy="1143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125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真正高水平的 SDL，必须经得住定义、验证、复现与伦理审查。</a:t>
            </a:r>
          </a:p>
        </p:txBody>
      </p:sp>
    </p:spTree>
    <p:extLst>
      <p:ext uri="{BB962C8B-B14F-4D97-AF65-F5344CB8AC3E}">
        <p14:creationId xmlns:p14="http://schemas.microsoft.com/office/powerpoint/2010/main" val="158865171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8F35D753-1EC7-4A4D-B372-9FA712E5AB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9F03378-1890-4242-A86F-923B6056AF0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课程立场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38B2F3B-A096-449E-ACD4-044FF14C78D9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57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7528500-A7B9-41F2-B3A2-DD55B5B9F800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89E5C7E-8E50-4786-AFE9-6BEB6C4FDD56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既拥抱 AI，也质疑 AI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1BA0536-93F6-407D-8FF6-D0B93D350F27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这不是折中，而是对实验科学最负责任的立场。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4C0DEA1-807F-487F-9D41-D9D004B888DD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F0C82DF-D1B7-4B1A-85B7-BEA371076C8B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拥抱</a:t>
            </a:r>
            <a:r>
              <a:rPr sz="1575" dirty="0">
                <a:solidFill>
                  <a:srgbClr val="F5F7FA"/>
                </a:solidFill>
                <a:latin typeface="Aptos"/>
              </a:rPr>
              <a:t>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AI：用它组织知识、辅助研究、开发工具、提高实验效率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质疑</a:t>
            </a:r>
            <a:r>
              <a:rPr sz="1575" dirty="0">
                <a:solidFill>
                  <a:srgbClr val="F5F7FA"/>
                </a:solidFill>
                <a:latin typeface="Aptos"/>
              </a:rPr>
              <a:t>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AI：坚持人的直觉、领域知识、实践技能与伦理责任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负责任的</a:t>
            </a:r>
            <a:r>
              <a:rPr sz="1575" dirty="0">
                <a:solidFill>
                  <a:srgbClr val="F5F7FA"/>
                </a:solidFill>
                <a:latin typeface="Aptos"/>
              </a:rPr>
              <a:t> AI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使用，不是迷信输出，而是让模型进入可监督的科学工作流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DBBE231A-FE90-4423-B5C5-C2A4F10FB6A6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4C911C7-F703-4B63-8D41-B9BF99891B3E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给学生的要求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DE5CDA1-E193-4075-BF78-7431DEAE0FD1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会用 AI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会审 AI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会纠 AI</a:t>
            </a:r>
          </a:p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会承担结论责任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490BD408-FF4A-4A61-9B24-414391E9F6B8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D97BE6-4E10-4A44-AE62-4066144E7E98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讲座之外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6569D10-1F39-4962-B68F-D677753C0432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这也是整门课程后续建设的最高层原则。</a:t>
            </a:r>
          </a:p>
        </p:txBody>
      </p:sp>
    </p:spTree>
    <p:extLst>
      <p:ext uri="{BB962C8B-B14F-4D97-AF65-F5344CB8AC3E}">
        <p14:creationId xmlns:p14="http://schemas.microsoft.com/office/powerpoint/2010/main" val="11299255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39DAEFBE-5147-456A-AFA7-CD569FD8A7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4D35EC1-AFFE-4ED4-850D-65C39DB203A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带走什么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218EA22-8A57-4DC5-9857-22709542CCD5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58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F8F0F9B-7B90-4657-9354-DBA8BA968CE6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D33813-6D43-4B3C-A7CA-E0156DBB615D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这场讲座之后，学生至少应能完成四件事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0CFA39A-2849-40B6-A484-3FA70BE6EDE9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如果做不到，说明讲座还没有讲清楚。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7868FD06-5FDA-4DC0-90EC-D5DD4947FECB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151FCF9-438D-43A7-8242-0354F5714BA0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从实验视角，而不是从</a:t>
            </a:r>
            <a:r>
              <a:rPr sz="1575" dirty="0">
                <a:solidFill>
                  <a:srgbClr val="F5F7FA"/>
                </a:solidFill>
                <a:latin typeface="Aptos"/>
              </a:rPr>
              <a:t>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buzzword（热词）视角理解</a:t>
            </a:r>
            <a:r>
              <a:rPr sz="1575" dirty="0">
                <a:solidFill>
                  <a:srgbClr val="F5F7FA"/>
                </a:solidFill>
                <a:latin typeface="Aptos"/>
              </a:rPr>
              <a:t> SDL。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区分试错法、DOE</a:t>
            </a:r>
            <a:r>
              <a:rPr sz="1575" dirty="0">
                <a:solidFill>
                  <a:srgbClr val="F5F7FA"/>
                </a:solidFill>
                <a:latin typeface="Aptos"/>
              </a:rPr>
              <a:t> 与 SDL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的关系与边界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识别一个研究问题是否适合</a:t>
            </a:r>
            <a:r>
              <a:rPr sz="1575" dirty="0">
                <a:solidFill>
                  <a:srgbClr val="F5F7FA"/>
                </a:solidFill>
                <a:latin typeface="Aptos"/>
              </a:rPr>
              <a:t> SDL 化。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 err="1">
                <a:solidFill>
                  <a:srgbClr val="F5F7FA"/>
                </a:solidFill>
                <a:latin typeface="Aptos"/>
              </a:rPr>
              <a:t>对真实自治实验系统提出更严谨的判断与质疑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6CC6B0E-A6CA-481C-A57E-01C0052E39A4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1884095-E3AE-4688-A134-E6172A279148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更高一级的目标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3B325B8-053B-4889-8599-286593B007B8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sz="1050">
                <a:solidFill>
                  <a:srgbClr val="D7DFEA"/>
                </a:solidFill>
                <a:latin typeface="Aptos"/>
              </a:rPr>
              <a:t>把自己的课题逐步翻译成 objective、constraint、measurement、workflow 语言。</a:t>
            </a:r>
          </a:p>
        </p:txBody>
      </p:sp>
    </p:spTree>
    <p:extLst>
      <p:ext uri="{BB962C8B-B14F-4D97-AF65-F5344CB8AC3E}">
        <p14:creationId xmlns:p14="http://schemas.microsoft.com/office/powerpoint/2010/main" val="16657532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45B7B39F-4F6B-462F-AC97-E788595B69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8EC1DE2-38DA-4362-8FEB-3A9986B8D8B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讲座资源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6BEF0B0-56EF-43E8-9203-181F7098C3CF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59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6DB5380-11B0-4145-8B9E-DB32306EB605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B761C30-8D1A-4225-90FF-41ADEF8CFFE4}"/>
              </a:ext>
            </a:extLst>
          </p:cNvPr>
          <p:cNvSpPr>
            <a:spLocks noGrp="1"/>
          </p:cNvSpPr>
          <p:nvPr/>
        </p:nvSpPr>
        <p:spPr>
          <a:xfrm>
            <a:off x="838200" y="819150"/>
            <a:ext cx="9906000" cy="571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25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讲座之后：继续从数字讲义站进入课程主线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F3FEBEF-903F-4889-B45C-94A3EC7A1E0F}"/>
              </a:ext>
            </a:extLst>
          </p:cNvPr>
          <p:cNvSpPr>
            <a:spLocks noGrp="1"/>
          </p:cNvSpPr>
          <p:nvPr/>
        </p:nvSpPr>
        <p:spPr>
          <a:xfrm>
            <a:off x="838200" y="1390650"/>
            <a:ext cx="9906000" cy="4762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050" b="0" i="0">
                <a:solidFill>
                  <a:srgbClr val="93A4B8"/>
                </a:solidFill>
                <a:latin typeface="Aptos"/>
                <a:ea typeface="Aptos"/>
                <a:cs typeface="Aptos"/>
              </a:defRPr>
            </a:pPr>
            <a:r>
              <a:t>网站不是展示品，而是课后继续学习的入口。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7E754CE-FCD2-4B9E-98FC-85E029B1D896}"/>
              </a:ext>
            </a:extLst>
          </p:cNvPr>
          <p:cNvSpPr>
            <a:spLocks noGrp="1"/>
          </p:cNvSpPr>
          <p:nvPr/>
        </p:nvSpPr>
        <p:spPr>
          <a:xfrm>
            <a:off x="838200" y="2133600"/>
            <a:ext cx="6858000" cy="3524250"/>
          </a:xfrm>
          <a:prstGeom prst="roundRect">
            <a:avLst>
              <a:gd name="adj" fmla="val 2162"/>
            </a:avLst>
          </a:prstGeom>
          <a:solidFill>
            <a:srgbClr val="0B1B31"/>
          </a:solidFill>
          <a:ln w="9525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37A6C8A-462D-495E-8748-626D50091DD5}"/>
              </a:ext>
            </a:extLst>
          </p:cNvPr>
          <p:cNvSpPr>
            <a:spLocks noGrp="1"/>
          </p:cNvSpPr>
          <p:nvPr/>
        </p:nvSpPr>
        <p:spPr>
          <a:xfrm>
            <a:off x="1104900" y="2400300"/>
            <a:ext cx="6191250" cy="2857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>
                <a:solidFill>
                  <a:srgbClr val="F5F7FA"/>
                </a:solidFill>
                <a:latin typeface="Aptos"/>
              </a:rPr>
              <a:t>从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Foundations（基础）部分回看实验、DOE</a:t>
            </a:r>
            <a:r>
              <a:rPr sz="1575" dirty="0">
                <a:solidFill>
                  <a:srgbClr val="F5F7FA"/>
                </a:solidFill>
                <a:latin typeface="Aptos"/>
              </a:rPr>
              <a:t> 与 SDL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的主线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>
                <a:solidFill>
                  <a:srgbClr val="F5F7FA"/>
                </a:solidFill>
                <a:latin typeface="Aptos"/>
              </a:rPr>
              <a:t>从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A-Lab（自治实验室）案例页复读真实系统、争议与纠错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  <a:p>
            <a:pPr marL="285750" indent="-285750">
              <a:lnSpc>
                <a:spcPct val="12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sz="1575" dirty="0">
                <a:solidFill>
                  <a:srgbClr val="F5F7FA"/>
                </a:solidFill>
                <a:latin typeface="Aptos"/>
              </a:rPr>
              <a:t>从 Case Studio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自己运行最小</a:t>
            </a:r>
            <a:r>
              <a:rPr sz="1575" dirty="0">
                <a:solidFill>
                  <a:srgbClr val="F5F7FA"/>
                </a:solidFill>
                <a:latin typeface="Aptos"/>
              </a:rPr>
              <a:t> live </a:t>
            </a:r>
            <a:r>
              <a:rPr sz="1575" dirty="0" err="1">
                <a:solidFill>
                  <a:srgbClr val="F5F7FA"/>
                </a:solidFill>
                <a:latin typeface="Aptos"/>
              </a:rPr>
              <a:t>demo，观察推荐逻辑如何变化</a:t>
            </a:r>
            <a:r>
              <a:rPr sz="1575" dirty="0">
                <a:solidFill>
                  <a:srgbClr val="F5F7FA"/>
                </a:solidFill>
                <a:latin typeface="Aptos"/>
              </a:rPr>
              <a:t>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0929091-4034-4C74-8208-596500A7FC3F}"/>
              </a:ext>
            </a:extLst>
          </p:cNvPr>
          <p:cNvSpPr>
            <a:spLocks noGrp="1"/>
          </p:cNvSpPr>
          <p:nvPr/>
        </p:nvSpPr>
        <p:spPr>
          <a:xfrm>
            <a:off x="8096250" y="2133600"/>
            <a:ext cx="3048000" cy="1809750"/>
          </a:xfrm>
          <a:prstGeom prst="roundRect">
            <a:avLst>
              <a:gd name="adj" fmla="val 4211"/>
            </a:avLst>
          </a:prstGeom>
          <a:solidFill>
            <a:srgbClr val="0B1B31"/>
          </a:solidFill>
          <a:ln w="9525">
            <a:solidFill>
              <a:srgbClr val="13D6FF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BC18CDA-EC2E-4A86-A7C6-7FA57B718364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13D6FF"/>
                </a:solidFill>
                <a:latin typeface="Consolas"/>
              </a:rPr>
              <a:t>建议学生课后做什么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36298DD-1879-4DDD-B132-09140B76A5E2}"/>
              </a:ext>
            </a:extLst>
          </p:cNvPr>
          <p:cNvSpPr>
            <a:spLocks noGrp="1"/>
          </p:cNvSpPr>
          <p:nvPr/>
        </p:nvSpPr>
        <p:spPr>
          <a:xfrm>
            <a:off x="8248650" y="2514600"/>
            <a:ext cx="2743200" cy="13525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lnSpc>
                <a:spcPct val="150000"/>
              </a:lnSpc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rPr dirty="0" err="1"/>
              <a:t>重看</a:t>
            </a:r>
            <a:r>
              <a:rPr dirty="0"/>
              <a:t> </a:t>
            </a:r>
            <a:r>
              <a:rPr dirty="0" err="1"/>
              <a:t>Foundations（基础</a:t>
            </a:r>
            <a:r>
              <a:rPr dirty="0"/>
              <a:t>）</a:t>
            </a:r>
          </a:p>
          <a:p>
            <a:pPr algn="l">
              <a:lnSpc>
                <a:spcPct val="150000"/>
              </a:lnSpc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rPr dirty="0" err="1"/>
              <a:t>阅读</a:t>
            </a:r>
            <a:r>
              <a:rPr dirty="0"/>
              <a:t> A-Lab </a:t>
            </a:r>
            <a:r>
              <a:rPr dirty="0" err="1"/>
              <a:t>案例页</a:t>
            </a:r>
            <a:endParaRPr dirty="0"/>
          </a:p>
          <a:p>
            <a:pPr algn="l">
              <a:lnSpc>
                <a:spcPct val="150000"/>
              </a:lnSpc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rPr dirty="0" err="1"/>
              <a:t>自己运行</a:t>
            </a:r>
            <a:r>
              <a:rPr dirty="0"/>
              <a:t> Case Studio demo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5532847-7403-41D1-B6EB-7F4132393972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3048000" cy="1485900"/>
          </a:xfrm>
          <a:prstGeom prst="roundRect">
            <a:avLst>
              <a:gd name="adj" fmla="val 5128"/>
            </a:avLst>
          </a:prstGeom>
          <a:solidFill>
            <a:srgbClr val="0B1B31"/>
          </a:solidFill>
          <a:ln w="9525">
            <a:solidFill>
              <a:srgbClr val="3B82F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E33223-B188-4EB7-BA88-041F3D9C3BE0}"/>
              </a:ext>
            </a:extLst>
          </p:cNvPr>
          <p:cNvSpPr>
            <a:spLocks noGrp="1"/>
          </p:cNvSpPr>
          <p:nvPr/>
        </p:nvSpPr>
        <p:spPr>
          <a:xfrm>
            <a:off x="8248650" y="4305300"/>
            <a:ext cx="27432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r>
              <a:rPr sz="1000" b="1">
                <a:solidFill>
                  <a:srgbClr val="3B82F6"/>
                </a:solidFill>
                <a:latin typeface="Consolas"/>
              </a:rPr>
              <a:t>讲者用途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833CCE3-0FFD-4454-A784-F03439F1B8A5}"/>
              </a:ext>
            </a:extLst>
          </p:cNvPr>
          <p:cNvSpPr>
            <a:spLocks noGrp="1"/>
          </p:cNvSpPr>
          <p:nvPr/>
        </p:nvSpPr>
        <p:spPr>
          <a:xfrm>
            <a:off x="8248650" y="4552950"/>
            <a:ext cx="2743200" cy="10287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lnSpc>
                <a:spcPct val="150000"/>
              </a:lnSpc>
              <a:defRPr sz="105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rPr dirty="0" err="1"/>
              <a:t>网站保留动态演示与后续课程扩展空间；PPT</a:t>
            </a:r>
            <a:r>
              <a:rPr dirty="0"/>
              <a:t> </a:t>
            </a:r>
            <a:r>
              <a:rPr dirty="0" err="1"/>
              <a:t>保留稳定教学交付能力</a:t>
            </a:r>
            <a:r>
              <a:rPr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5476429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7A4D7CEB-AD05-4C9B-A51B-3E8E7F4DB8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9288A8-B1BC-4864-B83F-4260A6571C1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3810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750" b="0" i="0">
                <a:solidFill>
                  <a:srgbClr val="13D6FF"/>
                </a:solidFill>
                <a:latin typeface="Consolas"/>
                <a:ea typeface="Consolas"/>
                <a:cs typeface="Consolas"/>
              </a:defRPr>
            </a:pPr>
            <a:r>
              <a:t>结束页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9BB18D4-3C64-42F0-B8F0-778D73043CFC}"/>
              </a:ext>
            </a:extLst>
          </p:cNvPr>
          <p:cNvSpPr>
            <a:spLocks noGrp="1"/>
          </p:cNvSpPr>
          <p:nvPr/>
        </p:nvSpPr>
        <p:spPr>
          <a:xfrm>
            <a:off x="10477500" y="266700"/>
            <a:ext cx="1143000" cy="17145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r">
              <a:defRPr sz="750" b="0" i="0">
                <a:solidFill>
                  <a:srgbClr val="6E829D"/>
                </a:solidFill>
                <a:latin typeface="Consolas"/>
                <a:ea typeface="Consolas"/>
                <a:cs typeface="Consolas"/>
              </a:defRPr>
            </a:pPr>
            <a:r>
              <a:t>60 / 60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E5C8240-DC5F-4F55-BC5D-9B7A0D6F94E5}"/>
              </a:ext>
            </a:extLst>
          </p:cNvPr>
          <p:cNvSpPr>
            <a:spLocks noGrp="1"/>
          </p:cNvSpPr>
          <p:nvPr/>
        </p:nvSpPr>
        <p:spPr>
          <a:xfrm>
            <a:off x="533400" y="495300"/>
            <a:ext cx="11125200" cy="9525"/>
          </a:xfrm>
          <a:prstGeom prst="rect">
            <a:avLst/>
          </a:prstGeom>
          <a:solidFill>
            <a:srgbClr val="1B3D68"/>
          </a:solidFill>
          <a:ln w="0">
            <a:solidFill>
              <a:srgbClr val="1B3D68"/>
            </a:solidFill>
          </a:ln>
        </p:spPr>
        <p:txBody>
          <a:bodyPr/>
          <a:lstStyle/>
          <a:p>
            <a:endParaRPr lang="zh-SG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86D615-DF83-480D-832B-67A5C6F13CD4}"/>
              </a:ext>
            </a:extLst>
          </p:cNvPr>
          <p:cNvSpPr>
            <a:spLocks noGrp="1"/>
          </p:cNvSpPr>
          <p:nvPr/>
        </p:nvSpPr>
        <p:spPr>
          <a:xfrm>
            <a:off x="990600" y="1562100"/>
            <a:ext cx="9525000" cy="1714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2400" b="1" i="0">
                <a:solidFill>
                  <a:srgbClr val="F5F7FA"/>
                </a:solidFill>
                <a:latin typeface="Aptos"/>
                <a:ea typeface="Aptos"/>
                <a:cs typeface="Aptos"/>
              </a:defRPr>
            </a:pPr>
            <a:r>
              <a:t>“在 AI 时代，重要的不是把实验交给机器，而是学会如何让机器进入负责任的实验科学。”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077B30-DA38-448D-9BD3-E931A6AD0254}"/>
              </a:ext>
            </a:extLst>
          </p:cNvPr>
          <p:cNvSpPr>
            <a:spLocks noGrp="1"/>
          </p:cNvSpPr>
          <p:nvPr/>
        </p:nvSpPr>
        <p:spPr>
          <a:xfrm>
            <a:off x="1028700" y="3752850"/>
            <a:ext cx="4000500" cy="3048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200" b="0" i="0">
                <a:solidFill>
                  <a:srgbClr val="13D6FF"/>
                </a:solidFill>
                <a:latin typeface="Aptos"/>
                <a:ea typeface="Aptos"/>
                <a:cs typeface="Aptos"/>
              </a:defRPr>
            </a:pPr>
            <a:r>
              <a:t>谢谢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73CB20E-6C9C-4C0B-A309-CCD962587486}"/>
              </a:ext>
            </a:extLst>
          </p:cNvPr>
          <p:cNvSpPr>
            <a:spLocks noGrp="1"/>
          </p:cNvSpPr>
          <p:nvPr/>
        </p:nvSpPr>
        <p:spPr>
          <a:xfrm>
            <a:off x="1028700" y="4476750"/>
            <a:ext cx="8572500" cy="952500"/>
          </a:xfrm>
          <a:prstGeom prst="rect">
            <a:avLst/>
          </a:prstGeom>
          <a:solidFill>
            <a:srgbClr val="071426"/>
          </a:solidFill>
          <a:ln w="0">
            <a:solidFill>
              <a:srgbClr val="071426"/>
            </a:solidFill>
          </a:ln>
        </p:spPr>
        <p:txBody>
          <a:bodyPr anchor="t"/>
          <a:lstStyle/>
          <a:p>
            <a:pPr algn="l">
              <a:defRPr sz="1500" b="0" i="0">
                <a:solidFill>
                  <a:srgbClr val="D7DFEA"/>
                </a:solidFill>
                <a:latin typeface="Aptos"/>
                <a:ea typeface="Aptos"/>
                <a:cs typeface="Aptos"/>
              </a:defRPr>
            </a:pPr>
            <a:r>
              <a:t>欢迎提问与讨论。</a:t>
            </a:r>
          </a:p>
        </p:txBody>
      </p:sp>
    </p:spTree>
    <p:extLst>
      <p:ext uri="{BB962C8B-B14F-4D97-AF65-F5344CB8AC3E}">
        <p14:creationId xmlns:p14="http://schemas.microsoft.com/office/powerpoint/2010/main" val="166151186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10822</Words>
  <Application>Microsoft Office PowerPoint</Application>
  <DocSecurity>0</DocSecurity>
  <PresentationFormat>宽屏</PresentationFormat>
  <Paragraphs>1537</Paragraphs>
  <Slides>60</Slides>
  <Notes>60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60</vt:i4>
      </vt:variant>
    </vt:vector>
  </HeadingPairs>
  <TitlesOfParts>
    <vt:vector size="65" baseType="lpstr">
      <vt:lpstr>Aptos</vt:lpstr>
      <vt:lpstr>Arial</vt:lpstr>
      <vt:lpstr>Calibri</vt:lpstr>
      <vt:lpstr>Consolas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Cheng</cp:lastModifiedBy>
  <cp:revision>1</cp:revision>
  <dcterms:created xsi:type="dcterms:W3CDTF">2026-06-04T07:15:52Z</dcterms:created>
  <dcterms:modified xsi:type="dcterms:W3CDTF">2026-06-04T10:15:34Z</dcterms:modified>
</cp:coreProperties>
</file>