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7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48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49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50.xml" ContentType="application/vnd.openxmlformats-officedocument.presentationml.notesSlide+xml"/>
  <Override PartName="/ppt/slides/slide51.xml" ContentType="application/vnd.openxmlformats-officedocument.presentationml.slide+xml"/>
  <Override PartName="/ppt/notesSlides/notesSlide51.xml" ContentType="application/vnd.openxmlformats-officedocument.presentationml.notesSlide+xml"/>
  <Override PartName="/ppt/slides/slide52.xml" ContentType="application/vnd.openxmlformats-officedocument.presentationml.slide+xml"/>
  <Override PartName="/ppt/notesSlides/notesSlide52.xml" ContentType="application/vnd.openxmlformats-officedocument.presentationml.notesSlide+xml"/>
  <Override PartName="/ppt/slides/slide53.xml" ContentType="application/vnd.openxmlformats-officedocument.presentationml.slide+xml"/>
  <Override PartName="/ppt/notesSlides/notesSlide53.xml" ContentType="application/vnd.openxmlformats-officedocument.presentationml.notesSlide+xml"/>
  <Override PartName="/ppt/slides/slide54.xml" ContentType="application/vnd.openxmlformats-officedocument.presentationml.slide+xml"/>
  <Override PartName="/ppt/notesSlides/notesSlide54.xml" ContentType="application/vnd.openxmlformats-officedocument.presentationml.notesSlide+xml"/>
  <Override PartName="/ppt/slides/slide55.xml" ContentType="application/vnd.openxmlformats-officedocument.presentationml.slide+xml"/>
  <Override PartName="/ppt/notesSlides/notesSlide55.xml" ContentType="application/vnd.openxmlformats-officedocument.presentationml.notesSlide+xml"/>
  <Override PartName="/ppt/slides/slide56.xml" ContentType="application/vnd.openxmlformats-officedocument.presentationml.slide+xml"/>
  <Override PartName="/ppt/notesSlides/notesSlide56.xml" ContentType="application/vnd.openxmlformats-officedocument.presentationml.notesSlide+xml"/>
  <Override PartName="/ppt/slides/slide57.xml" ContentType="application/vnd.openxmlformats-officedocument.presentationml.slide+xml"/>
  <Override PartName="/ppt/notesSlides/notesSlide57.xml" ContentType="application/vnd.openxmlformats-officedocument.presentationml.notesSlide+xml"/>
  <Override PartName="/ppt/slides/slide58.xml" ContentType="application/vnd.openxmlformats-officedocument.presentationml.slide+xml"/>
  <Override PartName="/ppt/notesSlides/notesSlide58.xml" ContentType="application/vnd.openxmlformats-officedocument.presentationml.notesSlide+xml"/>
  <Override PartName="/ppt/slides/slide59.xml" ContentType="application/vnd.openxmlformats-officedocument.presentationml.slide+xml"/>
  <Override PartName="/ppt/notesSlides/notesSlide59.xml" ContentType="application/vnd.openxmlformats-officedocument.presentationml.notesSlide+xml"/>
  <Override PartName="/ppt/slides/slide60.xml" ContentType="application/vnd.openxmlformats-officedocument.presentationml.slide+xml"/>
  <Override PartName="/ppt/notesSlides/notesSlide60.xml" ContentType="application/vnd.openxmlformats-officedocument.presentationml.notesSlide+xml"/>
  <Override PartName="/ppt/slides/slide61.xml" ContentType="application/vnd.openxmlformats-officedocument.presentationml.slide+xml"/>
  <Override PartName="/ppt/notesSlides/notesSlide61.xml" ContentType="application/vnd.openxmlformats-officedocument.presentationml.notesSlide+xml"/>
  <Override PartName="/ppt/slides/slide62.xml" ContentType="application/vnd.openxmlformats-officedocument.presentationml.slide+xml"/>
  <Override PartName="/ppt/notesSlides/notesSlide62.xml" ContentType="application/vnd.openxmlformats-officedocument.presentationml.notesSlide+xml"/>
  <Override PartName="/ppt/slides/slide63.xml" ContentType="application/vnd.openxmlformats-officedocument.presentationml.slide+xml"/>
  <Override PartName="/ppt/notesSlides/notesSlide6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5eb302edf8646fc" /><Relationship Type="http://schemas.openxmlformats.org/officeDocument/2006/relationships/extended-properties" Target="/docProps/app.xml" Id="R412676857b0c44ed" /><Relationship Type="http://schemas.openxmlformats.org/officeDocument/2006/relationships/officeDocument" Target="/ppt/presentation.xml" Id="R0d7e1078426548c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c5457e7b281462f"/>
  </p:sldMasterIdLst>
  <p:notesMasterIdLst>
    <p:notesMasterId xmlns:r="http://schemas.openxmlformats.org/officeDocument/2006/relationships" r:id="Rfe3294641d7d4988"/>
  </p:notesMasterIdLst>
  <p:sldIdLst>
    <p:sldId xmlns:r="http://schemas.openxmlformats.org/officeDocument/2006/relationships" id="256" r:id="Rb3d91e650ee14837"/>
    <p:sldId xmlns:r="http://schemas.openxmlformats.org/officeDocument/2006/relationships" id="257" r:id="R3e0c322d48134adb"/>
    <p:sldId xmlns:r="http://schemas.openxmlformats.org/officeDocument/2006/relationships" id="258" r:id="R8639ff78994b4042"/>
    <p:sldId xmlns:r="http://schemas.openxmlformats.org/officeDocument/2006/relationships" id="259" r:id="R2b5f3958df9e49ce"/>
    <p:sldId xmlns:r="http://schemas.openxmlformats.org/officeDocument/2006/relationships" id="260" r:id="R46e47a47a08b47fc"/>
    <p:sldId xmlns:r="http://schemas.openxmlformats.org/officeDocument/2006/relationships" id="261" r:id="R3415f85e695b4592"/>
    <p:sldId xmlns:r="http://schemas.openxmlformats.org/officeDocument/2006/relationships" id="262" r:id="Rfc7b80da902a4b82"/>
    <p:sldId xmlns:r="http://schemas.openxmlformats.org/officeDocument/2006/relationships" id="263" r:id="Rf133e559778f469c"/>
    <p:sldId xmlns:r="http://schemas.openxmlformats.org/officeDocument/2006/relationships" id="264" r:id="R2ac73f0cf0ce47fd"/>
    <p:sldId xmlns:r="http://schemas.openxmlformats.org/officeDocument/2006/relationships" id="265" r:id="R802b1d218f6c423d"/>
    <p:sldId xmlns:r="http://schemas.openxmlformats.org/officeDocument/2006/relationships" id="266" r:id="R3b329faba6194ede"/>
    <p:sldId xmlns:r="http://schemas.openxmlformats.org/officeDocument/2006/relationships" id="267" r:id="Rba18dcabfbb74800"/>
    <p:sldId xmlns:r="http://schemas.openxmlformats.org/officeDocument/2006/relationships" id="268" r:id="R3a364576a55444eb"/>
    <p:sldId xmlns:r="http://schemas.openxmlformats.org/officeDocument/2006/relationships" id="269" r:id="Rfa0943bfaf0142a3"/>
    <p:sldId xmlns:r="http://schemas.openxmlformats.org/officeDocument/2006/relationships" id="270" r:id="Ra6febd54e6344489"/>
    <p:sldId xmlns:r="http://schemas.openxmlformats.org/officeDocument/2006/relationships" id="271" r:id="R52d42be71c4c4e5c"/>
    <p:sldId xmlns:r="http://schemas.openxmlformats.org/officeDocument/2006/relationships" id="272" r:id="R748b9115359c497f"/>
    <p:sldId xmlns:r="http://schemas.openxmlformats.org/officeDocument/2006/relationships" id="273" r:id="Rf967481e8c594f62"/>
    <p:sldId xmlns:r="http://schemas.openxmlformats.org/officeDocument/2006/relationships" id="274" r:id="Rea6dd15656fe4bda"/>
    <p:sldId xmlns:r="http://schemas.openxmlformats.org/officeDocument/2006/relationships" id="275" r:id="R747d0b6d8028432b"/>
    <p:sldId xmlns:r="http://schemas.openxmlformats.org/officeDocument/2006/relationships" id="276" r:id="R6a72514f54f84267"/>
    <p:sldId xmlns:r="http://schemas.openxmlformats.org/officeDocument/2006/relationships" id="277" r:id="R941872478cfd4b44"/>
    <p:sldId xmlns:r="http://schemas.openxmlformats.org/officeDocument/2006/relationships" id="278" r:id="R0120601e8edd4073"/>
    <p:sldId xmlns:r="http://schemas.openxmlformats.org/officeDocument/2006/relationships" id="279" r:id="R85c817b318a04469"/>
    <p:sldId xmlns:r="http://schemas.openxmlformats.org/officeDocument/2006/relationships" id="280" r:id="R37fbcbcba1d44a53"/>
    <p:sldId xmlns:r="http://schemas.openxmlformats.org/officeDocument/2006/relationships" id="281" r:id="R0eb4d4e97ec1460a"/>
    <p:sldId xmlns:r="http://schemas.openxmlformats.org/officeDocument/2006/relationships" id="282" r:id="R1941c50c399f479a"/>
    <p:sldId xmlns:r="http://schemas.openxmlformats.org/officeDocument/2006/relationships" id="283" r:id="R8994d67401cf4ad6"/>
    <p:sldId xmlns:r="http://schemas.openxmlformats.org/officeDocument/2006/relationships" id="284" r:id="R3ded9c04ec3d40af"/>
    <p:sldId xmlns:r="http://schemas.openxmlformats.org/officeDocument/2006/relationships" id="285" r:id="Rd470d9614778452b"/>
    <p:sldId xmlns:r="http://schemas.openxmlformats.org/officeDocument/2006/relationships" id="286" r:id="R7e38e8c17fc645a9"/>
    <p:sldId xmlns:r="http://schemas.openxmlformats.org/officeDocument/2006/relationships" id="287" r:id="R4c9d4c1d06744f3b"/>
    <p:sldId xmlns:r="http://schemas.openxmlformats.org/officeDocument/2006/relationships" id="288" r:id="R99182fa817b3499a"/>
    <p:sldId xmlns:r="http://schemas.openxmlformats.org/officeDocument/2006/relationships" id="289" r:id="Rba4a91c39de7400d"/>
    <p:sldId xmlns:r="http://schemas.openxmlformats.org/officeDocument/2006/relationships" id="290" r:id="R69da86ecb9184f4e"/>
    <p:sldId xmlns:r="http://schemas.openxmlformats.org/officeDocument/2006/relationships" id="291" r:id="R519c9d4cdc784bc6"/>
    <p:sldId xmlns:r="http://schemas.openxmlformats.org/officeDocument/2006/relationships" id="292" r:id="Ra370270ef0c2467f"/>
    <p:sldId xmlns:r="http://schemas.openxmlformats.org/officeDocument/2006/relationships" id="293" r:id="Rfa200865e4774387"/>
    <p:sldId xmlns:r="http://schemas.openxmlformats.org/officeDocument/2006/relationships" id="294" r:id="R3bb3ed9033bd4ef7"/>
    <p:sldId xmlns:r="http://schemas.openxmlformats.org/officeDocument/2006/relationships" id="295" r:id="R03c40a8ec72841a8"/>
    <p:sldId xmlns:r="http://schemas.openxmlformats.org/officeDocument/2006/relationships" id="296" r:id="R12a981fa761840ee"/>
    <p:sldId xmlns:r="http://schemas.openxmlformats.org/officeDocument/2006/relationships" id="297" r:id="R57192104800d4f69"/>
    <p:sldId xmlns:r="http://schemas.openxmlformats.org/officeDocument/2006/relationships" id="298" r:id="Ree95b1511de7469f"/>
    <p:sldId xmlns:r="http://schemas.openxmlformats.org/officeDocument/2006/relationships" id="299" r:id="R94d6f3a96bf54c79"/>
    <p:sldId xmlns:r="http://schemas.openxmlformats.org/officeDocument/2006/relationships" id="300" r:id="R056949437bfc4150"/>
    <p:sldId xmlns:r="http://schemas.openxmlformats.org/officeDocument/2006/relationships" id="301" r:id="R99342b0ca0d64ef1"/>
    <p:sldId xmlns:r="http://schemas.openxmlformats.org/officeDocument/2006/relationships" id="302" r:id="R244dcfabbc954460"/>
    <p:sldId xmlns:r="http://schemas.openxmlformats.org/officeDocument/2006/relationships" id="303" r:id="R85e08a78cd8a439b"/>
    <p:sldId xmlns:r="http://schemas.openxmlformats.org/officeDocument/2006/relationships" id="304" r:id="R7265fb0f615a43cf"/>
    <p:sldId xmlns:r="http://schemas.openxmlformats.org/officeDocument/2006/relationships" id="305" r:id="R70ac55ce270046f1"/>
    <p:sldId xmlns:r="http://schemas.openxmlformats.org/officeDocument/2006/relationships" id="306" r:id="R126ab83325b5484c"/>
    <p:sldId xmlns:r="http://schemas.openxmlformats.org/officeDocument/2006/relationships" id="307" r:id="R814ae9afc2ab4705"/>
    <p:sldId xmlns:r="http://schemas.openxmlformats.org/officeDocument/2006/relationships" id="308" r:id="Rf8208aa463594fea"/>
    <p:sldId xmlns:r="http://schemas.openxmlformats.org/officeDocument/2006/relationships" id="309" r:id="R72233fb5bbb04263"/>
    <p:sldId xmlns:r="http://schemas.openxmlformats.org/officeDocument/2006/relationships" id="310" r:id="R024c96f238464a5e"/>
    <p:sldId xmlns:r="http://schemas.openxmlformats.org/officeDocument/2006/relationships" id="311" r:id="Rc8ff7559b6a1487f"/>
    <p:sldId xmlns:r="http://schemas.openxmlformats.org/officeDocument/2006/relationships" id="312" r:id="R70362a8ce6164125"/>
    <p:sldId xmlns:r="http://schemas.openxmlformats.org/officeDocument/2006/relationships" id="313" r:id="R6c5511b430544d26"/>
    <p:sldId xmlns:r="http://schemas.openxmlformats.org/officeDocument/2006/relationships" id="314" r:id="Rb65679512c5b4e18"/>
    <p:sldId xmlns:r="http://schemas.openxmlformats.org/officeDocument/2006/relationships" id="315" r:id="R9c5d81fe591441f1"/>
    <p:sldId xmlns:r="http://schemas.openxmlformats.org/officeDocument/2006/relationships" id="316" r:id="R5db5dba7d1744f1a"/>
    <p:sldId xmlns:r="http://schemas.openxmlformats.org/officeDocument/2006/relationships" id="317" r:id="Rda97c9db30fc4adb"/>
    <p:sldId xmlns:r="http://schemas.openxmlformats.org/officeDocument/2006/relationships" id="318" r:id="Rbda6b42640a1439f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c15c62ef26f4d54" /><Relationship Type="http://schemas.openxmlformats.org/officeDocument/2006/relationships/slideMaster" Target="/ppt/slideMasters/slideMaster1.xml" Id="Rdc5457e7b281462f" /><Relationship Type="http://schemas.openxmlformats.org/officeDocument/2006/relationships/notesMaster" Target="/ppt/notesMasters/notesMaster1.xml" Id="Rfe3294641d7d4988" /><Relationship Type="http://schemas.openxmlformats.org/officeDocument/2006/relationships/presProps" Target="/ppt/presProps.xml" Id="R9c0fe1b852924dcd" /><Relationship Type="http://schemas.openxmlformats.org/officeDocument/2006/relationships/viewProps" Target="/ppt/viewProps.xml" Id="R5f6e0eaf1e8a4d59" /><Relationship Type="http://schemas.openxmlformats.org/officeDocument/2006/relationships/tableStyles" Target="/ppt/tableStyles.xml" Id="Rf8042c2c4a8f4fa9" /><Relationship Type="http://schemas.openxmlformats.org/officeDocument/2006/relationships/slide" Target="/ppt/slides/slide1.xml" Id="Rb3d91e650ee14837" /><Relationship Type="http://schemas.openxmlformats.org/officeDocument/2006/relationships/slide" Target="/ppt/slides/slide2.xml" Id="R3e0c322d48134adb" /><Relationship Type="http://schemas.openxmlformats.org/officeDocument/2006/relationships/slide" Target="/ppt/slides/slide3.xml" Id="R8639ff78994b4042" /><Relationship Type="http://schemas.openxmlformats.org/officeDocument/2006/relationships/slide" Target="/ppt/slides/slide4.xml" Id="R2b5f3958df9e49ce" /><Relationship Type="http://schemas.openxmlformats.org/officeDocument/2006/relationships/slide" Target="/ppt/slides/slide5.xml" Id="R46e47a47a08b47fc" /><Relationship Type="http://schemas.openxmlformats.org/officeDocument/2006/relationships/slide" Target="/ppt/slides/slide6.xml" Id="R3415f85e695b4592" /><Relationship Type="http://schemas.openxmlformats.org/officeDocument/2006/relationships/slide" Target="/ppt/slides/slide7.xml" Id="Rfc7b80da902a4b82" /><Relationship Type="http://schemas.openxmlformats.org/officeDocument/2006/relationships/slide" Target="/ppt/slides/slide8.xml" Id="Rf133e559778f469c" /><Relationship Type="http://schemas.openxmlformats.org/officeDocument/2006/relationships/slide" Target="/ppt/slides/slide9.xml" Id="R2ac73f0cf0ce47fd" /><Relationship Type="http://schemas.openxmlformats.org/officeDocument/2006/relationships/slide" Target="/ppt/slides/slide10.xml" Id="R802b1d218f6c423d" /><Relationship Type="http://schemas.openxmlformats.org/officeDocument/2006/relationships/slide" Target="/ppt/slides/slide11.xml" Id="R3b329faba6194ede" /><Relationship Type="http://schemas.openxmlformats.org/officeDocument/2006/relationships/slide" Target="/ppt/slides/slide12.xml" Id="Rba18dcabfbb74800" /><Relationship Type="http://schemas.openxmlformats.org/officeDocument/2006/relationships/slide" Target="/ppt/slides/slide13.xml" Id="R3a364576a55444eb" /><Relationship Type="http://schemas.openxmlformats.org/officeDocument/2006/relationships/slide" Target="/ppt/slides/slide14.xml" Id="Rfa0943bfaf0142a3" /><Relationship Type="http://schemas.openxmlformats.org/officeDocument/2006/relationships/slide" Target="/ppt/slides/slide15.xml" Id="Ra6febd54e6344489" /><Relationship Type="http://schemas.openxmlformats.org/officeDocument/2006/relationships/slide" Target="/ppt/slides/slide16.xml" Id="R52d42be71c4c4e5c" /><Relationship Type="http://schemas.openxmlformats.org/officeDocument/2006/relationships/slide" Target="/ppt/slides/slide17.xml" Id="R748b9115359c497f" /><Relationship Type="http://schemas.openxmlformats.org/officeDocument/2006/relationships/slide" Target="/ppt/slides/slide18.xml" Id="Rf967481e8c594f62" /><Relationship Type="http://schemas.openxmlformats.org/officeDocument/2006/relationships/slide" Target="/ppt/slides/slide19.xml" Id="Rea6dd15656fe4bda" /><Relationship Type="http://schemas.openxmlformats.org/officeDocument/2006/relationships/slide" Target="/ppt/slides/slide20.xml" Id="R747d0b6d8028432b" /><Relationship Type="http://schemas.openxmlformats.org/officeDocument/2006/relationships/slide" Target="/ppt/slides/slide21.xml" Id="R6a72514f54f84267" /><Relationship Type="http://schemas.openxmlformats.org/officeDocument/2006/relationships/slide" Target="/ppt/slides/slide22.xml" Id="R941872478cfd4b44" /><Relationship Type="http://schemas.openxmlformats.org/officeDocument/2006/relationships/slide" Target="/ppt/slides/slide23.xml" Id="R0120601e8edd4073" /><Relationship Type="http://schemas.openxmlformats.org/officeDocument/2006/relationships/slide" Target="/ppt/slides/slide24.xml" Id="R85c817b318a04469" /><Relationship Type="http://schemas.openxmlformats.org/officeDocument/2006/relationships/slide" Target="/ppt/slides/slide25.xml" Id="R37fbcbcba1d44a53" /><Relationship Type="http://schemas.openxmlformats.org/officeDocument/2006/relationships/slide" Target="/ppt/slides/slide26.xml" Id="R0eb4d4e97ec1460a" /><Relationship Type="http://schemas.openxmlformats.org/officeDocument/2006/relationships/slide" Target="/ppt/slides/slide27.xml" Id="R1941c50c399f479a" /><Relationship Type="http://schemas.openxmlformats.org/officeDocument/2006/relationships/slide" Target="/ppt/slides/slide28.xml" Id="R8994d67401cf4ad6" /><Relationship Type="http://schemas.openxmlformats.org/officeDocument/2006/relationships/slide" Target="/ppt/slides/slide29.xml" Id="R3ded9c04ec3d40af" /><Relationship Type="http://schemas.openxmlformats.org/officeDocument/2006/relationships/slide" Target="/ppt/slides/slide30.xml" Id="Rd470d9614778452b" /><Relationship Type="http://schemas.openxmlformats.org/officeDocument/2006/relationships/slide" Target="/ppt/slides/slide31.xml" Id="R7e38e8c17fc645a9" /><Relationship Type="http://schemas.openxmlformats.org/officeDocument/2006/relationships/slide" Target="/ppt/slides/slide32.xml" Id="R4c9d4c1d06744f3b" /><Relationship Type="http://schemas.openxmlformats.org/officeDocument/2006/relationships/slide" Target="/ppt/slides/slide33.xml" Id="R99182fa817b3499a" /><Relationship Type="http://schemas.openxmlformats.org/officeDocument/2006/relationships/slide" Target="/ppt/slides/slide34.xml" Id="Rba4a91c39de7400d" /><Relationship Type="http://schemas.openxmlformats.org/officeDocument/2006/relationships/slide" Target="/ppt/slides/slide35.xml" Id="R69da86ecb9184f4e" /><Relationship Type="http://schemas.openxmlformats.org/officeDocument/2006/relationships/slide" Target="/ppt/slides/slide36.xml" Id="R519c9d4cdc784bc6" /><Relationship Type="http://schemas.openxmlformats.org/officeDocument/2006/relationships/slide" Target="/ppt/slides/slide37.xml" Id="Ra370270ef0c2467f" /><Relationship Type="http://schemas.openxmlformats.org/officeDocument/2006/relationships/slide" Target="/ppt/slides/slide38.xml" Id="Rfa200865e4774387" /><Relationship Type="http://schemas.openxmlformats.org/officeDocument/2006/relationships/slide" Target="/ppt/slides/slide39.xml" Id="R3bb3ed9033bd4ef7" /><Relationship Type="http://schemas.openxmlformats.org/officeDocument/2006/relationships/slide" Target="/ppt/slides/slide40.xml" Id="R03c40a8ec72841a8" /><Relationship Type="http://schemas.openxmlformats.org/officeDocument/2006/relationships/slide" Target="/ppt/slides/slide41.xml" Id="R12a981fa761840ee" /><Relationship Type="http://schemas.openxmlformats.org/officeDocument/2006/relationships/slide" Target="/ppt/slides/slide42.xml" Id="R57192104800d4f69" /><Relationship Type="http://schemas.openxmlformats.org/officeDocument/2006/relationships/slide" Target="/ppt/slides/slide43.xml" Id="Ree95b1511de7469f" /><Relationship Type="http://schemas.openxmlformats.org/officeDocument/2006/relationships/slide" Target="/ppt/slides/slide44.xml" Id="R94d6f3a96bf54c79" /><Relationship Type="http://schemas.openxmlformats.org/officeDocument/2006/relationships/slide" Target="/ppt/slides/slide45.xml" Id="R056949437bfc4150" /><Relationship Type="http://schemas.openxmlformats.org/officeDocument/2006/relationships/slide" Target="/ppt/slides/slide46.xml" Id="R99342b0ca0d64ef1" /><Relationship Type="http://schemas.openxmlformats.org/officeDocument/2006/relationships/slide" Target="/ppt/slides/slide47.xml" Id="R244dcfabbc954460" /><Relationship Type="http://schemas.openxmlformats.org/officeDocument/2006/relationships/slide" Target="/ppt/slides/slide48.xml" Id="R85e08a78cd8a439b" /><Relationship Type="http://schemas.openxmlformats.org/officeDocument/2006/relationships/slide" Target="/ppt/slides/slide49.xml" Id="R7265fb0f615a43cf" /><Relationship Type="http://schemas.openxmlformats.org/officeDocument/2006/relationships/slide" Target="/ppt/slides/slide50.xml" Id="R70ac55ce270046f1" /><Relationship Type="http://schemas.openxmlformats.org/officeDocument/2006/relationships/slide" Target="/ppt/slides/slide51.xml" Id="R126ab83325b5484c" /><Relationship Type="http://schemas.openxmlformats.org/officeDocument/2006/relationships/slide" Target="/ppt/slides/slide52.xml" Id="R814ae9afc2ab4705" /><Relationship Type="http://schemas.openxmlformats.org/officeDocument/2006/relationships/slide" Target="/ppt/slides/slide53.xml" Id="Rf8208aa463594fea" /><Relationship Type="http://schemas.openxmlformats.org/officeDocument/2006/relationships/slide" Target="/ppt/slides/slide54.xml" Id="R72233fb5bbb04263" /><Relationship Type="http://schemas.openxmlformats.org/officeDocument/2006/relationships/slide" Target="/ppt/slides/slide55.xml" Id="R024c96f238464a5e" /><Relationship Type="http://schemas.openxmlformats.org/officeDocument/2006/relationships/slide" Target="/ppt/slides/slide56.xml" Id="Rc8ff7559b6a1487f" /><Relationship Type="http://schemas.openxmlformats.org/officeDocument/2006/relationships/slide" Target="/ppt/slides/slide57.xml" Id="R70362a8ce6164125" /><Relationship Type="http://schemas.openxmlformats.org/officeDocument/2006/relationships/slide" Target="/ppt/slides/slide58.xml" Id="R6c5511b430544d26" /><Relationship Type="http://schemas.openxmlformats.org/officeDocument/2006/relationships/slide" Target="/ppt/slides/slide59.xml" Id="Rb65679512c5b4e18" /><Relationship Type="http://schemas.openxmlformats.org/officeDocument/2006/relationships/slide" Target="/ppt/slides/slide60.xml" Id="R9c5d81fe591441f1" /><Relationship Type="http://schemas.openxmlformats.org/officeDocument/2006/relationships/slide" Target="/ppt/slides/slide61.xml" Id="R5db5dba7d1744f1a" /><Relationship Type="http://schemas.openxmlformats.org/officeDocument/2006/relationships/slide" Target="/ppt/slides/slide62.xml" Id="Rda97c9db30fc4adb" /><Relationship Type="http://schemas.openxmlformats.org/officeDocument/2006/relationships/slide" Target="/ppt/slides/slide63.xml" Id="Rbda6b42640a1439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ca8f3b7cd064e7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a2d2bda1ca74dfa" /><Relationship Type="http://schemas.openxmlformats.org/officeDocument/2006/relationships/notesMaster" Target="/ppt/notesMasters/notesMaster1.xml" Id="R960f126379654bf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edbff3a7fda4516" /><Relationship Type="http://schemas.openxmlformats.org/officeDocument/2006/relationships/notesMaster" Target="/ppt/notesMasters/notesMaster1.xml" Id="R9459f43198e9400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933d0546e7a4a79" /><Relationship Type="http://schemas.openxmlformats.org/officeDocument/2006/relationships/notesMaster" Target="/ppt/notesMasters/notesMaster1.xml" Id="R319ace5da62040d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03faf600a5d4b53" /><Relationship Type="http://schemas.openxmlformats.org/officeDocument/2006/relationships/notesMaster" Target="/ppt/notesMasters/notesMaster1.xml" Id="R90bd480f31f748b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1936a4a658c40ac" /><Relationship Type="http://schemas.openxmlformats.org/officeDocument/2006/relationships/notesMaster" Target="/ppt/notesMasters/notesMaster1.xml" Id="R40dad157c00f4f0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b698abd0f4a4d14" /><Relationship Type="http://schemas.openxmlformats.org/officeDocument/2006/relationships/notesMaster" Target="/ppt/notesMasters/notesMaster1.xml" Id="Rdaf7ec0fd4a24ee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dfac02b33ec4db6" /><Relationship Type="http://schemas.openxmlformats.org/officeDocument/2006/relationships/notesMaster" Target="/ppt/notesMasters/notesMaster1.xml" Id="R913bb1c8b0ab4ac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254f7908e8e4607" /><Relationship Type="http://schemas.openxmlformats.org/officeDocument/2006/relationships/notesMaster" Target="/ppt/notesMasters/notesMaster1.xml" Id="R6083b46ed02c465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1f12fd43e6c4e22" /><Relationship Type="http://schemas.openxmlformats.org/officeDocument/2006/relationships/notesMaster" Target="/ppt/notesMasters/notesMaster1.xml" Id="R82f92dfbcb2d4bb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7d44abd62104c72" /><Relationship Type="http://schemas.openxmlformats.org/officeDocument/2006/relationships/notesMaster" Target="/ppt/notesMasters/notesMaster1.xml" Id="R34ef91c5ee88471d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610d3f6929054f92" /><Relationship Type="http://schemas.openxmlformats.org/officeDocument/2006/relationships/notesMaster" Target="/ppt/notesMasters/notesMaster1.xml" Id="Rf1ce28c9fa014d6c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b7733ead464a4523" /><Relationship Type="http://schemas.openxmlformats.org/officeDocument/2006/relationships/notesMaster" Target="/ppt/notesMasters/notesMaster1.xml" Id="R86732e2fd0e14871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82be083a8716449f" /><Relationship Type="http://schemas.openxmlformats.org/officeDocument/2006/relationships/notesMaster" Target="/ppt/notesMasters/notesMaster1.xml" Id="R157ce2be8bf444e3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93811fed1534437f" /><Relationship Type="http://schemas.openxmlformats.org/officeDocument/2006/relationships/notesMaster" Target="/ppt/notesMasters/notesMaster1.xml" Id="R68096e2364f14401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fed7546f84064abb" /><Relationship Type="http://schemas.openxmlformats.org/officeDocument/2006/relationships/notesMaster" Target="/ppt/notesMasters/notesMaster1.xml" Id="R8b283be4965a4a68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4c000a5db54a4283" /><Relationship Type="http://schemas.openxmlformats.org/officeDocument/2006/relationships/notesMaster" Target="/ppt/notesMasters/notesMaster1.xml" Id="R5918007b750143cc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e0647106a4864940" /><Relationship Type="http://schemas.openxmlformats.org/officeDocument/2006/relationships/notesMaster" Target="/ppt/notesMasters/notesMaster1.xml" Id="Rfbec9fd9e5c1451c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ad312e5d35234b3a" /><Relationship Type="http://schemas.openxmlformats.org/officeDocument/2006/relationships/notesMaster" Target="/ppt/notesMasters/notesMaster1.xml" Id="R605c56e170344698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5d091746ae304aa1" /><Relationship Type="http://schemas.openxmlformats.org/officeDocument/2006/relationships/notesMaster" Target="/ppt/notesMasters/notesMaster1.xml" Id="R034a8e81e9ab4970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5d89331cf2184c2e" /><Relationship Type="http://schemas.openxmlformats.org/officeDocument/2006/relationships/notesMaster" Target="/ppt/notesMasters/notesMaster1.xml" Id="Rabd28a64ac4a43bc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a22c295c0f664710" /><Relationship Type="http://schemas.openxmlformats.org/officeDocument/2006/relationships/notesMaster" Target="/ppt/notesMasters/notesMaster1.xml" Id="Rfe596f4e4ca343eb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98149761a473423e" /><Relationship Type="http://schemas.openxmlformats.org/officeDocument/2006/relationships/notesMaster" Target="/ppt/notesMasters/notesMaster1.xml" Id="R53e56a031a974c42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fe0f42fa40e24ed9" /><Relationship Type="http://schemas.openxmlformats.org/officeDocument/2006/relationships/notesMaster" Target="/ppt/notesMasters/notesMaster1.xml" Id="Rc3f90ca6d31245bc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9baa406d978949a8" /><Relationship Type="http://schemas.openxmlformats.org/officeDocument/2006/relationships/notesMaster" Target="/ppt/notesMasters/notesMaster1.xml" Id="Rc7650ad3c0924aee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8a76c1b869c040b5" /><Relationship Type="http://schemas.openxmlformats.org/officeDocument/2006/relationships/notesMaster" Target="/ppt/notesMasters/notesMaster1.xml" Id="Ra4ab3d589a424fdf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019cfb65fa9e4929" /><Relationship Type="http://schemas.openxmlformats.org/officeDocument/2006/relationships/notesMaster" Target="/ppt/notesMasters/notesMaster1.xml" Id="Rb77800f0c08c4418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048b3612021f4ae2" /><Relationship Type="http://schemas.openxmlformats.org/officeDocument/2006/relationships/notesMaster" Target="/ppt/notesMasters/notesMaster1.xml" Id="Rade08c5ddfe34da7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50663f7929954b78" /><Relationship Type="http://schemas.openxmlformats.org/officeDocument/2006/relationships/notesMaster" Target="/ppt/notesMasters/notesMaster1.xml" Id="R8a636ef8c7ee4d31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33641473b2084b65" /><Relationship Type="http://schemas.openxmlformats.org/officeDocument/2006/relationships/notesMaster" Target="/ppt/notesMasters/notesMaster1.xml" Id="R99f2ef79c62d456e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697708c0abac440f" /><Relationship Type="http://schemas.openxmlformats.org/officeDocument/2006/relationships/notesMaster" Target="/ppt/notesMasters/notesMaster1.xml" Id="R28e9bf9a652045a2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8c0e9d37bae34818" /><Relationship Type="http://schemas.openxmlformats.org/officeDocument/2006/relationships/notesMaster" Target="/ppt/notesMasters/notesMaster1.xml" Id="R4788c2ab8a0f4885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bc933767d96b4182" /><Relationship Type="http://schemas.openxmlformats.org/officeDocument/2006/relationships/notesMaster" Target="/ppt/notesMasters/notesMaster1.xml" Id="R813dd773b3a747fc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260bd4a5851748f8" /><Relationship Type="http://schemas.openxmlformats.org/officeDocument/2006/relationships/notesMaster" Target="/ppt/notesMasters/notesMaster1.xml" Id="R6f234162b1ad4435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8662734d0fbb4bed" /><Relationship Type="http://schemas.openxmlformats.org/officeDocument/2006/relationships/notesMaster" Target="/ppt/notesMasters/notesMaster1.xml" Id="Rd59de939801c41a3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49b6b7cff7444bc9" /><Relationship Type="http://schemas.openxmlformats.org/officeDocument/2006/relationships/notesMaster" Target="/ppt/notesMasters/notesMaster1.xml" Id="R5da69780044f4c10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28cb881801b6419d" /><Relationship Type="http://schemas.openxmlformats.org/officeDocument/2006/relationships/notesMaster" Target="/ppt/notesMasters/notesMaster1.xml" Id="Rd20a9d7feaca46b7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86867b9a09184937" /><Relationship Type="http://schemas.openxmlformats.org/officeDocument/2006/relationships/notesMaster" Target="/ppt/notesMasters/notesMaster1.xml" Id="R47a7271704de4af1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5e7fe8acc26a492f" /><Relationship Type="http://schemas.openxmlformats.org/officeDocument/2006/relationships/notesMaster" Target="/ppt/notesMasters/notesMaster1.xml" Id="Rcbd60d5d297e435a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ea0fb07053644bca" /><Relationship Type="http://schemas.openxmlformats.org/officeDocument/2006/relationships/notesMaster" Target="/ppt/notesMasters/notesMaster1.xml" Id="Rbe01b9d635c8474e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3a6a81fe69d64ddd" /><Relationship Type="http://schemas.openxmlformats.org/officeDocument/2006/relationships/notesMaster" Target="/ppt/notesMasters/notesMaster1.xml" Id="R703da9b82b7945fd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41b7b01094464d1f" /><Relationship Type="http://schemas.openxmlformats.org/officeDocument/2006/relationships/notesMaster" Target="/ppt/notesMasters/notesMaster1.xml" Id="R6e7eebb13e71479d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d4a2a3504f3d4134" /><Relationship Type="http://schemas.openxmlformats.org/officeDocument/2006/relationships/notesMaster" Target="/ppt/notesMasters/notesMaster1.xml" Id="R8760c4fab51d4d5b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f548c05f5cf246ed" /><Relationship Type="http://schemas.openxmlformats.org/officeDocument/2006/relationships/notesMaster" Target="/ppt/notesMasters/notesMaster1.xml" Id="Rc5966995a4ba40da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15a557d6028048bb" /><Relationship Type="http://schemas.openxmlformats.org/officeDocument/2006/relationships/notesMaster" Target="/ppt/notesMasters/notesMaster1.xml" Id="R0b2492428fc449a8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87ba8cf12b2f4c01" /><Relationship Type="http://schemas.openxmlformats.org/officeDocument/2006/relationships/notesMaster" Target="/ppt/notesMasters/notesMaster1.xml" Id="R6531fe8f338d43f8" /></Relationships>
</file>

<file path=ppt/notesSlides/_rels/notesSlide46.xml.rels>&#65279;<?xml version="1.0" encoding="utf-8"?><Relationships xmlns="http://schemas.openxmlformats.org/package/2006/relationships"><Relationship Type="http://schemas.openxmlformats.org/officeDocument/2006/relationships/slide" Target="/ppt/slides/slide46.xml" Id="Rcf41edf8c8424e9e" /><Relationship Type="http://schemas.openxmlformats.org/officeDocument/2006/relationships/notesMaster" Target="/ppt/notesMasters/notesMaster1.xml" Id="R79b58d7c4c134567" /></Relationships>
</file>

<file path=ppt/notesSlides/_rels/notesSlide47.xml.rels>&#65279;<?xml version="1.0" encoding="utf-8"?><Relationships xmlns="http://schemas.openxmlformats.org/package/2006/relationships"><Relationship Type="http://schemas.openxmlformats.org/officeDocument/2006/relationships/slide" Target="/ppt/slides/slide47.xml" Id="Rfda2baf3afe448d1" /><Relationship Type="http://schemas.openxmlformats.org/officeDocument/2006/relationships/notesMaster" Target="/ppt/notesMasters/notesMaster1.xml" Id="R9a04ed533c9543f7" /></Relationships>
</file>

<file path=ppt/notesSlides/_rels/notesSlide48.xml.rels>&#65279;<?xml version="1.0" encoding="utf-8"?><Relationships xmlns="http://schemas.openxmlformats.org/package/2006/relationships"><Relationship Type="http://schemas.openxmlformats.org/officeDocument/2006/relationships/slide" Target="/ppt/slides/slide48.xml" Id="R336912dac7b14e46" /><Relationship Type="http://schemas.openxmlformats.org/officeDocument/2006/relationships/notesMaster" Target="/ppt/notesMasters/notesMaster1.xml" Id="R49d7fde7e605400f" /></Relationships>
</file>

<file path=ppt/notesSlides/_rels/notesSlide49.xml.rels>&#65279;<?xml version="1.0" encoding="utf-8"?><Relationships xmlns="http://schemas.openxmlformats.org/package/2006/relationships"><Relationship Type="http://schemas.openxmlformats.org/officeDocument/2006/relationships/slide" Target="/ppt/slides/slide49.xml" Id="Rbf0c81085c154cd8" /><Relationship Type="http://schemas.openxmlformats.org/officeDocument/2006/relationships/notesMaster" Target="/ppt/notesMasters/notesMaster1.xml" Id="Reecbca2e55f74d44" /></Relationships>
</file>

<file path=ppt/notesSlides/_rels/notesSlide50.xml.rels>&#65279;<?xml version="1.0" encoding="utf-8"?><Relationships xmlns="http://schemas.openxmlformats.org/package/2006/relationships"><Relationship Type="http://schemas.openxmlformats.org/officeDocument/2006/relationships/slide" Target="/ppt/slides/slide50.xml" Id="Rd3e76e53bcb74722" /><Relationship Type="http://schemas.openxmlformats.org/officeDocument/2006/relationships/notesMaster" Target="/ppt/notesMasters/notesMaster1.xml" Id="Rc9d89bd1f98c44cf" /></Relationships>
</file>

<file path=ppt/notesSlides/_rels/notesSlide51.xml.rels>&#65279;<?xml version="1.0" encoding="utf-8"?><Relationships xmlns="http://schemas.openxmlformats.org/package/2006/relationships"><Relationship Type="http://schemas.openxmlformats.org/officeDocument/2006/relationships/slide" Target="/ppt/slides/slide51.xml" Id="R247df3258ba04b60" /><Relationship Type="http://schemas.openxmlformats.org/officeDocument/2006/relationships/notesMaster" Target="/ppt/notesMasters/notesMaster1.xml" Id="R125690572de344a8" /></Relationships>
</file>

<file path=ppt/notesSlides/_rels/notesSlide52.xml.rels>&#65279;<?xml version="1.0" encoding="utf-8"?><Relationships xmlns="http://schemas.openxmlformats.org/package/2006/relationships"><Relationship Type="http://schemas.openxmlformats.org/officeDocument/2006/relationships/slide" Target="/ppt/slides/slide52.xml" Id="R46e3e77876ac4d17" /><Relationship Type="http://schemas.openxmlformats.org/officeDocument/2006/relationships/notesMaster" Target="/ppt/notesMasters/notesMaster1.xml" Id="R2b30713800fb41a1" /></Relationships>
</file>

<file path=ppt/notesSlides/_rels/notesSlide53.xml.rels>&#65279;<?xml version="1.0" encoding="utf-8"?><Relationships xmlns="http://schemas.openxmlformats.org/package/2006/relationships"><Relationship Type="http://schemas.openxmlformats.org/officeDocument/2006/relationships/slide" Target="/ppt/slides/slide53.xml" Id="Rfafcf073c69d4984" /><Relationship Type="http://schemas.openxmlformats.org/officeDocument/2006/relationships/notesMaster" Target="/ppt/notesMasters/notesMaster1.xml" Id="Rd7c13666b8b449b5" /></Relationships>
</file>

<file path=ppt/notesSlides/_rels/notesSlide54.xml.rels>&#65279;<?xml version="1.0" encoding="utf-8"?><Relationships xmlns="http://schemas.openxmlformats.org/package/2006/relationships"><Relationship Type="http://schemas.openxmlformats.org/officeDocument/2006/relationships/slide" Target="/ppt/slides/slide54.xml" Id="Rcfa1a478bc534255" /><Relationship Type="http://schemas.openxmlformats.org/officeDocument/2006/relationships/notesMaster" Target="/ppt/notesMasters/notesMaster1.xml" Id="Rbe25572b63624c2e" /></Relationships>
</file>

<file path=ppt/notesSlides/_rels/notesSlide55.xml.rels>&#65279;<?xml version="1.0" encoding="utf-8"?><Relationships xmlns="http://schemas.openxmlformats.org/package/2006/relationships"><Relationship Type="http://schemas.openxmlformats.org/officeDocument/2006/relationships/slide" Target="/ppt/slides/slide55.xml" Id="R8ca806fa4c4e4d2b" /><Relationship Type="http://schemas.openxmlformats.org/officeDocument/2006/relationships/notesMaster" Target="/ppt/notesMasters/notesMaster1.xml" Id="R7c95590a8ce84289" /></Relationships>
</file>

<file path=ppt/notesSlides/_rels/notesSlide56.xml.rels>&#65279;<?xml version="1.0" encoding="utf-8"?><Relationships xmlns="http://schemas.openxmlformats.org/package/2006/relationships"><Relationship Type="http://schemas.openxmlformats.org/officeDocument/2006/relationships/slide" Target="/ppt/slides/slide56.xml" Id="R42eb20d9a51c48ad" /><Relationship Type="http://schemas.openxmlformats.org/officeDocument/2006/relationships/notesMaster" Target="/ppt/notesMasters/notesMaster1.xml" Id="Rcefad2c617d340b0" /></Relationships>
</file>

<file path=ppt/notesSlides/_rels/notesSlide57.xml.rels>&#65279;<?xml version="1.0" encoding="utf-8"?><Relationships xmlns="http://schemas.openxmlformats.org/package/2006/relationships"><Relationship Type="http://schemas.openxmlformats.org/officeDocument/2006/relationships/slide" Target="/ppt/slides/slide57.xml" Id="R0b3d738306c24133" /><Relationship Type="http://schemas.openxmlformats.org/officeDocument/2006/relationships/notesMaster" Target="/ppt/notesMasters/notesMaster1.xml" Id="Re53107b3bf9941ac" /></Relationships>
</file>

<file path=ppt/notesSlides/_rels/notesSlide58.xml.rels>&#65279;<?xml version="1.0" encoding="utf-8"?><Relationships xmlns="http://schemas.openxmlformats.org/package/2006/relationships"><Relationship Type="http://schemas.openxmlformats.org/officeDocument/2006/relationships/slide" Target="/ppt/slides/slide58.xml" Id="R1ec0655d1f4541fc" /><Relationship Type="http://schemas.openxmlformats.org/officeDocument/2006/relationships/notesMaster" Target="/ppt/notesMasters/notesMaster1.xml" Id="R3a589dd681364ee0" /></Relationships>
</file>

<file path=ppt/notesSlides/_rels/notesSlide59.xml.rels>&#65279;<?xml version="1.0" encoding="utf-8"?><Relationships xmlns="http://schemas.openxmlformats.org/package/2006/relationships"><Relationship Type="http://schemas.openxmlformats.org/officeDocument/2006/relationships/slide" Target="/ppt/slides/slide59.xml" Id="Rb9df91ac7c4d41a2" /><Relationship Type="http://schemas.openxmlformats.org/officeDocument/2006/relationships/notesMaster" Target="/ppt/notesMasters/notesMaster1.xml" Id="Rbdcdf7fb86b24a32" /></Relationships>
</file>

<file path=ppt/notesSlides/_rels/notesSlide60.xml.rels>&#65279;<?xml version="1.0" encoding="utf-8"?><Relationships xmlns="http://schemas.openxmlformats.org/package/2006/relationships"><Relationship Type="http://schemas.openxmlformats.org/officeDocument/2006/relationships/slide" Target="/ppt/slides/slide60.xml" Id="R26683b6b03464a79" /><Relationship Type="http://schemas.openxmlformats.org/officeDocument/2006/relationships/notesMaster" Target="/ppt/notesMasters/notesMaster1.xml" Id="Rc6c3df1b013c472d" /></Relationships>
</file>

<file path=ppt/notesSlides/_rels/notesSlide61.xml.rels>&#65279;<?xml version="1.0" encoding="utf-8"?><Relationships xmlns="http://schemas.openxmlformats.org/package/2006/relationships"><Relationship Type="http://schemas.openxmlformats.org/officeDocument/2006/relationships/slide" Target="/ppt/slides/slide61.xml" Id="Rdcbfdb47a91f4e45" /><Relationship Type="http://schemas.openxmlformats.org/officeDocument/2006/relationships/notesMaster" Target="/ppt/notesMasters/notesMaster1.xml" Id="R23e3adfe7d424873" /></Relationships>
</file>

<file path=ppt/notesSlides/_rels/notesSlide62.xml.rels>&#65279;<?xml version="1.0" encoding="utf-8"?><Relationships xmlns="http://schemas.openxmlformats.org/package/2006/relationships"><Relationship Type="http://schemas.openxmlformats.org/officeDocument/2006/relationships/slide" Target="/ppt/slides/slide62.xml" Id="Re215b715478c4a18" /><Relationship Type="http://schemas.openxmlformats.org/officeDocument/2006/relationships/notesMaster" Target="/ppt/notesMasters/notesMaster1.xml" Id="R9509223a19bf446e" /></Relationships>
</file>

<file path=ppt/notesSlides/_rels/notesSlide63.xml.rels>&#65279;<?xml version="1.0" encoding="utf-8"?><Relationships xmlns="http://schemas.openxmlformats.org/package/2006/relationships"><Relationship Type="http://schemas.openxmlformats.org/officeDocument/2006/relationships/slide" Target="/ppt/slides/slide63.xml" Id="R48046c44c1a84ef6" /><Relationship Type="http://schemas.openxmlformats.org/officeDocument/2006/relationships/notesMaster" Target="/ppt/notesMasters/notesMaster1.xml" Id="R25e333ebb4ca451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讲解词：</a:t>
            </a:r>
          </a:p>
          <a:p xmlns:a="http://schemas.openxmlformats.org/drawingml/2006/main">
            <a:r>
              <a:t>我想先把题目压实一点。今天不是来盘点几个 AI 工具，也不是单讲某个优化算法。我真正想讨论的是：当 AI 进入材料研究之后，实验本身正在怎样被重新组织，DOE 又在这个过程中处在什么位置。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注解：</a:t>
            </a:r>
          </a:p>
          <a:p xmlns:a="http://schemas.openxmlformats.org/drawingml/2006/main">
            <a:r>
              <a:t>- Self-Driving Labs（自驱实验室，SDL）</a:t>
            </a:r>
          </a:p>
          <a:p xmlns:a="http://schemas.openxmlformats.org/drawingml/2006/main">
            <a:r>
              <a:t>- Design of Experiments（实验设计，DOE）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参考来源：</a:t>
            </a:r>
          </a:p>
          <a:p xmlns:a="http://schemas.openxmlformats.org/drawingml/2006/main">
            <a:r>
              <a:t>- Hey, T., Tansley, S., &amp; Tolle, K. (eds.) The Fourth Paradigm: Data-Intensive Scientific Discovery. Microsoft Research, 2009. https://www.microsoft.com/en-us/research/publication/fourth-paradigm-data-intensive-scientific-discovery/</a:t>
            </a:r>
          </a:p>
          <a:p xmlns:a="http://schemas.openxmlformats.org/drawingml/2006/main">
            <a:r>
              <a:t>- Tom, G. et al. Self-Driving Laboratories for Chemistry and Materials Science. Chemical Reviews 124(16), 2024. https://pubs.acs.org/doi/10.1021/acs.chemrev.4c00055</a:t>
            </a:r>
          </a:p>
          <a:p xmlns:a="http://schemas.openxmlformats.org/drawingml/2006/main">
            <a:r>
              <a:t>- Häse, F. et al. The future of self-driving laboratories: from human in the loop interactive AI to gamification. Digital Discovery 3, 2024. https://pubs.rsc.org/en/content/articlehtml/2024/dd/d4dd00040d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讲解词：</a:t>
            </a:r>
          </a:p>
          <a:p xmlns:a="http://schemas.openxmlformats.org/drawingml/2006/main">
            <a:r>
              <a:t>先把路径说清楚：今天不是从算法入手，而是从实验入手。先问实验在材料科学里是什么，再问传统方法论做了什么，最后才进入 SDL、真实案例和最小 live demo。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注解：</a:t>
            </a:r>
          </a:p>
          <a:p xmlns:a="http://schemas.openxmlformats.org/drawingml/2006/main">
            <a:r>
              <a:t>- 建议把这页讲成“路径声明”，而不是流程说明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节奏建议：</a:t>
            </a:r>
          </a:p>
          <a:p xmlns:a="http://schemas.openxmlformats.org/drawingml/2006/main">
            <a:r>
              <a:t>3 分钟左右；只建立路线图，不展开细节。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参考来源：</a:t>
            </a:r>
          </a:p>
          <a:p xmlns:a="http://schemas.openxmlformats.org/drawingml/2006/main">
            <a:r>
              <a:t>- Box, G. E. P., Hunter, W. G., &amp; Hunter, J. S. Statistics for Experimenters. Wiley, 1978/2005.</a:t>
            </a:r>
          </a:p>
          <a:p xmlns:a="http://schemas.openxmlformats.org/drawingml/2006/main">
            <a:r>
              <a:t>- Tom, G. et al. Self-Driving Laboratories for Chemistry and Materials Science. Chemical Reviews 124(16), 2024. https://pubs.acs.org/doi/10.1021/acs.chemrev.4c00055</a:t>
            </a:r>
          </a:p>
          <a:p xmlns:a="http://schemas.openxmlformats.org/drawingml/2006/main">
            <a:r>
              <a:t>- Szymanski, N. J. et al. An autonomous laboratory for the accelerated synthesis of inorganic materials. Nature 624, 2023. https://www.nature.com/articles/s41586-023-06734-w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讲解词：</a:t>
            </a:r>
          </a:p>
          <a:p xmlns:a="http://schemas.openxmlformats.org/drawingml/2006/main">
            <a:r>
              <a:t>先压住一个常见误解：这不是 AI 工具清单，也不是某种优化算法导论。更根本的问题是，当 AI 进入实验科学之后，实验本身的组织方式、节奏和判断链条发生了什么变化。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注解：</a:t>
            </a:r>
          </a:p>
          <a:p xmlns:a="http://schemas.openxmlformats.org/drawingml/2006/main">
            <a:r>
              <a:t>- Human-in-the-loop（人在回路中）</a:t>
            </a:r>
          </a:p>
          <a:p xmlns:a="http://schemas.openxmlformats.org/drawingml/2006/main">
            <a:r>
              <a:t>- Human-on-the-loop（人在回路上）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节奏建议：</a:t>
            </a:r>
          </a:p>
          <a:p xmlns:a="http://schemas.openxmlformats.org/drawingml/2006/main">
            <a:r>
              <a:t>4 分钟左右；先立问题意识，再进入实验主线。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参考来源：</a:t>
            </a:r>
          </a:p>
          <a:p xmlns:a="http://schemas.openxmlformats.org/drawingml/2006/main">
            <a:r>
              <a:t>- Häse, F. et al. The future of self-driving laboratories: from human in the loop interactive AI to gamification. Digital Discovery 3, 2024. https://pubs.rsc.org/en/content/articlehtml/2024/dd/d4dd00040d</a:t>
            </a:r>
          </a:p>
          <a:p xmlns:a="http://schemas.openxmlformats.org/drawingml/2006/main">
            <a:r>
              <a:t>- Tom, G. et al. Self-Driving Laboratories for Chemistry and Materials Science. Chemical Reviews 124(16), 2024. https://pubs.acs.org/doi/10.1021/acs.chemrev.4c00055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讲解词：</a:t>
            </a:r>
          </a:p>
          <a:p xmlns:a="http://schemas.openxmlformats.org/drawingml/2006/main">
            <a:r>
              <a:t>网站和 PPT 不是两套内容，而是同一讲座的两种介质。网站更适合看系统、案例和交互，PPT 更适合把问题、观点和证据链顺着讲清楚。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注解：</a:t>
            </a:r>
          </a:p>
          <a:p xmlns:a="http://schemas.openxmlformats.org/drawingml/2006/main">
            <a:r>
              <a:t>- 网站地址：https://sdl-lecture.vercel.app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参考来源：</a:t>
            </a:r>
          </a:p>
          <a:p xmlns:a="http://schemas.openxmlformats.org/drawingml/2006/main">
            <a:r>
              <a:t>- SDL 讲座数字讲义站（当前项目线上版）: https://sdl-lecture.vercel.app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讲解词：</a:t>
            </a:r>
          </a:p>
          <a:p xmlns:a="http://schemas.openxmlformats.org/drawingml/2006/main">
            <a:r>
              <a:t>先讲一个更根本的问题：实验在科学里到底处在什么位置。只有把这个问题讲清楚，后面关于 DOE、自动化和 SDL 的讨论才不会变成简单的工具崇拜。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注解：</a:t>
            </a:r>
          </a:p>
          <a:p xmlns:a="http://schemas.openxmlformats.org/drawingml/2006/main">
            <a:r>
              <a:t>- 本部分建议控制在 20–25 分钟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节奏建议：</a:t>
            </a:r>
          </a:p>
          <a:p xmlns:a="http://schemas.openxmlformats.org/drawingml/2006/main">
            <a:r>
              <a:t>1 分钟转场；明确进入“实验是什么”这一部分。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参考来源：</a:t>
            </a:r>
          </a:p>
          <a:p xmlns:a="http://schemas.openxmlformats.org/drawingml/2006/main">
            <a:r>
              <a:t>- Kuhn, T. S. The Structure of Scientific Revolutions. University of Chicago Press, 1962/2012.</a:t>
            </a:r>
          </a:p>
          <a:p xmlns:a="http://schemas.openxmlformats.org/drawingml/2006/main">
            <a:r>
              <a:t>- Hey, T., Tansley, S., &amp; Tolle, K. (eds.) The Fourth Paradigm: Data-Intensive Scientific Discovery. Microsoft Research, 2009. https://www.microsoft.com/en-us/research/publication/fourth-paradigm-data-intensive-scientific-discovery/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讲解词：</a:t>
            </a:r>
          </a:p>
          <a:p xmlns:a="http://schemas.openxmlformats.org/drawingml/2006/main">
            <a:r>
              <a:t>先把一个判断说清楚：在材料科学里，实验不是理论后的确认动作，而是直接进入真实材料世界、制造对象、暴露异常和推动纠错的知识生产机制。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注解：</a:t>
            </a:r>
          </a:p>
          <a:p xmlns:a="http://schemas.openxmlformats.org/drawingml/2006/main">
            <a:r>
              <a:t>- Materials Science and Engineering（材料科学与工程，MSE）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参考来源：</a:t>
            </a:r>
          </a:p>
          <a:p xmlns:a="http://schemas.openxmlformats.org/drawingml/2006/main">
            <a:r>
              <a:t>- Hacking, I. Representing and Intervening. Cambridge University Press, 1983.</a:t>
            </a:r>
          </a:p>
          <a:p xmlns:a="http://schemas.openxmlformats.org/drawingml/2006/main">
            <a:r>
              <a:t>- Kuhn, T. S. The Structure of Scientific Revolutions. University of Chicago Press, 1962/2012.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讲解词：</a:t>
            </a:r>
          </a:p>
          <a:p xmlns:a="http://schemas.openxmlformats.org/drawingml/2006/main">
            <a:r>
              <a:t>后面讨论 SDL 时，真正的难点常常不在优化器，而在实验给出的观测到底是什么：是谱图、图像、曲线还是标量；这些观测能不能稳定、及时、低成本地进入决策回路。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注解：</a:t>
            </a:r>
          </a:p>
          <a:p xmlns:a="http://schemas.openxmlformats.org/drawingml/2006/main">
            <a:r>
              <a:t>- measurement（观测）</a:t>
            </a:r>
          </a:p>
          <a:p xmlns:a="http://schemas.openxmlformats.org/drawingml/2006/main">
            <a:r>
              <a:t>- data modality（数据模态）</a:t>
            </a:r>
          </a:p>
          <a:p xmlns:a="http://schemas.openxmlformats.org/drawingml/2006/main">
            <a:r>
              <a:t>- high-dimensional observation（高维观测）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参考来源：</a:t>
            </a:r>
          </a:p>
          <a:p xmlns:a="http://schemas.openxmlformats.org/drawingml/2006/main">
            <a:r>
              <a:t>- NIST Material Schema: Process. https://pages.nist.gov/material-schema/Process/</a:t>
            </a:r>
          </a:p>
          <a:p xmlns:a="http://schemas.openxmlformats.org/drawingml/2006/main">
            <a:r>
              <a:t>- EMMC CHADA / CHAMEO. https://emmc.eu/moda-chada/chada/</a:t>
            </a:r>
          </a:p>
          <a:p xmlns:a="http://schemas.openxmlformats.org/drawingml/2006/main">
            <a:r>
              <a:t>- Tom, G. et al. Self-Driving Laboratories for Chemistry and Materials Science. Chemical Reviews 124(16), 2024. https://pubs.acs.org/doi/10.1021/acs.chemrev.4c00055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讲解词：</a:t>
            </a:r>
          </a:p>
          <a:p xmlns:a="http://schemas.openxmlformats.org/drawingml/2006/main">
            <a:r>
              <a:t>把这条链看清楚很重要：从问题提出、样品制备到表征、建模、判断和纠错，实验始终贯穿其中。SDL 改变的不是实验的存在，而是这条链的组织方式、速度和可追踪性。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注解：</a:t>
            </a:r>
          </a:p>
          <a:p xmlns:a="http://schemas.openxmlformats.org/drawingml/2006/main">
            <a:r>
              <a:t>- 可与 Process–Structure–Property–Performance（工艺–结构–性能–服役）主线关联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参考来源：</a:t>
            </a:r>
          </a:p>
          <a:p xmlns:a="http://schemas.openxmlformats.org/drawingml/2006/main">
            <a:r>
              <a:t>- NIST Material Schema: Process. https://pages.nist.gov/material-schema/Process/</a:t>
            </a:r>
          </a:p>
          <a:p xmlns:a="http://schemas.openxmlformats.org/drawingml/2006/main">
            <a:r>
              <a:t>- Hacking, I. Representing and Intervening. Cambridge University Press, 1983.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讲解词：</a:t>
            </a:r>
          </a:p>
          <a:p xmlns:a="http://schemas.openxmlformats.org/drawingml/2006/main">
            <a:r>
              <a:t>今天之所以能认真讨论 SDL，不是因为某个模型突然更聪明，而是实验硬件、数据基础设施和模型驱动决策这三条线终于能在一个系统里接上，形成可运行闭环。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注解：</a:t>
            </a:r>
          </a:p>
          <a:p xmlns:a="http://schemas.openxmlformats.org/drawingml/2006/main">
            <a:r>
              <a:t>- Closed-loop experimentation（闭环实验）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参考来源：</a:t>
            </a:r>
          </a:p>
          <a:p xmlns:a="http://schemas.openxmlformats.org/drawingml/2006/main">
            <a:r>
              <a:t>- Hey, T., Tansley, S., &amp; Tolle, K. (eds.) The Fourth Paradigm: Data-Intensive Scientific Discovery. Microsoft Research, 2009. https://www.microsoft.com/en-us/research/publication/fourth-paradigm-data-intensive-scientific-discovery/</a:t>
            </a:r>
          </a:p>
          <a:p xmlns:a="http://schemas.openxmlformats.org/drawingml/2006/main">
            <a:r>
              <a:t>- Stach, E. A. et al. The rise of self-driving labs in chemical and materials sciences. Nature Synthesis 2, 2023. https://www.nature.com/articles/s44160-022-00231-0</a:t>
            </a:r>
          </a:p>
          <a:p xmlns:a="http://schemas.openxmlformats.org/drawingml/2006/main">
            <a:r>
              <a:t>- Tom, G. et al. Self-Driving Laboratories for Chemistry and Materials Science. Chemical Reviews 124(16), 2024. https://pubs.acs.org/doi/10.1021/acs.chemrev.4c00055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讲解词：</a:t>
            </a:r>
          </a:p>
          <a:p xmlns:a="http://schemas.openxmlformats.org/drawingml/2006/main">
            <a:r>
              <a:t>这一页不要当年表看，要当知识生产方式的演化图看。前面几种范式主要在回答‘我们怎样理解世界’，到这里开始多出一个新问题：模型是否已经进入行动链，开始参与下一步实验。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注解：</a:t>
            </a:r>
          </a:p>
          <a:p xmlns:a="http://schemas.openxmlformats.org/drawingml/2006/main">
            <a:r>
              <a:t>- Fourth Paradigm（第四范式）</a:t>
            </a:r>
          </a:p>
          <a:p xmlns:a="http://schemas.openxmlformats.org/drawingml/2006/main">
            <a:r>
              <a:t>- Fifth Paradigm（第五范式）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建议图表：</a:t>
            </a:r>
          </a:p>
          <a:p xmlns:a="http://schemas.openxmlformats.org/drawingml/2006/main">
            <a:r>
              <a:t>- 优先自绘五范式时间轴；若需引原出处，可参考 Hey et al., The Fourth Paradigm（2009）封面或导言中的 data-intensive science 叙事，再在备注中说明第五范式属于当前扩展性讲法。</a:t>
            </a:r>
          </a:p>
          <a:p xmlns:a="http://schemas.openxmlformats.org/drawingml/2006/main">
            <a:r>
              <a:t>- 若要补 SDL 进入实验行动链的代表图，可参考 Stach et al., Nature Synthesis (2023) 或 Tom et al., Chemical Reviews (2024) 中的 SDL workflow schematic。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参考来源：</a:t>
            </a:r>
          </a:p>
          <a:p xmlns:a="http://schemas.openxmlformats.org/drawingml/2006/main">
            <a:r>
              <a:t>- Kuhn, T. S. The Structure of Scientific Revolutions. University of Chicago Press, 1962/2012.</a:t>
            </a:r>
          </a:p>
          <a:p xmlns:a="http://schemas.openxmlformats.org/drawingml/2006/main">
            <a:r>
              <a:t>- Hey, T., Tansley, S., &amp; Tolle, K. (eds.) The Fourth Paradigm: Data-Intensive Scientific Discovery. Microsoft Research, 2009. https://www.microsoft.com/en-us/research/publication/fourth-paradigm-data-intensive-scientific-discovery/</a:t>
            </a:r>
          </a:p>
          <a:p xmlns:a="http://schemas.openxmlformats.org/drawingml/2006/main">
            <a:r>
              <a:t>- Stach, E. A. et al. The rise of self-driving labs in chemical and materials sciences. Nature Synthesis 2, 2023. https://www.nature.com/articles/s44160-022-00231-0</a:t>
            </a:r>
          </a:p>
          <a:p xmlns:a="http://schemas.openxmlformats.org/drawingml/2006/main">
            <a:r>
              <a:t>- Tom, G. et al. Self-Driving Laboratories for Chemistry and Materials Science. Chemical Reviews 124(16), 2024. https://pubs.acs.org/doi/10.1021/acs.chemrev.4c00055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讲解词：</a:t>
            </a:r>
          </a:p>
          <a:p xmlns:a="http://schemas.openxmlformats.org/drawingml/2006/main">
            <a:r>
              <a:t>第四范式强调的是数据密集科学；第五范式常被用来指模型进一步进入行动链，不再只解释数据，而开始推荐下一步实验。这意味着实验从被观察对象，逐步变成被编排系统。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注解：</a:t>
            </a:r>
          </a:p>
          <a:p xmlns:a="http://schemas.openxmlformats.org/drawingml/2006/main">
            <a:r>
              <a:t>- 数据密集科学</a:t>
            </a:r>
          </a:p>
          <a:p xmlns:a="http://schemas.openxmlformats.org/drawingml/2006/main">
            <a:r>
              <a:t>- agentic workflow（代理式工作流）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参考来源：</a:t>
            </a:r>
          </a:p>
          <a:p xmlns:a="http://schemas.openxmlformats.org/drawingml/2006/main">
            <a:r>
              <a:t>- Hey, T., Tansley, S., &amp; Tolle, K. (eds.) The Fourth Paradigm: Data-Intensive Scientific Discovery. Microsoft Research, 2009. https://www.microsoft.com/en-us/research/publication/fourth-paradigm-data-intensive-scientific-discovery/</a:t>
            </a:r>
          </a:p>
          <a:p xmlns:a="http://schemas.openxmlformats.org/drawingml/2006/main">
            <a:r>
              <a:t>- Häse, F. et al. The future of self-driving laboratories: from human in the loop interactive AI to gamification. Digital Discovery 3, 2024. https://pubs.rsc.org/en/content/articlehtml/2024/dd/d4dd00040d</a:t>
            </a:r>
          </a:p>
          <a:p xmlns:a="http://schemas.openxmlformats.org/drawingml/2006/main">
            <a:r>
              <a:t>- Tom, G. et al. Self-Driving Laboratories for Chemistry and Materials Science. Chemical Reviews 124(16), 2024. https://pubs.acs.org/doi/10.1021/acs.chemrev.4c00055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讲解词：</a:t>
            </a:r>
          </a:p>
          <a:p xmlns:a="http://schemas.openxmlformats.org/drawingml/2006/main">
            <a:r>
              <a:t>一个容易被误解的地方在这里：范式变化并不意味着实验越来越不重要。恰恰相反，实验在新范式中更频繁、更系统，也更需要被清晰定义、严格记录和持续监督。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注解：</a:t>
            </a:r>
          </a:p>
          <a:p xmlns:a="http://schemas.openxmlformats.org/drawingml/2006/main">
            <a:r>
              <a:t>- 可与下一页“旧范式并未消失”连讲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参考来源：</a:t>
            </a:r>
          </a:p>
          <a:p xmlns:a="http://schemas.openxmlformats.org/drawingml/2006/main">
            <a:r>
              <a:t>- Kuhn, T. S. The Structure of Scientific Revolutions. University of Chicago Press, 1962/2012.</a:t>
            </a:r>
          </a:p>
          <a:p xmlns:a="http://schemas.openxmlformats.org/drawingml/2006/main">
            <a:r>
              <a:t>- Hey, T., Tansley, S., &amp; Tolle, K. (eds.) The Fourth Paradigm: Data-Intensive Scientific Discovery. Microsoft Research, 2009. https://www.microsoft.com/en-us/research/publication/fourth-paradigm-data-intensive-scientific-discovery/</a:t>
            </a:r>
          </a:p>
          <a:p xmlns:a="http://schemas.openxmlformats.org/drawingml/2006/main">
            <a:r>
              <a:t>- Häse, F. et al. The future of self-driving laboratories: from human in the loop interactive AI to gamification. Digital Discovery 3, 2024. https://pubs.rsc.org/en/content/articlehtml/2024/dd/d4dd00040d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讲解词：</a:t>
            </a:r>
          </a:p>
          <a:p xmlns:a="http://schemas.openxmlformats.org/drawingml/2006/main">
            <a:r>
              <a:t>更稳妥的讲法不是‘新范式取代旧范式’，而是旧范式被重新组织：经验仍然重要，理论仍然提供约束，计算仍然参与筛选，只是现在它们被接入了一个更强的数据化和闭环化系统。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注解：</a:t>
            </a:r>
          </a:p>
          <a:p xmlns:a="http://schemas.openxmlformats.org/drawingml/2006/main">
            <a:r>
              <a:t>- 这页可直接回应“旧范式会不会死”这一类问题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参考来源：</a:t>
            </a:r>
          </a:p>
          <a:p xmlns:a="http://schemas.openxmlformats.org/drawingml/2006/main">
            <a:r>
              <a:t>- Kuhn, T. S. The Structure of Scientific Revolutions. University of Chicago Press, 1962/2012.</a:t>
            </a:r>
          </a:p>
          <a:p xmlns:a="http://schemas.openxmlformats.org/drawingml/2006/main">
            <a:r>
              <a:t>- Hey, T., Tansley, S., &amp; Tolle, K. (eds.) The Fourth Paradigm: Data-Intensive Scientific Discovery. Microsoft Research, 2009. https://www.microsoft.com/en-us/research/publication/fourth-paradigm-data-intensive-scientific-discovery/</a:t>
            </a:r>
          </a:p>
          <a:p xmlns:a="http://schemas.openxmlformats.org/drawingml/2006/main">
            <a:r>
              <a:t>- Tom, G. et al. Self-Driving Laboratories for Chemistry and Materials Science. Chemical Reviews 124(16), 2024. https://pubs.acs.org/doi/10.1021/acs.chemrev.4c00055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讲解词：</a:t>
            </a:r>
          </a:p>
          <a:p xmlns:a="http://schemas.openxmlformats.org/drawingml/2006/main">
            <a:r>
              <a:t>这里开始转向另一类问题：传统研究常把重点放在解释已有结果；到 SDL 这里，重点开始前移到下一轮实验如何被设计、被推荐、被执行。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注解：</a:t>
            </a:r>
          </a:p>
          <a:p xmlns:a="http://schemas.openxmlformats.org/drawingml/2006/main">
            <a:r>
              <a:t>- 建议此页稍停顿，作为章节转场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节奏建议：</a:t>
            </a:r>
          </a:p>
          <a:p xmlns:a="http://schemas.openxmlformats.org/drawingml/2006/main">
            <a:r>
              <a:t>30–45 秒；停一下，让听众感到问题正在转向。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参考来源：</a:t>
            </a:r>
          </a:p>
          <a:p xmlns:a="http://schemas.openxmlformats.org/drawingml/2006/main">
            <a:r>
              <a:t>- Hey, T., Tansley, S., &amp; Tolle, K. (eds.) The Fourth Paradigm: Data-Intensive Scientific Discovery. Microsoft Research, 2009. https://www.microsoft.com/en-us/research/publication/fourth-paradigm-data-intensive-scientific-discovery/</a:t>
            </a:r>
          </a:p>
          <a:p xmlns:a="http://schemas.openxmlformats.org/drawingml/2006/main">
            <a:r>
              <a:t>- Tom, G. et al. Self-Driving Laboratories for Chemistry and Materials Science. Chemical Reviews 124(16), 2024. https://pubs.acs.org/doi/10.1021/acs.chemrev.4c00055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讲解词：</a:t>
            </a:r>
          </a:p>
          <a:p xmlns:a="http://schemas.openxmlformats.org/drawingml/2006/main">
            <a:r>
              <a:t>这一部分换一个视角来组织材料科学：不是按金属、陶瓷或半导体分，而是按实验类型分。这样更容易看清实验输出、方法选择和 SDL 适配度之间的关系。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注解：</a:t>
            </a:r>
          </a:p>
          <a:p xmlns:a="http://schemas.openxmlformats.org/drawingml/2006/main">
            <a:r>
              <a:t>- taxonomy（分类框架）</a:t>
            </a:r>
          </a:p>
          <a:p xmlns:a="http://schemas.openxmlformats.org/drawingml/2006/main">
            <a:r>
              <a:t>- catalog（目录学）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参考来源：</a:t>
            </a:r>
          </a:p>
          <a:p xmlns:a="http://schemas.openxmlformats.org/drawingml/2006/main">
            <a:r>
              <a:t>- NIST Material Schema: Process. https://pages.nist.gov/material-schema/Process/</a:t>
            </a:r>
          </a:p>
          <a:p xmlns:a="http://schemas.openxmlformats.org/drawingml/2006/main">
            <a:r>
              <a:t>- EMMC CHADA / CHAMEO. https://emmc.eu/moda-chada/chada/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讲解词：</a:t>
            </a:r>
          </a:p>
          <a:p xmlns:a="http://schemas.openxmlformats.org/drawingml/2006/main">
            <a:r>
              <a:t>这一页可以看成全讲的骨架图：实验不是孤立动作，而是连接问题、样品、观测、数据、模型和决策的中心节点。后面讲 SDL，本质上就是在改造这张网里若干关键连接。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注解：</a:t>
            </a:r>
          </a:p>
          <a:p xmlns:a="http://schemas.openxmlformats.org/drawingml/2006/main">
            <a:r>
              <a:t>- objective / measurement / decision 三者需要当场区分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参考来源：</a:t>
            </a:r>
          </a:p>
          <a:p xmlns:a="http://schemas.openxmlformats.org/drawingml/2006/main">
            <a:r>
              <a:t>- NIST Material Schema: Process. https://pages.nist.gov/material-schema/Process/</a:t>
            </a:r>
          </a:p>
          <a:p xmlns:a="http://schemas.openxmlformats.org/drawingml/2006/main">
            <a:r>
              <a:t>- EMMC CHADA / CHAMEO. https://emmc.eu/moda-chada/chada/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讲解词：</a:t>
            </a:r>
          </a:p>
          <a:p xmlns:a="http://schemas.openxmlformats.org/drawingml/2006/main">
            <a:r>
              <a:t>这八类实验不是互斥的，而是从实验目的出发的组织方式。这样分类的最大好处，是能直接连接到输出数据类型和 SDL 适配度，而不是停留在学科目录层面。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注解：</a:t>
            </a:r>
          </a:p>
          <a:p xmlns:a="http://schemas.openxmlformats.org/drawingml/2006/main">
            <a:r>
              <a:t>- NIST Material Schemas（美国国家标准与技术研究院材料模式）提供了重要启发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参考来源：</a:t>
            </a:r>
          </a:p>
          <a:p xmlns:a="http://schemas.openxmlformats.org/drawingml/2006/main">
            <a:r>
              <a:t>- NIST Material Schema: Process. https://pages.nist.gov/material-schema/Process/</a:t>
            </a:r>
          </a:p>
          <a:p xmlns:a="http://schemas.openxmlformats.org/drawingml/2006/main">
            <a:r>
              <a:t>- EMMC CHADA / CHAMEO. https://emmc.eu/moda-chada/chada/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讲解词：</a:t>
            </a:r>
          </a:p>
          <a:p xmlns:a="http://schemas.openxmlformats.org/drawingml/2006/main">
            <a:r>
              <a:t>前四类可以连成材料研究的上半程：先把样品做出来，再通过加工把状态调到合适区间，再通过表征知道它是什么，再通过测量知道它具有什么性质。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注解：</a:t>
            </a:r>
          </a:p>
          <a:p xmlns:a="http://schemas.openxmlformats.org/drawingml/2006/main">
            <a:r>
              <a:t>- CVD（Chemical Vapor Deposition，化学气相沉积）</a:t>
            </a:r>
          </a:p>
          <a:p xmlns:a="http://schemas.openxmlformats.org/drawingml/2006/main">
            <a:r>
              <a:t>- PVD（Physical Vapor Deposition，物理气相沉积）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参考来源：</a:t>
            </a:r>
          </a:p>
          <a:p xmlns:a="http://schemas.openxmlformats.org/drawingml/2006/main">
            <a:r>
              <a:t>- NIST Material Schema: Process. https://pages.nist.gov/material-schema/Process/</a:t>
            </a:r>
          </a:p>
          <a:p xmlns:a="http://schemas.openxmlformats.org/drawingml/2006/main">
            <a:r>
              <a:t>- EMMC CHADA / CHAMEO. https://emmc.eu/moda-chada/chada/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讲解词：</a:t>
            </a:r>
          </a:p>
          <a:p xmlns:a="http://schemas.openxmlformats.org/drawingml/2006/main">
            <a:r>
              <a:t>后四类提醒我们，优化不是终点。功能、可靠性、计量和校准共同决定结果是否可信。SDL 如果只会加速试验，而不管校准和失效，最后很容易跑得快但结论不稳。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注解：</a:t>
            </a:r>
          </a:p>
          <a:p xmlns:a="http://schemas.openxmlformats.org/drawingml/2006/main">
            <a:r>
              <a:t>- active learning（主动学习）</a:t>
            </a:r>
          </a:p>
          <a:p xmlns:a="http://schemas.openxmlformats.org/drawingml/2006/main">
            <a:r>
              <a:t>- high-throughput experimentation（高通量实验）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参考来源：</a:t>
            </a:r>
          </a:p>
          <a:p xmlns:a="http://schemas.openxmlformats.org/drawingml/2006/main">
            <a:r>
              <a:t>- NIST Material Schema: Process. https://pages.nist.gov/material-schema/Process/</a:t>
            </a:r>
          </a:p>
          <a:p xmlns:a="http://schemas.openxmlformats.org/drawingml/2006/main">
            <a:r>
              <a:t>- EMMC CHADA / CHAMEO. https://emmc.eu/moda-chada/chada/</a:t>
            </a:r>
          </a:p>
          <a:p xmlns:a="http://schemas.openxmlformats.org/drawingml/2006/main">
            <a:r>
              <a:t>- Tom, G. et al. Self-Driving Laboratories for Chemistry and Materials Science. Chemical Reviews 124(16), 2024. https://pubs.acs.org/doi/10.1021/acs.chemrev.4c00055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讲解词：</a:t>
            </a:r>
          </a:p>
          <a:p xmlns:a="http://schemas.openxmlformats.org/drawingml/2006/main">
            <a:r>
              <a:t>这里要把讨论从“优化一个分数”拉出来。真实实验输出可能是谱图、图像、曲线或寿命分布；SDL 的一个核心难点，就是如何把这些复杂观测转成可比较、可决策的对象。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注解：</a:t>
            </a:r>
          </a:p>
          <a:p xmlns:a="http://schemas.openxmlformats.org/drawingml/2006/main">
            <a:r>
              <a:t>- observation model（观测模型）</a:t>
            </a:r>
          </a:p>
          <a:p xmlns:a="http://schemas.openxmlformats.org/drawingml/2006/main">
            <a:r>
              <a:t>- objective function（目标函数）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参考来源：</a:t>
            </a:r>
          </a:p>
          <a:p xmlns:a="http://schemas.openxmlformats.org/drawingml/2006/main">
            <a:r>
              <a:t>- NIST Material Schema: Process. https://pages.nist.gov/material-schema/Process/</a:t>
            </a:r>
          </a:p>
          <a:p xmlns:a="http://schemas.openxmlformats.org/drawingml/2006/main">
            <a:r>
              <a:t>- Tom, G. et al. Self-Driving Laboratories for Chemistry and Materials Science. Chemical Reviews 124(16), 2024. https://pubs.acs.org/doi/10.1021/acs.chemrev.4c00055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讲解词：</a:t>
            </a:r>
          </a:p>
          <a:p xmlns:a="http://schemas.openxmlformats.org/drawingml/2006/main">
            <a:r>
              <a:t>这里先把一个误解拿掉：SDL 不是从天而降的新大陆。它和试错法、DOE 有明确的历史连续性，只是把实验设计、数据更新和推荐机制推进到了新的组织层级。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注解：</a:t>
            </a:r>
          </a:p>
          <a:p xmlns:a="http://schemas.openxmlformats.org/drawingml/2006/main">
            <a:r>
              <a:t>- 试错法、启发式方法、DOE（实验设计）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节奏建议：</a:t>
            </a:r>
          </a:p>
          <a:p xmlns:a="http://schemas.openxmlformats.org/drawingml/2006/main">
            <a:r>
              <a:t>1 分钟转场；从实验地位切入方法论历史。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参考来源：</a:t>
            </a:r>
          </a:p>
          <a:p xmlns:a="http://schemas.openxmlformats.org/drawingml/2006/main">
            <a:r>
              <a:t>- Fisher, R. A. The Design of Experiments. Oliver &amp; Boyd, 1935.</a:t>
            </a:r>
          </a:p>
          <a:p xmlns:a="http://schemas.openxmlformats.org/drawingml/2006/main">
            <a:r>
              <a:t>- Box, G. E. P., Hunter, W. G., &amp; Hunter, J. S. Statistics for Experimenters. Wiley, 1978/2005.</a:t>
            </a:r>
          </a:p>
          <a:p xmlns:a="http://schemas.openxmlformats.org/drawingml/2006/main">
            <a:r>
              <a:t>- Desimpel, R. et al. Bayesian optimization for chemical reactions. Chemical Society Reviews 55, 2026. https://pubs.rsc.org/en/content/articlehtml/2026/cs/d5cs00962f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讲解词：</a:t>
            </a:r>
          </a:p>
          <a:p xmlns:a="http://schemas.openxmlformats.org/drawingml/2006/main">
            <a:r>
              <a:t>试错法长期存在，不是因为大家不懂方法，而是因为经验、直觉和局部反馈在很多实验里确实有用。它的问题不在于低级，而在于面对高维、昂贵、多约束问题时很难扩展。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注解：</a:t>
            </a:r>
          </a:p>
          <a:p xmlns:a="http://schemas.openxmlformats.org/drawingml/2006/main">
            <a:r>
              <a:t>- heuristics（启发式方法）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参考来源：</a:t>
            </a:r>
          </a:p>
          <a:p xmlns:a="http://schemas.openxmlformats.org/drawingml/2006/main">
            <a:r>
              <a:t>- Box, G. E. P., Hunter, W. G., &amp; Hunter, J. S. Statistics for Experimenters. Wiley, 1978/2005.</a:t>
            </a:r>
          </a:p>
          <a:p xmlns:a="http://schemas.openxmlformats.org/drawingml/2006/main">
            <a:r>
              <a:t>- Montgomery, D. C. Design and Analysis of Experiments. Wiley, 2017.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讲解词：</a:t>
            </a:r>
          </a:p>
          <a:p xmlns:a="http://schemas.openxmlformats.org/drawingml/2006/main">
            <a:r>
              <a:t>如果把 DOE 只讲成几种设计表，那就低估它了。DOE 真正留下来的，是一种很强的方法论意识：预算有限时，实验不能乱做，而要设计成一轮一轮能学到东西的过程。这一点和后面的 SDL 是接得上的。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注解：</a:t>
            </a:r>
          </a:p>
          <a:p xmlns:a="http://schemas.openxmlformats.org/drawingml/2006/main">
            <a:r>
              <a:t>- R. A. Fisher（费舍尔）</a:t>
            </a:r>
          </a:p>
          <a:p xmlns:a="http://schemas.openxmlformats.org/drawingml/2006/main">
            <a:r>
              <a:t>- George Box（乔治·博克斯）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建议图表：</a:t>
            </a:r>
          </a:p>
          <a:p xmlns:a="http://schemas.openxmlformats.org/drawingml/2006/main">
            <a:r>
              <a:t>- 建议引用 Fisher《The Design of Experiments》书影，作为 DOE 起点的原始出处提示。</a:t>
            </a:r>
          </a:p>
          <a:p xmlns:a="http://schemas.openxmlformats.org/drawingml/2006/main">
            <a:r>
              <a:t>- 建议引用 Box, Hunter &amp; Hunter《Statistics for Experimenters》封面或目录页，配合说明 DOE 从统计设计走向序贯学习。</a:t>
            </a:r>
          </a:p>
          <a:p xmlns:a="http://schemas.openxmlformats.org/drawingml/2006/main">
            <a:r>
              <a:t>- 若要加方法图，优先选 Montgomery《Design and Analysis of Experiments》中响应面或因子设计总览图。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参考来源：</a:t>
            </a:r>
          </a:p>
          <a:p xmlns:a="http://schemas.openxmlformats.org/drawingml/2006/main">
            <a:r>
              <a:t>- Fisher, R. A. The Design of Experiments. Oliver &amp; Boyd, 1935.</a:t>
            </a:r>
          </a:p>
          <a:p xmlns:a="http://schemas.openxmlformats.org/drawingml/2006/main">
            <a:r>
              <a:t>- Box, G. E. P., Hunter, W. G., &amp; Hunter, J. S. Statistics for Experimenters. Wiley, 1978/2005.</a:t>
            </a:r>
          </a:p>
          <a:p xmlns:a="http://schemas.openxmlformats.org/drawingml/2006/main">
            <a:r>
              <a:t>- Montgomery, D. C. Design and Analysis of Experiments. Wiley, 2017.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讲解词：</a:t>
            </a:r>
          </a:p>
          <a:p xmlns:a="http://schemas.openxmlformats.org/drawingml/2006/main">
            <a:r>
              <a:t>DOE 的根本贡献不是省几个点，而是把实验设计本身变成可推理对象。它关心的不只是结果，更关心为什么这样采样、哪些因素重要、哪些交互值得追踪。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注解：</a:t>
            </a:r>
          </a:p>
          <a:p xmlns:a="http://schemas.openxmlformats.org/drawingml/2006/main">
            <a:r>
              <a:t>- Box–Behnken design（Box–Behnken 设计）</a:t>
            </a:r>
          </a:p>
          <a:p xmlns:a="http://schemas.openxmlformats.org/drawingml/2006/main">
            <a:r>
              <a:t>- Response Surface Methodology（响应面方法）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参考来源：</a:t>
            </a:r>
          </a:p>
          <a:p xmlns:a="http://schemas.openxmlformats.org/drawingml/2006/main">
            <a:r>
              <a:t>- Box, G. E. P., Hunter, W. G., &amp; Hunter, J. S. Statistics for Experimenters. Wiley, 1978/2005.</a:t>
            </a:r>
          </a:p>
          <a:p xmlns:a="http://schemas.openxmlformats.org/drawingml/2006/main">
            <a:r>
              <a:t>- Montgomery, D. C. Design and Analysis of Experiments. Wiley, 2017.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讲解词：</a:t>
            </a:r>
          </a:p>
          <a:p xmlns:a="http://schemas.openxmlformats.org/drawingml/2006/main">
            <a:r>
              <a:t>这里最重要的是阶段感。筛选阶段、建模阶段和局部优化阶段面对的问题并不一样，所以用的 DOE 也不一样。方法要跟着问题走，而不是先抱住某个设计名词。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注解：</a:t>
            </a:r>
          </a:p>
          <a:p xmlns:a="http://schemas.openxmlformats.org/drawingml/2006/main">
            <a:r>
              <a:t>- factor screening（因素筛选）</a:t>
            </a:r>
          </a:p>
          <a:p xmlns:a="http://schemas.openxmlformats.org/drawingml/2006/main">
            <a:r>
              <a:t>- response surface（响应面）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参考来源：</a:t>
            </a:r>
          </a:p>
          <a:p xmlns:a="http://schemas.openxmlformats.org/drawingml/2006/main">
            <a:r>
              <a:t>- Box, G. E. P., Hunter, W. G., &amp; Hunter, J. S. Statistics for Experimenters. Wiley, 1978/2005.</a:t>
            </a:r>
          </a:p>
          <a:p xmlns:a="http://schemas.openxmlformats.org/drawingml/2006/main">
            <a:r>
              <a:t>- Montgomery, D. C. Design and Analysis of Experiments. Wiley, 2017.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讲解词：</a:t>
            </a:r>
          </a:p>
          <a:p xmlns:a="http://schemas.openxmlformats.org/drawingml/2006/main">
            <a:r>
              <a:t>这六个词看起来基础，但后面 SDL 里的 objective、constraint、measurement、parameter space 都建立在这里。如果这里不分清，后面就很容易把响应和目标、变量和约束混为一谈。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注解：</a:t>
            </a:r>
          </a:p>
          <a:p xmlns:a="http://schemas.openxmlformats.org/drawingml/2006/main">
            <a:r>
              <a:t>- factor（因素）</a:t>
            </a:r>
          </a:p>
          <a:p xmlns:a="http://schemas.openxmlformats.org/drawingml/2006/main">
            <a:r>
              <a:t>- response（响应）</a:t>
            </a:r>
          </a:p>
          <a:p xmlns:a="http://schemas.openxmlformats.org/drawingml/2006/main">
            <a:r>
              <a:t>- constraint（约束）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参考来源：</a:t>
            </a:r>
          </a:p>
          <a:p xmlns:a="http://schemas.openxmlformats.org/drawingml/2006/main">
            <a:r>
              <a:t>- Fisher, R. A. The Design of Experiments. Oliver &amp; Boyd, 1935.</a:t>
            </a:r>
          </a:p>
          <a:p xmlns:a="http://schemas.openxmlformats.org/drawingml/2006/main">
            <a:r>
              <a:t>- Box, G. E. P., Hunter, W. G., &amp; Hunter, J. S. Statistics for Experimenters. Wiley, 1978/2005.</a:t>
            </a:r>
          </a:p>
          <a:p xmlns:a="http://schemas.openxmlformats.org/drawingml/2006/main">
            <a:r>
              <a:t>- Montgomery, D. C. Design and Analysis of Experiments. Wiley, 2017.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讲解词：</a:t>
            </a:r>
          </a:p>
          <a:p xmlns:a="http://schemas.openxmlformats.org/drawingml/2006/main">
            <a:r>
              <a:t>更接近真实研究现场的讲法不是高下之分，而是连续谱：先靠经验摸边界，再用 DOE 组织设计，最后才在最昂贵、最关键的那段空间里上 SDL。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注解：</a:t>
            </a:r>
          </a:p>
          <a:p xmlns:a="http://schemas.openxmlformats.org/drawingml/2006/main">
            <a:r>
              <a:t>- 不要把 SDL 讲成“万能替代者”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参考来源：</a:t>
            </a:r>
          </a:p>
          <a:p xmlns:a="http://schemas.openxmlformats.org/drawingml/2006/main">
            <a:r>
              <a:t>- Box, G. E. P., Hunter, W. G., &amp; Hunter, J. S. Statistics for Experimenters. Wiley, 1978/2005.</a:t>
            </a:r>
          </a:p>
          <a:p xmlns:a="http://schemas.openxmlformats.org/drawingml/2006/main">
            <a:r>
              <a:t>- Montgomery, D. C. Design and Analysis of Experiments. Wiley, 2017.</a:t>
            </a:r>
          </a:p>
          <a:p xmlns:a="http://schemas.openxmlformats.org/drawingml/2006/main">
            <a:r>
              <a:t>- Desimpel, R. et al. Bayesian optimization for chemical reactions. Chemical Society Reviews 55, 2026. https://pubs.rsc.org/en/content/articlehtml/2026/cs/d5cs00962f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讲解词：</a:t>
            </a:r>
          </a:p>
          <a:p xmlns:a="http://schemas.openxmlformats.org/drawingml/2006/main">
            <a:r>
              <a:t>如果只用一句话概括这条方法论演化线，我会说：变化最大的是下一步实验的提出机制。从人提出、到设计提出、再到模型在闭环中提出，这改变了实验决策的来源与依据。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注解：</a:t>
            </a:r>
          </a:p>
          <a:p xmlns:a="http://schemas.openxmlformats.org/drawingml/2006/main">
            <a:r>
              <a:t>- next experiment recommendation（下一实验推荐）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参考来源：</a:t>
            </a:r>
          </a:p>
          <a:p xmlns:a="http://schemas.openxmlformats.org/drawingml/2006/main">
            <a:r>
              <a:t>- Box, G. E. P., Hunter, W. G., &amp; Hunter, J. S. Statistics for Experimenters. Wiley, 1978/2005.</a:t>
            </a:r>
          </a:p>
          <a:p xmlns:a="http://schemas.openxmlformats.org/drawingml/2006/main">
            <a:r>
              <a:t>- Shahriari, B. et al. Taking the Human Out of the Loop: A Review of Bayesian Optimization. Proceedings of the IEEE 104(1), 2016.</a:t>
            </a:r>
          </a:p>
          <a:p xmlns:a="http://schemas.openxmlformats.org/drawingml/2006/main">
            <a:r>
              <a:t>- Desimpel, R. et al. Bayesian optimization for chemical reactions. Chemical Society Reviews 55, 2026. https://pubs.rsc.org/en/content/articlehtml/2026/cs/d5cs00962f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讲解词：</a:t>
            </a:r>
          </a:p>
          <a:p xmlns:a="http://schemas.openxmlformats.org/drawingml/2006/main">
            <a:r>
              <a:t>我对这个问题的判断很明确：DOE 不会死。更好的问法是，它会以什么方式继续存在。通常就是三种：串联、并联、集成。很多 SDL 工作流内部，本来就还在用 DOE 的语言、初始化和结构化采样思想。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注解：</a:t>
            </a:r>
          </a:p>
          <a:p xmlns:a="http://schemas.openxmlformats.org/drawingml/2006/main">
            <a:r>
              <a:t>- 这页可直接回应“AI 时代 DOE 是否过时”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参考来源：</a:t>
            </a:r>
          </a:p>
          <a:p xmlns:a="http://schemas.openxmlformats.org/drawingml/2006/main">
            <a:r>
              <a:t>- Fisher, R. A. The Design of Experiments. Oliver &amp; Boyd, 1935.</a:t>
            </a:r>
          </a:p>
          <a:p xmlns:a="http://schemas.openxmlformats.org/drawingml/2006/main">
            <a:r>
              <a:t>- Box, G. E. P., Hunter, W. G., &amp; Hunter, J. S. Statistics for Experimenters. Wiley, 1978/2005.</a:t>
            </a:r>
          </a:p>
          <a:p xmlns:a="http://schemas.openxmlformats.org/drawingml/2006/main">
            <a:r>
              <a:t>- Desimpel, R. et al. Bayesian optimization for chemical reactions. Chemical Society Reviews 55, 2026. https://pubs.rsc.org/en/content/articlehtml/2026/cs/d5cs00962f</a:t>
            </a:r>
          </a:p>
          <a:p xmlns:a="http://schemas.openxmlformats.org/drawingml/2006/main">
            <a:r>
              <a:t>- Shahriari, B. et al. Taking the Human Out of the Loop: A Review of Bayesian Optimization. Proceedings of the IEEE 104(1), 2016.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讲解词：</a:t>
            </a:r>
          </a:p>
          <a:p xmlns:a="http://schemas.openxmlformats.org/drawingml/2006/main">
            <a:r>
              <a:t>在从 DOE 转入 SDL 之前，我想补一条更底层的主线：真正的研究不是‘挑一个优化器’开始的，而是先把问题翻译成可执行设计。前四步负责定义问题、组织变量、校准测量和排查流程缺陷，它们是后面所有高级方法的承重墙。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注解：</a:t>
            </a:r>
          </a:p>
          <a:p xmlns:a="http://schemas.openxmlformats.org/drawingml/2006/main">
            <a:r>
              <a:t>- workflow discipline（工作流纪律）</a:t>
            </a:r>
          </a:p>
          <a:p xmlns:a="http://schemas.openxmlformats.org/drawingml/2006/main">
            <a:r>
              <a:t>- pilot study（预实验）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节奏建议：</a:t>
            </a:r>
          </a:p>
          <a:p xmlns:a="http://schemas.openxmlformats.org/drawingml/2006/main">
            <a:r>
              <a:t>2–3 分钟；作为 DOE 与 SDL 之间的桥，不展开成方法细节课。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参考来源：</a:t>
            </a:r>
          </a:p>
          <a:p xmlns:a="http://schemas.openxmlformats.org/drawingml/2006/main">
            <a:r>
              <a:t>- Hacking, I. Representing and Intervening. Cambridge University Press, 1983.</a:t>
            </a:r>
          </a:p>
          <a:p xmlns:a="http://schemas.openxmlformats.org/drawingml/2006/main">
            <a:r>
              <a:t>- Fisher, R. A. The Design of Experiments. Oliver &amp; Boyd, 1935.</a:t>
            </a:r>
          </a:p>
          <a:p xmlns:a="http://schemas.openxmlformats.org/drawingml/2006/main">
            <a:r>
              <a:t>- Box, G. E. P., Hunter, W. G., &amp; Hunter, J. S. Statistics for Experimenters. Wiley, 1978/2005.</a:t>
            </a:r>
          </a:p>
          <a:p xmlns:a="http://schemas.openxmlformats.org/drawingml/2006/main">
            <a:r>
              <a:t>- Montgomery, D. C. Design and Analysis of Experiments. Wiley, 2017.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讲解词：</a:t>
            </a:r>
          </a:p>
          <a:p xmlns:a="http://schemas.openxmlformats.org/drawingml/2006/main">
            <a:r>
              <a:t>真正让一个实验站得住的，往往不是第一个漂亮结果，而是后四步：执行是否守纪律，数据是否留痕，统计是否按计划，报告是否诚实。很多所谓‘AI 时代的方法创新’，最后都败在这些最传统的科研纪律上。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注解：</a:t>
            </a:r>
          </a:p>
          <a:p xmlns:a="http://schemas.openxmlformats.org/drawingml/2006/main">
            <a:r>
              <a:t>- data provenance（数据来源留痕）</a:t>
            </a:r>
          </a:p>
          <a:p xmlns:a="http://schemas.openxmlformats.org/drawingml/2006/main">
            <a:r>
              <a:t>- effect size（效应量）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节奏建议：</a:t>
            </a:r>
          </a:p>
          <a:p xmlns:a="http://schemas.openxmlformats.org/drawingml/2006/main">
            <a:r>
              <a:t>2–3 分钟；强调可信与可复现，而不是堆更多术语。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参考来源：</a:t>
            </a:r>
          </a:p>
          <a:p xmlns:a="http://schemas.openxmlformats.org/drawingml/2006/main">
            <a:r>
              <a:t>- Box, G. E. P., Hunter, W. G., &amp; Hunter, J. S. Statistics for Experimenters. Wiley, 1978/2005.</a:t>
            </a:r>
          </a:p>
          <a:p xmlns:a="http://schemas.openxmlformats.org/drawingml/2006/main">
            <a:r>
              <a:t>- Montgomery, D. C. Design and Analysis of Experiments. Wiley, 2017.</a:t>
            </a:r>
          </a:p>
          <a:p xmlns:a="http://schemas.openxmlformats.org/drawingml/2006/main">
            <a:r>
              <a:t>- Tom, G. et al. Self-Driving Laboratories for Chemistry and Materials Science. Chemical Reviews 124(16), 2024. https://pubs.acs.org/doi/10.1021/acs.chemrev.4c00055</a:t>
            </a:r>
          </a:p>
          <a:p xmlns:a="http://schemas.openxmlformats.org/drawingml/2006/main">
            <a:r>
              <a:t>- Häse, F. et al. The future of self-driving laboratories: from human in the loop interactive AI to gamification. Digital Discovery 3, 2024. https://pubs.rsc.org/en/content/articlehtml/2024/dd/d4dd00040d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讲解词：</a:t>
            </a:r>
          </a:p>
          <a:p xmlns:a="http://schemas.openxmlformats.org/drawingml/2006/main">
            <a:r>
              <a:t>这页是桥接结论。DOE 更像把问题翻译成统计设计，SDL 更像把其中若干决策节点高速闭环化，而真正不能外包的仍是问题定义、测量语义和结论责任。这样一来，后面讲 SDL 就不会悬空在半空中。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注解：</a:t>
            </a:r>
          </a:p>
          <a:p xmlns:a="http://schemas.openxmlformats.org/drawingml/2006/main">
            <a:r>
              <a:t>- human-in-the-loop（人仍在决策环中）</a:t>
            </a:r>
          </a:p>
          <a:p xmlns:a="http://schemas.openxmlformats.org/drawingml/2006/main">
            <a:r>
              <a:t>- scientific accountability（科学责任）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参考来源：</a:t>
            </a:r>
          </a:p>
          <a:p xmlns:a="http://schemas.openxmlformats.org/drawingml/2006/main">
            <a:r>
              <a:t>- Hacking, I. Representing and Intervening. Cambridge University Press, 1983.</a:t>
            </a:r>
          </a:p>
          <a:p xmlns:a="http://schemas.openxmlformats.org/drawingml/2006/main">
            <a:r>
              <a:t>- Box, G. E. P., Hunter, W. G., &amp; Hunter, J. S. Statistics for Experimenters. Wiley, 1978/2005.</a:t>
            </a:r>
          </a:p>
          <a:p xmlns:a="http://schemas.openxmlformats.org/drawingml/2006/main">
            <a:r>
              <a:t>- Montgomery, D. C. Design and Analysis of Experiments. Wiley, 2017.</a:t>
            </a:r>
          </a:p>
          <a:p xmlns:a="http://schemas.openxmlformats.org/drawingml/2006/main">
            <a:r>
              <a:t>- Tom, G. et al. Self-Driving Laboratories for Chemistry and Materials Science. Chemical Reviews 124(16), 2024. https://pubs.acs.org/doi/10.1021/acs.chemrev.4c00055</a:t>
            </a:r>
          </a:p>
          <a:p xmlns:a="http://schemas.openxmlformats.org/drawingml/2006/main">
            <a:r>
              <a:t>- Häse, F. et al. The future of self-driving laboratories: from human in the loop interactive AI to gamification. Digital Discovery 3, 2024. https://pubs.rsc.org/en/content/articlehtml/2024/dd/d4dd00040d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讲解词：</a:t>
            </a:r>
          </a:p>
          <a:p xmlns:a="http://schemas.openxmlformats.org/drawingml/2006/main">
            <a:r>
              <a:t>从这里开始，重点不再是某个模型名字，而是一个可运行的实验闭环怎样由软件、硬件、数据、模型和人类监督共同构成。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注解：</a:t>
            </a:r>
          </a:p>
          <a:p xmlns:a="http://schemas.openxmlformats.org/drawingml/2006/main">
            <a:r>
              <a:t>- Self-Driving Labs（自驱实验室，SDL）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节奏建议：</a:t>
            </a:r>
          </a:p>
          <a:p xmlns:a="http://schemas.openxmlformats.org/drawingml/2006/main">
            <a:r>
              <a:t>1 分钟转场；提醒听众现在开始从 DOE 进入 SDL。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参考来源：</a:t>
            </a:r>
          </a:p>
          <a:p xmlns:a="http://schemas.openxmlformats.org/drawingml/2006/main">
            <a:r>
              <a:t>- Tom, G. et al. Self-Driving Laboratories for Chemistry and Materials Science. Chemical Reviews 124(16), 2024. https://pubs.acs.org/doi/10.1021/acs.chemrev.4c00055</a:t>
            </a:r>
          </a:p>
          <a:p xmlns:a="http://schemas.openxmlformats.org/drawingml/2006/main">
            <a:r>
              <a:t>- Stach, E. A. et al. The rise of self-driving labs in chemical and materials sciences. Nature Synthesis 2, 2023. https://www.nature.com/articles/s44160-022-00231-0</a:t>
            </a:r>
          </a:p>
          <a:p xmlns:a="http://schemas.openxmlformats.org/drawingml/2006/main">
            <a:r>
              <a:t>- Häse, F. et al. The future of self-driving laboratories: from human in the loop interactive AI to gamification. Digital Discovery 3, 2024. https://pubs.rsc.org/en/content/articlehtml/2024/dd/d4dd00040d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讲解词：</a:t>
            </a:r>
          </a:p>
          <a:p xmlns:a="http://schemas.openxmlformats.org/drawingml/2006/main">
            <a:r>
              <a:t>在进 A-Lab 之前，我想先把视野拉宽一点。SDL 不是一条单线叙事，它至少覆盖反应优化、材料合成、自动化编排和低成本平台几条路线。这样看完再回到 A-Lab，才知道它重要在什么地方，也局限在什么地方。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注解：</a:t>
            </a:r>
          </a:p>
          <a:p xmlns:a="http://schemas.openxmlformats.org/drawingml/2006/main">
            <a:r>
              <a:t>- ChemOS（自动化实验编排平台）</a:t>
            </a:r>
          </a:p>
          <a:p xmlns:a="http://schemas.openxmlformats.org/drawingml/2006/main">
            <a:r>
              <a:t>- frugal twin（低成本孪生）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建议图表：</a:t>
            </a:r>
          </a:p>
          <a:p xmlns:a="http://schemas.openxmlformats.org/drawingml/2006/main">
            <a:r>
              <a:t>- 建议引用 Tom et al., Chemical Reviews (2024) 的 SDL 全景/分类综述图，作为领域地图主图候选。</a:t>
            </a:r>
          </a:p>
          <a:p xmlns:a="http://schemas.openxmlformats.org/drawingml/2006/main">
            <a:r>
              <a:t>- 建议引用 Digital Discovery (2024) community survey 中的系统类型或平台比较图/表，帮助说明领域并非只有 A-Lab 一条路线。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参考来源：</a:t>
            </a:r>
          </a:p>
          <a:p xmlns:a="http://schemas.openxmlformats.org/drawingml/2006/main">
            <a:r>
              <a:t>- Tom, G. et al. Self-Driving Laboratories for Chemistry and Materials Science. Chemical Reviews 124(16), 2024. https://pubs.acs.org/doi/10.1021/acs.chemrev.4c00055</a:t>
            </a:r>
          </a:p>
          <a:p xmlns:a="http://schemas.openxmlformats.org/drawingml/2006/main">
            <a:r>
              <a:t>- Stach, E. A. et al. The rise of self-driving labs in chemical and materials sciences. Nature Synthesis 2, 2023. https://www.nature.com/articles/s44160-022-00231-0</a:t>
            </a:r>
          </a:p>
          <a:p xmlns:a="http://schemas.openxmlformats.org/drawingml/2006/main">
            <a:r>
              <a:t>- Häse, F. et al. The future of self-driving laboratories: from human in the loop interactive AI to gamification. Digital Discovery 3, 2024. https://pubs.rsc.org/en/content/articlehtml/2024/dd/d4dd00040d</a:t>
            </a:r>
          </a:p>
          <a:p xmlns:a="http://schemas.openxmlformats.org/drawingml/2006/main">
            <a:r>
              <a:t>- Aguilar-Granda, A. et al. Review of low-cost self-driving laboratories in chemistry and materials science: the 'frugal twin' concept. Digital Discovery 3, 2024. https://pubs.rsc.org/en/content/articlehtml/2024/dd/d3dd00223c</a:t>
            </a:r>
          </a:p>
          <a:p xmlns:a="http://schemas.openxmlformats.org/drawingml/2006/main">
            <a:r>
              <a:t>- Autonomous laboratories for accelerated materials discovery: a community survey and practical insights. Digital Discovery, 2024. https://pubs.rsc.org/en/content/articlelanding/2024/dd/d4dd00059e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讲解词：</a:t>
            </a:r>
          </a:p>
          <a:p xmlns:a="http://schemas.openxmlformats.org/drawingml/2006/main">
            <a:r>
              <a:t>把 SDL 理解成‘用机器学习预测实验结果’，还是太浅了。真正关键的地方在于闭环：模型不只解释结果，还要参与下一步行动；而且这个行动必须真的能被执行、被观测、再被验证。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注解：</a:t>
            </a:r>
          </a:p>
          <a:p xmlns:a="http://schemas.openxmlformats.org/drawingml/2006/main">
            <a:r>
              <a:t>- closed-loop experimentation（闭环实验）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建议图表：</a:t>
            </a:r>
          </a:p>
          <a:p xmlns:a="http://schemas.openxmlformats.org/drawingml/2006/main">
            <a:r>
              <a:t>- 建议引用 Stach et al., Nature Synthesis (2023) 中 SDL 闭环 workflow 图，适合做这一页主图。</a:t>
            </a:r>
          </a:p>
          <a:p xmlns:a="http://schemas.openxmlformats.org/drawingml/2006/main">
            <a:r>
              <a:t>- 可备选 Tom et al., Chemical Reviews (2024) 中的 closed-loop experimentation schematic。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参考来源：</a:t>
            </a:r>
          </a:p>
          <a:p xmlns:a="http://schemas.openxmlformats.org/drawingml/2006/main">
            <a:r>
              <a:t>- Tom, G. et al. Self-Driving Laboratories for Chemistry and Materials Science. Chemical Reviews 124(16), 2024. https://pubs.acs.org/doi/10.1021/acs.chemrev.4c00055</a:t>
            </a:r>
          </a:p>
          <a:p xmlns:a="http://schemas.openxmlformats.org/drawingml/2006/main">
            <a:r>
              <a:t>- Stach, E. A. et al. The rise of self-driving labs in chemical and materials sciences. Nature Synthesis 2, 2023. https://www.nature.com/articles/s44160-022-00231-0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讲解词：</a:t>
            </a:r>
          </a:p>
          <a:p xmlns:a="http://schemas.openxmlformats.org/drawingml/2006/main">
            <a:r>
              <a:t>这一页其实就是后面看 Case Studio 的认知模板。只要把这五步记住，后面看到推荐点变化时，就不会把那理解成黑箱魔法，而会知道闭环到底在做什么。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注解：</a:t>
            </a:r>
          </a:p>
          <a:p xmlns:a="http://schemas.openxmlformats.org/drawingml/2006/main">
            <a:r>
              <a:t>- exploration vs exploitation（探索与利用）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参考来源：</a:t>
            </a:r>
          </a:p>
          <a:p xmlns:a="http://schemas.openxmlformats.org/drawingml/2006/main">
            <a:r>
              <a:t>- Tom, G. et al. Self-Driving Laboratories for Chemistry and Materials Science. Chemical Reviews 124(16), 2024. https://pubs.acs.org/doi/10.1021/acs.chemrev.4c00055</a:t>
            </a:r>
          </a:p>
          <a:p xmlns:a="http://schemas.openxmlformats.org/drawingml/2006/main">
            <a:r>
              <a:t>- Shahriari, B. et al. Taking the Human Out of the Loop: A Review of Bayesian Optimization. Proceedings of the IEEE 104(1), 2016.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讲解词：</a:t>
            </a:r>
          </a:p>
          <a:p xmlns:a="http://schemas.openxmlformats.org/drawingml/2006/main">
            <a:r>
              <a:t>这三个概念一定要分开：目标不一定能直接测，约束也不是附属条件，测量更不等于最终目标。很多高质量 SDL 设计，首先赢在这三者分得清楚。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注解：</a:t>
            </a:r>
          </a:p>
          <a:p xmlns:a="http://schemas.openxmlformats.org/drawingml/2006/main">
            <a:r>
              <a:t>- objective（目标）</a:t>
            </a:r>
          </a:p>
          <a:p xmlns:a="http://schemas.openxmlformats.org/drawingml/2006/main">
            <a:r>
              <a:t>- constraint（约束）</a:t>
            </a:r>
          </a:p>
          <a:p xmlns:a="http://schemas.openxmlformats.org/drawingml/2006/main">
            <a:r>
              <a:t>- measurement（测量）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参考来源：</a:t>
            </a:r>
          </a:p>
          <a:p xmlns:a="http://schemas.openxmlformats.org/drawingml/2006/main">
            <a:r>
              <a:t>- Tom, G. et al. Self-Driving Laboratories for Chemistry and Materials Science. Chemical Reviews 124(16), 2024. https://pubs.acs.org/doi/10.1021/acs.chemrev.4c00055</a:t>
            </a:r>
          </a:p>
          <a:p xmlns:a="http://schemas.openxmlformats.org/drawingml/2006/main">
            <a:r>
              <a:t>- NIST Material Schema: Process. https://pages.nist.gov/material-schema/Process/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讲解词：</a:t>
            </a:r>
          </a:p>
          <a:p xmlns:a="http://schemas.openxmlformats.org/drawingml/2006/main">
            <a:r>
              <a:t>这三者的关系可以讲得很清楚：代理模型负责形成当前知识地图，不确定性负责标出盲区，采集函数负责把目标和盲区综合成下一步行动。三者合起来，才构成推荐逻辑。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注解：</a:t>
            </a:r>
          </a:p>
          <a:p xmlns:a="http://schemas.openxmlformats.org/drawingml/2006/main">
            <a:r>
              <a:t>- Gaussian Process（高斯过程，GP）</a:t>
            </a:r>
          </a:p>
          <a:p xmlns:a="http://schemas.openxmlformats.org/drawingml/2006/main">
            <a:r>
              <a:t>- Expected Improvement（期望提升，EI）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参考来源：</a:t>
            </a:r>
          </a:p>
          <a:p xmlns:a="http://schemas.openxmlformats.org/drawingml/2006/main">
            <a:r>
              <a:t>- Shahriari, B. et al. Taking the Human Out of the Loop: A Review of Bayesian Optimization. Proceedings of the IEEE 104(1), 2016.</a:t>
            </a:r>
          </a:p>
          <a:p xmlns:a="http://schemas.openxmlformats.org/drawingml/2006/main">
            <a:r>
              <a:t>- Desimpel, R. et al. Bayesian optimization for chemical reactions. Chemical Society Reviews 55, 2026. https://pubs.rsc.org/en/content/articlehtml/2026/cs/d5cs00962f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讲解词：</a:t>
            </a:r>
          </a:p>
          <a:p xmlns:a="http://schemas.openxmlformats.org/drawingml/2006/main">
            <a:r>
              <a:t>代理模型怎么选，不能只看谁最流行，而要看你面对的到底是什么实验空间、什么数据量、什么变量类型。小样本昂贵实验常偏向 GP；一旦观测高维、结构复杂，就可能转向树模型、深模型或混合模型。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注解：</a:t>
            </a:r>
          </a:p>
          <a:p xmlns:a="http://schemas.openxmlformats.org/drawingml/2006/main">
            <a:r>
              <a:t>- surrogate model selection（代理模型选择）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建议图表：</a:t>
            </a:r>
          </a:p>
          <a:p xmlns:a="http://schemas.openxmlformats.org/drawingml/2006/main">
            <a:r>
              <a:t>- 建议引用 Shahriari et al., Proceedings of the IEEE (2016) 中 GP/BO 示意图，说明 surrogate 的经典语境。</a:t>
            </a:r>
          </a:p>
          <a:p xmlns:a="http://schemas.openxmlformats.org/drawingml/2006/main">
            <a:r>
              <a:t>- 若希望更贴近 SDL 语境，可引用 Chemical Reviews (2024) 中对 surrogate model 家族的总结表或分类图。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参考来源：</a:t>
            </a:r>
          </a:p>
          <a:p xmlns:a="http://schemas.openxmlformats.org/drawingml/2006/main">
            <a:r>
              <a:t>- Shahriari, B. et al. Taking the Human Out of the Loop: A Review of Bayesian Optimization. Proceedings of the IEEE 104(1), 2016.</a:t>
            </a:r>
          </a:p>
          <a:p xmlns:a="http://schemas.openxmlformats.org/drawingml/2006/main">
            <a:r>
              <a:t>- Desimpel, R. et al. Bayesian optimization for chemical reactions. Chemical Society Reviews 55, 2026. https://pubs.rsc.org/en/content/articlehtml/2026/cs/d5cs00962f</a:t>
            </a:r>
          </a:p>
          <a:p xmlns:a="http://schemas.openxmlformats.org/drawingml/2006/main">
            <a:r>
              <a:t>- Tom, G. et al. Self-Driving Laboratories for Chemistry and Materials Science. Chemical Reviews 124(16), 2024. https://pubs.acs.org/doi/10.1021/acs.chemrev.4c00055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讲解词：</a:t>
            </a:r>
          </a:p>
          <a:p xmlns:a="http://schemas.openxmlformats.org/drawingml/2006/main">
            <a:r>
              <a:t>这一页最重要的一句其实很简单：好的 SDL 不只是预测得准，而是知道自己哪里还不准。不确定性不是抽象形容词，它直接决定预算该往哪里投，哪些区域该继续探索，哪些区域可以先不碰。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注解：</a:t>
            </a:r>
          </a:p>
          <a:p xmlns:a="http://schemas.openxmlformats.org/drawingml/2006/main">
            <a:r>
              <a:t>- posterior variance（后验方差）</a:t>
            </a:r>
          </a:p>
          <a:p xmlns:a="http://schemas.openxmlformats.org/drawingml/2006/main">
            <a:r>
              <a:t>- calibration（校准）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建议图表：</a:t>
            </a:r>
          </a:p>
          <a:p xmlns:a="http://schemas.openxmlformats.org/drawingml/2006/main">
            <a:r>
              <a:t>- 建议引用 Shahriari et al. (2016) 中 GP posterior mean/variance 示意图，最适合解释 uncertainty 的可视化含义。</a:t>
            </a:r>
          </a:p>
          <a:p xmlns:a="http://schemas.openxmlformats.org/drawingml/2006/main">
            <a:r>
              <a:t>- 若强调 calibration，可补一张 BO/SDL 综述中的 uncertainty calibration 或 ensemble disagreement 示例图。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参考来源：</a:t>
            </a:r>
          </a:p>
          <a:p xmlns:a="http://schemas.openxmlformats.org/drawingml/2006/main">
            <a:r>
              <a:t>- Shahriari, B. et al. Taking the Human Out of the Loop: A Review of Bayesian Optimization. Proceedings of the IEEE 104(1), 2016.</a:t>
            </a:r>
          </a:p>
          <a:p xmlns:a="http://schemas.openxmlformats.org/drawingml/2006/main">
            <a:r>
              <a:t>- Desimpel, R. et al. Bayesian optimization for chemical reactions. Chemical Society Reviews 55, 2026. https://pubs.rsc.org/en/content/articlehtml/2026/cs/d5cs00962f</a:t>
            </a:r>
          </a:p>
          <a:p xmlns:a="http://schemas.openxmlformats.org/drawingml/2006/main">
            <a:r>
              <a:t>- Tom, G. et al. Self-Driving Laboratories for Chemistry and Materials Science. Chemical Reviews 124(16), 2024. https://pubs.acs.org/doi/10.1021/acs.chemrev.4c00055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讲解词：</a:t>
            </a:r>
          </a:p>
          <a:p xmlns:a="http://schemas.openxmlformats.org/drawingml/2006/main">
            <a:r>
              <a:t>采集函数不要背成菜单。它本质上在回答一个方法论问题：你现在更想尽快吃到当前最优，还是愿意花预算去补盲区、降不确定性？不同项目、不同阶段，这个答案本来就可能不一样。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注解：</a:t>
            </a:r>
          </a:p>
          <a:p xmlns:a="http://schemas.openxmlformats.org/drawingml/2006/main">
            <a:r>
              <a:t>- Expected Improvement（期望提升）</a:t>
            </a:r>
          </a:p>
          <a:p xmlns:a="http://schemas.openxmlformats.org/drawingml/2006/main">
            <a:r>
              <a:t>- Upper Confidence Bound（上置信界）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建议图表：</a:t>
            </a:r>
          </a:p>
          <a:p xmlns:a="http://schemas.openxmlformats.org/drawingml/2006/main">
            <a:r>
              <a:t>- 建议引用 Shahriari et al. (2016) 中 EI/UCB 等 acquisition function 对比示意图。</a:t>
            </a:r>
          </a:p>
          <a:p xmlns:a="http://schemas.openxmlformats.org/drawingml/2006/main">
            <a:r>
              <a:t>- 若需要更课堂化的图，可选 Desimpel et al., CSR (2026) 中说明 exploration–exploitation trade-off 的图或表。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参考来源：</a:t>
            </a:r>
          </a:p>
          <a:p xmlns:a="http://schemas.openxmlformats.org/drawingml/2006/main">
            <a:r>
              <a:t>- Shahriari, B. et al. Taking the Human Out of the Loop: A Review of Bayesian Optimization. Proceedings of the IEEE 104(1), 2016.</a:t>
            </a:r>
          </a:p>
          <a:p xmlns:a="http://schemas.openxmlformats.org/drawingml/2006/main">
            <a:r>
              <a:t>- Desimpel, R. et al. Bayesian optimization for chemical reactions. Chemical Society Reviews 55, 2026. https://pubs.rsc.org/en/content/articlehtml/2026/cs/d5cs00962f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讲解词：</a:t>
            </a:r>
          </a:p>
          <a:p xmlns:a="http://schemas.openxmlformats.org/drawingml/2006/main">
            <a:r>
              <a:t>如果从成本和效率看，SDL 的优势就很好理解了：实验越贵、越慢、越 noisy，越不能靠蛮力去堆点数。真正重要的是，让每一步实验都尽量多带回信息，这也是序贯学习和显式不确定性真正值钱的地方。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注解：</a:t>
            </a:r>
          </a:p>
          <a:p xmlns:a="http://schemas.openxmlformats.org/drawingml/2006/main">
            <a:r>
              <a:t>- forward model（前向模型）</a:t>
            </a:r>
          </a:p>
          <a:p xmlns:a="http://schemas.openxmlformats.org/drawingml/2006/main">
            <a:r>
              <a:t>- simulator（模拟器）</a:t>
            </a:r>
          </a:p>
          <a:p xmlns:a="http://schemas.openxmlformats.org/drawingml/2006/main">
            <a:r>
              <a:t>- experimental emulator（实验仿真器）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建议图表：</a:t>
            </a:r>
          </a:p>
          <a:p xmlns:a="http://schemas.openxmlformats.org/drawingml/2006/main">
            <a:r>
              <a:t>- 建议引用 Desimpel et al., CSR (2026) 中关于实验预算、反应优化成本或数据效率的综述图/表。</a:t>
            </a:r>
          </a:p>
          <a:p xmlns:a="http://schemas.openxmlformats.org/drawingml/2006/main">
            <a:r>
              <a:t>- 若强调低成本与教学可及性，可引用 Aguilar-Granda et al., Digital Discovery (2024) 中 frugal twin 平台对比图。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参考来源：</a:t>
            </a:r>
          </a:p>
          <a:p xmlns:a="http://schemas.openxmlformats.org/drawingml/2006/main">
            <a:r>
              <a:t>- Desimpel, R. et al. Bayesian optimization for chemical reactions. Chemical Society Reviews 55, 2026. https://pubs.rsc.org/en/content/articlehtml/2026/cs/d5cs00962f</a:t>
            </a:r>
          </a:p>
          <a:p xmlns:a="http://schemas.openxmlformats.org/drawingml/2006/main">
            <a:r>
              <a:t>- Aguilar-Granda, A. et al. Review of low-cost self-driving laboratories in chemistry and materials science: the 'frugal twin' concept. Digital Discovery 3, 2024. https://pubs.rsc.org/en/content/articlehtml/2024/dd/d3dd00223c</a:t>
            </a:r>
          </a:p>
          <a:p xmlns:a="http://schemas.openxmlformats.org/drawingml/2006/main">
            <a:r>
              <a:t>- Tom, G. et al. Self-Driving Laboratories for Chemistry and Materials Science. Chemical Reviews 124(16), 2024. https://pubs.acs.org/doi/10.1021/acs.chemrev.4c00055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讲解词：</a:t>
            </a:r>
          </a:p>
          <a:p xmlns:a="http://schemas.openxmlformats.org/drawingml/2006/main">
            <a:r>
              <a:t>这里我不想只把人的作用讲成伦理兜底。更关键的是，问题是谁提的，异常是谁先察觉的，机制是谁敢提出的，最后结论又是谁来负责的。至少到今天，这几件事仍然主要掌握在人手里，所以高质量 SDL 必然是强人机协作系统。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注解：</a:t>
            </a:r>
          </a:p>
          <a:p xmlns:a="http://schemas.openxmlformats.org/drawingml/2006/main">
            <a:r>
              <a:t>- Human-in-the-loop</a:t>
            </a:r>
          </a:p>
          <a:p xmlns:a="http://schemas.openxmlformats.org/drawingml/2006/main">
            <a:r>
              <a:t>- Human-on-the-loop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建议图表：</a:t>
            </a:r>
          </a:p>
          <a:p xmlns:a="http://schemas.openxmlformats.org/drawingml/2006/main">
            <a:r>
              <a:t>- 建议引用 Häse et al., Digital Discovery (2024) 中 human-in-the-loop / gamification / interactive AI 的概念图。</a:t>
            </a:r>
          </a:p>
          <a:p xmlns:a="http://schemas.openxmlformats.org/drawingml/2006/main">
            <a:r>
              <a:t>- 可补 community survey（2024）中关于 human oversight、platform bottleneck 或 adoption barrier 的汇总图表。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参考来源：</a:t>
            </a:r>
          </a:p>
          <a:p xmlns:a="http://schemas.openxmlformats.org/drawingml/2006/main">
            <a:r>
              <a:t>- Häse, F. et al. The future of self-driving laboratories: from human in the loop interactive AI to gamification. Digital Discovery 3, 2024. https://pubs.rsc.org/en/content/articlehtml/2024/dd/d4dd00040d</a:t>
            </a:r>
          </a:p>
          <a:p xmlns:a="http://schemas.openxmlformats.org/drawingml/2006/main">
            <a:r>
              <a:t>- Autonomous laboratories for accelerated materials discovery: a community survey and practical insights. Digital Discovery, 2024. https://pubs.rsc.org/en/content/articlelanding/2024/dd/d4dd00059e</a:t>
            </a:r>
          </a:p>
          <a:p xmlns:a="http://schemas.openxmlformats.org/drawingml/2006/main">
            <a:r>
              <a:t>- Tom, G. et al. Self-Driving Laboratories for Chemistry and Materials Science. Chemical Reviews 124(16), 2024. https://pubs.acs.org/doi/10.1021/acs.chemrev.4c00055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讲解词：</a:t>
            </a:r>
          </a:p>
          <a:p xmlns:a="http://schemas.openxmlformats.org/drawingml/2006/main">
            <a:r>
              <a:t>SDL 不是所有实验问题的默认答案。它更适合那些可自动化、可标准化、可快速观测、目标与约束较清楚的问题；反之，它也会有明显边界。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注解：</a:t>
            </a:r>
          </a:p>
          <a:p xmlns:a="http://schemas.openxmlformats.org/drawingml/2006/main">
            <a:r>
              <a:t>- feasibility（可行性）</a:t>
            </a:r>
          </a:p>
          <a:p xmlns:a="http://schemas.openxmlformats.org/drawingml/2006/main">
            <a:r>
              <a:t>- throughput（吞吐量）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参考来源：</a:t>
            </a:r>
          </a:p>
          <a:p xmlns:a="http://schemas.openxmlformats.org/drawingml/2006/main">
            <a:r>
              <a:t>- Tom, G. et al. Self-Driving Laboratories for Chemistry and Materials Science. Chemical Reviews 124(16), 2024. https://pubs.acs.org/doi/10.1021/acs.chemrev.4c00055</a:t>
            </a:r>
          </a:p>
          <a:p xmlns:a="http://schemas.openxmlformats.org/drawingml/2006/main">
            <a:r>
              <a:t>- Autonomous laboratories for accelerated materials discovery: a community survey and practical insights. Digital Discovery, 2024. https://pubs.rsc.org/en/content/articlelanding/2024/dd/d4dd00059e</a:t>
            </a:r>
          </a:p>
          <a:p xmlns:a="http://schemas.openxmlformats.org/drawingml/2006/main">
            <a:r>
              <a:t>- Aguilar-Granda, A. et al. Review of low-cost self-driving laboratories in chemistry and materials science: the 'frugal twin' concept. Digital Discovery 3, 2024. https://pubs.rsc.org/en/content/articlehtml/2024/dd/d3dd00223c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讲解词：</a:t>
            </a:r>
          </a:p>
          <a:p xmlns:a="http://schemas.openxmlformats.org/drawingml/2006/main">
            <a:r>
              <a:t>这页的作用，是先把 SDL 地图摊开，再把 A-Lab 放回去。这样学生会知道：A-Lab 值得讲，不是因为它代表一切，而是因为它正好站在一个很容易被看见、也很容易被质疑的位置上。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注解：</a:t>
            </a:r>
          </a:p>
          <a:p xmlns:a="http://schemas.openxmlformats.org/drawingml/2006/main">
            <a:r>
              <a:t>- ChemOS（实验编排平台）</a:t>
            </a:r>
          </a:p>
          <a:p xmlns:a="http://schemas.openxmlformats.org/drawingml/2006/main">
            <a:r>
              <a:t>- AFL（Autonomous Formulation Lab，自治配方实验室）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建议图表：</a:t>
            </a:r>
          </a:p>
          <a:p xmlns:a="http://schemas.openxmlformats.org/drawingml/2006/main">
            <a:r>
              <a:t>- 建议引用 community survey（Digital Discovery, 2024）中的平台/应用谱系图或比较表。</a:t>
            </a:r>
          </a:p>
          <a:p xmlns:a="http://schemas.openxmlformats.org/drawingml/2006/main">
            <a:r>
              <a:t>- 若要单列配方方向，可引用 NIST Autonomous Formulation Lab 官网示意图；若要单列低成本方向，可引用 frugal twin 综述中的平台照片或架构图。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参考来源：</a:t>
            </a:r>
          </a:p>
          <a:p xmlns:a="http://schemas.openxmlformats.org/drawingml/2006/main">
            <a:r>
              <a:t>- Tom, G. et al. Self-Driving Laboratories for Chemistry and Materials Science. Chemical Reviews 124(16), 2024. https://pubs.acs.org/doi/10.1021/acs.chemrev.4c00055</a:t>
            </a:r>
          </a:p>
          <a:p xmlns:a="http://schemas.openxmlformats.org/drawingml/2006/main">
            <a:r>
              <a:t>- NIST Autonomous Formulation Lab. https://www.nist.gov/node/1895811</a:t>
            </a:r>
          </a:p>
          <a:p xmlns:a="http://schemas.openxmlformats.org/drawingml/2006/main">
            <a:r>
              <a:t>- Aguilar-Granda, A. et al. Review of low-cost self-driving laboratories in chemistry and materials science: the 'frugal twin' concept. Digital Discovery 3, 2024. https://pubs.rsc.org/en/content/articlehtml/2024/dd/d3dd00223c</a:t>
            </a:r>
          </a:p>
          <a:p xmlns:a="http://schemas.openxmlformats.org/drawingml/2006/main">
            <a:r>
              <a:t>- Autonomous laboratories for accelerated materials discovery: a community survey and practical insights. Digital Discovery, 2024. https://pubs.rsc.org/en/content/articlelanding/2024/dd/d4dd00059e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讲解词：</a:t>
            </a:r>
          </a:p>
          <a:p xmlns:a="http://schemas.openxmlformats.org/drawingml/2006/main">
            <a:r>
              <a:t>现在把视角收窄到一个具体案例。A-Lab 值得讲，不只是因为它把自治实验系统做得很完整，也因为它在高关注度之下经历了质疑、复查和修正。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注解：</a:t>
            </a:r>
          </a:p>
          <a:p xmlns:a="http://schemas.openxmlformats.org/drawingml/2006/main">
            <a:r>
              <a:t>- A-Lab（自治实验室）</a:t>
            </a:r>
          </a:p>
          <a:p xmlns:a="http://schemas.openxmlformats.org/drawingml/2006/main">
            <a:r>
              <a:t>- Nature 2023 论文与后续修正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节奏建议：</a:t>
            </a:r>
          </a:p>
          <a:p xmlns:a="http://schemas.openxmlformats.org/drawingml/2006/main">
            <a:r>
              <a:t>1 分钟转场；先从全景收束到案例，再展开细节。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参考来源：</a:t>
            </a:r>
          </a:p>
          <a:p xmlns:a="http://schemas.openxmlformats.org/drawingml/2006/main">
            <a:r>
              <a:t>- Szymanski, N. J. et al. An autonomous laboratory for the accelerated synthesis of inorganic materials. Nature 624, 2023. https://www.nature.com/articles/s41586-023-06734-w</a:t>
            </a:r>
          </a:p>
          <a:p xmlns:a="http://schemas.openxmlformats.org/drawingml/2006/main">
            <a:r>
              <a:t>- Nature News: Robot chemist sparks row with claim it created new materials, 2023. https://www.nature.com/articles/d41586-023-03956-w</a:t>
            </a:r>
          </a:p>
          <a:p xmlns:a="http://schemas.openxmlformats.org/drawingml/2006/main">
            <a:r>
              <a:t>- Chemistry World: New analysis raises doubts over autonomous lab's materials 'discoveries', 2024. https://www.chemistryworld.com/news/new-analysis-raises-doubts-over-autonomous-labs-materials-discoveries/4018791.article</a:t>
            </a:r>
          </a:p>
          <a:p xmlns:a="http://schemas.openxmlformats.org/drawingml/2006/main">
            <a:r>
              <a:t>- C&amp;EN: 'Nature' robot chemist paper corrected, but some questions remain unanswered, 2026. https://cen.acs.org/research-integrity/Nature-robot-chemist-paper-corrected/104/web/2026/01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讲解词：</a:t>
            </a:r>
          </a:p>
          <a:p xmlns:a="http://schemas.openxmlformats.org/drawingml/2006/main">
            <a:r>
              <a:t>A-Lab 的代表性，不是它某一个算法特别神，而是它把筛选、执行、表征和决策真的接成了一条链。所以这页最值得学生看的，不是 buzzword，而是一个真实 SDL 系统到底长什么样。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注解：</a:t>
            </a:r>
          </a:p>
          <a:p xmlns:a="http://schemas.openxmlformats.org/drawingml/2006/main">
            <a:r>
              <a:t>- XRD（X-ray Diffraction，X射线衍射）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建议图表：</a:t>
            </a:r>
          </a:p>
          <a:p xmlns:a="http://schemas.openxmlformats.org/drawingml/2006/main">
            <a:r>
              <a:t>- 建议引用 Nature 624 (2023) A-Lab 论文中的 graphical abstract 或系统总览图，最适合做这一页主图。</a:t>
            </a:r>
          </a:p>
          <a:p xmlns:a="http://schemas.openxmlformats.org/drawingml/2006/main">
            <a:r>
              <a:t>- 可备选 Berkeley Lab News 对 A-Lab 的系统照片或示意图，用来增强场景感。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参考来源：</a:t>
            </a:r>
          </a:p>
          <a:p xmlns:a="http://schemas.openxmlformats.org/drawingml/2006/main">
            <a:r>
              <a:t>- Szymanski, N. J. et al. An autonomous laboratory for the accelerated synthesis of inorganic materials. Nature 624, 2023. https://www.nature.com/articles/s41586-023-06734-w</a:t>
            </a:r>
          </a:p>
          <a:p xmlns:a="http://schemas.openxmlformats.org/drawingml/2006/main">
            <a:r>
              <a:t>- Berkeley Lab News: Meet the Autonomous Lab of the Future, 2023. https://newscenter.lbl.gov/2023/04/17/meet-the-autonomous-lab-of-the-future/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讲解词：</a:t>
            </a:r>
          </a:p>
          <a:p xmlns:a="http://schemas.openxmlformats.org/drawingml/2006/main">
            <a:r>
              <a:t>真正的 SDL 系统一定是分层的。你可以去质疑其中任何一层做得够不够好，但不能把它简化成一个模型名字。A-Lab 的教学价值，恰好就在于这些层都能被拆出来、逐层审视。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注解：</a:t>
            </a:r>
          </a:p>
          <a:p xmlns:a="http://schemas.openxmlformats.org/drawingml/2006/main">
            <a:r>
              <a:t>- Materials Project（材料项目数据库）</a:t>
            </a:r>
          </a:p>
          <a:p xmlns:a="http://schemas.openxmlformats.org/drawingml/2006/main">
            <a:r>
              <a:t>- ML-assisted phase identification（机器学习辅助相鉴定）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建议图表：</a:t>
            </a:r>
          </a:p>
          <a:p xmlns:a="http://schemas.openxmlformats.org/drawingml/2006/main">
            <a:r>
              <a:t>- 建议引用 Nature 624 (2023) 中 A-Lab workflow / system architecture 图，逐层对应筛选、执行、表征、解释。</a:t>
            </a:r>
          </a:p>
          <a:p xmlns:a="http://schemas.openxmlformats.org/drawingml/2006/main">
            <a:r>
              <a:t>- 若要补数据库前端，可配 Materials Project 相关示意截图，但应在备注中注明其与 A-Lab 的前端筛选关系。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参考来源：</a:t>
            </a:r>
          </a:p>
          <a:p xmlns:a="http://schemas.openxmlformats.org/drawingml/2006/main">
            <a:r>
              <a:t>- Szymanski, N. J. et al. An autonomous laboratory for the accelerated synthesis of inorganic materials. Nature 624, 2023. https://www.nature.com/articles/s41586-023-06734-w</a:t>
            </a:r>
          </a:p>
          <a:p xmlns:a="http://schemas.openxmlformats.org/drawingml/2006/main">
            <a:r>
              <a:t>- Berkeley Lab News: Meet the Autonomous Lab of the Future, 2023. https://newscenter.lbl.gov/2023/04/17/meet-the-autonomous-lab-of-the-future/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讲解词：</a:t>
            </a:r>
          </a:p>
          <a:p xmlns:a="http://schemas.openxmlformats.org/drawingml/2006/main">
            <a:r>
              <a:t>A-Lab 的一个关键策略，是先缩空间，再进实验。这个逻辑很常见，也很合理；但它的风险同样明显：如果前端筛选假设有系统偏差，后端自动化就会高效放大这种偏差。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注解：</a:t>
            </a:r>
          </a:p>
          <a:p xmlns:a="http://schemas.openxmlformats.org/drawingml/2006/main">
            <a:r>
              <a:t>- thermodynamic stability（热力学稳定性）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参考来源：</a:t>
            </a:r>
          </a:p>
          <a:p xmlns:a="http://schemas.openxmlformats.org/drawingml/2006/main">
            <a:r>
              <a:t>- Szymanski, N. J. et al. An autonomous laboratory for the accelerated synthesis of inorganic materials. Nature 624, 2023. https://www.nature.com/articles/s41586-023-06734-w</a:t>
            </a:r>
          </a:p>
          <a:p xmlns:a="http://schemas.openxmlformats.org/drawingml/2006/main">
            <a:r>
              <a:t>- Tom, G. et al. Self-Driving Laboratories for Chemistry and Materials Science. Chemical Reviews 124(16), 2024. https://pubs.acs.org/doi/10.1021/acs.chemrev.4c00055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讲解词：</a:t>
            </a:r>
          </a:p>
          <a:p xmlns:a="http://schemas.openxmlformats.org/drawingml/2006/main">
            <a:r>
              <a:t>这一页不要把数字讲成奖状，而要讲成案例事实。A-Lab 之所以迅速出圈，确实和这些速度、吞吐量、成功率口径有关；但这些数字只是故事的开头，绝不是故事的结论。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注解：</a:t>
            </a:r>
          </a:p>
          <a:p xmlns:a="http://schemas.openxmlformats.org/drawingml/2006/main">
            <a:r>
              <a:t>- Nature 624 (2023)</a:t>
            </a:r>
          </a:p>
          <a:p xmlns:a="http://schemas.openxmlformats.org/drawingml/2006/main">
            <a:r>
              <a:t>- 需区分 target-level 与 recipe-level 口径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建议图表：</a:t>
            </a:r>
          </a:p>
          <a:p xmlns:a="http://schemas.openxmlformats.org/drawingml/2006/main">
            <a:r>
              <a:t>- 建议引用 Nature 624 (2023) 论文中的结果总表或 summary figure，用原始口径展示 17 天、58 个目标、355 次实验等数字。</a:t>
            </a:r>
          </a:p>
          <a:p xmlns:a="http://schemas.openxmlformats.org/drawingml/2006/main">
            <a:r>
              <a:t>- 若担心口径误读，可在图旁并列一张自制小表，区分 target-level、recipe-level 与后续争议口径。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参考来源：</a:t>
            </a:r>
          </a:p>
          <a:p xmlns:a="http://schemas.openxmlformats.org/drawingml/2006/main">
            <a:r>
              <a:t>- Szymanski, N. J. et al. An autonomous laboratory for the accelerated synthesis of inorganic materials. Nature 624, 2023. https://www.nature.com/articles/s41586-023-06734-w</a:t>
            </a:r>
          </a:p>
          <a:p xmlns:a="http://schemas.openxmlformats.org/drawingml/2006/main">
            <a:r>
              <a:t>- Nature News: Robot chemist sparks row with claim it created new materials, 2023. https://www.nature.com/articles/d41586-023-03956-w</a:t>
            </a:r>
          </a:p>
          <a:p xmlns:a="http://schemas.openxmlformats.org/drawingml/2006/main">
            <a:r>
              <a:t>- Chemistry World: New analysis raises doubts over autonomous lab's materials 'discoveries', 2024. https://www.chemistryworld.com/news/new-analysis-raises-doubts-over-autonomous-labs-materials-discoveries/4018791.article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讲解词：</a:t>
            </a:r>
          </a:p>
          <a:p xmlns:a="http://schemas.openxmlformats.org/drawingml/2006/main">
            <a:r>
              <a:t>把 A-Lab 放回时间线里看，才能避免把它讲成静态海报。更值得关注的是：一个高影响力 SDL 结果如何被传播、被质疑、被重新界定，又如何在社群中被更严谨地理解。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注解：</a:t>
            </a:r>
          </a:p>
          <a:p xmlns:a="http://schemas.openxmlformats.org/drawingml/2006/main">
            <a:r>
              <a:t>- scientific self-correction（科学自我纠错）</a:t>
            </a:r>
          </a:p>
          <a:p xmlns:a="http://schemas.openxmlformats.org/drawingml/2006/main">
            <a:r>
              <a:t>- claim auditing（声称审计）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参考来源：</a:t>
            </a:r>
          </a:p>
          <a:p xmlns:a="http://schemas.openxmlformats.org/drawingml/2006/main">
            <a:r>
              <a:t>- Szymanski, N. J. et al. An autonomous laboratory for the accelerated synthesis of inorganic materials. Nature 624, 2023. https://www.nature.com/articles/s41586-023-06734-w</a:t>
            </a:r>
          </a:p>
          <a:p xmlns:a="http://schemas.openxmlformats.org/drawingml/2006/main">
            <a:r>
              <a:t>- Nature News: Robot chemist sparks row with claim it created new materials, 2023. https://www.nature.com/articles/d41586-023-03956-w</a:t>
            </a:r>
          </a:p>
          <a:p xmlns:a="http://schemas.openxmlformats.org/drawingml/2006/main">
            <a:r>
              <a:t>- Chemistry World: New analysis raises doubts over autonomous lab's materials 'discoveries', 2024. https://www.chemistryworld.com/news/new-analysis-raises-doubts-over-autonomous-labs-materials-discoveries/4018791.article</a:t>
            </a:r>
          </a:p>
          <a:p xmlns:a="http://schemas.openxmlformats.org/drawingml/2006/main">
            <a:r>
              <a:t>- C&amp;EN: 'Nature' robot chemist paper corrected, but some questions remain unanswered, 2026. https://cen.acs.org/research-integrity/Nature-robot-chemist-paper-corrected/104/web/2026/01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讲解词：</a:t>
            </a:r>
          </a:p>
          <a:p xmlns:a="http://schemas.openxmlformats.org/drawingml/2006/main">
            <a:r>
              <a:t>如果把 A-Lab 当成英雄叙事，这一页就讲不明白。真正值得学生看到的是：一个高影响力 SDL 结果怎样被质疑、复查、修正。这件事本身就在提醒我们，系统越自动化，定义审计和人类验证越不能省。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注解：</a:t>
            </a:r>
          </a:p>
          <a:p xmlns:a="http://schemas.openxmlformats.org/drawingml/2006/main">
            <a:r>
              <a:t>- ChemRxiv 2024 独立再分析</a:t>
            </a:r>
          </a:p>
          <a:p xmlns:a="http://schemas.openxmlformats.org/drawingml/2006/main">
            <a:r>
              <a:t>- C&amp;EN 2026 关于更正的报道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建议图表：</a:t>
            </a:r>
          </a:p>
          <a:p xmlns:a="http://schemas.openxmlformats.org/drawingml/2006/main">
            <a:r>
              <a:t>- 这一页可优先做并列表：左列 Nature 2023 原始声称，右列 Chemistry World / C&amp;EN 报道中的后续质疑与更正口径。</a:t>
            </a:r>
          </a:p>
          <a:p xmlns:a="http://schemas.openxmlformats.org/drawingml/2006/main">
            <a:r>
              <a:t>- 若坚持引原图，建议分别截取 Nature 论文结果图与后续报道中的关键表述，再在页上明确标示“原始声称 / 后续复核”。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参考来源：</a:t>
            </a:r>
          </a:p>
          <a:p xmlns:a="http://schemas.openxmlformats.org/drawingml/2006/main">
            <a:r>
              <a:t>- Szymanski, N. J. et al. An autonomous laboratory for the accelerated synthesis of inorganic materials. Nature 624, 2023. https://www.nature.com/articles/s41586-023-06734-w</a:t>
            </a:r>
          </a:p>
          <a:p xmlns:a="http://schemas.openxmlformats.org/drawingml/2006/main">
            <a:r>
              <a:t>- Chemistry World: New analysis raises doubts over autonomous lab's materials 'discoveries', 2024. https://www.chemistryworld.com/news/new-analysis-raises-doubts-over-autonomous-labs-materials-discoveries/4018791.article</a:t>
            </a:r>
          </a:p>
          <a:p xmlns:a="http://schemas.openxmlformats.org/drawingml/2006/main">
            <a:r>
              <a:t>- C&amp;EN: 'Nature' robot chemist paper corrected, but some questions remain unanswered, 2026. https://cen.acs.org/research-integrity/Nature-robot-chemist-paper-corrected/104/web/2026/01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讲解词：</a:t>
            </a:r>
          </a:p>
          <a:p xmlns:a="http://schemas.openxmlformats.org/drawingml/2006/main">
            <a:r>
              <a:t>A-Lab 这一章真正值得带走的，不是几个漂亮数字，而是一套判断自治实验系统的框架：系统结构、观测可信度、定义边界、人类验证，以及发现口径是否足够严格。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注解：</a:t>
            </a:r>
          </a:p>
          <a:p xmlns:a="http://schemas.openxmlformats.org/drawingml/2006/main">
            <a:r>
              <a:t>- 可作为 A-Lab 章节的收束页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参考来源：</a:t>
            </a:r>
          </a:p>
          <a:p xmlns:a="http://schemas.openxmlformats.org/drawingml/2006/main">
            <a:r>
              <a:t>- Szymanski, N. J. et al. An autonomous laboratory for the accelerated synthesis of inorganic materials. Nature 624, 2023. https://www.nature.com/articles/s41586-023-06734-w</a:t>
            </a:r>
          </a:p>
          <a:p xmlns:a="http://schemas.openxmlformats.org/drawingml/2006/main">
            <a:r>
              <a:t>- Chemistry World: New analysis raises doubts over autonomous lab's materials 'discoveries', 2024. https://www.chemistryworld.com/news/new-analysis-raises-doubts-over-autonomous-labs-materials-discoveries/4018791.article</a:t>
            </a:r>
          </a:p>
          <a:p xmlns:a="http://schemas.openxmlformats.org/drawingml/2006/main">
            <a:r>
              <a:t>- C&amp;EN: 'Nature' robot chemist paper corrected, but some questions remain unanswered, 2026. https://cen.acs.org/research-integrity/Nature-robot-chemist-paper-corrected/104/web/2026/01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讲解词：</a:t>
            </a:r>
          </a:p>
          <a:p xmlns:a="http://schemas.openxmlformats.org/drawingml/2006/main">
            <a:r>
              <a:t>最后回到一个最小 live demo。真实系统当然更复杂，但在复杂性之前，先把闭环结构讲清楚更重要：目标、观测、更新、推荐到底是如何串起来的。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注解：</a:t>
            </a:r>
          </a:p>
          <a:p xmlns:a="http://schemas.openxmlformats.org/drawingml/2006/main">
            <a:r>
              <a:t>- benchmark case（基准案例）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节奏建议：</a:t>
            </a:r>
          </a:p>
          <a:p xmlns:a="http://schemas.openxmlformats.org/drawingml/2006/main">
            <a:r>
              <a:t>45 秒转场；把复杂真实系统切回可见的最小闭环。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参考来源：</a:t>
            </a:r>
          </a:p>
          <a:p xmlns:a="http://schemas.openxmlformats.org/drawingml/2006/main">
            <a:r>
              <a:t>- Baird, S. G. self-driving-lab-demo. GitHub repository. https://github.com/sparks-baird/self-driving-lab-demo</a:t>
            </a:r>
          </a:p>
          <a:p xmlns:a="http://schemas.openxmlformats.org/drawingml/2006/main">
            <a:r>
              <a:t>- SDL 讲座数字讲义站（当前项目线上版）: https://sdl-lecture.vercel.app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讲解词：</a:t>
            </a:r>
          </a:p>
          <a:p xmlns:a="http://schemas.openxmlformats.org/drawingml/2006/main">
            <a:r>
              <a:t>RGB LED 这个案例的价值，不在科研深度，而在教学透明度。目标颜色、当前最佳结果和下一推荐点都摆在同一屏里，所以学生不是在看一个黑箱，而是在看一个闭环到底怎样一步一步收敛。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注解：</a:t>
            </a:r>
          </a:p>
          <a:p xmlns:a="http://schemas.openxmlformats.org/drawingml/2006/main">
            <a:r>
              <a:t>- PWM（Pulse Width Modulation，脉宽调制）</a:t>
            </a:r>
          </a:p>
          <a:p xmlns:a="http://schemas.openxmlformats.org/drawingml/2006/main">
            <a:r>
              <a:t>- seeded reproducibility（固定种子复现实验）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建议图表：</a:t>
            </a:r>
          </a:p>
          <a:p xmlns:a="http://schemas.openxmlformats.org/drawingml/2006/main">
            <a:r>
              <a:t>- 建议放当前课程网站 Case Studio 的真实截图，优先截取 target、best-so-far、next recommendation 同屏界面。</a:t>
            </a:r>
          </a:p>
          <a:p xmlns:a="http://schemas.openxmlformats.org/drawingml/2006/main">
            <a:r>
              <a:t>- 若要补外部出处，可引用 sparks-baird/self-driving-lab-demo 仓库 README 或演示截图，作为教学 benchmark 的来源。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参考来源：</a:t>
            </a:r>
          </a:p>
          <a:p xmlns:a="http://schemas.openxmlformats.org/drawingml/2006/main">
            <a:r>
              <a:t>- Baird, S. G. self-driving-lab-demo. GitHub repository. https://github.com/sparks-baird/self-driving-lab-demo</a:t>
            </a:r>
          </a:p>
          <a:p xmlns:a="http://schemas.openxmlformats.org/drawingml/2006/main">
            <a:r>
              <a:t>- SDL 讲座数字讲义站（当前项目线上版）: https://sdl-lecture.vercel.app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讲解词：</a:t>
            </a:r>
          </a:p>
          <a:p xmlns:a="http://schemas.openxmlformats.org/drawingml/2006/main">
            <a:r>
              <a:t>这页把 live demo 说透。参数、观测、评分、推荐四个环节都清楚，所以学生能直观看到‘下一步为什么是这个点’。这是它比很多黑箱 demo 更适合教学的地方。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注解：</a:t>
            </a:r>
          </a:p>
          <a:p xmlns:a="http://schemas.openxmlformats.org/drawingml/2006/main">
            <a:r>
              <a:t>- match score（匹配分数）</a:t>
            </a:r>
          </a:p>
          <a:p xmlns:a="http://schemas.openxmlformats.org/drawingml/2006/main">
            <a:r>
              <a:t>- recommendation logic（推荐逻辑）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参考来源：</a:t>
            </a:r>
          </a:p>
          <a:p xmlns:a="http://schemas.openxmlformats.org/drawingml/2006/main">
            <a:r>
              <a:t>- Baird, S. G. self-driving-lab-demo. GitHub repository. https://github.com/sparks-baird/self-driving-lab-demo</a:t>
            </a:r>
          </a:p>
          <a:p xmlns:a="http://schemas.openxmlformats.org/drawingml/2006/main">
            <a:r>
              <a:t>- SDL 讲座数字讲义站（当前项目线上版）: https://sdl-lecture.vercel.app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讲解词：</a:t>
            </a:r>
          </a:p>
          <a:p xmlns:a="http://schemas.openxmlformats.org/drawingml/2006/main">
            <a:r>
              <a:t>live demo 最怕变成‘看按钮点了几下，数字变好了’。真正应该让学生看的，是推荐逻辑怎样随着观测更新而变化，以及同样的初始条件下，这套系统是否可复现。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注解：</a:t>
            </a:r>
          </a:p>
          <a:p xmlns:a="http://schemas.openxmlformats.org/drawingml/2006/main">
            <a:r>
              <a:t>- seed（随机种子）</a:t>
            </a:r>
          </a:p>
          <a:p xmlns:a="http://schemas.openxmlformats.org/drawingml/2006/main">
            <a:r>
              <a:t>- reset / replay（复位 / 重放）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节奏建议：</a:t>
            </a:r>
          </a:p>
          <a:p xmlns:a="http://schemas.openxmlformats.org/drawingml/2006/main">
            <a:r>
              <a:t>演示前 1 分钟说明观看方法；演示过程中不断回指这四个观察点。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参考来源：</a:t>
            </a:r>
          </a:p>
          <a:p xmlns:a="http://schemas.openxmlformats.org/drawingml/2006/main">
            <a:r>
              <a:t>- Baird, S. G. self-driving-lab-demo. GitHub repository. https://github.com/sparks-baird/self-driving-lab-demo</a:t>
            </a:r>
          </a:p>
          <a:p xmlns:a="http://schemas.openxmlformats.org/drawingml/2006/main">
            <a:r>
              <a:t>- SDL 讲座数字讲义站（当前项目线上版）: https://sdl-lecture.vercel.app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讲解词：</a:t>
            </a:r>
          </a:p>
          <a:p xmlns:a="http://schemas.openxmlformats.org/drawingml/2006/main">
            <a:r>
              <a:t>最后一部分不是重复总结，而是把前面所有内容收束成几条判断。学生不需要记住每个案例细节，但应带走对实验、方法论和 SDL 的整体认识框架。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注解：</a:t>
            </a:r>
          </a:p>
          <a:p xmlns:a="http://schemas.openxmlformats.org/drawingml/2006/main">
            <a:r>
              <a:t>- 无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节奏建议：</a:t>
            </a:r>
          </a:p>
          <a:p xmlns:a="http://schemas.openxmlformats.org/drawingml/2006/main">
            <a:r>
              <a:t>30 秒转场；从内容回收束到判断框架。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参考来源：</a:t>
            </a:r>
          </a:p>
          <a:p xmlns:a="http://schemas.openxmlformats.org/drawingml/2006/main">
            <a:r>
              <a:t>- Hey, T., Tansley, S., &amp; Tolle, K. (eds.) The Fourth Paradigm: Data-Intensive Scientific Discovery. Microsoft Research, 2009. https://www.microsoft.com/en-us/research/publication/fourth-paradigm-data-intensive-scientific-discovery/</a:t>
            </a:r>
          </a:p>
          <a:p xmlns:a="http://schemas.openxmlformats.org/drawingml/2006/main">
            <a:r>
              <a:t>- Box, G. E. P., Hunter, W. G., &amp; Hunter, J. S. Statistics for Experimenters. Wiley, 1978/2005.</a:t>
            </a:r>
          </a:p>
          <a:p xmlns:a="http://schemas.openxmlformats.org/drawingml/2006/main">
            <a:r>
              <a:t>- Tom, G. et al. Self-Driving Laboratories for Chemistry and Materials Science. Chemical Reviews 124(16), 2024. https://pubs.acs.org/doi/10.1021/acs.chemrev.4c00055</a:t>
            </a:r>
          </a:p>
          <a:p xmlns:a="http://schemas.openxmlformats.org/drawingml/2006/main">
            <a:r>
              <a:t>- Szymanski, N. J. et al. An autonomous laboratory for the accelerated synthesis of inorganic materials. Nature 624, 2023. https://www.nature.com/articles/s41586-023-06734-w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讲解词：</a:t>
            </a:r>
          </a:p>
          <a:p xmlns:a="http://schemas.openxmlformats.org/drawingml/2006/main">
            <a:r>
              <a:t>三条结论里，第一条讲对象，第二条讲历史，第三条讲标准。也就是说，我们既要知道 SDL 来自哪里，也要知道怎样判断一个 SDL 系统是否真的站得住。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注解：</a:t>
            </a:r>
          </a:p>
          <a:p xmlns:a="http://schemas.openxmlformats.org/drawingml/2006/main">
            <a:r>
              <a:t>- scientific rigor（科学严谨性）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参考来源：</a:t>
            </a:r>
          </a:p>
          <a:p xmlns:a="http://schemas.openxmlformats.org/drawingml/2006/main">
            <a:r>
              <a:t>- Hey, T., Tansley, S., &amp; Tolle, K. (eds.) The Fourth Paradigm: Data-Intensive Scientific Discovery. Microsoft Research, 2009. https://www.microsoft.com/en-us/research/publication/fourth-paradigm-data-intensive-scientific-discovery/</a:t>
            </a:r>
          </a:p>
          <a:p xmlns:a="http://schemas.openxmlformats.org/drawingml/2006/main">
            <a:r>
              <a:t>- Box, G. E. P., Hunter, W. G., &amp; Hunter, J. S. Statistics for Experimenters. Wiley, 1978/2005.</a:t>
            </a:r>
          </a:p>
          <a:p xmlns:a="http://schemas.openxmlformats.org/drawingml/2006/main">
            <a:r>
              <a:t>- Tom, G. et al. Self-Driving Laboratories for Chemistry and Materials Science. Chemical Reviews 124(16), 2024. https://pubs.acs.org/doi/10.1021/acs.chemrev.4c00055</a:t>
            </a:r>
          </a:p>
          <a:p xmlns:a="http://schemas.openxmlformats.org/drawingml/2006/main">
            <a:r>
              <a:t>- Szymanski, N. J. et al. An autonomous laboratory for the accelerated synthesis of inorganic materials. Nature 624, 2023. https://www.nature.com/articles/s41586-023-06734-w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讲解词：</a:t>
            </a:r>
          </a:p>
          <a:p xmlns:a="http://schemas.openxmlformats.org/drawingml/2006/main">
            <a:r>
              <a:t>这一页把我们的价值立场讲出来：我们不把 AI 神化，也不把它妖魔化。最重要的是让学生形成一种成熟的人机协作观：既能借力，也能质疑，既会使用，也能负责。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注解：</a:t>
            </a:r>
          </a:p>
          <a:p xmlns:a="http://schemas.openxmlformats.org/drawingml/2006/main">
            <a:r>
              <a:t>- responsible AI（负责任的 AI）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参考来源：</a:t>
            </a:r>
          </a:p>
          <a:p xmlns:a="http://schemas.openxmlformats.org/drawingml/2006/main">
            <a:r>
              <a:t>- Häse, F. et al. The future of self-driving laboratories: from human in the loop interactive AI to gamification. Digital Discovery 3, 2024. https://pubs.rsc.org/en/content/articlehtml/2024/dd/d4dd00040d</a:t>
            </a:r>
          </a:p>
          <a:p xmlns:a="http://schemas.openxmlformats.org/drawingml/2006/main">
            <a:r>
              <a:t>- Autonomous laboratories for accelerated materials discovery: a community survey and practical insights. Digital Discovery, 2024. https://pubs.rsc.org/en/content/articlelanding/2024/dd/d4dd00059e</a:t>
            </a:r>
          </a:p>
          <a:p xmlns:a="http://schemas.openxmlformats.org/drawingml/2006/main">
            <a:r>
              <a:t>- Tom, G. et al. Self-Driving Laboratories for Chemistry and Materials Science. Chemical Reviews 124(16), 2024. https://pubs.acs.org/doi/10.1021/acs.chemrev.4c00055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讲解词：</a:t>
            </a:r>
          </a:p>
          <a:p xmlns:a="http://schemas.openxmlformats.org/drawingml/2006/main">
            <a:r>
              <a:t>如果学生能带走这四件事，这场讲座就值了。尤其是最后两条：识别哪些问题适合 SDL，和对真实系统保持判断能力。这比记住几个术语更重要。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注解：</a:t>
            </a:r>
          </a:p>
          <a:p xmlns:a="http://schemas.openxmlformats.org/drawingml/2006/main">
            <a:r>
              <a:t>- 无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参考来源：</a:t>
            </a:r>
          </a:p>
          <a:p xmlns:a="http://schemas.openxmlformats.org/drawingml/2006/main">
            <a:r>
              <a:t>- Hey, T., Tansley, S., &amp; Tolle, K. (eds.) The Fourth Paradigm: Data-Intensive Scientific Discovery. Microsoft Research, 2009. https://www.microsoft.com/en-us/research/publication/fourth-paradigm-data-intensive-scientific-discovery/</a:t>
            </a:r>
          </a:p>
          <a:p xmlns:a="http://schemas.openxmlformats.org/drawingml/2006/main">
            <a:r>
              <a:t>- Box, G. E. P., Hunter, W. G., &amp; Hunter, J. S. Statistics for Experimenters. Wiley, 1978/2005.</a:t>
            </a:r>
          </a:p>
          <a:p xmlns:a="http://schemas.openxmlformats.org/drawingml/2006/main">
            <a:r>
              <a:t>- Tom, G. et al. Self-Driving Laboratories for Chemistry and Materials Science. Chemical Reviews 124(16), 2024. https://pubs.acs.org/doi/10.1021/acs.chemrev.4c00055</a:t>
            </a:r>
          </a:p>
          <a:p xmlns:a="http://schemas.openxmlformats.org/drawingml/2006/main">
            <a:r>
              <a:t>- Szymanski, N. J. et al. An autonomous laboratory for the accelerated synthesis of inorganic materials. Nature 624, 2023. https://www.nature.com/articles/s41586-023-06734-w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讲解词：</a:t>
            </a:r>
          </a:p>
          <a:p xmlns:a="http://schemas.openxmlformats.org/drawingml/2006/main">
            <a:r>
              <a:t>最后告诉学生，网站不是讲座结束后就无关了。它是课程的入口，也是案例和 demo 的继续学习平台。讲座结束之后，学生仍然可以从网站回到今天的主线继续理解。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注解：</a:t>
            </a:r>
          </a:p>
          <a:p xmlns:a="http://schemas.openxmlformats.org/drawingml/2006/main">
            <a:r>
              <a:t>- 网站：sdl-lecture.vercel.app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参考来源：</a:t>
            </a:r>
          </a:p>
          <a:p xmlns:a="http://schemas.openxmlformats.org/drawingml/2006/main">
            <a:r>
              <a:t>- Tom, G. et al. Self-Driving Laboratories for Chemistry and Materials Science. Chemical Reviews 124(16), 2024. https://pubs.acs.org/doi/10.1021/acs.chemrev.4c00055</a:t>
            </a:r>
          </a:p>
          <a:p xmlns:a="http://schemas.openxmlformats.org/drawingml/2006/main">
            <a:r>
              <a:t>- Szymanski, N. J. et al. An autonomous laboratory for the accelerated synthesis of inorganic materials. Nature 624, 2023. https://www.nature.com/articles/s41586-023-06734-w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讲解词：</a:t>
            </a:r>
          </a:p>
          <a:p xmlns:a="http://schemas.openxmlformats.org/drawingml/2006/main">
            <a:r>
              <a:t>我会用这句话收尾：关键不在于把实验交给机器，而在于如何让机器进入负责任的科学工作流。然后进入问答，优先接学生对适用边界、案例可信度和课题迁移的提问。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注解：</a:t>
            </a:r>
          </a:p>
          <a:p xmlns:a="http://schemas.openxmlformats.org/drawingml/2006/main">
            <a:r>
              <a:t>- 无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节奏建议：</a:t>
            </a:r>
          </a:p>
          <a:p xmlns:a="http://schemas.openxmlformats.org/drawingml/2006/main">
            <a:r>
              <a:t>结束页停 10–15 秒，再进入问答；优先接边界、争议和迁移类问题。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参考来源：</a:t>
            </a:r>
          </a:p>
          <a:p xmlns:a="http://schemas.openxmlformats.org/drawingml/2006/main">
            <a:r>
              <a:t>- Häse, F. et al. The future of self-driving laboratories: from human in the loop interactive AI to gamification. Digital Discovery 3, 2024. https://pubs.rsc.org/en/content/articlehtml/2024/dd/d4dd00040d</a:t>
            </a:r>
          </a:p>
          <a:p xmlns:a="http://schemas.openxmlformats.org/drawingml/2006/main">
            <a:r>
              <a:t>- Tom, G. et al. Self-Driving Laboratories for Chemistry and Materials Science. Chemical Reviews 124(16), 2024. https://pubs.acs.org/doi/10.1021/acs.chemrev.4c00055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2afdd0b75794aa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2bde24529ca4aae" /><Relationship Type="http://schemas.openxmlformats.org/officeDocument/2006/relationships/slideLayout" Target="/ppt/slideLayouts/slideLayout1.xml" Id="Rd92153f863e0487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92153f863e0487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63ae656f584563" /><Relationship Type="http://schemas.openxmlformats.org/officeDocument/2006/relationships/notesSlide" Target="/ppt/notesSlides/notesSlide1.xml" Id="Rb6588789892b48a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d9886adef045ad" /><Relationship Type="http://schemas.openxmlformats.org/officeDocument/2006/relationships/notesSlide" Target="/ppt/notesSlides/notesSlide2.xml" Id="R325a19ab8692493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5c844a38c54591" /><Relationship Type="http://schemas.openxmlformats.org/officeDocument/2006/relationships/notesSlide" Target="/ppt/notesSlides/notesSlide3.xml" Id="R288f4d77f2074eb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f46b52a94a40da" /><Relationship Type="http://schemas.openxmlformats.org/officeDocument/2006/relationships/notesSlide" Target="/ppt/notesSlides/notesSlide4.xml" Id="R8797d57d84cf43c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9e3810e92e415c" /><Relationship Type="http://schemas.openxmlformats.org/officeDocument/2006/relationships/notesSlide" Target="/ppt/notesSlides/notesSlide5.xml" Id="Rced1706be0a14c8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0a1189a64cf4f04" /><Relationship Type="http://schemas.openxmlformats.org/officeDocument/2006/relationships/notesSlide" Target="/ppt/notesSlides/notesSlide6.xml" Id="Rd6ae44e3c8c94f3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c5bcc4e6b1443f" /><Relationship Type="http://schemas.openxmlformats.org/officeDocument/2006/relationships/notesSlide" Target="/ppt/notesSlides/notesSlide7.xml" Id="R8824c77aa70546a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6b3820b0fc427a" /><Relationship Type="http://schemas.openxmlformats.org/officeDocument/2006/relationships/notesSlide" Target="/ppt/notesSlides/notesSlide8.xml" Id="R9ff3d063414c4f9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55ea00ab964475" /><Relationship Type="http://schemas.openxmlformats.org/officeDocument/2006/relationships/notesSlide" Target="/ppt/notesSlides/notesSlide9.xml" Id="R9a5887dce10b416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f9b3268a111444f" /><Relationship Type="http://schemas.openxmlformats.org/officeDocument/2006/relationships/notesSlide" Target="/ppt/notesSlides/notesSlide10.xml" Id="Rd546b0138de243e0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a29d10deb64af2" /><Relationship Type="http://schemas.openxmlformats.org/officeDocument/2006/relationships/notesSlide" Target="/ppt/notesSlides/notesSlide11.xml" Id="Rf3edd5aa2d1145f6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72c3123d574991" /><Relationship Type="http://schemas.openxmlformats.org/officeDocument/2006/relationships/notesSlide" Target="/ppt/notesSlides/notesSlide12.xml" Id="Rec6a0a8c015943cf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4570dc66c4412f" /><Relationship Type="http://schemas.openxmlformats.org/officeDocument/2006/relationships/notesSlide" Target="/ppt/notesSlides/notesSlide13.xml" Id="Ra879151fef99410a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1e2097ba924622" /><Relationship Type="http://schemas.openxmlformats.org/officeDocument/2006/relationships/notesSlide" Target="/ppt/notesSlides/notesSlide14.xml" Id="R70f108f444424888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8041684d1e48fd" /><Relationship Type="http://schemas.openxmlformats.org/officeDocument/2006/relationships/notesSlide" Target="/ppt/notesSlides/notesSlide15.xml" Id="Rfd573bc0488945c4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84b8e1f73b34ee6" /><Relationship Type="http://schemas.openxmlformats.org/officeDocument/2006/relationships/notesSlide" Target="/ppt/notesSlides/notesSlide16.xml" Id="Re675b2efdc404e00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754593dd4b43f1" /><Relationship Type="http://schemas.openxmlformats.org/officeDocument/2006/relationships/notesSlide" Target="/ppt/notesSlides/notesSlide17.xml" Id="R9f3b37dadbb847c6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ae434860dd9404b" /><Relationship Type="http://schemas.openxmlformats.org/officeDocument/2006/relationships/notesSlide" Target="/ppt/notesSlides/notesSlide18.xml" Id="Ref3da95b9b004dc3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f3489e7b794ff6" /><Relationship Type="http://schemas.openxmlformats.org/officeDocument/2006/relationships/notesSlide" Target="/ppt/notesSlides/notesSlide19.xml" Id="R06fe596f04d84773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b36005c9874a03" /><Relationship Type="http://schemas.openxmlformats.org/officeDocument/2006/relationships/notesSlide" Target="/ppt/notesSlides/notesSlide20.xml" Id="R93b0da93ca2b4a6e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92b1cce570b42e8" /><Relationship Type="http://schemas.openxmlformats.org/officeDocument/2006/relationships/notesSlide" Target="/ppt/notesSlides/notesSlide21.xml" Id="Rc96929d4a27d4d89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f080af44cf94926" /><Relationship Type="http://schemas.openxmlformats.org/officeDocument/2006/relationships/notesSlide" Target="/ppt/notesSlides/notesSlide22.xml" Id="R722a6e3b73144a86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131e607b05f4fb0" /><Relationship Type="http://schemas.openxmlformats.org/officeDocument/2006/relationships/notesSlide" Target="/ppt/notesSlides/notesSlide23.xml" Id="R969285d499dc4678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13fe8bd10f34ee3" /><Relationship Type="http://schemas.openxmlformats.org/officeDocument/2006/relationships/notesSlide" Target="/ppt/notesSlides/notesSlide24.xml" Id="Rcd63199f03294a8f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40321c3fd14e00" /><Relationship Type="http://schemas.openxmlformats.org/officeDocument/2006/relationships/notesSlide" Target="/ppt/notesSlides/notesSlide25.xml" Id="Rbe85bd475b134cda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56698316213407f" /><Relationship Type="http://schemas.openxmlformats.org/officeDocument/2006/relationships/notesSlide" Target="/ppt/notesSlides/notesSlide26.xml" Id="R61ef3b8e1a9c417b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1430a625fee483f" /><Relationship Type="http://schemas.openxmlformats.org/officeDocument/2006/relationships/notesSlide" Target="/ppt/notesSlides/notesSlide27.xml" Id="Rdfab060011c541f5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17940eca2564635" /><Relationship Type="http://schemas.openxmlformats.org/officeDocument/2006/relationships/notesSlide" Target="/ppt/notesSlides/notesSlide28.xml" Id="R1f7fd182b8904637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cd55fbb84ba47ef" /><Relationship Type="http://schemas.openxmlformats.org/officeDocument/2006/relationships/notesSlide" Target="/ppt/notesSlides/notesSlide29.xml" Id="Rccf1cbc3d3184a62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3973396cfe47ab" /><Relationship Type="http://schemas.openxmlformats.org/officeDocument/2006/relationships/notesSlide" Target="/ppt/notesSlides/notesSlide30.xml" Id="Ra9734d212a264254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df10387aad4b04" /><Relationship Type="http://schemas.openxmlformats.org/officeDocument/2006/relationships/notesSlide" Target="/ppt/notesSlides/notesSlide31.xml" Id="R6e8f682b68bd4a35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46f240ef4148c5" /><Relationship Type="http://schemas.openxmlformats.org/officeDocument/2006/relationships/notesSlide" Target="/ppt/notesSlides/notesSlide32.xml" Id="R9199f377e4494976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20fc1912544fc6" /><Relationship Type="http://schemas.openxmlformats.org/officeDocument/2006/relationships/notesSlide" Target="/ppt/notesSlides/notesSlide33.xml" Id="Rdfca3580903449ed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c89ebd59eb45bc" /><Relationship Type="http://schemas.openxmlformats.org/officeDocument/2006/relationships/notesSlide" Target="/ppt/notesSlides/notesSlide34.xml" Id="Rab8217a4e7a646c7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84cd4f28ef4fea" /><Relationship Type="http://schemas.openxmlformats.org/officeDocument/2006/relationships/notesSlide" Target="/ppt/notesSlides/notesSlide35.xml" Id="R24efab20a14b4617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499c04242648f6" /><Relationship Type="http://schemas.openxmlformats.org/officeDocument/2006/relationships/notesSlide" Target="/ppt/notesSlides/notesSlide36.xml" Id="Rb832ba5f85f54fbd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e519f82aea459e" /><Relationship Type="http://schemas.openxmlformats.org/officeDocument/2006/relationships/notesSlide" Target="/ppt/notesSlides/notesSlide37.xml" Id="Rd0babdd3513348b8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7f8daa74cf489b" /><Relationship Type="http://schemas.openxmlformats.org/officeDocument/2006/relationships/notesSlide" Target="/ppt/notesSlides/notesSlide38.xml" Id="Rc2014b3166cf4322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a6fcbb11824ea1" /><Relationship Type="http://schemas.openxmlformats.org/officeDocument/2006/relationships/notesSlide" Target="/ppt/notesSlides/notesSlide39.xml" Id="Rfd4b6901269642e9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f9736e48db4a35" /><Relationship Type="http://schemas.openxmlformats.org/officeDocument/2006/relationships/notesSlide" Target="/ppt/notesSlides/notesSlide40.xml" Id="Racf61823a44b4ba4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3cbe8def8f44cb" /><Relationship Type="http://schemas.openxmlformats.org/officeDocument/2006/relationships/notesSlide" Target="/ppt/notesSlides/notesSlide41.xml" Id="R8b82b089605040ab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4a0c36c565846ca" /><Relationship Type="http://schemas.openxmlformats.org/officeDocument/2006/relationships/notesSlide" Target="/ppt/notesSlides/notesSlide42.xml" Id="Re18830a035bb4c46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d76a0596f947e4" /><Relationship Type="http://schemas.openxmlformats.org/officeDocument/2006/relationships/notesSlide" Target="/ppt/notesSlides/notesSlide43.xml" Id="Rf2f7bbf633a64eba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f1774033e44e86" /><Relationship Type="http://schemas.openxmlformats.org/officeDocument/2006/relationships/notesSlide" Target="/ppt/notesSlides/notesSlide44.xml" Id="R89ae40db234e4804" /></Relationships>
</file>

<file path=ppt/slides/_rels/slide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3aaf9bf9404de6" /><Relationship Type="http://schemas.openxmlformats.org/officeDocument/2006/relationships/notesSlide" Target="/ppt/notesSlides/notesSlide45.xml" Id="R29db55cab62b4b40" /></Relationships>
</file>

<file path=ppt/slides/_rels/slide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0ac113be4c4c05" /><Relationship Type="http://schemas.openxmlformats.org/officeDocument/2006/relationships/notesSlide" Target="/ppt/notesSlides/notesSlide46.xml" Id="Rf2678ca753cc4c22" /></Relationships>
</file>

<file path=ppt/slides/_rels/slide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e7f26d42854dea" /><Relationship Type="http://schemas.openxmlformats.org/officeDocument/2006/relationships/notesSlide" Target="/ppt/notesSlides/notesSlide47.xml" Id="Raac000df08b147bf" /></Relationships>
</file>

<file path=ppt/slides/_rels/slide4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ee42b908374930" /><Relationship Type="http://schemas.openxmlformats.org/officeDocument/2006/relationships/notesSlide" Target="/ppt/notesSlides/notesSlide48.xml" Id="Rfc1058ae00da4ef3" /></Relationships>
</file>

<file path=ppt/slides/_rels/slide4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af2e27f4a74e79" /><Relationship Type="http://schemas.openxmlformats.org/officeDocument/2006/relationships/notesSlide" Target="/ppt/notesSlides/notesSlide49.xml" Id="R3df3956b5f2047ad" /></Relationships>
</file>

<file path=ppt/slides/_rels/slide5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51d82df62224b56" /><Relationship Type="http://schemas.openxmlformats.org/officeDocument/2006/relationships/notesSlide" Target="/ppt/notesSlides/notesSlide50.xml" Id="R3af6c22b9c2d48bc" /></Relationships>
</file>

<file path=ppt/slides/_rels/slide5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ec391fcaaf4461" /><Relationship Type="http://schemas.openxmlformats.org/officeDocument/2006/relationships/notesSlide" Target="/ppt/notesSlides/notesSlide51.xml" Id="R02f762cd19b949cb" /></Relationships>
</file>

<file path=ppt/slides/_rels/slide5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b8d86332b34471" /><Relationship Type="http://schemas.openxmlformats.org/officeDocument/2006/relationships/notesSlide" Target="/ppt/notesSlides/notesSlide52.xml" Id="R6cfc0f29e8a04d25" /></Relationships>
</file>

<file path=ppt/slides/_rels/slide5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be811538864c73" /><Relationship Type="http://schemas.openxmlformats.org/officeDocument/2006/relationships/notesSlide" Target="/ppt/notesSlides/notesSlide53.xml" Id="R069996a895364868" /></Relationships>
</file>

<file path=ppt/slides/_rels/slide5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354aa05a19428e" /><Relationship Type="http://schemas.openxmlformats.org/officeDocument/2006/relationships/notesSlide" Target="/ppt/notesSlides/notesSlide54.xml" Id="R1eb0ac0c8aa241c1" /></Relationships>
</file>

<file path=ppt/slides/_rels/slide5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0c9735394e4ff4" /><Relationship Type="http://schemas.openxmlformats.org/officeDocument/2006/relationships/notesSlide" Target="/ppt/notesSlides/notesSlide55.xml" Id="R9891dd285e714555" /></Relationships>
</file>

<file path=ppt/slides/_rels/slide5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740b9b23baf4515" /><Relationship Type="http://schemas.openxmlformats.org/officeDocument/2006/relationships/notesSlide" Target="/ppt/notesSlides/notesSlide56.xml" Id="R85a82f3bcd7d4703" /></Relationships>
</file>

<file path=ppt/slides/_rels/slide5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6a9f59243f4c0a" /><Relationship Type="http://schemas.openxmlformats.org/officeDocument/2006/relationships/notesSlide" Target="/ppt/notesSlides/notesSlide57.xml" Id="R718b952500dc490c" /></Relationships>
</file>

<file path=ppt/slides/_rels/slide5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ed9abec63e443b2" /><Relationship Type="http://schemas.openxmlformats.org/officeDocument/2006/relationships/notesSlide" Target="/ppt/notesSlides/notesSlide58.xml" Id="R931ed44f25164681" /></Relationships>
</file>

<file path=ppt/slides/_rels/slide5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6f3c667432b4822" /><Relationship Type="http://schemas.openxmlformats.org/officeDocument/2006/relationships/notesSlide" Target="/ppt/notesSlides/notesSlide59.xml" Id="R077ce073f42743e1" /></Relationships>
</file>

<file path=ppt/slides/_rels/slide6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7a75a5acd7449bc" /><Relationship Type="http://schemas.openxmlformats.org/officeDocument/2006/relationships/notesSlide" Target="/ppt/notesSlides/notesSlide60.xml" Id="Rca5f4687767e4030" /></Relationships>
</file>

<file path=ppt/slides/_rels/slide6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9f1c8695804631" /><Relationship Type="http://schemas.openxmlformats.org/officeDocument/2006/relationships/notesSlide" Target="/ppt/notesSlides/notesSlide61.xml" Id="Ra7956997f6d54b59" /></Relationships>
</file>

<file path=ppt/slides/_rels/slide6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15adf6c4474473" /><Relationship Type="http://schemas.openxmlformats.org/officeDocument/2006/relationships/notesSlide" Target="/ppt/notesSlides/notesSlide62.xml" Id="Rf1564603221c44a2" /></Relationships>
</file>

<file path=ppt/slides/_rels/slide6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f007c3d0d74669" /><Relationship Type="http://schemas.openxmlformats.org/officeDocument/2006/relationships/notesSlide" Target="/ppt/notesSlides/notesSlide63.xml" Id="R38ebd5cfe73d459c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C331BEB-89F1-42D0-A296-3F9EA9B88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1C89789-EA43-4176-9F96-FC8FB5848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3810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13D6FF"/>
                </a:solidFill>
                <a:latin typeface="Consolas"/>
                <a:ea typeface="Consolas"/>
                <a:cs typeface="Consolas"/>
              </a:defRPr>
            </a:pPr>
            <a:r>
              <a:t>讲座封面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7ED5D50-EDC5-4BE4-B836-8B2F55699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266700"/>
            <a:ext cx="114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750" b="0" i="0">
                <a:solidFill>
                  <a:srgbClr val="6E829D"/>
                </a:solidFill>
                <a:latin typeface="Consolas"/>
                <a:ea typeface="Consolas"/>
                <a:cs typeface="Consolas"/>
              </a:defRPr>
            </a:pPr>
            <a:r>
              <a:t>01 / 63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BD1491A-D6C3-405F-9D14-55FC46C0C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953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3D68"/>
          </a:solidFill>
          <a:ln xmlns:a="http://schemas.openxmlformats.org/drawingml/2006/main" w="0">
            <a:solidFill>
              <a:srgbClr val="1B3D68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747377-38C2-4365-831F-DE03996E6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200150"/>
            <a:ext cx="20002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0E213A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ABFB789-84CF-447A-82D3-D1733ACA9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295400"/>
            <a:ext cx="18097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0" i="0">
                <a:solidFill>
                  <a:srgbClr val="13D6FF"/>
                </a:solidFill>
                <a:latin typeface="Consolas"/>
                <a:ea typeface="Consolas"/>
                <a:cs typeface="Consolas"/>
              </a:defRPr>
            </a:pPr>
            <a:r>
              <a:t>研究生讲座 / 数字讲义版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63899A3-CA75-4E26-B0A9-70AE9EFF7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47850"/>
            <a:ext cx="9334500" cy="129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AI时代的材料科学实验：</a:t>
            </a:r>
          </a:p>
          <a:p xmlns:a="http://schemas.openxmlformats.org/drawingml/2006/main">
            <a:pPr algn="l">
              <a:defRPr sz="25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从 DOE 到 Self-Driving Labs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435DD52-602A-45BD-9C94-DE1788837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14700"/>
            <a:ext cx="8572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13D6FF"/>
                </a:solidFill>
                <a:latin typeface="Aptos"/>
                <a:ea typeface="Aptos"/>
                <a:cs typeface="Aptos"/>
              </a:defRPr>
            </a:pPr>
            <a:r>
              <a:t>重新理解实验、方法论与自驱实验室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558818E-A5AB-4CBC-8389-C70A38807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95750"/>
            <a:ext cx="72390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本讲面向材料科学与工程相关研究生和高年级本科生。</a:t>
            </a:r>
          </a:p>
          <a:p xmlns:a="http://schemas.openxmlformats.org/drawingml/2006/main">
            <a:pPr algn="l">
              <a:defRPr sz="1350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主线不是“AI 更强了”，而是“实验正在被重新组织”。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27EBD15-9662-478B-9AFE-20A84C7F7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334000"/>
            <a:ext cx="1524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D6FF"/>
          </a:solidFill>
          <a:ln xmlns:a="http://schemas.openxmlformats.org/drawingml/2006/main" w="0">
            <a:solidFill>
              <a:srgbClr val="13D6FF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E2A15C5-6113-447A-96A4-828378783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5334000"/>
            <a:ext cx="24765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B82F6"/>
          </a:solidFill>
          <a:ln xmlns:a="http://schemas.openxmlformats.org/drawingml/2006/main" w="0">
            <a:solidFill>
              <a:srgbClr val="3B82F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48549D4-21F4-4B13-A544-1631398C5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5334000"/>
            <a:ext cx="1143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solidFill>
              <a:srgbClr val="FBBF24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16D7675-5B80-431D-814D-BD5F8CDBA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772150"/>
            <a:ext cx="8572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6E829D"/>
                </a:solidFill>
                <a:latin typeface="Aptos"/>
                <a:ea typeface="Aptos"/>
                <a:cs typeface="Aptos"/>
              </a:defRPr>
            </a:pPr>
            <a:r>
              <a:t>关键词：Experiment（实验） / Design of Experiments（实验设计，DOE） / Self-Driving Labs（自驱实验室，SDL）</a:t>
            </a:r>
          </a:p>
        </p:txBody>
      </p:sp>
    </p:spTree>
    <p:extLst>
      <p:ext uri="{BB962C8B-B14F-4D97-AF65-F5344CB8AC3E}">
        <p14:creationId xmlns:p14="http://schemas.microsoft.com/office/powerpoint/2010/main" val="2077003290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5E1B00D-18EE-46C6-856A-AE9781C55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B0425C4-90A8-4278-B0FC-48DF61806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3810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13D6FF"/>
                </a:solidFill>
                <a:latin typeface="Consolas"/>
                <a:ea typeface="Consolas"/>
                <a:cs typeface="Consolas"/>
              </a:defRPr>
            </a:pPr>
            <a:r>
              <a:t>讲座结构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4384B2A-9E62-4930-A8DA-E4D0E9E87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266700"/>
            <a:ext cx="114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750" b="0" i="0">
                <a:solidFill>
                  <a:srgbClr val="6E829D"/>
                </a:solidFill>
                <a:latin typeface="Consolas"/>
                <a:ea typeface="Consolas"/>
                <a:cs typeface="Consolas"/>
              </a:defRPr>
            </a:pPr>
            <a:r>
              <a:t>02 / 63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1D4606-7CB9-4C10-B47A-3AC93DC9F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953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3D68"/>
          </a:solidFill>
          <a:ln xmlns:a="http://schemas.openxmlformats.org/drawingml/2006/main" w="0">
            <a:solidFill>
              <a:srgbClr val="1B3D68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0A75953-8898-4C3E-864C-2AE405810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819150"/>
            <a:ext cx="9906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今天的六个部分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5C68E9-9898-4BE0-9359-9DFD660A1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390650"/>
            <a:ext cx="990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t>三小时讲座的主线是“实验”而不是“算法清单”。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8410498-E0BE-49A2-8684-7890359A7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095500"/>
            <a:ext cx="100965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0E213A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247B358-179F-4CB3-9C90-34F40D6EA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190750"/>
            <a:ext cx="476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13D6FF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13EC9E5-7A8F-472D-BBA6-29BA7C9FE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2190750"/>
            <a:ext cx="876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为什么今天必须重新理解实验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4B7D681-453F-41AA-AA13-FF1034CFC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86050"/>
            <a:ext cx="100965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A91FFB0-1F83-4637-B7AB-405367786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781300"/>
            <a:ext cx="476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13D6FF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F729041-E77E-44BD-910A-8CD63DC11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2781300"/>
            <a:ext cx="876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MSE（材料科学与工程）实验图谱与目录学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AF57573-9D50-40A4-ACB5-A9626C14D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276600"/>
            <a:ext cx="100965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B306CD4-10E2-4ADD-A164-877EB1170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371850"/>
            <a:ext cx="476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13D6FF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E713D69-6973-41D3-9DDD-23745EB5C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3371850"/>
            <a:ext cx="876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传统方法论：试错法与 DOE（实验设计）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B929FF8-BA58-4428-9FEA-DBF9DFCC4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867150"/>
            <a:ext cx="100965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BADC156-B2F7-429B-9846-16492361D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962400"/>
            <a:ext cx="476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13D6FF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371240A-C2F1-4CD6-BCBF-D8456D1D3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3962400"/>
            <a:ext cx="876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AI 时代的实验：什么是 SDL（自驱实验室）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EEEBF45-5BD5-41BB-867A-F29A97952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457700"/>
            <a:ext cx="100965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8158A3E-CFC9-4965-B466-D0D752397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552950"/>
            <a:ext cx="476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13D6FF"/>
                </a:solidFill>
                <a:latin typeface="Consolas"/>
                <a:ea typeface="Consolas"/>
                <a:cs typeface="Consolas"/>
              </a:defRPr>
            </a:pPr>
            <a:r>
              <a:t>05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0A7F8E9-D97D-491D-BFD8-F6C9FB9B1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4552950"/>
            <a:ext cx="876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A-Lab（自治实验室）作为真实系统案例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897AE6B-32C5-427D-A747-C58A8E2BB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048250"/>
            <a:ext cx="100965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5856D32-6781-4BD0-947B-F94685B6D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143500"/>
            <a:ext cx="476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13D6FF"/>
                </a:solidFill>
                <a:latin typeface="Consolas"/>
                <a:ea typeface="Consolas"/>
                <a:cs typeface="Consolas"/>
              </a:defRPr>
            </a:pPr>
            <a:r>
              <a:t>06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727A010-9714-4D02-881F-4042A5C65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5143500"/>
            <a:ext cx="876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Case Studio：最小 live demo 与课程总结</a:t>
            </a:r>
          </a:p>
        </p:txBody>
      </p:sp>
    </p:spTree>
    <p:extLst>
      <p:ext uri="{BB962C8B-B14F-4D97-AF65-F5344CB8AC3E}">
        <p14:creationId xmlns:p14="http://schemas.microsoft.com/office/powerpoint/2010/main" val="863434519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D82CBAA-BA9D-409D-8CD7-CAEECFEAF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F143CB8-9C27-44AE-A144-C33A149A1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3810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13D6FF"/>
                </a:solidFill>
                <a:latin typeface="Consolas"/>
                <a:ea typeface="Consolas"/>
                <a:cs typeface="Consolas"/>
              </a:defRPr>
            </a:pPr>
            <a:r>
              <a:t>讲座定位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DBBA115-28D8-499E-9C9E-9429E3F73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266700"/>
            <a:ext cx="114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750" b="0" i="0">
                <a:solidFill>
                  <a:srgbClr val="6E829D"/>
                </a:solidFill>
                <a:latin typeface="Consolas"/>
                <a:ea typeface="Consolas"/>
                <a:cs typeface="Consolas"/>
              </a:defRPr>
            </a:pPr>
            <a:r>
              <a:t>03 / 63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5F3C890-D5D5-4A77-95A6-0357A3905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953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3D68"/>
          </a:solidFill>
          <a:ln xmlns:a="http://schemas.openxmlformats.org/drawingml/2006/main" w="0">
            <a:solidFill>
              <a:srgbClr val="1B3D68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44786EE-860F-483B-A66E-2E73CDAF9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819150"/>
            <a:ext cx="9906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这不是一场“AI 工具清单”讲座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11CF72C-A7D3-41FB-88E6-6F1D538FD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390650"/>
            <a:ext cx="990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t>本讲的中心对象是实验，不是某个单独模型。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6FC31DF-EF2E-47EA-85C1-CFABB2231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133600"/>
            <a:ext cx="6858000" cy="3524250"/>
          </a:xfrm>
          <a:prstGeom xmlns:a="http://schemas.openxmlformats.org/drawingml/2006/main" prst="roundRect">
            <a:avLst>
              <a:gd name="adj" fmla="val 2162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1232CDF-2053-43DF-AFAA-CEF3B5E67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400300"/>
            <a:ext cx="619125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• 我们关心的是：实验如何生产知识，而不是只关心模型是否更强。</a:t>
            </a:r>
          </a:p>
          <a:p xmlns:a="http://schemas.openxmlformats.org/drawingml/2006/main">
            <a:pPr algn="l">
              <a:defRPr sz="1575" b="0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• SDL 的出现，是实验方法论、硬件自动化、数据化与算法决策的合流。</a:t>
            </a:r>
          </a:p>
          <a:p xmlns:a="http://schemas.openxmlformats.org/drawingml/2006/main">
            <a:pPr algn="l">
              <a:defRPr sz="1575" b="0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• 因此，本讲既谈传统方法，也谈 AI 时代的新组织形式。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5A7883C-DDC1-4DFC-AE65-680FCE832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133600"/>
            <a:ext cx="304800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3D6FF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903F0A5-9318-4B85-BA5D-5C38AAEB9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266950"/>
            <a:ext cx="27432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0" i="0">
                <a:solidFill>
                  <a:srgbClr val="13D6FF"/>
                </a:solidFill>
                <a:latin typeface="Consolas"/>
                <a:ea typeface="Consolas"/>
                <a:cs typeface="Consolas"/>
              </a:defRPr>
            </a:pPr>
            <a:r>
              <a:t>讲座产出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E5A3E3A-2FE1-4F43-9DE4-6594BD823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514600"/>
            <a:ext cx="27432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听完后，学生应该能回答三个问题：</a:t>
            </a:r>
          </a:p>
          <a:p xmlns:a="http://schemas.openxmlformats.org/drawingml/2006/main">
            <a:pPr algn="l">
              <a:defRPr sz="1050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1. 为什么实验仍是中心</a:t>
            </a:r>
          </a:p>
          <a:p xmlns:a="http://schemas.openxmlformats.org/drawingml/2006/main">
            <a:pPr algn="l">
              <a:defRPr sz="1050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2. DOE 与 SDL 的关系是什么</a:t>
            </a:r>
          </a:p>
          <a:p xmlns:a="http://schemas.openxmlformats.org/drawingml/2006/main">
            <a:pPr algn="l">
              <a:defRPr sz="1050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3. 哪些问题适合做 SDL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D63E82B-96BA-4B1D-870C-520FB0B0A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171950"/>
            <a:ext cx="3048000" cy="1485900"/>
          </a:xfrm>
          <a:prstGeom xmlns:a="http://schemas.openxmlformats.org/drawingml/2006/main" prst="roundRect">
            <a:avLst>
              <a:gd name="adj" fmla="val 5128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3B82F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2C70BF3-E089-454D-A3E1-68E825740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305300"/>
            <a:ext cx="27432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0" i="0">
                <a:solidFill>
                  <a:srgbClr val="3B82F6"/>
                </a:solidFill>
                <a:latin typeface="Consolas"/>
                <a:ea typeface="Consolas"/>
                <a:cs typeface="Consolas"/>
              </a:defRPr>
            </a:pPr>
            <a:r>
              <a:t>态度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6C01A66-E641-47FC-AB7B-CDCA19D70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552950"/>
            <a:ext cx="27432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既拥抱 AI，也质疑 AI。</a:t>
            </a:r>
          </a:p>
          <a:p xmlns:a="http://schemas.openxmlformats.org/drawingml/2006/main">
            <a:pPr algn="l">
              <a:defRPr sz="1050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既重视算法，也坚持人的判断与科学伦理。</a:t>
            </a:r>
          </a:p>
        </p:txBody>
      </p:sp>
    </p:spTree>
    <p:extLst>
      <p:ext uri="{BB962C8B-B14F-4D97-AF65-F5344CB8AC3E}">
        <p14:creationId xmlns:p14="http://schemas.microsoft.com/office/powerpoint/2010/main" val="1201826589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F0CF076-F941-4171-9C5E-D8DF0D1CD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6EEE95A-214D-46EE-AD50-D22FBF8FA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3810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13D6FF"/>
                </a:solidFill>
                <a:latin typeface="Consolas"/>
                <a:ea typeface="Consolas"/>
                <a:cs typeface="Consolas"/>
              </a:defRPr>
            </a:pPr>
            <a:r>
              <a:t>讲座路径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C3461D5-3E66-483D-B322-5380EB6E1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266700"/>
            <a:ext cx="114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750" b="0" i="0">
                <a:solidFill>
                  <a:srgbClr val="6E829D"/>
                </a:solidFill>
                <a:latin typeface="Consolas"/>
                <a:ea typeface="Consolas"/>
                <a:cs typeface="Consolas"/>
              </a:defRPr>
            </a:pPr>
            <a:r>
              <a:t>04 / 63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EAC1A0E-0984-4838-A2B7-F821E2A05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953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3D68"/>
          </a:solidFill>
          <a:ln xmlns:a="http://schemas.openxmlformats.org/drawingml/2006/main" w="0">
            <a:solidFill>
              <a:srgbClr val="1B3D68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A3740A3-A974-4585-AF27-33EA9F606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819150"/>
            <a:ext cx="9906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从网站到 PPT：两条交付链路，内容主线一致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BCC87D6-64B5-4034-9430-BFD9655B4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390650"/>
            <a:ext cx="990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t>网站负责动态演示，PPT 负责稳定交付。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C49D237-ECD8-452D-A25C-828EAF04D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133600"/>
            <a:ext cx="6858000" cy="3524250"/>
          </a:xfrm>
          <a:prstGeom xmlns:a="http://schemas.openxmlformats.org/drawingml/2006/main" prst="roundRect">
            <a:avLst>
              <a:gd name="adj" fmla="val 2162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E6CD063-9398-4CB4-9A6E-82BAE04F0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400300"/>
            <a:ext cx="619125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• 网站版适合展示课程结构、A-Lab 案例页和 Case Studio live demo。</a:t>
            </a:r>
          </a:p>
          <a:p xmlns:a="http://schemas.openxmlformats.org/drawingml/2006/main">
            <a:pPr algn="l">
              <a:defRPr sz="1575" b="0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• PPT 版适合在网络、浏览器或现场环境不稳定时完整讲完。</a:t>
            </a:r>
          </a:p>
          <a:p xmlns:a="http://schemas.openxmlformats.org/drawingml/2006/main">
            <a:pPr algn="l">
              <a:defRPr sz="1575" b="0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• 两条链路服务同一主线：实验 → 方法论 → SDL → 真实案例 → 最小闭环演示。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42E6F87-F0D5-4E5C-85DA-3BE82CCD6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133600"/>
            <a:ext cx="304800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3D6FF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41E0D08-49D0-4BC5-83EF-20D86E5E5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266950"/>
            <a:ext cx="27432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0" i="0">
                <a:solidFill>
                  <a:srgbClr val="13D6FF"/>
                </a:solidFill>
                <a:latin typeface="Consolas"/>
                <a:ea typeface="Consolas"/>
                <a:cs typeface="Consolas"/>
              </a:defRPr>
            </a:pPr>
            <a:r>
              <a:t>为什么两者并存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66DF87F-1363-437C-8939-3ECC7ADBA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514600"/>
            <a:ext cx="27432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网站适合系统与交互，PPT 适合稳定叙事；两者服务同一学术主线。</a:t>
            </a:r>
          </a:p>
        </p:txBody>
      </p:sp>
    </p:spTree>
    <p:extLst>
      <p:ext uri="{BB962C8B-B14F-4D97-AF65-F5344CB8AC3E}">
        <p14:creationId xmlns:p14="http://schemas.microsoft.com/office/powerpoint/2010/main" val="1067272086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5EA4227-AB6A-490E-A917-BFB3E34CC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263540E-11B9-44BE-ABAC-F79ED2C92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3810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13D6FF"/>
                </a:solidFill>
                <a:latin typeface="Consolas"/>
                <a:ea typeface="Consolas"/>
                <a:cs typeface="Consolas"/>
              </a:defRPr>
            </a:pPr>
            <a:r>
              <a:t>第一部分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42E663E-9D1C-4F4E-BEC8-5FCB99E09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266700"/>
            <a:ext cx="114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750" b="0" i="0">
                <a:solidFill>
                  <a:srgbClr val="6E829D"/>
                </a:solidFill>
                <a:latin typeface="Consolas"/>
                <a:ea typeface="Consolas"/>
                <a:cs typeface="Consolas"/>
              </a:defRPr>
            </a:pPr>
            <a:r>
              <a:t>05 / 63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4AB44BB-A8AE-4912-B639-999D3E308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953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3D68"/>
          </a:solidFill>
          <a:ln xmlns:a="http://schemas.openxmlformats.org/drawingml/2006/main" w="0">
            <a:solidFill>
              <a:srgbClr val="1B3D68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324FA17-3D31-40A6-89A3-C2CF48D1B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676400"/>
            <a:ext cx="14287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5400" b="1" i="0">
                <a:solidFill>
                  <a:srgbClr val="13D6FF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D7FE6E3-5CA3-4ADB-A568-38FFB0881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1809750"/>
            <a:ext cx="7810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为什么今天必须重新理解实验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DFBBE3B-4959-487A-ABD4-55B642371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2628900"/>
            <a:ext cx="7429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t>如果不先理解实验的地位，就很容易把 SDL 误解成“算法升级版 DOE”。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2FD5F25-50DB-4D4D-90AD-741E89855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924300"/>
            <a:ext cx="4000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D6FF"/>
          </a:solidFill>
          <a:ln xmlns:a="http://schemas.openxmlformats.org/drawingml/2006/main" w="0">
            <a:solidFill>
              <a:srgbClr val="13D6FF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2C98CD8-2203-4F66-BC12-8D5F6BA2C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438650"/>
            <a:ext cx="85725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如果不先把实验放回中心，后面关于 DOE 和 SDL 的判断都会漂。</a:t>
            </a:r>
          </a:p>
        </p:txBody>
      </p:sp>
    </p:spTree>
    <p:extLst>
      <p:ext uri="{BB962C8B-B14F-4D97-AF65-F5344CB8AC3E}">
        <p14:creationId xmlns:p14="http://schemas.microsoft.com/office/powerpoint/2010/main" val="125241854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5750244-BA5F-4864-8A09-80A2FB633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D55D905-B366-4D5A-95E2-DAC5DC185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3810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13D6FF"/>
                </a:solidFill>
                <a:latin typeface="Consolas"/>
                <a:ea typeface="Consolas"/>
                <a:cs typeface="Consolas"/>
              </a:defRPr>
            </a:pPr>
            <a:r>
              <a:t>实验的地位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2F8B917-C755-4074-B808-B0CF5B2BF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266700"/>
            <a:ext cx="114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750" b="0" i="0">
                <a:solidFill>
                  <a:srgbClr val="6E829D"/>
                </a:solidFill>
                <a:latin typeface="Consolas"/>
                <a:ea typeface="Consolas"/>
                <a:cs typeface="Consolas"/>
              </a:defRPr>
            </a:pPr>
            <a:r>
              <a:t>06 / 63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AD317D0-4191-41E3-83DD-8B96D212C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953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3D68"/>
          </a:solidFill>
          <a:ln xmlns:a="http://schemas.openxmlformats.org/drawingml/2006/main" w="0">
            <a:solidFill>
              <a:srgbClr val="1B3D68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82B78C-2842-4801-B8F6-C86219955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819150"/>
            <a:ext cx="9906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实验不是理论的附庸，也不是数据的采样器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B30656D-B557-47A0-90D0-52BB8E0D9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390650"/>
            <a:ext cx="990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t>在材料科学中，实验本身就是知识生产机制。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BB3C7F6-8307-42F5-A054-36D726C20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133600"/>
            <a:ext cx="6858000" cy="3524250"/>
          </a:xfrm>
          <a:prstGeom xmlns:a="http://schemas.openxmlformats.org/drawingml/2006/main" prst="roundRect">
            <a:avLst>
              <a:gd name="adj" fmla="val 2162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45B54F9-E9DC-4A09-97C8-5DB41FB37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400300"/>
            <a:ext cx="619125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• 实验不仅验证理论，也发现现象、制造样品、暴露异常、纠正错误。</a:t>
            </a:r>
          </a:p>
          <a:p xmlns:a="http://schemas.openxmlformats.org/drawingml/2006/main">
            <a:pPr algn="l">
              <a:defRPr sz="1575" b="0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• 很多 MSE 问题无法由纯理论直接给出答案，必须依赖实验进入真实材料世界。</a:t>
            </a:r>
          </a:p>
          <a:p xmlns:a="http://schemas.openxmlformats.org/drawingml/2006/main">
            <a:pPr algn="l">
              <a:defRPr sz="1575" b="0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• 因此，实验不是“最后一步确认”，而是研究链条中的主轴。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4F7CDBE-50ED-4FB8-8340-E73AE8449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133600"/>
            <a:ext cx="304800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3D6FF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8ACE060-F9B9-4928-BC4E-F702DA1E8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266950"/>
            <a:ext cx="27432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0" i="0">
                <a:solidFill>
                  <a:srgbClr val="13D6FF"/>
                </a:solidFill>
                <a:latin typeface="Consolas"/>
                <a:ea typeface="Consolas"/>
                <a:cs typeface="Consolas"/>
              </a:defRPr>
            </a:pPr>
            <a:r>
              <a:t>在 MSE 中，实验承担什么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B3AC5C4-B81A-4383-812A-09D46615E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514600"/>
            <a:ext cx="27432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发现 / 制备 / 表征 / 测量 / 评价 / 失效分析 / 校准 / 纠错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4BF3D9E-9A05-4AB1-BCDB-5D60E62E1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171950"/>
            <a:ext cx="3048000" cy="1485900"/>
          </a:xfrm>
          <a:prstGeom xmlns:a="http://schemas.openxmlformats.org/drawingml/2006/main" prst="roundRect">
            <a:avLst>
              <a:gd name="adj" fmla="val 5128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3B82F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E59C47B-6154-45D6-BDF9-8DE11F9CE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305300"/>
            <a:ext cx="27432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0" i="0">
                <a:solidFill>
                  <a:srgbClr val="3B82F6"/>
                </a:solidFill>
                <a:latin typeface="Consolas"/>
                <a:ea typeface="Consolas"/>
                <a:cs typeface="Consolas"/>
              </a:defRPr>
            </a:pPr>
            <a:r>
              <a:t>关键判断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190FA7D-06BC-44B8-98EF-C2FC947C5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552950"/>
            <a:ext cx="27432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谁能更高质量地组织实验，谁就可能更快地产生可靠知识。</a:t>
            </a:r>
          </a:p>
        </p:txBody>
      </p:sp>
    </p:spTree>
    <p:extLst>
      <p:ext uri="{BB962C8B-B14F-4D97-AF65-F5344CB8AC3E}">
        <p14:creationId xmlns:p14="http://schemas.microsoft.com/office/powerpoint/2010/main" val="1993591963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72DD945-06A0-4376-8052-C7FE96D88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DC6FE86-6516-4299-9817-386C8E94B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3810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13D6FF"/>
                </a:solidFill>
                <a:latin typeface="Consolas"/>
                <a:ea typeface="Consolas"/>
                <a:cs typeface="Consolas"/>
              </a:defRPr>
            </a:pPr>
            <a:r>
              <a:t>实验输出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2DC074D-06A0-4A05-8D75-6C1611781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266700"/>
            <a:ext cx="114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750" b="0" i="0">
                <a:solidFill>
                  <a:srgbClr val="6E829D"/>
                </a:solidFill>
                <a:latin typeface="Consolas"/>
                <a:ea typeface="Consolas"/>
                <a:cs typeface="Consolas"/>
              </a:defRPr>
            </a:pPr>
            <a:r>
              <a:t>07 / 63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9FF97CD-7D1F-4FC9-9E65-6A1688526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953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3D68"/>
          </a:solidFill>
          <a:ln xmlns:a="http://schemas.openxmlformats.org/drawingml/2006/main" w="0">
            <a:solidFill>
              <a:srgbClr val="1B3D68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E4C7752-9582-4CAD-84E8-B20EB9419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819150"/>
            <a:ext cx="9906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从实验类别到数据形态：SDL 关心的不只是“做了什么实验”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8E13E0D-3B8B-4D2C-AAF8-884ABEFAF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390650"/>
            <a:ext cx="990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t>它更关心实验会产出什么观测，以及这些观测能否进入决策。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CCB6BD9-34BB-44DE-9788-9C4EEE83C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171700"/>
            <a:ext cx="20955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0E213A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57CCA65-E838-4FCD-A270-FA66C4D32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295525"/>
            <a:ext cx="1866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t>维度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0F763CD-123C-428E-9AE4-99487645C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171700"/>
            <a:ext cx="24765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6F27E6F-6C07-4DB3-B213-27F0B67BB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295525"/>
            <a:ext cx="2247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0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典型输出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FD785CD-F3B8-434F-9DC8-D72539939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2171700"/>
            <a:ext cx="24765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07C5E11-5291-42C9-932D-0EC6158F0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295525"/>
            <a:ext cx="2247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0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常见数据形态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63011DE-4919-4238-AA11-CC2BB7886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171700"/>
            <a:ext cx="24765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0870A64-0F21-4E50-9336-4DE0681C6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295525"/>
            <a:ext cx="2247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0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SDL 化难点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B24ECFB-3777-4709-98C9-68583F9B9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09850"/>
            <a:ext cx="20955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1FFCAEF-07A5-47B6-B7F9-999060DEE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705100"/>
            <a:ext cx="18669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制备/加工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085FAE2-18FE-4E1F-9891-B44A79767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609850"/>
            <a:ext cx="24765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071426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CBDA1A2-2E2D-484D-9205-133FBD636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705100"/>
            <a:ext cx="22479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样品状态变化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DFD5563-6F16-4639-BA4E-23822F121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2609850"/>
            <a:ext cx="24765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071426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8905ED3-B61E-4DD8-BC33-1401BE3D2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705100"/>
            <a:ext cx="22479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配方表、工艺参数、批次记录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FFD87A2-11D0-45A7-824D-7CAAF427D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609850"/>
            <a:ext cx="24765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071426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B1BE653-0524-4E2C-89E9-7249AD637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705100"/>
            <a:ext cx="22479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样品历史难标准化，过程漂移强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7E6DD78-31D3-4887-B85E-078CEE954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86100"/>
            <a:ext cx="20955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72F6F6D-0501-45FB-9CC7-2BA9BE376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181350"/>
            <a:ext cx="18669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结构/成分表征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966CC42-2CF6-4456-B84F-D761AB54C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086100"/>
            <a:ext cx="24765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071426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53E46F4-0660-4472-8461-AD72A44E1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181350"/>
            <a:ext cx="22479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相、成分、形貌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1429621-0A98-4D55-B734-6DD48B246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3086100"/>
            <a:ext cx="24765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071426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E93F652-4A55-4E60-ADAD-A364981D3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3181350"/>
            <a:ext cx="22479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谱图、峰位、图像、mapping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B2DA29C-AAA3-450F-B29B-AB6557F5B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086100"/>
            <a:ext cx="24765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071426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E58DF21-8785-472E-B1A7-9430FB119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181350"/>
            <a:ext cx="22479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高维数据多，解释链长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573B3CF-39B7-45C5-A9B2-5E0133653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562350"/>
            <a:ext cx="20955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1F2A96F-667B-41C1-9304-DF5D64B53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657600"/>
            <a:ext cx="18669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物性/性能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F6C69F1-16AC-40B8-8D8C-42CE9E3AF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562350"/>
            <a:ext cx="24765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071426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1B79402-1B74-4705-A13C-3C85F7FB2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657600"/>
            <a:ext cx="22479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电、热、力、化学响应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274983F-9C88-411F-9431-EFF860FB2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3562350"/>
            <a:ext cx="24765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071426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4F60BFA-5AFC-4BB1-9E42-B79677045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3657600"/>
            <a:ext cx="22479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曲线、标量、循环数据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C112061-F1D8-4ABE-9D82-684342802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562350"/>
            <a:ext cx="24765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071426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162E240-E94D-434B-AE62-9E2C7C88A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657600"/>
            <a:ext cx="22479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目标常多元，测量时间不均一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D342B3E-3FCC-458C-B5EA-1E1FDCD33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038600"/>
            <a:ext cx="20955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50D4C2F-8DEA-4F3B-80D6-AA5E78BC5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133850"/>
            <a:ext cx="18669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失效/可靠性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91B370B-02D7-4963-92E5-E60A6E378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4038600"/>
            <a:ext cx="24765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071426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2C7B756-39C8-4016-A950-04FB622D4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133850"/>
            <a:ext cx="22479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寿命、退化、异常模式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379546C-9588-4FAF-B0ED-28D1D7D76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4038600"/>
            <a:ext cx="24765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071426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EE0D6D19-D883-42CA-B8C8-5C9290EB7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4133850"/>
            <a:ext cx="22479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时间序列、统计分布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0D563436-0E2C-41BD-9A6B-FB5B2C009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038600"/>
            <a:ext cx="24765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071426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F2909F4-411A-4ED2-9EDE-0D272204C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133850"/>
            <a:ext cx="22479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成本高、时间长、噪声和偶然性强</a:t>
            </a:r>
          </a:p>
        </p:txBody>
      </p:sp>
    </p:spTree>
    <p:extLst>
      <p:ext uri="{BB962C8B-B14F-4D97-AF65-F5344CB8AC3E}">
        <p14:creationId xmlns:p14="http://schemas.microsoft.com/office/powerpoint/2010/main" val="951994513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5C72B93-2AD2-427C-A67C-A202710DB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1CC4E3A-F38B-4B8B-A527-9F50BD2C4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3810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13D6FF"/>
                </a:solidFill>
                <a:latin typeface="Consolas"/>
                <a:ea typeface="Consolas"/>
                <a:cs typeface="Consolas"/>
              </a:defRPr>
            </a:pPr>
            <a:r>
              <a:t>实验的角色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120398C-00B9-4E6B-BADE-D519B6F8C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266700"/>
            <a:ext cx="114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750" b="0" i="0">
                <a:solidFill>
                  <a:srgbClr val="6E829D"/>
                </a:solidFill>
                <a:latin typeface="Consolas"/>
                <a:ea typeface="Consolas"/>
                <a:cs typeface="Consolas"/>
              </a:defRPr>
            </a:pPr>
            <a:r>
              <a:t>08 / 63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AB9EBC8-DC64-4974-995D-649E056C2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953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3D68"/>
          </a:solidFill>
          <a:ln xmlns:a="http://schemas.openxmlformats.org/drawingml/2006/main" w="0">
            <a:solidFill>
              <a:srgbClr val="1B3D68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AB5C0DA-8AAE-4A62-B976-D44BCBE62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819150"/>
            <a:ext cx="9906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实验如何贯穿一条典型的 MSE 知识链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7209D9A-7ED7-453D-8085-EE4CC2BBA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390650"/>
            <a:ext cx="990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t>它不是单点动作，而是一条连续工作流。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5CB8041-BB6C-4641-99A6-4B9A1A363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133600"/>
            <a:ext cx="3429000" cy="1466850"/>
          </a:xfrm>
          <a:prstGeom xmlns:a="http://schemas.openxmlformats.org/drawingml/2006/main" prst="roundRect">
            <a:avLst>
              <a:gd name="adj" fmla="val 5195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ECCAE10-6C29-4D2A-B266-9B60028FF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266950"/>
            <a:ext cx="3124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13D6FF"/>
                </a:solidFill>
                <a:latin typeface="Aptos"/>
                <a:ea typeface="Aptos"/>
                <a:cs typeface="Aptos"/>
              </a:defRPr>
            </a:pPr>
            <a:r>
              <a:t>问题提出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FE54B7A-7FC1-4963-A3EE-2A9C0D20F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514600"/>
            <a:ext cx="31242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我们想优化什么、理解什么、验证什么？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5D5E4D6-0044-4439-A9F5-E798E62D3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133600"/>
            <a:ext cx="3429000" cy="1466850"/>
          </a:xfrm>
          <a:prstGeom xmlns:a="http://schemas.openxmlformats.org/drawingml/2006/main" prst="roundRect">
            <a:avLst>
              <a:gd name="adj" fmla="val 5195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3A38229-BAA1-43A7-B992-83BF94468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266950"/>
            <a:ext cx="3124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3B82F6"/>
                </a:solidFill>
                <a:latin typeface="Aptos"/>
                <a:ea typeface="Aptos"/>
                <a:cs typeface="Aptos"/>
              </a:defRPr>
            </a:pPr>
            <a:r>
              <a:t>样品与制备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1E220F2-6383-4D2C-A39F-9F796F627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514600"/>
            <a:ext cx="31242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材料从想法变成可被研究的真实对象。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CB3C0CE-2F52-4463-B292-47FBE4114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133600"/>
            <a:ext cx="3429000" cy="1466850"/>
          </a:xfrm>
          <a:prstGeom xmlns:a="http://schemas.openxmlformats.org/drawingml/2006/main" prst="roundRect">
            <a:avLst>
              <a:gd name="adj" fmla="val 5195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7F0D1C1-60A1-4204-9D21-F9FE6D4E8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266950"/>
            <a:ext cx="3124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FBBF24"/>
                </a:solidFill>
                <a:latin typeface="Aptos"/>
                <a:ea typeface="Aptos"/>
                <a:cs typeface="Aptos"/>
              </a:defRPr>
            </a:pPr>
            <a:r>
              <a:t>表征与测量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440371F-3221-4530-9E98-ADF6AEBA3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514600"/>
            <a:ext cx="31242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结构、组成、性能、失效等响应被观察和记录。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02D0E53-7693-4F97-A623-29709252B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71900"/>
            <a:ext cx="3429000" cy="1466850"/>
          </a:xfrm>
          <a:prstGeom xmlns:a="http://schemas.openxmlformats.org/drawingml/2006/main" prst="roundRect">
            <a:avLst>
              <a:gd name="adj" fmla="val 5195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1B23352-987C-413B-A3A0-330AD41DD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905250"/>
            <a:ext cx="3124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34D399"/>
                </a:solidFill>
                <a:latin typeface="Aptos"/>
                <a:ea typeface="Aptos"/>
                <a:cs typeface="Aptos"/>
              </a:defRPr>
            </a:pPr>
            <a:r>
              <a:t>数据与模型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13C792D-496F-47D4-AAD3-B1218FB9E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152900"/>
            <a:ext cx="31242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实验结果被整理、比较、建模和解释。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31DC2DC-F582-4CC0-B8A9-1953146D5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771900"/>
            <a:ext cx="3429000" cy="1466850"/>
          </a:xfrm>
          <a:prstGeom xmlns:a="http://schemas.openxmlformats.org/drawingml/2006/main" prst="roundRect">
            <a:avLst>
              <a:gd name="adj" fmla="val 5195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0DEB648-380D-4FE8-B053-2FC20F044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905250"/>
            <a:ext cx="3124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FB7185"/>
                </a:solidFill>
                <a:latin typeface="Aptos"/>
                <a:ea typeface="Aptos"/>
                <a:cs typeface="Aptos"/>
              </a:defRPr>
            </a:pPr>
            <a:r>
              <a:t>判断与决策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FD3A603-B78D-4DD5-9ED9-FBDC29F27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152900"/>
            <a:ext cx="31242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研究者决定下一个实验点、下一个变量或下一个机制假说。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962408D-EC05-4353-862B-9B5B8D1D1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771900"/>
            <a:ext cx="3429000" cy="1466850"/>
          </a:xfrm>
          <a:prstGeom xmlns:a="http://schemas.openxmlformats.org/drawingml/2006/main" prst="roundRect">
            <a:avLst>
              <a:gd name="adj" fmla="val 5195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81A12A7-C06E-4E8A-ABEE-FFDF25DD8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905250"/>
            <a:ext cx="3124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13D6FF"/>
                </a:solidFill>
                <a:latin typeface="Aptos"/>
                <a:ea typeface="Aptos"/>
                <a:cs typeface="Aptos"/>
              </a:defRPr>
            </a:pPr>
            <a:r>
              <a:t>反馈与纠错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5E1063D-A3A8-4DD4-8DC4-B930A4D69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152900"/>
            <a:ext cx="31242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异常、误差、重复性和反例推动科学自我修正。</a:t>
            </a:r>
          </a:p>
        </p:txBody>
      </p:sp>
    </p:spTree>
    <p:extLst>
      <p:ext uri="{BB962C8B-B14F-4D97-AF65-F5344CB8AC3E}">
        <p14:creationId xmlns:p14="http://schemas.microsoft.com/office/powerpoint/2010/main" val="1423256628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4722B94-95CE-415E-AAA7-C41EE9F0B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97F073C-E14A-47B3-934C-5DF0C2419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3810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13D6FF"/>
                </a:solidFill>
                <a:latin typeface="Consolas"/>
                <a:ea typeface="Consolas"/>
                <a:cs typeface="Consolas"/>
              </a:defRPr>
            </a:pPr>
            <a:r>
              <a:t>为什么是今天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835F931-CDDA-483F-B8E6-1E4BD8710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266700"/>
            <a:ext cx="114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750" b="0" i="0">
                <a:solidFill>
                  <a:srgbClr val="6E829D"/>
                </a:solidFill>
                <a:latin typeface="Consolas"/>
                <a:ea typeface="Consolas"/>
                <a:cs typeface="Consolas"/>
              </a:defRPr>
            </a:pPr>
            <a:r>
              <a:t>09 / 63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3246B77-FED0-408B-ACF4-E1D47EC40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953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3D68"/>
          </a:solidFill>
          <a:ln xmlns:a="http://schemas.openxmlformats.org/drawingml/2006/main" w="0">
            <a:solidFill>
              <a:srgbClr val="1B3D68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94F1F4-4E4D-4CEF-83E7-88F10B8D0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819150"/>
            <a:ext cx="9906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为什么今天谈 SDL，而不是十年前或二十年前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8B4A6A0-864F-4B18-BCB3-D0DF95EE3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390650"/>
            <a:ext cx="990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t>因为实验条件、数据条件和计算条件正在同时成熟。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8901796-61A8-4AA8-B205-F9A8F1575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133600"/>
            <a:ext cx="6858000" cy="3524250"/>
          </a:xfrm>
          <a:prstGeom xmlns:a="http://schemas.openxmlformats.org/drawingml/2006/main" prst="roundRect">
            <a:avLst>
              <a:gd name="adj" fmla="val 2162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12F0602-B6B2-4E08-AE19-7D3B8506A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400300"/>
            <a:ext cx="619125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• 实验硬件更自动化：样品制备、表征、搬运、调度逐渐可编排。</a:t>
            </a:r>
          </a:p>
          <a:p xmlns:a="http://schemas.openxmlformats.org/drawingml/2006/main">
            <a:pPr algn="l">
              <a:defRPr sz="1575" b="0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• 实验数据更可计算：传感、记录、数据库和元数据体系更成熟。</a:t>
            </a:r>
          </a:p>
          <a:p xmlns:a="http://schemas.openxmlformats.org/drawingml/2006/main">
            <a:pPr algn="l">
              <a:defRPr sz="1575" b="0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• 算法更能进入闭环：不只做离线预测，还能参与下一实验点决策。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2484598-EB98-47EF-BA2F-13956C388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133600"/>
            <a:ext cx="304800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3D6FF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0F3593C-B4C8-49C1-AF81-02E7519BF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266950"/>
            <a:ext cx="27432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0" i="0">
                <a:solidFill>
                  <a:srgbClr val="13D6FF"/>
                </a:solidFill>
                <a:latin typeface="Consolas"/>
                <a:ea typeface="Consolas"/>
                <a:cs typeface="Consolas"/>
              </a:defRPr>
            </a:pPr>
            <a:r>
              <a:t>三条线收束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8413166-70AD-40CE-856D-C2719267D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514600"/>
            <a:ext cx="27432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硬件自动化</a:t>
            </a:r>
          </a:p>
          <a:p xmlns:a="http://schemas.openxmlformats.org/drawingml/2006/main">
            <a:pPr algn="l">
              <a:defRPr sz="1050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数据化</a:t>
            </a:r>
          </a:p>
          <a:p xmlns:a="http://schemas.openxmlformats.org/drawingml/2006/main">
            <a:pPr algn="l">
              <a:defRPr sz="1050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模型驱动决策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89AC0BB-BE23-4C69-8DD5-DB3B43C69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171950"/>
            <a:ext cx="3048000" cy="1485900"/>
          </a:xfrm>
          <a:prstGeom xmlns:a="http://schemas.openxmlformats.org/drawingml/2006/main" prst="roundRect">
            <a:avLst>
              <a:gd name="adj" fmla="val 5128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3B82F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709802B-1121-4C20-AE6A-4CBAFCA99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305300"/>
            <a:ext cx="27432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0" i="0">
                <a:solidFill>
                  <a:srgbClr val="3B82F6"/>
                </a:solidFill>
                <a:latin typeface="Consolas"/>
                <a:ea typeface="Consolas"/>
                <a:cs typeface="Consolas"/>
              </a:defRPr>
            </a:pPr>
            <a:r>
              <a:t>因此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A0C57D1-0096-459D-8B3D-7A09AE0DF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552950"/>
            <a:ext cx="27432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SDL 不是突然出现的新名词，而是多条技术线索在实验系统中的收束。</a:t>
            </a:r>
          </a:p>
        </p:txBody>
      </p:sp>
    </p:spTree>
    <p:extLst>
      <p:ext uri="{BB962C8B-B14F-4D97-AF65-F5344CB8AC3E}">
        <p14:creationId xmlns:p14="http://schemas.microsoft.com/office/powerpoint/2010/main" val="162884811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15D4895-CB9F-4E9B-8008-C6299AEE7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CE53C9C-B5BE-4BA8-9BDA-D3ACEE404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3810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13D6FF"/>
                </a:solidFill>
                <a:latin typeface="Consolas"/>
                <a:ea typeface="Consolas"/>
                <a:cs typeface="Consolas"/>
              </a:defRPr>
            </a:pPr>
            <a:r>
              <a:t>科学范式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344A7C7-43A3-4851-941B-056EE8F4E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266700"/>
            <a:ext cx="114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750" b="0" i="0">
                <a:solidFill>
                  <a:srgbClr val="6E829D"/>
                </a:solidFill>
                <a:latin typeface="Consolas"/>
                <a:ea typeface="Consolas"/>
                <a:cs typeface="Consolas"/>
              </a:defRPr>
            </a:pPr>
            <a:r>
              <a:t>10 / 63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54CED67-7AA1-4495-A154-6FE38E2D0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953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3D68"/>
          </a:solidFill>
          <a:ln xmlns:a="http://schemas.openxmlformats.org/drawingml/2006/main" w="0">
            <a:solidFill>
              <a:srgbClr val="1B3D68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4C3D357-4BF2-4268-85EC-929215A35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819150"/>
            <a:ext cx="9906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从自然观察到自驱实验：知识生产方式如何演化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E5FB5ED-5439-4FBB-A5E4-632C1C49F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390650"/>
            <a:ext cx="990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t>范式变化的关键，不只是工具变化，而是“如何得到知识”在变化。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DE9BF41-F345-435D-8DC7-B3D77DB05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571750"/>
            <a:ext cx="1971675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2136819-240D-4835-8991-C92062EF5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724150"/>
            <a:ext cx="16668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13D6FF"/>
                </a:solidFill>
                <a:latin typeface="Consolas"/>
                <a:ea typeface="Consolas"/>
                <a:cs typeface="Consolas"/>
              </a:defRPr>
            </a:pPr>
            <a:r>
              <a:t>P1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4FD65BB-6164-46FA-B18F-C802BC39D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971800"/>
            <a:ext cx="16668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观察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817E640-7999-4E9F-AD47-14744F5EA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352800"/>
            <a:ext cx="1666875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以经验观察为主，积累现象和记述。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41FB2D5-E3EB-4914-BA6E-3E8B718B4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7025" y="3238500"/>
            <a:ext cx="22860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B82F6"/>
          </a:solidFill>
          <a:ln xmlns:a="http://schemas.openxmlformats.org/drawingml/2006/main" w="0">
            <a:solidFill>
              <a:srgbClr val="3B82F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7255A7B-5FB5-498D-A5E8-39475747A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2571750"/>
            <a:ext cx="1971675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AA7C53F-115A-4628-B130-FEB5EA071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2724150"/>
            <a:ext cx="16668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3B82F6"/>
                </a:solidFill>
                <a:latin typeface="Consolas"/>
                <a:ea typeface="Consolas"/>
                <a:cs typeface="Consolas"/>
              </a:defRPr>
            </a:pPr>
            <a:r>
              <a:t>P2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DA83ADE-84B1-45C1-B668-8A798FDB9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2971800"/>
            <a:ext cx="16668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理论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527CFBA-3774-4E5D-A448-A3884D139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3352800"/>
            <a:ext cx="1666875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通过抽象理论组织现象，形成定律和解释。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FF85DC2-E744-4123-977B-F9354EA96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3238500"/>
            <a:ext cx="22860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B82F6"/>
          </a:solidFill>
          <a:ln xmlns:a="http://schemas.openxmlformats.org/drawingml/2006/main" w="0">
            <a:solidFill>
              <a:srgbClr val="3B82F6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FA4D746-E31D-4021-AE81-E20728BD4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571750"/>
            <a:ext cx="1971675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EFEA65F-36CE-4FC6-83FF-293A15300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2724150"/>
            <a:ext cx="16668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FBBF24"/>
                </a:solidFill>
                <a:latin typeface="Consolas"/>
                <a:ea typeface="Consolas"/>
                <a:cs typeface="Consolas"/>
              </a:defRPr>
            </a:pPr>
            <a:r>
              <a:t>P3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FDDEEED-9896-42C4-8B99-1C1ADE7CC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2971800"/>
            <a:ext cx="16668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计算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222F809-445E-42E7-B424-E16CABF65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3352800"/>
            <a:ext cx="1666875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借助数值模拟和计算模型处理复杂系统。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3927CFB-1C14-4BFE-A981-ACE993499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3238500"/>
            <a:ext cx="22860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B82F6"/>
          </a:solidFill>
          <a:ln xmlns:a="http://schemas.openxmlformats.org/drawingml/2006/main" w="0">
            <a:solidFill>
              <a:srgbClr val="3B82F6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F7AA963-7E02-4846-9800-AC3F137DC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9475" y="2571750"/>
            <a:ext cx="1971675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7830EF2-0BB9-49E8-91F2-C42B7CCC5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2724150"/>
            <a:ext cx="16668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34D399"/>
                </a:solidFill>
                <a:latin typeface="Consolas"/>
                <a:ea typeface="Consolas"/>
                <a:cs typeface="Consolas"/>
              </a:defRPr>
            </a:pPr>
            <a:r>
              <a:t>P4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0D75F68-7DD2-4D6C-BFBD-2D5B3D3A5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2971800"/>
            <a:ext cx="16668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数据密集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E42F53F-33C1-4DEE-B7C2-AD17C7E64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3352800"/>
            <a:ext cx="1666875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大量数据、数据库和统计/机器学习加入发现过程。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002F06D-0AAF-42C1-AFB8-8ED7A867D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238500"/>
            <a:ext cx="22860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B82F6"/>
          </a:solidFill>
          <a:ln xmlns:a="http://schemas.openxmlformats.org/drawingml/2006/main" w="0">
            <a:solidFill>
              <a:srgbClr val="3B82F6"/>
            </a:solidFill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12BF8CB-1D9F-4889-8388-62D8D545B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571750"/>
            <a:ext cx="1971675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4B175E6-EF5E-44F5-BD94-E64E482BA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2724150"/>
            <a:ext cx="16668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FB7185"/>
                </a:solidFill>
                <a:latin typeface="Consolas"/>
                <a:ea typeface="Consolas"/>
                <a:cs typeface="Consolas"/>
              </a:defRPr>
            </a:pPr>
            <a:r>
              <a:t>P5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CFC8F0F-D761-44E4-8EAE-9153AD43F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2971800"/>
            <a:ext cx="16668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自驱实验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8414DDF-A912-4A34-9A17-92C5E1EB7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3352800"/>
            <a:ext cx="1666875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模型开始进入实验闭环，参与实验设计与执行节奏。</a:t>
            </a:r>
          </a:p>
        </p:txBody>
      </p:sp>
    </p:spTree>
    <p:extLst>
      <p:ext uri="{BB962C8B-B14F-4D97-AF65-F5344CB8AC3E}">
        <p14:creationId xmlns:p14="http://schemas.microsoft.com/office/powerpoint/2010/main" val="44392895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D79E100-6CF9-4AB2-A6B8-83E0D6E5B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8FB75CF-64D8-4137-98A7-9D804AC6B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3810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13D6FF"/>
                </a:solidFill>
                <a:latin typeface="Consolas"/>
                <a:ea typeface="Consolas"/>
                <a:cs typeface="Consolas"/>
              </a:defRPr>
            </a:pPr>
            <a:r>
              <a:t>范式比较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F0A3EB1-CAA4-4C8D-A229-1D63F80F0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266700"/>
            <a:ext cx="114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750" b="0" i="0">
                <a:solidFill>
                  <a:srgbClr val="6E829D"/>
                </a:solidFill>
                <a:latin typeface="Consolas"/>
                <a:ea typeface="Consolas"/>
                <a:cs typeface="Consolas"/>
              </a:defRPr>
            </a:pPr>
            <a:r>
              <a:t>11 / 63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F59A295-50E4-40D1-B290-396DF91B5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953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3D68"/>
          </a:solidFill>
          <a:ln xmlns:a="http://schemas.openxmlformats.org/drawingml/2006/main" w="0">
            <a:solidFill>
              <a:srgbClr val="1B3D68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ADDA0BA-A3A5-4C51-99B3-6FA8474E2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819150"/>
            <a:ext cx="9906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第四范式与第五范式的差别，不在“数据更多”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AD86572-22D0-4FC0-9967-77149C82F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390650"/>
            <a:ext cx="990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t>真正的区别在于模型是否进入行动链。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D4B1740-7684-4558-8508-986C28F15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171700"/>
            <a:ext cx="20955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0E213A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BECD955-AF9C-4D58-9EEE-EF3657E50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295525"/>
            <a:ext cx="1866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t>维度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EA53A3C-E62E-4E3C-AAAF-972954C08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171700"/>
            <a:ext cx="24765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8DB0706-E170-40B8-8277-B1370728B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295525"/>
            <a:ext cx="2247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0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第四范式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7F1957D-4691-4F38-986F-B8F9FF177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2171700"/>
            <a:ext cx="24765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2371BB1-8159-46BE-829D-7FCBB1263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295525"/>
            <a:ext cx="2247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0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第五范式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15843C6-CF2A-4C89-8327-8E0E9774F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171700"/>
            <a:ext cx="24765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82CF276-1D7E-40C8-9523-9E8C62AB8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295525"/>
            <a:ext cx="2247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0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对实验的意义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19D4B73-3931-46E9-BA8D-539EF5C94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09850"/>
            <a:ext cx="20955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A845157-B70F-4892-98E4-8D7E0E341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705100"/>
            <a:ext cx="18669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主要对象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2B31F85-8C21-4FD3-92ED-E1072E938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609850"/>
            <a:ext cx="24765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071426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D9F8037-0DD3-48E0-86DB-A62EFC4DA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705100"/>
            <a:ext cx="22479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数据与模式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8267D9E-4732-41D2-9387-F0D6F50A5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2609850"/>
            <a:ext cx="24765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071426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56842F9-7E9C-468B-A90E-B1E6F6450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705100"/>
            <a:ext cx="22479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数据、模式与行动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C8D86C5-FA8F-4746-92E1-EEEF8DC6E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609850"/>
            <a:ext cx="24765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071426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E2F3CC4-AF74-4940-8DFA-AD1F20FA8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705100"/>
            <a:ext cx="22479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从“看懂”走向“决定下一步”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6FFFF5B-DE22-4892-BCEA-1A1C58CF4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86100"/>
            <a:ext cx="20955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C865F90-AE21-4309-B8E0-12E87E31D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181350"/>
            <a:ext cx="18669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模型角色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11F2470-6AA0-450B-A658-BC8362449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086100"/>
            <a:ext cx="24765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071426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C1F9E44-BA0A-43BC-ACB7-4958BF268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181350"/>
            <a:ext cx="22479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分析与预测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32A5242-E480-4B71-8742-18FBA9651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3086100"/>
            <a:ext cx="24765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071426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0F9AA7B-8F50-4311-B7B2-1621F2623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3181350"/>
            <a:ext cx="22479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分析、预测与推荐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387C085-CE6E-483C-B199-4836C65B4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086100"/>
            <a:ext cx="24765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071426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86BCE83-2CD5-41BF-9432-59F52A259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181350"/>
            <a:ext cx="22479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模型开始参与实验决策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5F9608D-25CE-4ABE-B1BC-27DF8A8FB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562350"/>
            <a:ext cx="20955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C753DED-594B-4E06-B6ED-367E0B222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657600"/>
            <a:ext cx="18669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实验角色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ACC27DB-066F-4E67-9D16-A3C73F92E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562350"/>
            <a:ext cx="24765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071426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66371B9-0F29-4E8A-B408-82545A5A7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657600"/>
            <a:ext cx="22479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数据来源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52D415D-0D86-4C8E-A9E4-2E5751781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3562350"/>
            <a:ext cx="24765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071426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A16D2F9-7B8E-4275-81DE-07DF596A6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3657600"/>
            <a:ext cx="22479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决策回路的一部分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61CE669-FF10-48CA-9D3E-FA33077E9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562350"/>
            <a:ext cx="24765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071426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01C37CB-3A80-44CE-8F7A-B012AC552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657600"/>
            <a:ext cx="22479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实验被更紧密地编排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A82E2C1-5FE8-47F9-8937-36F025756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038600"/>
            <a:ext cx="20955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4A18010-305B-4EFE-9952-D4B938776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133850"/>
            <a:ext cx="18669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研究者角色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57FFE66-9959-4396-993A-2FDCB9FBF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4038600"/>
            <a:ext cx="24765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071426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03D674B-9C1D-4CA2-81D6-A7E494A08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133850"/>
            <a:ext cx="22479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解释者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C27F728-5838-477F-BD75-D2114787A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4038600"/>
            <a:ext cx="24765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071426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039C2EE-3E9D-4F10-AE32-D67F5792A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4133850"/>
            <a:ext cx="22479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解释者 + 监督者 + 约束设定者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57267B6C-4A0C-4DF1-A35B-D16F1182F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038600"/>
            <a:ext cx="24765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071426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0FEEC78A-C247-4DA4-A394-647E2B8E4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133850"/>
            <a:ext cx="22479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人不退出，角色重构</a:t>
            </a:r>
          </a:p>
        </p:txBody>
      </p:sp>
    </p:spTree>
    <p:extLst>
      <p:ext uri="{BB962C8B-B14F-4D97-AF65-F5344CB8AC3E}">
        <p14:creationId xmlns:p14="http://schemas.microsoft.com/office/powerpoint/2010/main" val="577841746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AFB063D-EB8E-48C6-8195-C1B2F0022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578D41A-8F13-453D-8D4C-733C64570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3810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13D6FF"/>
                </a:solidFill>
                <a:latin typeface="Consolas"/>
                <a:ea typeface="Consolas"/>
                <a:cs typeface="Consolas"/>
              </a:defRPr>
            </a:pPr>
            <a:r>
              <a:t>实验角色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3A43E54-4E5D-4EAD-ABFE-CAC60302F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266700"/>
            <a:ext cx="114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750" b="0" i="0">
                <a:solidFill>
                  <a:srgbClr val="6E829D"/>
                </a:solidFill>
                <a:latin typeface="Consolas"/>
                <a:ea typeface="Consolas"/>
                <a:cs typeface="Consolas"/>
              </a:defRPr>
            </a:pPr>
            <a:r>
              <a:t>12 / 63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3584EE5-BD5B-4D79-BF1A-9D75D579E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953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3D68"/>
          </a:solidFill>
          <a:ln xmlns:a="http://schemas.openxmlformats.org/drawingml/2006/main" w="0">
            <a:solidFill>
              <a:srgbClr val="1B3D68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ADF0608-1987-4470-ACF4-818D3C5CA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819150"/>
            <a:ext cx="9906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沿着五种范式看，实验的角色一直在变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BE5367A-31CD-44F8-BAE6-A16503493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390650"/>
            <a:ext cx="990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t>同样叫“实验”，在不同范式中承担的知识功能并不一样。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6228B15-A3FB-4CC4-9539-403A5A927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133600"/>
            <a:ext cx="3429000" cy="1466850"/>
          </a:xfrm>
          <a:prstGeom xmlns:a="http://schemas.openxmlformats.org/drawingml/2006/main" prst="roundRect">
            <a:avLst>
              <a:gd name="adj" fmla="val 5195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E6B75F7-F7A1-4649-9878-C5A1B113D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266950"/>
            <a:ext cx="3124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13D6FF"/>
                </a:solidFill>
                <a:latin typeface="Aptos"/>
                <a:ea typeface="Aptos"/>
                <a:cs typeface="Aptos"/>
              </a:defRPr>
            </a:pPr>
            <a:r>
              <a:t>观察范式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4AF5A60-DDB0-43CF-9964-B4238B844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514600"/>
            <a:ext cx="31242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实验更像现象采集与经验积累，重点是“看见什么”。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5CA4837-728E-4922-84AB-094145D0C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133600"/>
            <a:ext cx="3429000" cy="1466850"/>
          </a:xfrm>
          <a:prstGeom xmlns:a="http://schemas.openxmlformats.org/drawingml/2006/main" prst="roundRect">
            <a:avLst>
              <a:gd name="adj" fmla="val 5195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DB0583E-381F-487F-94A6-27BD208E4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266950"/>
            <a:ext cx="3124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3B82F6"/>
                </a:solidFill>
                <a:latin typeface="Aptos"/>
                <a:ea typeface="Aptos"/>
                <a:cs typeface="Aptos"/>
              </a:defRPr>
            </a:pPr>
            <a:r>
              <a:t>理论范式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C81D49E-AC76-493B-B483-48837F013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514600"/>
            <a:ext cx="31242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实验常承担验证与校正作用，重点是“理论是否站得住”。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AE068A4-60A7-45F7-ABC2-8B62C104A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133600"/>
            <a:ext cx="3429000" cy="1466850"/>
          </a:xfrm>
          <a:prstGeom xmlns:a="http://schemas.openxmlformats.org/drawingml/2006/main" prst="roundRect">
            <a:avLst>
              <a:gd name="adj" fmla="val 5195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9CCBA46-FB72-4D8E-A9F4-7323F4C74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266950"/>
            <a:ext cx="3124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FBBF24"/>
                </a:solidFill>
                <a:latin typeface="Aptos"/>
                <a:ea typeface="Aptos"/>
                <a:cs typeface="Aptos"/>
              </a:defRPr>
            </a:pPr>
            <a:r>
              <a:t>计算范式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814E4C4-EDE1-4A71-8727-22B6B3C7E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514600"/>
            <a:ext cx="31242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实验开始与模拟互相校准，重点是“模型与现实差多远”。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11887AC-6C25-445B-8B30-74B32D46F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71900"/>
            <a:ext cx="3429000" cy="1466850"/>
          </a:xfrm>
          <a:prstGeom xmlns:a="http://schemas.openxmlformats.org/drawingml/2006/main" prst="roundRect">
            <a:avLst>
              <a:gd name="adj" fmla="val 5195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9FE11DB-770E-4D77-8618-0FF55FC9A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905250"/>
            <a:ext cx="3124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34D399"/>
                </a:solidFill>
                <a:latin typeface="Aptos"/>
                <a:ea typeface="Aptos"/>
                <a:cs typeface="Aptos"/>
              </a:defRPr>
            </a:pPr>
            <a:r>
              <a:t>数据密集范式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6B2B9DA-31E3-48DD-8230-1FCD658AF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152900"/>
            <a:ext cx="31242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实验既是数据来源，也是数据库和模型更新的入口。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8B3848F-D052-4B7A-93B0-1FD6991C9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771900"/>
            <a:ext cx="3429000" cy="1466850"/>
          </a:xfrm>
          <a:prstGeom xmlns:a="http://schemas.openxmlformats.org/drawingml/2006/main" prst="roundRect">
            <a:avLst>
              <a:gd name="adj" fmla="val 5195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C945613-2D77-428F-A68C-71CCEB13C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905250"/>
            <a:ext cx="3124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FB7185"/>
                </a:solidFill>
                <a:latin typeface="Aptos"/>
                <a:ea typeface="Aptos"/>
                <a:cs typeface="Aptos"/>
              </a:defRPr>
            </a:pPr>
            <a:r>
              <a:t>自驱实验范式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8285CA8-5AEA-4E1E-8769-EC59780A3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152900"/>
            <a:ext cx="31242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实验进入闭环，被模型调度、被系统编排、被人监督。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40B0233-4D84-433E-B66D-2F0726F1D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771900"/>
            <a:ext cx="3429000" cy="1466850"/>
          </a:xfrm>
          <a:prstGeom xmlns:a="http://schemas.openxmlformats.org/drawingml/2006/main" prst="roundRect">
            <a:avLst>
              <a:gd name="adj" fmla="val 5195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9562257-C3CE-44EC-9F0D-F8255089F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905250"/>
            <a:ext cx="3124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13D6FF"/>
                </a:solidFill>
                <a:latin typeface="Aptos"/>
                <a:ea typeface="Aptos"/>
                <a:cs typeface="Aptos"/>
              </a:defRPr>
            </a:pPr>
            <a:r>
              <a:t>讲座结论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4E1E4E1-E02B-46AB-A363-99ECD484C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152900"/>
            <a:ext cx="31242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SDL 不是取消实验，而是把实验推到更高频、更系统、更可追踪的位置。</a:t>
            </a:r>
          </a:p>
        </p:txBody>
      </p:sp>
    </p:spTree>
    <p:extLst>
      <p:ext uri="{BB962C8B-B14F-4D97-AF65-F5344CB8AC3E}">
        <p14:creationId xmlns:p14="http://schemas.microsoft.com/office/powerpoint/2010/main" val="329019494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FC7D023-E1E1-4B2C-A999-3A199555B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BF9FDDA-6E89-41E2-AEA7-C996680C0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3810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13D6FF"/>
                </a:solidFill>
                <a:latin typeface="Consolas"/>
                <a:ea typeface="Consolas"/>
                <a:cs typeface="Consolas"/>
              </a:defRPr>
            </a:pPr>
            <a:r>
              <a:t>范式关系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5C4DD1B-B93C-4971-B88C-B43C40678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266700"/>
            <a:ext cx="114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750" b="0" i="0">
                <a:solidFill>
                  <a:srgbClr val="6E829D"/>
                </a:solidFill>
                <a:latin typeface="Consolas"/>
                <a:ea typeface="Consolas"/>
                <a:cs typeface="Consolas"/>
              </a:defRPr>
            </a:pPr>
            <a:r>
              <a:t>13 / 63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7EC4635-39F8-41EF-9363-47E0128EF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953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3D68"/>
          </a:solidFill>
          <a:ln xmlns:a="http://schemas.openxmlformats.org/drawingml/2006/main" w="0">
            <a:solidFill>
              <a:srgbClr val="1B3D68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61176A2-36DD-44E0-8ABF-58BE65C5F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819150"/>
            <a:ext cx="9906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前三种范式并没有消失，而是被第四、第五范式重新组织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B4E2C0F-00B3-4D93-9818-BD73C2371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390650"/>
            <a:ext cx="990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t>新范式不是替身，而是重组、串联和放大。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450F6C8-A0FA-47FF-B7D3-F1D5F0A1D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171700"/>
            <a:ext cx="20955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0E213A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2A0265D-B8DF-453E-AB65-EAA99AF86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295525"/>
            <a:ext cx="1866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t>维度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670BA5-0207-4495-B5F4-279E69344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171700"/>
            <a:ext cx="24765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FBA4C7C-BF90-498F-9A0F-9A5DA01FF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295525"/>
            <a:ext cx="2247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0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前三范式留下什么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A8F04F7-001C-4C7B-8625-F6C0DF07D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2171700"/>
            <a:ext cx="24765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A2AD06B-C397-4E18-A347-DB0E18BF1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295525"/>
            <a:ext cx="2247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0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第四/第五范式如何吸收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23B6A7C-6737-4396-B87B-396C16820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171700"/>
            <a:ext cx="24765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7BD3027-67C0-463D-847D-133CF34B3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295525"/>
            <a:ext cx="2247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0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对今天实验的含义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CFBBE0F-DF39-4E91-9D5A-4D9D2DDCC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09850"/>
            <a:ext cx="20955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EFE16A1-A0EA-449E-8E15-A3AF86615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705100"/>
            <a:ext cx="18669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经验与直觉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01C6A3D-9BB2-420D-A659-557BA2ED2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609850"/>
            <a:ext cx="24765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071426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AAE263B-0BFB-4FE9-85EC-76271E4CF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705100"/>
            <a:ext cx="22479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成为目标设定、异常判断和早期摸底的重要来源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4D2E49E-49AE-4649-9D5A-1FD0E8FC2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2609850"/>
            <a:ext cx="24765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071426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DA138EA-C561-4C1A-84B9-1C49F05AD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705100"/>
            <a:ext cx="22479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人类经验仍在回路中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8FD7510-DD35-4F29-A0A7-83197E8B6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86100"/>
            <a:ext cx="20955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9DA3091-BDDE-4B8C-AC3A-3204042EE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181350"/>
            <a:ext cx="18669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理论与机制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DCD3507-BE91-428E-8FCB-B18F6E94E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086100"/>
            <a:ext cx="24765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071426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7E3AD70-7E33-44CE-8A64-07F1CF597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181350"/>
            <a:ext cx="22479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成为约束、先验和可解释性支撑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0320C83-7DA1-4D4E-B76E-C30CC77F4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3086100"/>
            <a:ext cx="24765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071426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F344FA7-CF99-4C96-B2DE-00570C5AA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3181350"/>
            <a:ext cx="22479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不是只有数据拟合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50280DC-B302-4BC0-BF54-EC950B52F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562350"/>
            <a:ext cx="20955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3E89D10-3554-43B1-80E1-0587454CE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657600"/>
            <a:ext cx="18669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计算与模拟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0A2879D-4AE1-4778-B1A0-51429C2C7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562350"/>
            <a:ext cx="24765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071426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2BB3F01-DD66-418F-918E-C21BEC360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657600"/>
            <a:ext cx="22479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成为候选筛选、数字孪生和仿真试验台的一部分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3B8A553-F713-4F42-9495-9F3BC0DB3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3562350"/>
            <a:ext cx="24765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071426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E97363F-7126-4798-8807-D9A8473D5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3657600"/>
            <a:ext cx="22479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实验前端可被预压缩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D3C194A-DED5-4D4A-B652-DBA99893F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038600"/>
            <a:ext cx="20955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42F27C3-F9B2-4CB8-BF2A-B0E52008A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133850"/>
            <a:ext cx="18669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数据与自动化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C68B491-82C6-40C3-92D8-970B858DE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4038600"/>
            <a:ext cx="24765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071426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2B6BC84-44CD-4FF5-BEF1-615D95995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133850"/>
            <a:ext cx="22479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把前三者接入可更新、可执行的闭环系统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E04E900-5C40-4CA7-A05A-DB4BCDB7E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4038600"/>
            <a:ext cx="24765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071426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FBC3F38-AB01-42A6-968D-AB2C544CA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4133850"/>
            <a:ext cx="22479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方法论开始系统集成</a:t>
            </a:r>
          </a:p>
        </p:txBody>
      </p:sp>
    </p:spTree>
    <p:extLst>
      <p:ext uri="{BB962C8B-B14F-4D97-AF65-F5344CB8AC3E}">
        <p14:creationId xmlns:p14="http://schemas.microsoft.com/office/powerpoint/2010/main" val="899388424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C19C641-2B9C-4EB9-B8B4-AC17C2173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C4F8E06-C141-497F-A6ED-5B63C5C94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3810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13D6FF"/>
                </a:solidFill>
                <a:latin typeface="Consolas"/>
                <a:ea typeface="Consolas"/>
                <a:cs typeface="Consolas"/>
              </a:defRPr>
            </a:pPr>
            <a:r>
              <a:t>过渡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DDE78CD-C665-4F87-8E25-6F3195418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266700"/>
            <a:ext cx="114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750" b="0" i="0">
                <a:solidFill>
                  <a:srgbClr val="6E829D"/>
                </a:solidFill>
                <a:latin typeface="Consolas"/>
                <a:ea typeface="Consolas"/>
                <a:cs typeface="Consolas"/>
              </a:defRPr>
            </a:pPr>
            <a:r>
              <a:t>14 / 63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A22C4E1-972A-41B3-B607-ED832AB05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953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3D68"/>
          </a:solidFill>
          <a:ln xmlns:a="http://schemas.openxmlformats.org/drawingml/2006/main" w="0">
            <a:solidFill>
              <a:srgbClr val="1B3D68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36EB45-B081-41AF-8B89-F01B428D2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562100"/>
            <a:ext cx="952500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40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“问题不再只是‘我们如何理解实验结果’，而是‘我们如何组织下一轮实验’。”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9E9FEC4-68A5-42CB-9CC1-9382174DD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752850"/>
            <a:ext cx="4000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13D6FF"/>
                </a:solidFill>
                <a:latin typeface="Aptos"/>
                <a:ea typeface="Aptos"/>
                <a:cs typeface="Aptos"/>
              </a:defRPr>
            </a:pPr>
            <a:r>
              <a:t>本讲核心转折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61A3E06-B229-4311-BA4A-DE0BA8664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476750"/>
            <a:ext cx="85725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从这里开始，实验的对象、实验的流程、实验的决策者，都会被重新审视。</a:t>
            </a:r>
          </a:p>
        </p:txBody>
      </p:sp>
    </p:spTree>
    <p:extLst>
      <p:ext uri="{BB962C8B-B14F-4D97-AF65-F5344CB8AC3E}">
        <p14:creationId xmlns:p14="http://schemas.microsoft.com/office/powerpoint/2010/main" val="1495572733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A76C29C-C564-41DE-9CCB-0516C40C0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290E016-85B7-4B8E-92D0-0051943FA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3810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13D6FF"/>
                </a:solidFill>
                <a:latin typeface="Consolas"/>
                <a:ea typeface="Consolas"/>
                <a:cs typeface="Consolas"/>
              </a:defRPr>
            </a:pPr>
            <a:r>
              <a:t>第二部分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4873398-8511-4025-9E17-31C7A3770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266700"/>
            <a:ext cx="114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750" b="0" i="0">
                <a:solidFill>
                  <a:srgbClr val="6E829D"/>
                </a:solidFill>
                <a:latin typeface="Consolas"/>
                <a:ea typeface="Consolas"/>
                <a:cs typeface="Consolas"/>
              </a:defRPr>
            </a:pPr>
            <a:r>
              <a:t>15 / 63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6DFAD68-33E3-49BC-A217-22B0D52F0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953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3D68"/>
          </a:solidFill>
          <a:ln xmlns:a="http://schemas.openxmlformats.org/drawingml/2006/main" w="0">
            <a:solidFill>
              <a:srgbClr val="1B3D68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0496503-CCDF-4646-A1F3-98B63E9FB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676400"/>
            <a:ext cx="14287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5400" b="1" i="0">
                <a:solidFill>
                  <a:srgbClr val="3B82F6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A2A73D7-A752-4731-8306-BA8D26D24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1809750"/>
            <a:ext cx="7810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MSE 实验图谱与目录学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DA67943-C75D-416F-80CF-13501AE66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2628900"/>
            <a:ext cx="7429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t>如果不先知道实验有哪些类型、各自输出什么数据，就谈不上 SDL 化。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17563EC-0E07-4EA7-B8D6-0A34415AD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924300"/>
            <a:ext cx="4000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B82F6"/>
          </a:solidFill>
          <a:ln xmlns:a="http://schemas.openxmlformats.org/drawingml/2006/main" w="0">
            <a:solidFill>
              <a:srgbClr val="3B82F6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0CF2209-F61B-4A5A-8789-5EB4A6CFE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438650"/>
            <a:ext cx="85725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按实验而不是按材料类别来组织，才能把数据、方法和 SDL 适配度放在同一张图里。</a:t>
            </a:r>
          </a:p>
        </p:txBody>
      </p:sp>
    </p:spTree>
    <p:extLst>
      <p:ext uri="{BB962C8B-B14F-4D97-AF65-F5344CB8AC3E}">
        <p14:creationId xmlns:p14="http://schemas.microsoft.com/office/powerpoint/2010/main" val="2024511527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A4C9A77-7AE7-436B-94FC-D53427D5C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1FFFB03-7F36-4D82-AED7-206A9DB1D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3810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13D6FF"/>
                </a:solidFill>
                <a:latin typeface="Consolas"/>
                <a:ea typeface="Consolas"/>
                <a:cs typeface="Consolas"/>
              </a:defRPr>
            </a:pPr>
            <a:r>
              <a:t>实验图谱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D3FAC91-DA62-4930-908D-FCA9A1175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266700"/>
            <a:ext cx="114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750" b="0" i="0">
                <a:solidFill>
                  <a:srgbClr val="6E829D"/>
                </a:solidFill>
                <a:latin typeface="Consolas"/>
                <a:ea typeface="Consolas"/>
                <a:cs typeface="Consolas"/>
              </a:defRPr>
            </a:pPr>
            <a:r>
              <a:t>16 / 63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BC74DCB-76B4-4315-BEAE-739D3484E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953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3D68"/>
          </a:solidFill>
          <a:ln xmlns:a="http://schemas.openxmlformats.org/drawingml/2006/main" w="0">
            <a:solidFill>
              <a:srgbClr val="1B3D68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57887E-267C-4A19-B56B-06C43ECAD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819150"/>
            <a:ext cx="9906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以实验为中心的 MSE 图谱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AE61CF5-DA5F-4AD0-9108-511CFD8A3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390650"/>
            <a:ext cx="990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t>实验是中心节点，向外连接问题、样品、测量、模型与工程约束。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C4CB8BA-44AF-4F24-8E57-CA6726058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133600"/>
            <a:ext cx="2552700" cy="1466850"/>
          </a:xfrm>
          <a:prstGeom xmlns:a="http://schemas.openxmlformats.org/drawingml/2006/main" prst="roundRect">
            <a:avLst>
              <a:gd name="adj" fmla="val 5195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1DED0D1-DF24-48DE-81B2-5C09F0152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266950"/>
            <a:ext cx="22479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13D6FF"/>
                </a:solidFill>
                <a:latin typeface="Aptos"/>
                <a:ea typeface="Aptos"/>
                <a:cs typeface="Aptos"/>
              </a:defRPr>
            </a:pPr>
            <a:r>
              <a:t>研究问题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184BDE3-B9D6-462E-BA90-FE270D632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514600"/>
            <a:ext cx="22479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目标、约束、假设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625CCE0-CB62-40B7-B8EF-D6E2A295C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133600"/>
            <a:ext cx="2552700" cy="1466850"/>
          </a:xfrm>
          <a:prstGeom xmlns:a="http://schemas.openxmlformats.org/drawingml/2006/main" prst="roundRect">
            <a:avLst>
              <a:gd name="adj" fmla="val 5195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C5001A9-9B2F-4202-8982-8DA073E75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266950"/>
            <a:ext cx="22479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13D6FF"/>
                </a:solidFill>
                <a:latin typeface="Aptos"/>
                <a:ea typeface="Aptos"/>
                <a:cs typeface="Aptos"/>
              </a:defRPr>
            </a:pPr>
            <a:r>
              <a:t>样品状态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5ABD08F-28AE-4D03-BBEE-3E3FEC8BB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514600"/>
            <a:ext cx="22479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粉末、薄膜、块体、器件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2D844A4-0C4A-4183-AA83-274B00CE5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133600"/>
            <a:ext cx="2552700" cy="1466850"/>
          </a:xfrm>
          <a:prstGeom xmlns:a="http://schemas.openxmlformats.org/drawingml/2006/main" prst="roundRect">
            <a:avLst>
              <a:gd name="adj" fmla="val 5195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B95B104-7AF3-42E5-B919-5649A1A79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266950"/>
            <a:ext cx="22479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13D6FF"/>
                </a:solidFill>
                <a:latin typeface="Aptos"/>
                <a:ea typeface="Aptos"/>
                <a:cs typeface="Aptos"/>
              </a:defRPr>
            </a:pPr>
            <a:r>
              <a:t>制备/加工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F168255-0503-4AA5-89F1-192328EE9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514600"/>
            <a:ext cx="22479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合成、热处理、沉积、成形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57B73E8-A7B0-499F-B376-81C76DF4A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133600"/>
            <a:ext cx="2552700" cy="1466850"/>
          </a:xfrm>
          <a:prstGeom xmlns:a="http://schemas.openxmlformats.org/drawingml/2006/main" prst="roundRect">
            <a:avLst>
              <a:gd name="adj" fmla="val 5195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B47DE68-98D4-4B9A-B65F-86A630D22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2266950"/>
            <a:ext cx="22479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13D6FF"/>
                </a:solidFill>
                <a:latin typeface="Aptos"/>
                <a:ea typeface="Aptos"/>
                <a:cs typeface="Aptos"/>
              </a:defRPr>
            </a:pPr>
            <a:r>
              <a:t>表征/测量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C3C5FAA-A53F-4A98-9F70-8F0652217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2514600"/>
            <a:ext cx="22479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结构、成分、性能、失效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7937A74-8D4A-490A-AEA3-A31EE2987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71900"/>
            <a:ext cx="2552700" cy="1466850"/>
          </a:xfrm>
          <a:prstGeom xmlns:a="http://schemas.openxmlformats.org/drawingml/2006/main" prst="roundRect">
            <a:avLst>
              <a:gd name="adj" fmla="val 5195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A17659A-E8F3-4838-B978-F4B4F6FB2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905250"/>
            <a:ext cx="22479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13D6FF"/>
                </a:solidFill>
                <a:latin typeface="Aptos"/>
                <a:ea typeface="Aptos"/>
                <a:cs typeface="Aptos"/>
              </a:defRPr>
            </a:pPr>
            <a:r>
              <a:t>数据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B563DB8-CE0C-4A27-B32B-70C10DE18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152900"/>
            <a:ext cx="22479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谱图、图像、曲线、表格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1CFC518-4AC1-4C16-8A41-21CA64ED5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771900"/>
            <a:ext cx="2552700" cy="1466850"/>
          </a:xfrm>
          <a:prstGeom xmlns:a="http://schemas.openxmlformats.org/drawingml/2006/main" prst="roundRect">
            <a:avLst>
              <a:gd name="adj" fmla="val 5195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1C041A4-54EE-405E-B17C-D2F845107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905250"/>
            <a:ext cx="22479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13D6FF"/>
                </a:solidFill>
                <a:latin typeface="Aptos"/>
                <a:ea typeface="Aptos"/>
                <a:cs typeface="Aptos"/>
              </a:defRPr>
            </a:pPr>
            <a:r>
              <a:t>模型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1D38455-64A0-4BDD-8F00-E35B7AF19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152900"/>
            <a:ext cx="22479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统计、机理、代理模型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26DDB90-7825-4E46-98CA-B0C49A7DA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771900"/>
            <a:ext cx="2552700" cy="1466850"/>
          </a:xfrm>
          <a:prstGeom xmlns:a="http://schemas.openxmlformats.org/drawingml/2006/main" prst="roundRect">
            <a:avLst>
              <a:gd name="adj" fmla="val 5195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543F9B1-2B67-4991-92B4-D0B32FD9A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905250"/>
            <a:ext cx="22479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13D6FF"/>
                </a:solidFill>
                <a:latin typeface="Aptos"/>
                <a:ea typeface="Aptos"/>
                <a:cs typeface="Aptos"/>
              </a:defRPr>
            </a:pPr>
            <a:r>
              <a:t>决策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4FA0895-80CF-47BF-807C-EBC509FBD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4152900"/>
            <a:ext cx="22479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下一个点、下一个配方、下一个条件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9C36B30-EA47-4C3F-84D7-A2C280A9A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771900"/>
            <a:ext cx="2552700" cy="1466850"/>
          </a:xfrm>
          <a:prstGeom xmlns:a="http://schemas.openxmlformats.org/drawingml/2006/main" prst="roundRect">
            <a:avLst>
              <a:gd name="adj" fmla="val 5195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9D78A6F-28F0-44E1-AA40-9371584A2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3905250"/>
            <a:ext cx="22479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13D6FF"/>
                </a:solidFill>
                <a:latin typeface="Aptos"/>
                <a:ea typeface="Aptos"/>
                <a:cs typeface="Aptos"/>
              </a:defRPr>
            </a:pPr>
            <a:r>
              <a:t>验证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99EFBD2-8DA6-4B03-B25E-BF132D0E0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4152900"/>
            <a:ext cx="22479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重复性、校准、边界条件</a:t>
            </a:r>
          </a:p>
        </p:txBody>
      </p:sp>
    </p:spTree>
    <p:extLst>
      <p:ext uri="{BB962C8B-B14F-4D97-AF65-F5344CB8AC3E}">
        <p14:creationId xmlns:p14="http://schemas.microsoft.com/office/powerpoint/2010/main" val="140393399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D15D1AB-973C-44DE-A423-6BC5FBF57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2730CCE-19B9-4DD7-9BF3-A4CE9AE35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3810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13D6FF"/>
                </a:solidFill>
                <a:latin typeface="Consolas"/>
                <a:ea typeface="Consolas"/>
                <a:cs typeface="Consolas"/>
              </a:defRPr>
            </a:pPr>
            <a:r>
              <a:t>分类总览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6F72615-E2EB-442C-84F0-90CF5BC8F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266700"/>
            <a:ext cx="114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750" b="0" i="0">
                <a:solidFill>
                  <a:srgbClr val="6E829D"/>
                </a:solidFill>
                <a:latin typeface="Consolas"/>
                <a:ea typeface="Consolas"/>
                <a:cs typeface="Consolas"/>
              </a:defRPr>
            </a:pPr>
            <a:r>
              <a:t>17 / 63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B3409CE-B641-4A39-AC85-E04496B21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953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3D68"/>
          </a:solidFill>
          <a:ln xmlns:a="http://schemas.openxmlformats.org/drawingml/2006/main" w="0">
            <a:solidFill>
              <a:srgbClr val="1B3D68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BACC44B-517C-496F-AAC6-EAA93BE30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819150"/>
            <a:ext cx="9906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我们采用的 8 类 MSE 实验框架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5162007-DCCB-43B7-BE5D-EB93FB548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390650"/>
            <a:ext cx="990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t>这是讲座版目录学，不假装是唯一标准，但足够教学和实现。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44C5A64-74C7-4EAB-AB95-87F54C748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133600"/>
            <a:ext cx="2552700" cy="1466850"/>
          </a:xfrm>
          <a:prstGeom xmlns:a="http://schemas.openxmlformats.org/drawingml/2006/main" prst="roundRect">
            <a:avLst>
              <a:gd name="adj" fmla="val 5195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6ED3A2A-9D5E-4F7C-AFF4-579B8BEE1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266950"/>
            <a:ext cx="22479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13D6FF"/>
                </a:solidFill>
                <a:latin typeface="Aptos"/>
                <a:ea typeface="Aptos"/>
                <a:cs typeface="Aptos"/>
              </a:defRPr>
            </a:pPr>
            <a:r>
              <a:t>样品制备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C9F4B1-6785-487A-9E37-3D46A4031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514600"/>
            <a:ext cx="22479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让材料样品被制造出来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79A40F5-6BB6-4098-A491-6DAA4CD96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133600"/>
            <a:ext cx="2552700" cy="1466850"/>
          </a:xfrm>
          <a:prstGeom xmlns:a="http://schemas.openxmlformats.org/drawingml/2006/main" prst="roundRect">
            <a:avLst>
              <a:gd name="adj" fmla="val 5195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101703C-14A4-4FDA-A773-98F35A98B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266950"/>
            <a:ext cx="22479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13D6FF"/>
                </a:solidFill>
                <a:latin typeface="Aptos"/>
                <a:ea typeface="Aptos"/>
                <a:cs typeface="Aptos"/>
              </a:defRPr>
            </a:pPr>
            <a:r>
              <a:t>加工调控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644582D-54D6-41A0-A890-726569D4E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514600"/>
            <a:ext cx="22479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改变已有材料状态与组织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10E0A31-3693-489E-B98D-B6277F4E8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133600"/>
            <a:ext cx="2552700" cy="1466850"/>
          </a:xfrm>
          <a:prstGeom xmlns:a="http://schemas.openxmlformats.org/drawingml/2006/main" prst="roundRect">
            <a:avLst>
              <a:gd name="adj" fmla="val 5195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E6C7F54-EB86-4220-BFB1-5A74D672A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266950"/>
            <a:ext cx="22479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13D6FF"/>
                </a:solidFill>
                <a:latin typeface="Aptos"/>
                <a:ea typeface="Aptos"/>
                <a:cs typeface="Aptos"/>
              </a:defRPr>
            </a:pPr>
            <a:r>
              <a:t>结构表征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C13BF2A-CED6-43A8-AF2E-C6CDF885D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514600"/>
            <a:ext cx="22479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材料是什么、长什么样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BDD0D77-4494-4C37-BB3C-9CADB6BD0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133600"/>
            <a:ext cx="2552700" cy="1466850"/>
          </a:xfrm>
          <a:prstGeom xmlns:a="http://schemas.openxmlformats.org/drawingml/2006/main" prst="roundRect">
            <a:avLst>
              <a:gd name="adj" fmla="val 5195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E693461-0DA8-4B97-A7EA-86B9E1944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2266950"/>
            <a:ext cx="22479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13D6FF"/>
                </a:solidFill>
                <a:latin typeface="Aptos"/>
                <a:ea typeface="Aptos"/>
                <a:cs typeface="Aptos"/>
              </a:defRPr>
            </a:pPr>
            <a:r>
              <a:t>物性测量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D67B328-D8C6-4E26-ABC4-BF13D3063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2514600"/>
            <a:ext cx="22479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材料有哪些基础性质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90504FC-6F94-4944-984C-89CECBCFB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71900"/>
            <a:ext cx="2552700" cy="1466850"/>
          </a:xfrm>
          <a:prstGeom xmlns:a="http://schemas.openxmlformats.org/drawingml/2006/main" prst="roundRect">
            <a:avLst>
              <a:gd name="adj" fmla="val 5195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EF21489-82DC-49E7-A064-04E15BB44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905250"/>
            <a:ext cx="22479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13D6FF"/>
                </a:solidFill>
                <a:latin typeface="Aptos"/>
                <a:ea typeface="Aptos"/>
                <a:cs typeface="Aptos"/>
              </a:defRPr>
            </a:pPr>
            <a:r>
              <a:t>功能测试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0F19090-ECFB-4C50-BF1C-0F0F02298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152900"/>
            <a:ext cx="22479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材料在应用情境下表现如何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D7F3A6F-FC4E-4C5D-BCD4-B1F9D67D6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771900"/>
            <a:ext cx="2552700" cy="1466850"/>
          </a:xfrm>
          <a:prstGeom xmlns:a="http://schemas.openxmlformats.org/drawingml/2006/main" prst="roundRect">
            <a:avLst>
              <a:gd name="adj" fmla="val 5195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485E3B8-07BD-4095-B7E6-95E16BF69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905250"/>
            <a:ext cx="22479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13D6FF"/>
                </a:solidFill>
                <a:latin typeface="Aptos"/>
                <a:ea typeface="Aptos"/>
                <a:cs typeface="Aptos"/>
              </a:defRPr>
            </a:pPr>
            <a:r>
              <a:t>稳定与失效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F615B04-D3AE-4A74-9881-3EE0CCF4F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152900"/>
            <a:ext cx="22479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材料能撑多久、怎么坏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520A4E6-E0EC-405F-BFD5-A38B940B6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771900"/>
            <a:ext cx="2552700" cy="1466850"/>
          </a:xfrm>
          <a:prstGeom xmlns:a="http://schemas.openxmlformats.org/drawingml/2006/main" prst="roundRect">
            <a:avLst>
              <a:gd name="adj" fmla="val 5195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FCF13AD-7B60-4A77-BA88-BFF4EC388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905250"/>
            <a:ext cx="22479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13D6FF"/>
                </a:solidFill>
                <a:latin typeface="Aptos"/>
                <a:ea typeface="Aptos"/>
                <a:cs typeface="Aptos"/>
              </a:defRPr>
            </a:pPr>
            <a:r>
              <a:t>计量与校准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EC86589-BC66-4E88-B684-AAA0181CB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4152900"/>
            <a:ext cx="22479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结果是否可信、可比较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E2D512D-BB6C-45CD-B1BF-34DFE706A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771900"/>
            <a:ext cx="2552700" cy="1466850"/>
          </a:xfrm>
          <a:prstGeom xmlns:a="http://schemas.openxmlformats.org/drawingml/2006/main" prst="roundRect">
            <a:avLst>
              <a:gd name="adj" fmla="val 5195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E406744-DA5C-41F9-821E-584A0EA03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3905250"/>
            <a:ext cx="22479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13D6FF"/>
                </a:solidFill>
                <a:latin typeface="Aptos"/>
                <a:ea typeface="Aptos"/>
                <a:cs typeface="Aptos"/>
              </a:defRPr>
            </a:pPr>
            <a:r>
              <a:t>高通量与闭环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35D7409-3C2E-4B2C-869B-2C789EB01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4152900"/>
            <a:ext cx="22479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如何加速筛选与优化</a:t>
            </a:r>
          </a:p>
        </p:txBody>
      </p:sp>
    </p:spTree>
    <p:extLst>
      <p:ext uri="{BB962C8B-B14F-4D97-AF65-F5344CB8AC3E}">
        <p14:creationId xmlns:p14="http://schemas.microsoft.com/office/powerpoint/2010/main" val="1493175262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B431379-3448-46FA-A42D-76EE5493A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3FE3CCD-B937-4B5C-9F09-E4F4194AB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3810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13D6FF"/>
                </a:solidFill>
                <a:latin typeface="Consolas"/>
                <a:ea typeface="Consolas"/>
                <a:cs typeface="Consolas"/>
              </a:defRPr>
            </a:pPr>
            <a:r>
              <a:t>分类细化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A3EC211-0DE2-4C46-A4E4-FBF7D4702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266700"/>
            <a:ext cx="114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750" b="0" i="0">
                <a:solidFill>
                  <a:srgbClr val="6E829D"/>
                </a:solidFill>
                <a:latin typeface="Consolas"/>
                <a:ea typeface="Consolas"/>
                <a:cs typeface="Consolas"/>
              </a:defRPr>
            </a:pPr>
            <a:r>
              <a:t>18 / 63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36AC33-50BF-4DC6-9818-8DB05800E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953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3D68"/>
          </a:solidFill>
          <a:ln xmlns:a="http://schemas.openxmlformats.org/drawingml/2006/main" w="0">
            <a:solidFill>
              <a:srgbClr val="1B3D68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E1A3F9-E2DA-4500-AC1E-16E99A090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819150"/>
            <a:ext cx="9906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前四类：从做出样品，到知道样品是什么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C000017-1BC8-4DED-84EA-18586A81F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390650"/>
            <a:ext cx="990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t>这四类往往决定实验链的上半程。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FF73375-8C48-4AA4-977B-6E11C8400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133600"/>
            <a:ext cx="5143500" cy="1466850"/>
          </a:xfrm>
          <a:prstGeom xmlns:a="http://schemas.openxmlformats.org/drawingml/2006/main" prst="roundRect">
            <a:avLst>
              <a:gd name="adj" fmla="val 5195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52A1EF1-81AB-4323-A8C2-7CC3F8C05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266950"/>
            <a:ext cx="48387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13D6FF"/>
                </a:solidFill>
                <a:latin typeface="Aptos"/>
                <a:ea typeface="Aptos"/>
                <a:cs typeface="Aptos"/>
              </a:defRPr>
            </a:pPr>
            <a:r>
              <a:t>样品制备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6EA1DFF-6E94-4444-AB75-260E9F3F0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514600"/>
            <a:ext cx="48387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定义：生成样品或样品库。</a:t>
            </a:r>
          </a:p>
          <a:p xmlns:a="http://schemas.openxmlformats.org/drawingml/2006/main"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例：固相合成、溶胶凝胶、CVD（化学气相沉积）、PVD（物理气相沉积）。</a:t>
            </a:r>
          </a:p>
          <a:p xmlns:a="http://schemas.openxmlformats.org/drawingml/2006/main"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SDL 关系：常是闭环中的执行端。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CC0AEE2-C8BE-4FB4-BADE-7ABB41F98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133600"/>
            <a:ext cx="5143500" cy="1466850"/>
          </a:xfrm>
          <a:prstGeom xmlns:a="http://schemas.openxmlformats.org/drawingml/2006/main" prst="roundRect">
            <a:avLst>
              <a:gd name="adj" fmla="val 5195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42BDC34-200C-414F-9254-65D278F53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266950"/>
            <a:ext cx="48387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3B82F6"/>
                </a:solidFill>
                <a:latin typeface="Aptos"/>
                <a:ea typeface="Aptos"/>
                <a:cs typeface="Aptos"/>
              </a:defRPr>
            </a:pPr>
            <a:r>
              <a:t>加工调控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022AA36-76B1-4B3D-8566-930CA77C0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514600"/>
            <a:ext cx="48387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定义：改变已有材料状态。</a:t>
            </a:r>
          </a:p>
          <a:p xmlns:a="http://schemas.openxmlformats.org/drawingml/2006/main"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例：退火、淬火、轧制、表面改性。</a:t>
            </a:r>
          </a:p>
          <a:p xmlns:a="http://schemas.openxmlformats.org/drawingml/2006/main"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SDL 关系：常与工艺优化、结构演化问题相连。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29B9FBC-90AC-42BD-B931-C150D63E0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71900"/>
            <a:ext cx="5143500" cy="1466850"/>
          </a:xfrm>
          <a:prstGeom xmlns:a="http://schemas.openxmlformats.org/drawingml/2006/main" prst="roundRect">
            <a:avLst>
              <a:gd name="adj" fmla="val 5195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742E4D8-7A31-48D4-870A-4C5D0E5D5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905250"/>
            <a:ext cx="48387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FBBF24"/>
                </a:solidFill>
                <a:latin typeface="Aptos"/>
                <a:ea typeface="Aptos"/>
                <a:cs typeface="Aptos"/>
              </a:defRPr>
            </a:pPr>
            <a:r>
              <a:t>结构表征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9A5D890-4411-4218-BCD5-15A2A734A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152900"/>
            <a:ext cx="48387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定义：回答材料的结构、成分与形貌。</a:t>
            </a:r>
          </a:p>
          <a:p xmlns:a="http://schemas.openxmlformats.org/drawingml/2006/main"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例：XRD（X射线衍射）、SEM（扫描电镜）、TEM（透射电镜）、XPS。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3C97D0B-DDB7-4480-86B7-EE12191BF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771900"/>
            <a:ext cx="5143500" cy="1466850"/>
          </a:xfrm>
          <a:prstGeom xmlns:a="http://schemas.openxmlformats.org/drawingml/2006/main" prst="roundRect">
            <a:avLst>
              <a:gd name="adj" fmla="val 5195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A5305C5-D192-43A9-8C64-8787E74FA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905250"/>
            <a:ext cx="48387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34D399"/>
                </a:solidFill>
                <a:latin typeface="Aptos"/>
                <a:ea typeface="Aptos"/>
                <a:cs typeface="Aptos"/>
              </a:defRPr>
            </a:pPr>
            <a:r>
              <a:t>物性测量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7E3DFD2-C587-496B-B1F4-B0C9C2A71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152900"/>
            <a:ext cx="48387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定义：回答材料的本征或近本征性质。</a:t>
            </a:r>
          </a:p>
          <a:p xmlns:a="http://schemas.openxmlformats.org/drawingml/2006/main"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例：电导率、热导率、硬度、磁化、带隙。</a:t>
            </a:r>
          </a:p>
        </p:txBody>
      </p:sp>
    </p:spTree>
    <p:extLst>
      <p:ext uri="{BB962C8B-B14F-4D97-AF65-F5344CB8AC3E}">
        <p14:creationId xmlns:p14="http://schemas.microsoft.com/office/powerpoint/2010/main" val="1616501717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1D1FD32-AF29-40B6-A8AE-D2A881E19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691709C-98A5-48D5-9FB5-869B8A842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3810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13D6FF"/>
                </a:solidFill>
                <a:latin typeface="Consolas"/>
                <a:ea typeface="Consolas"/>
                <a:cs typeface="Consolas"/>
              </a:defRPr>
            </a:pPr>
            <a:r>
              <a:t>分类细化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2BB66C4-C44A-4ECB-921C-D03F6B043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266700"/>
            <a:ext cx="114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750" b="0" i="0">
                <a:solidFill>
                  <a:srgbClr val="6E829D"/>
                </a:solidFill>
                <a:latin typeface="Consolas"/>
                <a:ea typeface="Consolas"/>
                <a:cs typeface="Consolas"/>
              </a:defRPr>
            </a:pPr>
            <a:r>
              <a:t>19 / 63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916C5F-2931-45F5-9A64-A4DBA5DF8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953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3D68"/>
          </a:solidFill>
          <a:ln xmlns:a="http://schemas.openxmlformats.org/drawingml/2006/main" w="0">
            <a:solidFill>
              <a:srgbClr val="1B3D68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F8CFC07-3A24-4E5E-BEA2-D0C7FDCFB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819150"/>
            <a:ext cx="9906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后四类：从能不能工作，到结果是否可信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51318EA-C6E2-41E8-B568-AEC5C4BDB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390650"/>
            <a:ext cx="990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t>这四类决定实验链的下半程和结果质量。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397172C-A19B-434D-99E4-924ED583F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133600"/>
            <a:ext cx="5143500" cy="1466850"/>
          </a:xfrm>
          <a:prstGeom xmlns:a="http://schemas.openxmlformats.org/drawingml/2006/main" prst="roundRect">
            <a:avLst>
              <a:gd name="adj" fmla="val 5195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225C397-8272-41AA-AAFA-12C6CC841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266950"/>
            <a:ext cx="48387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13D6FF"/>
                </a:solidFill>
                <a:latin typeface="Aptos"/>
                <a:ea typeface="Aptos"/>
                <a:cs typeface="Aptos"/>
              </a:defRPr>
            </a:pPr>
            <a:r>
              <a:t>功能测试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365E5C8-3AB1-4AB0-8A93-CA5B6CD26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514600"/>
            <a:ext cx="48387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定义：材料在目标应用场景中表现如何。</a:t>
            </a:r>
          </a:p>
          <a:p xmlns:a="http://schemas.openxmlformats.org/drawingml/2006/main"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例：电池循环、催化转化率、器件 I–V 曲线、传感响应。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F0B5E1C-0808-4100-AC5C-643AAE6F4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133600"/>
            <a:ext cx="5143500" cy="1466850"/>
          </a:xfrm>
          <a:prstGeom xmlns:a="http://schemas.openxmlformats.org/drawingml/2006/main" prst="roundRect">
            <a:avLst>
              <a:gd name="adj" fmla="val 5195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85B8BA8-3C90-44A1-8EA4-5D0429A66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266950"/>
            <a:ext cx="48387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FB7185"/>
                </a:solidFill>
                <a:latin typeface="Aptos"/>
                <a:ea typeface="Aptos"/>
                <a:cs typeface="Aptos"/>
              </a:defRPr>
            </a:pPr>
            <a:r>
              <a:t>稳定与失效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149E937-1CBB-4246-B181-427DD19A9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514600"/>
            <a:ext cx="48387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定义：材料会不会退化、如何失效。</a:t>
            </a:r>
          </a:p>
          <a:p xmlns:a="http://schemas.openxmlformats.org/drawingml/2006/main"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例：疲劳、腐蚀、热循环、湿热老化、击穿。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AAF47DD-AE3E-47A0-87E4-512C6965F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71900"/>
            <a:ext cx="5143500" cy="1466850"/>
          </a:xfrm>
          <a:prstGeom xmlns:a="http://schemas.openxmlformats.org/drawingml/2006/main" prst="roundRect">
            <a:avLst>
              <a:gd name="adj" fmla="val 5195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1677168-1D26-4E96-AA2B-BCDF5FA5D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905250"/>
            <a:ext cx="48387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3B82F6"/>
                </a:solidFill>
                <a:latin typeface="Aptos"/>
                <a:ea typeface="Aptos"/>
                <a:cs typeface="Aptos"/>
              </a:defRPr>
            </a:pPr>
            <a:r>
              <a:t>计量与校准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5F10FE6-F399-46C0-AF50-EDE173548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152900"/>
            <a:ext cx="48387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定义：保证结果可重复、可比较、可追溯。</a:t>
            </a:r>
          </a:p>
          <a:p xmlns:a="http://schemas.openxmlformats.org/drawingml/2006/main"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例：标准样校准、空白对照、实验室间比对、不确定度评估。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280F517-F433-45F6-AFED-06117F7CF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771900"/>
            <a:ext cx="5143500" cy="1466850"/>
          </a:xfrm>
          <a:prstGeom xmlns:a="http://schemas.openxmlformats.org/drawingml/2006/main" prst="roundRect">
            <a:avLst>
              <a:gd name="adj" fmla="val 5195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40F2932-E14E-47DB-83E0-0DBC18D45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905250"/>
            <a:ext cx="48387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FBBF24"/>
                </a:solidFill>
                <a:latin typeface="Aptos"/>
                <a:ea typeface="Aptos"/>
                <a:cs typeface="Aptos"/>
              </a:defRPr>
            </a:pPr>
            <a:r>
              <a:t>高通量与闭环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1D7EC8C-FD51-49C0-A8AC-C32C08BD6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152900"/>
            <a:ext cx="48387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定义：将制备、测量与决策集成为加速系统。</a:t>
            </a:r>
          </a:p>
          <a:p xmlns:a="http://schemas.openxmlformats.org/drawingml/2006/main"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例：组合材料库、自动化 DOE、主动学习、自驱实验室。</a:t>
            </a:r>
          </a:p>
        </p:txBody>
      </p:sp>
    </p:spTree>
    <p:extLst>
      <p:ext uri="{BB962C8B-B14F-4D97-AF65-F5344CB8AC3E}">
        <p14:creationId xmlns:p14="http://schemas.microsoft.com/office/powerpoint/2010/main" val="612340026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012C653-A262-489F-A52D-0B2C03A29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235669F-EC9B-43D8-BB0F-F1CC3D3FA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3810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13D6FF"/>
                </a:solidFill>
                <a:latin typeface="Consolas"/>
                <a:ea typeface="Consolas"/>
                <a:cs typeface="Consolas"/>
              </a:defRPr>
            </a:pPr>
            <a:r>
              <a:t>输出数据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8AA80C9-E4EB-4836-8819-B36FDE5D1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266700"/>
            <a:ext cx="114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750" b="0" i="0">
                <a:solidFill>
                  <a:srgbClr val="6E829D"/>
                </a:solidFill>
                <a:latin typeface="Consolas"/>
                <a:ea typeface="Consolas"/>
                <a:cs typeface="Consolas"/>
              </a:defRPr>
            </a:pPr>
            <a:r>
              <a:t>20 / 63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860BBA-6CC2-4CC5-8C22-8B0AFA89D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953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3D68"/>
          </a:solidFill>
          <a:ln xmlns:a="http://schemas.openxmlformats.org/drawingml/2006/main" w="0">
            <a:solidFill>
              <a:srgbClr val="1B3D68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44371A8-38A4-4226-BC79-4B3B7BF2D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819150"/>
            <a:ext cx="9906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不同实验类型，天然对应不同数据形态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0813EF1-54B3-4E53-B698-2DF2220C9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390650"/>
            <a:ext cx="990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t>SDL 不是只优化一个分数，而是要面对不同观测输出。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0FEB546-2654-4648-AA03-2B7684C23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171700"/>
            <a:ext cx="20955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0E213A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BF0091A-C189-4185-9F70-544446BA7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295525"/>
            <a:ext cx="1866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t>维度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61B5734-25BA-4C44-9314-CE1533178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171700"/>
            <a:ext cx="24765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0246C59-381D-498A-A75C-1F80C339E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295525"/>
            <a:ext cx="2247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0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典型输出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CB6E687-1AB2-4D3B-B250-B14D7E186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2171700"/>
            <a:ext cx="24765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ED305FD-373C-4B63-860F-49227AE25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295525"/>
            <a:ext cx="2247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0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常见数据形态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D04371E-C6BC-4AA6-8A73-84738FF3F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171700"/>
            <a:ext cx="24765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8589237-E494-4AE1-AB0F-13DF68B47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295525"/>
            <a:ext cx="2247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0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对 SDL 的启发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AB4AB0A-199E-4F5D-9249-A32473D85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09850"/>
            <a:ext cx="20955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C9B0D2F-36F1-4BF2-8743-33711458A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705100"/>
            <a:ext cx="18669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结构表征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901F2D0-9BB6-49D2-985D-32DF0E748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609850"/>
            <a:ext cx="24765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071426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94B9EF8-CC40-4CFD-AE01-8AC8BC75B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705100"/>
            <a:ext cx="22479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衍射峰、谱图、显微图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81C619E-FFDB-410E-93FB-1AEB4CF9F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2609850"/>
            <a:ext cx="24765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071426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74693FB-1B75-4B11-A2EC-A10AD29CD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705100"/>
            <a:ext cx="22479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图像/谱图类输出需先定义可比较观测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BF4656C-F6A9-445A-BB98-FBF37C115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86100"/>
            <a:ext cx="20955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CE81043-CCF3-4A19-A2CA-D61F2BCEC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181350"/>
            <a:ext cx="18669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物性测量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F601BC0-DA8E-4D66-B875-1C4A0AEE9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086100"/>
            <a:ext cx="24765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071426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C7436A2-EC43-45E2-8135-15A8087BB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181350"/>
            <a:ext cx="22479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标量、曲线、张量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1FF40D3-5F3F-46C2-BAA0-9C1B0A8B5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3086100"/>
            <a:ext cx="24765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071426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8B47B5D-B8D9-4CDA-B40B-B5F3DB751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3181350"/>
            <a:ext cx="22479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目标函数常较清晰，但噪声与重复性关键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7143CB5-6BCF-4E6A-9D19-2705D442D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562350"/>
            <a:ext cx="20955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8D67AFE-C92D-4F53-BD57-E6415452D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657600"/>
            <a:ext cx="18669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功能测试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41B1803-B654-408D-991F-DF3285B98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562350"/>
            <a:ext cx="24765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071426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E6F71D4-A6B7-4F66-93BC-D444096B9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657600"/>
            <a:ext cx="22479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效率、寿命、选择性、I–V 曲线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473D140-839F-4BEB-B4EA-793364467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3562350"/>
            <a:ext cx="24765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071426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5E6B614-87D6-4710-8619-D12CD77F4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3657600"/>
            <a:ext cx="22479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往往是多目标、多约束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6C65E4D-1B99-49A7-88FC-25563FFBD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038600"/>
            <a:ext cx="20955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55D4737-5FF8-46A3-B1D4-430F9B664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133850"/>
            <a:ext cx="18669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失效实验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04B9EF1-3F4A-46E0-ACEC-8BAB463BD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4038600"/>
            <a:ext cx="24765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071426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9B9BBE0-D194-43A5-9736-FD31E973A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133850"/>
            <a:ext cx="22479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寿命分布、失效模式、阈值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2600BDE-E4C7-45ED-815D-5972EFC7D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4038600"/>
            <a:ext cx="24765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071426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27FC576-6E74-4A5B-8576-567A6DEF8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4133850"/>
            <a:ext cx="22479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时间成本高，闭环更需谨慎设计</a:t>
            </a:r>
          </a:p>
        </p:txBody>
      </p:sp>
    </p:spTree>
    <p:extLst>
      <p:ext uri="{BB962C8B-B14F-4D97-AF65-F5344CB8AC3E}">
        <p14:creationId xmlns:p14="http://schemas.microsoft.com/office/powerpoint/2010/main" val="1751194199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8031249-7059-41AC-A168-68E879E05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CD713F9-D36D-4A52-BF0A-A986BEBB8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3810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13D6FF"/>
                </a:solidFill>
                <a:latin typeface="Consolas"/>
                <a:ea typeface="Consolas"/>
                <a:cs typeface="Consolas"/>
              </a:defRPr>
            </a:pPr>
            <a:r>
              <a:t>第三部分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96CF070-EAAD-4F82-A55E-3635B0593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266700"/>
            <a:ext cx="114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750" b="0" i="0">
                <a:solidFill>
                  <a:srgbClr val="6E829D"/>
                </a:solidFill>
                <a:latin typeface="Consolas"/>
                <a:ea typeface="Consolas"/>
                <a:cs typeface="Consolas"/>
              </a:defRPr>
            </a:pPr>
            <a:r>
              <a:t>21 / 63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4A396D6-CF34-480C-885F-153211082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953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3D68"/>
          </a:solidFill>
          <a:ln xmlns:a="http://schemas.openxmlformats.org/drawingml/2006/main" w="0">
            <a:solidFill>
              <a:srgbClr val="1B3D68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666E672-F3DA-4B08-B4A9-487F0773F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676400"/>
            <a:ext cx="14287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5400" b="1" i="0">
                <a:solidFill>
                  <a:srgbClr val="FBBF24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21EA87D-EE47-49DC-978B-A02A43002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1809750"/>
            <a:ext cx="7810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传统方法论：试错法与 DOE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F8B8D4E-4447-4FB1-9A81-BC3D301C1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2628900"/>
            <a:ext cx="7429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t>SDL 不是从天而降，而是沿着传统实验方法论继续往前走。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72328EE-0489-4128-BE4A-881822FD7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924300"/>
            <a:ext cx="4000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solidFill>
              <a:srgbClr val="FBBF24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DD96552-A217-4E8D-910C-0EB69F4EE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438650"/>
            <a:ext cx="85725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理解传统方法的成功与边界，是理解 SDL 的前提。</a:t>
            </a:r>
          </a:p>
        </p:txBody>
      </p:sp>
    </p:spTree>
    <p:extLst>
      <p:ext uri="{BB962C8B-B14F-4D97-AF65-F5344CB8AC3E}">
        <p14:creationId xmlns:p14="http://schemas.microsoft.com/office/powerpoint/2010/main" val="929594614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E305E40-4011-4000-8038-B78184B4F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001822-7D82-407B-8A24-A2E238DF9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3810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13D6FF"/>
                </a:solidFill>
                <a:latin typeface="Consolas"/>
                <a:ea typeface="Consolas"/>
                <a:cs typeface="Consolas"/>
              </a:defRPr>
            </a:pPr>
            <a:r>
              <a:t>试错法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7CA744-2A12-4010-8A0A-3C2B507A0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266700"/>
            <a:ext cx="114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750" b="0" i="0">
                <a:solidFill>
                  <a:srgbClr val="6E829D"/>
                </a:solidFill>
                <a:latin typeface="Consolas"/>
                <a:ea typeface="Consolas"/>
                <a:cs typeface="Consolas"/>
              </a:defRPr>
            </a:pPr>
            <a:r>
              <a:t>22 / 63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8175EE-2643-4C2A-9A2F-28DED4998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953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3D68"/>
          </a:solidFill>
          <a:ln xmlns:a="http://schemas.openxmlformats.org/drawingml/2006/main" w="0">
            <a:solidFill>
              <a:srgbClr val="1B3D68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15E0743-517E-4645-93E8-E73158D02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819150"/>
            <a:ext cx="9906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试错法为什么能长期存在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B304EDA-B736-4C5E-BFEB-139E08EBE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390650"/>
            <a:ext cx="990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t>因为它并不愚蠢，而是把经验、直觉和局部反馈编织在一起。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9027BE4-12D0-46E8-83D9-AF5F9EA22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133600"/>
            <a:ext cx="6858000" cy="3524250"/>
          </a:xfrm>
          <a:prstGeom xmlns:a="http://schemas.openxmlformats.org/drawingml/2006/main" prst="roundRect">
            <a:avLst>
              <a:gd name="adj" fmla="val 2162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66DDE79-722E-482A-ADA1-65868DB0C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400300"/>
            <a:ext cx="619125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• 很多实验空间在早期并不清楚，研究者先靠经验摸索局部可行区。</a:t>
            </a:r>
          </a:p>
          <a:p xmlns:a="http://schemas.openxmlformats.org/drawingml/2006/main">
            <a:pPr algn="l">
              <a:defRPr sz="1575" b="0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• 资深研究者常具备强烈的材料直觉和工艺手感，这在复杂系统中非常有价值。</a:t>
            </a:r>
          </a:p>
          <a:p xmlns:a="http://schemas.openxmlformats.org/drawingml/2006/main">
            <a:pPr algn="l">
              <a:defRPr sz="1575" b="0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• 当实验吞吐量低、变量数有限时，试错法往往是现实且高效的。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4ED98CF-E88E-4E7D-B711-A19DFE9A1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133600"/>
            <a:ext cx="304800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3D6FF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07788CD-8047-4205-8E74-03B25D6A6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266950"/>
            <a:ext cx="27432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0" i="0">
                <a:solidFill>
                  <a:srgbClr val="13D6FF"/>
                </a:solidFill>
                <a:latin typeface="Consolas"/>
                <a:ea typeface="Consolas"/>
                <a:cs typeface="Consolas"/>
              </a:defRPr>
            </a:pPr>
            <a:r>
              <a:t>要防止的误解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8844E34-451B-44C4-88C0-4BBDEC02A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514600"/>
            <a:ext cx="27432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不能把传统方法 caricature 成“瞎试”。很多真正高水平的试错，本质上是压缩版的人类启发式搜索。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A5F1E47-2BFE-41E6-9406-059363E88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171950"/>
            <a:ext cx="3048000" cy="1485900"/>
          </a:xfrm>
          <a:prstGeom xmlns:a="http://schemas.openxmlformats.org/drawingml/2006/main" prst="roundRect">
            <a:avLst>
              <a:gd name="adj" fmla="val 5128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3B82F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CED32CF-CFC4-4631-8BB9-C75EAC5B0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305300"/>
            <a:ext cx="27432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0" i="0">
                <a:solidFill>
                  <a:srgbClr val="3B82F6"/>
                </a:solidFill>
                <a:latin typeface="Consolas"/>
                <a:ea typeface="Consolas"/>
                <a:cs typeface="Consolas"/>
              </a:defRPr>
            </a:pPr>
            <a:r>
              <a:t>但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2945B32-3DF3-419C-AA7B-F2370A8E5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552950"/>
            <a:ext cx="27432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一旦变量增多、实验代价升高、目标转为多目标优化，试错法就很快遇到上限。</a:t>
            </a:r>
          </a:p>
        </p:txBody>
      </p:sp>
    </p:spTree>
    <p:extLst>
      <p:ext uri="{BB962C8B-B14F-4D97-AF65-F5344CB8AC3E}">
        <p14:creationId xmlns:p14="http://schemas.microsoft.com/office/powerpoint/2010/main" val="1986251857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E76AAE1-CB16-44D5-BFF9-28899BF93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D254B20-A9B9-4DD1-9059-291DEC69E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3810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13D6FF"/>
                </a:solidFill>
                <a:latin typeface="Consolas"/>
                <a:ea typeface="Consolas"/>
                <a:cs typeface="Consolas"/>
              </a:defRPr>
            </a:pPr>
            <a:r>
              <a:t>DOE 谱系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D612C3C-A471-4EC4-BD57-219F2A7D8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266700"/>
            <a:ext cx="114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750" b="0" i="0">
                <a:solidFill>
                  <a:srgbClr val="6E829D"/>
                </a:solidFill>
                <a:latin typeface="Consolas"/>
                <a:ea typeface="Consolas"/>
                <a:cs typeface="Consolas"/>
              </a:defRPr>
            </a:pPr>
            <a:r>
              <a:t>23 / 63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2BF8B0B-5459-4EE2-A58F-ABF5A75C6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953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3D68"/>
          </a:solidFill>
          <a:ln xmlns:a="http://schemas.openxmlformats.org/drawingml/2006/main" w="0">
            <a:solidFill>
              <a:srgbClr val="1B3D68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1DB909C-88DC-47C9-839A-4D44D86A1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819150"/>
            <a:ext cx="9906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从 Fisher 到 Box：DOE 是现代实验方法论的主干之一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263A25-4BEF-4CBF-A057-0F7F76AA4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390650"/>
            <a:ext cx="990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t>它先解决“怎么设计实验”，再逐步走向“怎么在实验中学习”。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901C006-0098-4436-BC7D-2E5D98FB1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571750"/>
            <a:ext cx="2505075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8C980BF-7157-4FB7-9C5E-E19D8A974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724150"/>
            <a:ext cx="22002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13D6FF"/>
                </a:solidFill>
                <a:latin typeface="Consolas"/>
                <a:ea typeface="Consolas"/>
                <a:cs typeface="Consolas"/>
              </a:defRPr>
            </a:pPr>
            <a:r>
              <a:t>1930s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E59F0ED-5C43-4E5E-9C44-76AFF9BFC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971800"/>
            <a:ext cx="22002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Fisher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EB75757-DE79-4E64-8C2C-79F2AB409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352800"/>
            <a:ext cx="2200275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把随机化、重复和方差分析系统化，建立现代实验设计基础。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564789E-1BB8-4826-BDFD-6BA07AE91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425" y="3238500"/>
            <a:ext cx="22860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B82F6"/>
          </a:solidFill>
          <a:ln xmlns:a="http://schemas.openxmlformats.org/drawingml/2006/main" w="0">
            <a:solidFill>
              <a:srgbClr val="3B82F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A1C149C-D2BA-4559-8439-77BAC54F3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4725" y="2571750"/>
            <a:ext cx="2505075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1B89465-3BFB-45AC-A52A-4947C7B0A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2724150"/>
            <a:ext cx="22002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3B82F6"/>
                </a:solidFill>
                <a:latin typeface="Consolas"/>
                <a:ea typeface="Consolas"/>
                <a:cs typeface="Consolas"/>
              </a:defRPr>
            </a:pPr>
            <a:r>
              <a:t>1950s–70s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77BE509-B060-435B-81AC-25F7D866F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2971800"/>
            <a:ext cx="22002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工业 DOE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C69F760-BCB8-46B6-9A41-CDCEC9BDF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3352800"/>
            <a:ext cx="2200275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全因子、部分因子、响应面等方法进入工程与工艺优化。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CEDA2AC-8805-4CC0-B7A2-B3B678D5E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3238500"/>
            <a:ext cx="22860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B82F6"/>
          </a:solidFill>
          <a:ln xmlns:a="http://schemas.openxmlformats.org/drawingml/2006/main" w="0">
            <a:solidFill>
              <a:srgbClr val="3B82F6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4013FA0-AAB9-42B2-A3A2-417F78D95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571750"/>
            <a:ext cx="2505075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77F96CC-4E61-4D81-8AC3-293C57C33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724150"/>
            <a:ext cx="22002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FBBF24"/>
                </a:solidFill>
                <a:latin typeface="Consolas"/>
                <a:ea typeface="Consolas"/>
                <a:cs typeface="Consolas"/>
              </a:defRPr>
            </a:pPr>
            <a:r>
              <a:t>Box 时代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120FB23-B0F6-475C-BF8F-FEDD92887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971800"/>
            <a:ext cx="22002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序贯思想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FFDFC10-8DCA-486E-991B-621D85874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352800"/>
            <a:ext cx="2200275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强调试验、学习、再试验；统计设计开始接近闭环思维。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B54C02C-FA20-457B-BC91-A95C8BE39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3238500"/>
            <a:ext cx="22860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B82F6"/>
          </a:solidFill>
          <a:ln xmlns:a="http://schemas.openxmlformats.org/drawingml/2006/main" w="0">
            <a:solidFill>
              <a:srgbClr val="3B82F6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338A2FC-DDC9-47FF-8E93-2D408FD78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9675" y="2571750"/>
            <a:ext cx="2505075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6E464A9-2C8B-48F9-9F76-F1C531860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2075" y="2724150"/>
            <a:ext cx="22002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FB7185"/>
                </a:solidFill>
                <a:latin typeface="Consolas"/>
                <a:ea typeface="Consolas"/>
                <a:cs typeface="Consolas"/>
              </a:defRPr>
            </a:pPr>
            <a:r>
              <a:t>今天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5C72418-BBE4-4545-A291-D91D7394D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2075" y="2971800"/>
            <a:ext cx="22002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与 SDL 汇流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81B5099-2947-49EF-9154-7A7860EBD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2075" y="3352800"/>
            <a:ext cx="2200275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DOE 继续负责初始化、筛选、结构化采样，并与 BO/SDL 集成。</a:t>
            </a:r>
          </a:p>
        </p:txBody>
      </p:sp>
    </p:spTree>
    <p:extLst>
      <p:ext uri="{BB962C8B-B14F-4D97-AF65-F5344CB8AC3E}">
        <p14:creationId xmlns:p14="http://schemas.microsoft.com/office/powerpoint/2010/main" val="1833865815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C9BA764-7868-40E9-A673-5FE507FD3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E2510CE-1C52-4014-A6EE-31994253D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3810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13D6FF"/>
                </a:solidFill>
                <a:latin typeface="Consolas"/>
                <a:ea typeface="Consolas"/>
                <a:cs typeface="Consolas"/>
              </a:defRPr>
            </a:pPr>
            <a:r>
              <a:t>DOE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6238CD0-4646-4333-A1D1-E66926C8D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266700"/>
            <a:ext cx="114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750" b="0" i="0">
                <a:solidFill>
                  <a:srgbClr val="6E829D"/>
                </a:solidFill>
                <a:latin typeface="Consolas"/>
                <a:ea typeface="Consolas"/>
                <a:cs typeface="Consolas"/>
              </a:defRPr>
            </a:pPr>
            <a:r>
              <a:t>24 / 63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C97A39E-129E-464A-8A07-90BB46C6A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953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3D68"/>
          </a:solidFill>
          <a:ln xmlns:a="http://schemas.openxmlformats.org/drawingml/2006/main" w="0">
            <a:solidFill>
              <a:srgbClr val="1B3D68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60BE6C1-BA1B-4CAC-9B59-AB6ED8654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819150"/>
            <a:ext cx="9906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DOE 的核心贡献：把实验从“凭感觉改变量”变成“结构化采样”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03353D8-D89A-4F0F-9437-A777033B4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390650"/>
            <a:ext cx="990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t>它解决的是实验设计问题，而不只是统计分析问题。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7F83F34-E9B1-4486-BDEF-FCDE5FD76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133600"/>
            <a:ext cx="6858000" cy="3524250"/>
          </a:xfrm>
          <a:prstGeom xmlns:a="http://schemas.openxmlformats.org/drawingml/2006/main" prst="roundRect">
            <a:avLst>
              <a:gd name="adj" fmla="val 2162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1687CDF-1BC7-4BFE-A081-76C5A3663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400300"/>
            <a:ext cx="619125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• 明确因素、水平、响应和约束。</a:t>
            </a:r>
          </a:p>
          <a:p xmlns:a="http://schemas.openxmlformats.org/drawingml/2006/main">
            <a:pPr algn="l">
              <a:defRPr sz="1575" b="0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• 通过有计划的采样区分主效应、交互效应和噪声。</a:t>
            </a:r>
          </a:p>
          <a:p xmlns:a="http://schemas.openxmlformats.org/drawingml/2006/main">
            <a:pPr algn="l">
              <a:defRPr sz="1575" b="0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• 在有限实验预算下，提高信息增益和解释能力。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D820AFC-027E-4697-9671-872E6247E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133600"/>
            <a:ext cx="304800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3D6FF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92A3BF9-FBA3-4123-AF4E-3F03F0B77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266950"/>
            <a:ext cx="27432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0" i="0">
                <a:solidFill>
                  <a:srgbClr val="13D6FF"/>
                </a:solidFill>
                <a:latin typeface="Consolas"/>
                <a:ea typeface="Consolas"/>
                <a:cs typeface="Consolas"/>
              </a:defRPr>
            </a:pPr>
            <a:r>
              <a:t>DOE 常见家族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7C5FD4-3685-4F17-85E5-6514FD7E8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514600"/>
            <a:ext cx="27432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全因子 / 部分因子 / 响应面 / 中心复合 / Box–Behnken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0DB99F0-06C1-4B32-924E-D7FEE6C26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171950"/>
            <a:ext cx="3048000" cy="1485900"/>
          </a:xfrm>
          <a:prstGeom xmlns:a="http://schemas.openxmlformats.org/drawingml/2006/main" prst="roundRect">
            <a:avLst>
              <a:gd name="adj" fmla="val 5128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3B82F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1372CF9-25A2-40EC-A558-317B38A5E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305300"/>
            <a:ext cx="27432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0" i="0">
                <a:solidFill>
                  <a:srgbClr val="3B82F6"/>
                </a:solidFill>
                <a:latin typeface="Consolas"/>
                <a:ea typeface="Consolas"/>
                <a:cs typeface="Consolas"/>
              </a:defRPr>
            </a:pPr>
            <a:r>
              <a:t>更重要的是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74F6137-8075-4B27-BB49-B327BCAA2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552950"/>
            <a:ext cx="27432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DOE 的价值不仅在“省实验”，更在于让实验变得可解释、可复盘、可交流。</a:t>
            </a:r>
          </a:p>
        </p:txBody>
      </p:sp>
    </p:spTree>
    <p:extLst>
      <p:ext uri="{BB962C8B-B14F-4D97-AF65-F5344CB8AC3E}">
        <p14:creationId xmlns:p14="http://schemas.microsoft.com/office/powerpoint/2010/main" val="21964596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F040BBE-ECD3-4D64-962B-A2228805E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C47E14E-9E25-4DA0-BEB1-36F159070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3810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13D6FF"/>
                </a:solidFill>
                <a:latin typeface="Consolas"/>
                <a:ea typeface="Consolas"/>
                <a:cs typeface="Consolas"/>
              </a:defRPr>
            </a:pPr>
            <a:r>
              <a:t>DOE 家族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FE6D30F-4329-48AA-8571-5CBDB386D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266700"/>
            <a:ext cx="114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750" b="0" i="0">
                <a:solidFill>
                  <a:srgbClr val="6E829D"/>
                </a:solidFill>
                <a:latin typeface="Consolas"/>
                <a:ea typeface="Consolas"/>
                <a:cs typeface="Consolas"/>
              </a:defRPr>
            </a:pPr>
            <a:r>
              <a:t>25 / 63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D020F4-5675-425E-AB24-BEF1D1E1F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953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3D68"/>
          </a:solidFill>
          <a:ln xmlns:a="http://schemas.openxmlformats.org/drawingml/2006/main" w="0">
            <a:solidFill>
              <a:srgbClr val="1B3D68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638E596-79F6-4EDC-8050-BA1D15F8D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819150"/>
            <a:ext cx="9906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DOE 家族怎么选：筛选、建模、优化各有分工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17ED32F-ACD7-4AD2-83F5-DCE4C208E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390650"/>
            <a:ext cx="990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t>DOE 不是一个方法，而是一组针对不同实验阶段的设计策略。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AD54B24-C28B-4E08-A6A8-86DCA8C04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133600"/>
            <a:ext cx="3429000" cy="1466850"/>
          </a:xfrm>
          <a:prstGeom xmlns:a="http://schemas.openxmlformats.org/drawingml/2006/main" prst="roundRect">
            <a:avLst>
              <a:gd name="adj" fmla="val 5195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4E49BFC-D7C0-4835-8498-EEC361304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266950"/>
            <a:ext cx="3124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13D6FF"/>
                </a:solidFill>
                <a:latin typeface="Aptos"/>
                <a:ea typeface="Aptos"/>
                <a:cs typeface="Aptos"/>
              </a:defRPr>
            </a:pPr>
            <a:r>
              <a:t>全因子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5B9D014-6BD8-42F3-9A2C-D2712A344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514600"/>
            <a:ext cx="31242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因素少、预算足时，完整摸清主效应与交互。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9DF42A9-91E3-4C62-ADBE-006D0F970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133600"/>
            <a:ext cx="3429000" cy="1466850"/>
          </a:xfrm>
          <a:prstGeom xmlns:a="http://schemas.openxmlformats.org/drawingml/2006/main" prst="roundRect">
            <a:avLst>
              <a:gd name="adj" fmla="val 5195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946CB4A-7398-4077-B9A7-982ADC343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266950"/>
            <a:ext cx="3124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3B82F6"/>
                </a:solidFill>
                <a:latin typeface="Aptos"/>
                <a:ea typeface="Aptos"/>
                <a:cs typeface="Aptos"/>
              </a:defRPr>
            </a:pPr>
            <a:r>
              <a:t>部分因子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4445179-69E7-4683-9DFB-D06215BC8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514600"/>
            <a:ext cx="31242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筛选阶段优先，快速找出重要因素。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2A0851D-88A6-4E10-A2D9-E2496D957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133600"/>
            <a:ext cx="3429000" cy="1466850"/>
          </a:xfrm>
          <a:prstGeom xmlns:a="http://schemas.openxmlformats.org/drawingml/2006/main" prst="roundRect">
            <a:avLst>
              <a:gd name="adj" fmla="val 5195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161F0BB-F817-45D4-B65F-7F2B4DB7C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266950"/>
            <a:ext cx="3124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FBBF24"/>
                </a:solidFill>
                <a:latin typeface="Aptos"/>
                <a:ea typeface="Aptos"/>
                <a:cs typeface="Aptos"/>
              </a:defRPr>
            </a:pPr>
            <a:r>
              <a:t>中心复合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45FC6DF-D3C2-436E-8FC6-FC4E15F87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514600"/>
            <a:ext cx="31242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适合建立二次响应面，观察曲率。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AE07DB3-B7C0-49E1-A2BC-3533CBF3B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71900"/>
            <a:ext cx="3429000" cy="1466850"/>
          </a:xfrm>
          <a:prstGeom xmlns:a="http://schemas.openxmlformats.org/drawingml/2006/main" prst="roundRect">
            <a:avLst>
              <a:gd name="adj" fmla="val 5195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143D196-7CA5-4157-8C2F-AC5596F2A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905250"/>
            <a:ext cx="3124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34D399"/>
                </a:solidFill>
                <a:latin typeface="Aptos"/>
                <a:ea typeface="Aptos"/>
                <a:cs typeface="Aptos"/>
              </a:defRPr>
            </a:pPr>
            <a:r>
              <a:t>Box–Behnken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97ED94A-3768-41B8-874A-1017A8ADA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152900"/>
            <a:ext cx="31242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减少极端组合，常用于工艺优化。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C3FD853-71C2-4640-917E-45A7F7D29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771900"/>
            <a:ext cx="3429000" cy="1466850"/>
          </a:xfrm>
          <a:prstGeom xmlns:a="http://schemas.openxmlformats.org/drawingml/2006/main" prst="roundRect">
            <a:avLst>
              <a:gd name="adj" fmla="val 5195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44A641B-5EC4-4A3C-8408-E76581F75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905250"/>
            <a:ext cx="3124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FB7185"/>
                </a:solidFill>
                <a:latin typeface="Aptos"/>
                <a:ea typeface="Aptos"/>
                <a:cs typeface="Aptos"/>
              </a:defRPr>
            </a:pPr>
            <a:r>
              <a:t>响应面方法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73685A7-AD94-4F19-A07F-036DF1482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152900"/>
            <a:ext cx="31242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在局部区域建立可解释近似模型。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C91276E-2CA7-4570-836E-EF405E22F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771900"/>
            <a:ext cx="3429000" cy="1466850"/>
          </a:xfrm>
          <a:prstGeom xmlns:a="http://schemas.openxmlformats.org/drawingml/2006/main" prst="roundRect">
            <a:avLst>
              <a:gd name="adj" fmla="val 5195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2068ECC-192D-4F04-9D21-86278C904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905250"/>
            <a:ext cx="3124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13D6FF"/>
                </a:solidFill>
                <a:latin typeface="Aptos"/>
                <a:ea typeface="Aptos"/>
                <a:cs typeface="Aptos"/>
              </a:defRPr>
            </a:pPr>
            <a:r>
              <a:t>真正的顺序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6A0B4FF-35E9-4F3A-9630-708698D4A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152900"/>
            <a:ext cx="31242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先问实验处在哪个阶段，再选 DOE，而不是反过来。</a:t>
            </a:r>
          </a:p>
        </p:txBody>
      </p:sp>
    </p:spTree>
    <p:extLst>
      <p:ext uri="{BB962C8B-B14F-4D97-AF65-F5344CB8AC3E}">
        <p14:creationId xmlns:p14="http://schemas.microsoft.com/office/powerpoint/2010/main" val="1500523114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C9B4DB5-3424-4C4D-8916-E12A5A863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A63ACDD-4C6D-410A-9DFF-CC9610683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3810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13D6FF"/>
                </a:solidFill>
                <a:latin typeface="Consolas"/>
                <a:ea typeface="Consolas"/>
                <a:cs typeface="Consolas"/>
              </a:defRPr>
            </a:pPr>
            <a:r>
              <a:t>DOE 框架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A4C35AC-263B-4822-B126-72E3C4EBA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266700"/>
            <a:ext cx="114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750" b="0" i="0">
                <a:solidFill>
                  <a:srgbClr val="6E829D"/>
                </a:solidFill>
                <a:latin typeface="Consolas"/>
                <a:ea typeface="Consolas"/>
                <a:cs typeface="Consolas"/>
              </a:defRPr>
            </a:pPr>
            <a:r>
              <a:t>26 / 63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F9BB2A4-9405-42C1-A6F1-1891B6E3D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953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3D68"/>
          </a:solidFill>
          <a:ln xmlns:a="http://schemas.openxmlformats.org/drawingml/2006/main" w="0">
            <a:solidFill>
              <a:srgbClr val="1B3D68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51C1DC8-AB59-43D9-859D-9DF8215CD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819150"/>
            <a:ext cx="9906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DOE 的最小词汇表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FA92AE2-1731-4C84-84A6-9C1F85A13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390650"/>
            <a:ext cx="990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t>学生至少要区分这六个词，否则后面讲 SDL 会混。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F5E60FD-2D4C-4547-96DF-1B34523B6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133600"/>
            <a:ext cx="3429000" cy="1466850"/>
          </a:xfrm>
          <a:prstGeom xmlns:a="http://schemas.openxmlformats.org/drawingml/2006/main" prst="roundRect">
            <a:avLst>
              <a:gd name="adj" fmla="val 5195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B8E4146-A4AB-43C9-99C6-C6FD9BDC8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266950"/>
            <a:ext cx="3124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13D6FF"/>
                </a:solidFill>
                <a:latin typeface="Aptos"/>
                <a:ea typeface="Aptos"/>
                <a:cs typeface="Aptos"/>
              </a:defRPr>
            </a:pPr>
            <a:r>
              <a:t>因素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C60B423-A76D-48C1-B887-B9F2E3838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514600"/>
            <a:ext cx="31242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我们主动控制的变量。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7912FDC-2BAD-46B1-AA4E-3BA1BC299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133600"/>
            <a:ext cx="3429000" cy="1466850"/>
          </a:xfrm>
          <a:prstGeom xmlns:a="http://schemas.openxmlformats.org/drawingml/2006/main" prst="roundRect">
            <a:avLst>
              <a:gd name="adj" fmla="val 5195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9FF5C30-42B6-46B1-AF2E-2EEC43267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266950"/>
            <a:ext cx="3124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3B82F6"/>
                </a:solidFill>
                <a:latin typeface="Aptos"/>
                <a:ea typeface="Aptos"/>
                <a:cs typeface="Aptos"/>
              </a:defRPr>
            </a:pPr>
            <a:r>
              <a:t>水平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5477744-AE3A-40E3-8059-42B8BC184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514600"/>
            <a:ext cx="31242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每个因素允许取到的值。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E479771-FA35-4B9F-BBEF-9A60D660B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133600"/>
            <a:ext cx="3429000" cy="1466850"/>
          </a:xfrm>
          <a:prstGeom xmlns:a="http://schemas.openxmlformats.org/drawingml/2006/main" prst="roundRect">
            <a:avLst>
              <a:gd name="adj" fmla="val 5195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FF5C5B5-9872-43E6-AF91-63675D088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266950"/>
            <a:ext cx="3124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FBBF24"/>
                </a:solidFill>
                <a:latin typeface="Aptos"/>
                <a:ea typeface="Aptos"/>
                <a:cs typeface="Aptos"/>
              </a:defRPr>
            </a:pPr>
            <a:r>
              <a:t>响应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0A69EFA-A476-4359-A156-2601BF393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514600"/>
            <a:ext cx="31242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实验测得的结果或输出。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AB73502-D070-4170-B832-08958D22C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71900"/>
            <a:ext cx="3429000" cy="1466850"/>
          </a:xfrm>
          <a:prstGeom xmlns:a="http://schemas.openxmlformats.org/drawingml/2006/main" prst="roundRect">
            <a:avLst>
              <a:gd name="adj" fmla="val 5195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1E37143-F91C-464D-9468-27B3524FC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905250"/>
            <a:ext cx="3124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FB7185"/>
                </a:solidFill>
                <a:latin typeface="Aptos"/>
                <a:ea typeface="Aptos"/>
                <a:cs typeface="Aptos"/>
              </a:defRPr>
            </a:pPr>
            <a:r>
              <a:t>约束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09D8E04-0A86-472A-8DA6-EA72769F7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152900"/>
            <a:ext cx="31242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安全、成本、可行性边界。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2178F43-8760-4518-AE5A-396ACD606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771900"/>
            <a:ext cx="3429000" cy="1466850"/>
          </a:xfrm>
          <a:prstGeom xmlns:a="http://schemas.openxmlformats.org/drawingml/2006/main" prst="roundRect">
            <a:avLst>
              <a:gd name="adj" fmla="val 5195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28A9C8D-045D-4B23-B763-71A40EFC0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905250"/>
            <a:ext cx="3124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34D399"/>
                </a:solidFill>
                <a:latin typeface="Aptos"/>
                <a:ea typeface="Aptos"/>
                <a:cs typeface="Aptos"/>
              </a:defRPr>
            </a:pPr>
            <a:r>
              <a:t>主效应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92ADAFF-24AB-4261-B036-B0E856C8D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152900"/>
            <a:ext cx="31242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单个因素变化带来的影响。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8ABBE8C-3A10-4522-904F-37A3DB9EE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771900"/>
            <a:ext cx="3429000" cy="1466850"/>
          </a:xfrm>
          <a:prstGeom xmlns:a="http://schemas.openxmlformats.org/drawingml/2006/main" prst="roundRect">
            <a:avLst>
              <a:gd name="adj" fmla="val 5195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3B77F76-1F92-4B51-95B1-6EF5ACEC2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905250"/>
            <a:ext cx="3124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13D6FF"/>
                </a:solidFill>
                <a:latin typeface="Aptos"/>
                <a:ea typeface="Aptos"/>
                <a:cs typeface="Aptos"/>
              </a:defRPr>
            </a:pPr>
            <a:r>
              <a:t>交互效应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961D40A-3D0A-4027-965C-AED81680D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152900"/>
            <a:ext cx="31242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因素组合共同作用产生的影响。</a:t>
            </a:r>
          </a:p>
        </p:txBody>
      </p:sp>
    </p:spTree>
    <p:extLst>
      <p:ext uri="{BB962C8B-B14F-4D97-AF65-F5344CB8AC3E}">
        <p14:creationId xmlns:p14="http://schemas.microsoft.com/office/powerpoint/2010/main" val="1923673172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204A89E-0F8B-4013-A717-EB6E73695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0BAB02F-252D-4159-BC1B-E7FF7FD55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3810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13D6FF"/>
                </a:solidFill>
                <a:latin typeface="Consolas"/>
                <a:ea typeface="Consolas"/>
                <a:cs typeface="Consolas"/>
              </a:defRPr>
            </a:pPr>
            <a:r>
              <a:t>方法比较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8D25767-D874-4A8D-9B1F-F5C66903D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266700"/>
            <a:ext cx="114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750" b="0" i="0">
                <a:solidFill>
                  <a:srgbClr val="6E829D"/>
                </a:solidFill>
                <a:latin typeface="Consolas"/>
                <a:ea typeface="Consolas"/>
                <a:cs typeface="Consolas"/>
              </a:defRPr>
            </a:pPr>
            <a:r>
              <a:t>27 / 63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B287BE5-EA8E-4259-9986-552CF5412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953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3D68"/>
          </a:solidFill>
          <a:ln xmlns:a="http://schemas.openxmlformats.org/drawingml/2006/main" w="0">
            <a:solidFill>
              <a:srgbClr val="1B3D68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F7EC1B4-F800-42E5-9907-E6CB3FE2F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819150"/>
            <a:ext cx="9906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试错法、DOE、SDL：不是替代关系，而是连续谱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24CE684-DB2E-4A66-B4A5-0364A14B4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390650"/>
            <a:ext cx="990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t>每种方法都有适用边界。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F050DF9-8DFF-4522-9E4E-E0F474237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171700"/>
            <a:ext cx="20955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0E213A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D1CF526-C2DE-494F-821C-E382E7861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295525"/>
            <a:ext cx="1866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t>维度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D0E9D60-2126-4EE5-92BC-BF3489909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171700"/>
            <a:ext cx="24765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A25C6F5-40E7-4CAE-A411-15FC75E8E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295525"/>
            <a:ext cx="2247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0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试错法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BF8A2A2-12B3-4C08-BA11-41D2FB9CB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2171700"/>
            <a:ext cx="24765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CF8B2FD-67CD-4897-BE95-F21CD3D5A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295525"/>
            <a:ext cx="2247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0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DOE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EE25550-164E-4390-9173-4A77287F0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171700"/>
            <a:ext cx="24765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AAB4A5D-43FA-408B-8257-0FD0B36FB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295525"/>
            <a:ext cx="2247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0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SDL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CD63445-BB6E-4365-85F5-E0258C731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09850"/>
            <a:ext cx="20955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AB0A201-F885-4484-94DC-AF16FC60E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705100"/>
            <a:ext cx="18669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策略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41DBD83-FCD4-4D6B-BE71-94C99E069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609850"/>
            <a:ext cx="24765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071426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583CC63-8B95-48B3-8755-476F6A481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705100"/>
            <a:ext cx="22479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经验与直觉驱动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3A2AB8C-FA34-4033-A983-CBA9C165D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2609850"/>
            <a:ext cx="24765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071426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710534B-2C81-4C7D-BA7B-94CA22D19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705100"/>
            <a:ext cx="22479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统计设计驱动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A210DD7-DD25-4C9C-B8A3-E0F3A5411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609850"/>
            <a:ext cx="24765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071426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510813D-1C04-4494-A190-6D7A4F4FC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705100"/>
            <a:ext cx="22479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模型与闭环决策驱动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B767921-DD35-4F28-BDB6-53059F31B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86100"/>
            <a:ext cx="20955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82CA1A3-F664-42CA-B333-3BDA14B7D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181350"/>
            <a:ext cx="18669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变量空间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7AEE76F-3F18-41ED-ACA6-AA0940D5F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086100"/>
            <a:ext cx="24765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071426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E460B84-BC31-4205-900E-8DDD0749E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181350"/>
            <a:ext cx="22479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低维更友好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13A2631-1D08-4BE0-8531-2FF9EF629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3086100"/>
            <a:ext cx="24765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071426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5F4BF95-6B3D-48BF-B462-41D841F47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3181350"/>
            <a:ext cx="22479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中低维较合适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8CB1613-A014-47AA-9804-046F8B5C8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086100"/>
            <a:ext cx="24765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071426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3836804-60B1-42CF-9CFD-88A4B9B38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181350"/>
            <a:ext cx="22479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高维潜力更大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CCD3A1D-1FC3-43D3-B0BA-1EC15FAC5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562350"/>
            <a:ext cx="20955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C884389-54E9-4B37-9008-5F783E1A4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657600"/>
            <a:ext cx="18669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不确定性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8AB4ABC-B39D-41F9-8545-7EC37DAC2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562350"/>
            <a:ext cx="24765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071426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C3A7C40-4322-4390-ADB9-1BCFD8482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657600"/>
            <a:ext cx="22479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通常隐含处理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3AA9334-3B1C-43BD-8895-542206671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3562350"/>
            <a:ext cx="24765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071426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73C7CF5-E789-4E34-AEE4-C561BD84B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3657600"/>
            <a:ext cx="22479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残差与显著性分析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F24EBA6-8B44-4071-8408-B173A5E09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562350"/>
            <a:ext cx="24765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071426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165D26F-65FA-46FB-9F94-D5103CB12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657600"/>
            <a:ext cx="22479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显式后验与不确定性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A58F761-3705-482B-9EE7-2922D1670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038600"/>
            <a:ext cx="20955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1A6F9CC-9312-4FD0-8AE8-43DCCD47A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133850"/>
            <a:ext cx="18669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迭代速度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2D7BAC0-473C-408C-8AD4-804DCD15B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4038600"/>
            <a:ext cx="24765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071426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BD8F65F-3B70-4EAA-B2D0-D0932ED20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133850"/>
            <a:ext cx="22479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慢，强依赖人工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EC541AB-3F58-4042-97BE-29F3287F2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4038600"/>
            <a:ext cx="24765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071426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B8D6103B-406B-4F03-B787-02872F3FB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4133850"/>
            <a:ext cx="22479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中等，常按批次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5F9CF7D-8B2E-4373-B493-779C51BAA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038600"/>
            <a:ext cx="24765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071426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6230DDC-7E7E-4718-AC02-E59D4D49C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133850"/>
            <a:ext cx="22479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快，可闭环运行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3D4CDE29-241E-4E32-8C8E-FB14BCB63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514850"/>
            <a:ext cx="20955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2FA8D90B-17EF-455F-B0CA-B6715B98C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610100"/>
            <a:ext cx="18669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最强项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56A0F34E-769E-4F28-9871-5B5EAF648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4514850"/>
            <a:ext cx="24765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071426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7E477E5C-6650-470D-840C-AAEE3F71F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610100"/>
            <a:ext cx="22479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早期摸底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95114FC5-F79F-4642-918D-491E249A1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4514850"/>
            <a:ext cx="24765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071426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9ADAE15E-642A-4313-940F-4324BC62F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4610100"/>
            <a:ext cx="22479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筛选与主效应识别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0E4981AD-2164-4787-A5AF-A3CFC46CE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514850"/>
            <a:ext cx="24765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071426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164E1043-493A-48F2-8F28-D8FC203CF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610100"/>
            <a:ext cx="22479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昂贵实验下的数据效率</a:t>
            </a:r>
          </a:p>
        </p:txBody>
      </p:sp>
    </p:spTree>
    <p:extLst>
      <p:ext uri="{BB962C8B-B14F-4D97-AF65-F5344CB8AC3E}">
        <p14:creationId xmlns:p14="http://schemas.microsoft.com/office/powerpoint/2010/main" val="1787992449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A2D1165-560A-4F33-8888-7606B6FD2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4222A08-0534-45EE-95E1-87D7E23EA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3810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13D6FF"/>
                </a:solidFill>
                <a:latin typeface="Consolas"/>
                <a:ea typeface="Consolas"/>
                <a:cs typeface="Consolas"/>
              </a:defRPr>
            </a:pPr>
            <a:r>
              <a:t>连续性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99D4B06-E0C5-4842-B4A5-1B678952A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266700"/>
            <a:ext cx="114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750" b="0" i="0">
                <a:solidFill>
                  <a:srgbClr val="6E829D"/>
                </a:solidFill>
                <a:latin typeface="Consolas"/>
                <a:ea typeface="Consolas"/>
                <a:cs typeface="Consolas"/>
              </a:defRPr>
            </a:pPr>
            <a:r>
              <a:t>28 / 63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957CC63-C253-4A20-A8AA-F072BEDC1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953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3D68"/>
          </a:solidFill>
          <a:ln xmlns:a="http://schemas.openxmlformats.org/drawingml/2006/main" w="0">
            <a:solidFill>
              <a:srgbClr val="1B3D68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21A42CD-15C4-47AD-B145-E435EE937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819150"/>
            <a:ext cx="9906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从试错法到 SDL：真正变化的是谁来提出“下一步做什么”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360F764-7E34-4786-8E7B-2058EB40D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390650"/>
            <a:ext cx="990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t>这是方法论上的连续性，也是一条自动化程度逐步提高的路线。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4996DF9-D2E7-412E-8AAC-FB10F6685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133600"/>
            <a:ext cx="6858000" cy="3524250"/>
          </a:xfrm>
          <a:prstGeom xmlns:a="http://schemas.openxmlformats.org/drawingml/2006/main" prst="roundRect">
            <a:avLst>
              <a:gd name="adj" fmla="val 2162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9BEC4BA-485B-4E13-B175-DBB933444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400300"/>
            <a:ext cx="619125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• 试错法：主要由研究者直觉提出下一步。</a:t>
            </a:r>
          </a:p>
          <a:p xmlns:a="http://schemas.openxmlformats.org/drawingml/2006/main">
            <a:pPr algn="l">
              <a:defRPr sz="1575" b="0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• DOE：由预先设计好的统计结构给出下一组实验。</a:t>
            </a:r>
          </a:p>
          <a:p xmlns:a="http://schemas.openxmlformats.org/drawingml/2006/main">
            <a:pPr algn="l">
              <a:defRPr sz="1575" b="0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• SDL：模型根据现有观测和不确定性，动态推荐下一步。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05ECB26-3D55-4114-AC08-518EB1049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133600"/>
            <a:ext cx="304800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3D6FF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97B682A-0ED9-4E84-A60B-291C25211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266950"/>
            <a:ext cx="27432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0" i="0">
                <a:solidFill>
                  <a:srgbClr val="13D6FF"/>
                </a:solidFill>
                <a:latin typeface="Consolas"/>
                <a:ea typeface="Consolas"/>
                <a:cs typeface="Consolas"/>
              </a:defRPr>
            </a:pPr>
            <a:r>
              <a:t>所以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DD02A11-19D2-46FA-9D44-628D6AC4E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514600"/>
            <a:ext cx="27432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DOE 与 SDL 的区别，不只在模型更复杂，而在推荐逻辑从静态设计转向动态闭环。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FCF5B22-1D56-4366-94B5-6637C984D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171950"/>
            <a:ext cx="3048000" cy="1485900"/>
          </a:xfrm>
          <a:prstGeom xmlns:a="http://schemas.openxmlformats.org/drawingml/2006/main" prst="roundRect">
            <a:avLst>
              <a:gd name="adj" fmla="val 5128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3B82F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3A69353-3CFF-4041-9EAA-3B9D651A8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305300"/>
            <a:ext cx="27432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0" i="0">
                <a:solidFill>
                  <a:srgbClr val="3B82F6"/>
                </a:solidFill>
                <a:latin typeface="Consolas"/>
                <a:ea typeface="Consolas"/>
                <a:cs typeface="Consolas"/>
              </a:defRPr>
            </a:pPr>
            <a:r>
              <a:t>关键问题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608BD28-E074-4BD1-9D62-FF2E28944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552950"/>
            <a:ext cx="27432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“下一步做什么”由谁提出、依据什么提出、如何被验证。</a:t>
            </a:r>
          </a:p>
        </p:txBody>
      </p:sp>
    </p:spTree>
    <p:extLst>
      <p:ext uri="{BB962C8B-B14F-4D97-AF65-F5344CB8AC3E}">
        <p14:creationId xmlns:p14="http://schemas.microsoft.com/office/powerpoint/2010/main" val="1271208359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C41D1AD-2C8C-4BA1-85F3-71C82F06A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2BA95A4-3C1D-4C3B-BF16-90CC37F51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3810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13D6FF"/>
                </a:solidFill>
                <a:latin typeface="Consolas"/>
                <a:ea typeface="Consolas"/>
                <a:cs typeface="Consolas"/>
              </a:defRPr>
            </a:pPr>
            <a:r>
              <a:t>DOE 与 SDL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436972A-EFCD-4577-86A8-F063841B7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266700"/>
            <a:ext cx="114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750" b="0" i="0">
                <a:solidFill>
                  <a:srgbClr val="6E829D"/>
                </a:solidFill>
                <a:latin typeface="Consolas"/>
                <a:ea typeface="Consolas"/>
                <a:cs typeface="Consolas"/>
              </a:defRPr>
            </a:pPr>
            <a:r>
              <a:t>29 / 63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0C4EEED-ED00-4F6C-9B83-D1C51F85C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953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3D68"/>
          </a:solidFill>
          <a:ln xmlns:a="http://schemas.openxmlformats.org/drawingml/2006/main" w="0">
            <a:solidFill>
              <a:srgbClr val="1B3D68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011F6F8-6CEA-485C-811C-8FFA2A23B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819150"/>
            <a:ext cx="9906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DOE 会死吗？不会：它会与 SDL 串联、并联、集成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ACB238D-ABB2-4AAE-97E0-E162F3810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390650"/>
            <a:ext cx="990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t>真正的问题不是谁取代谁，而是谁在什么阶段更合适。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0AD01B1-AF34-48D6-A40C-88B4FDBBB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171700"/>
            <a:ext cx="20955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0E213A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F81F3FE-CC6F-4B50-A798-9DC9FF461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295525"/>
            <a:ext cx="1866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t>维度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79C76F1-06F4-44DD-A387-3F17CC158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171700"/>
            <a:ext cx="24765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593D8D2-DE7C-43C0-BB53-47FCD98B0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295525"/>
            <a:ext cx="2247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0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典型场景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249CF07-0402-4E04-97FC-B57C7547E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2171700"/>
            <a:ext cx="24765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6D02A58-92F8-4081-B83A-D7FD91D55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295525"/>
            <a:ext cx="2247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0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DOE 的角色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B92A189-CBBA-4484-973B-B1B756366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171700"/>
            <a:ext cx="24765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BD8876E-B599-499C-AC14-C8DD04471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295525"/>
            <a:ext cx="2247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0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SDL 的角色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17FC82C-8003-4359-9FF1-4C2BDF27F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09850"/>
            <a:ext cx="20955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F3B98EF-5AA3-4501-80C5-2BB860A01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705100"/>
            <a:ext cx="18669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串联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5AC2D64-3544-4F63-8F41-9BB53E3A2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609850"/>
            <a:ext cx="24765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071426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C6DA877-6549-4231-A987-DD2ADADA6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705100"/>
            <a:ext cx="22479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做初始化、筛选、缩空间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257119C-70B1-44FF-ACFB-67554E0C4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2609850"/>
            <a:ext cx="24765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071426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0C9E127-A1F0-44A3-8732-F5795EC56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705100"/>
            <a:ext cx="22479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在高成本区域做序贯优化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325AB82-1604-4670-B4EA-065588062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86100"/>
            <a:ext cx="20955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BDF3EC6-71D7-4822-98C5-5F91976DF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181350"/>
            <a:ext cx="18669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并联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DE91F6C-B0C5-44C1-99CA-AEE364624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086100"/>
            <a:ext cx="24765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071426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3B94DCA-1FDB-446C-8878-35FDD23D0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181350"/>
            <a:ext cx="22479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某些子问题用批量统计设计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D10BAF4-2A9A-4DD2-9994-88B612B4A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3086100"/>
            <a:ext cx="24765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071426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292D5C6-A98F-4904-9A83-DF54BE10F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3181350"/>
            <a:ext cx="22479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另一些子问题用动态推荐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8978D75-9EA1-4986-9B4E-ED591F969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562350"/>
            <a:ext cx="20955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B8D59AC-87BB-42C6-B9CA-BB2E93B60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657600"/>
            <a:ext cx="18669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集成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DB2EFE9-0293-472F-9B8C-68864F638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562350"/>
            <a:ext cx="24765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071426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167D91A-084A-4C91-8A1B-8345BA000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657600"/>
            <a:ext cx="22479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保留因素、响应、约束、设计点语言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BF5167C-D8A3-42AF-AEB6-B6CC3D981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3562350"/>
            <a:ext cx="24765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071426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C605B27-A187-4431-BF55-9E2177AEF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3657600"/>
            <a:ext cx="22479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把 DOE 思想嵌入初始化和闭环更新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01D13A5-9B73-4400-8DCE-A21300ADC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038600"/>
            <a:ext cx="20955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4A06B8A-5A9B-41AC-B98C-9DFBC8ADC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133850"/>
            <a:ext cx="18669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共同边界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F48F4D0-2366-436D-8989-FF8BA95AE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4038600"/>
            <a:ext cx="24765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071426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023DFCF-D18E-4E14-8690-487E9304C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133850"/>
            <a:ext cx="22479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可解释、结构化、低成本学习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1282714-A918-4308-8AC4-0F3A3F67A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4038600"/>
            <a:ext cx="24765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071426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F1EE452-D0E3-455A-973B-3B2B56B9D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4133850"/>
            <a:ext cx="22479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高数据效率、动态决策、显式不确定性</a:t>
            </a:r>
          </a:p>
        </p:txBody>
      </p:sp>
    </p:spTree>
    <p:extLst>
      <p:ext uri="{BB962C8B-B14F-4D97-AF65-F5344CB8AC3E}">
        <p14:creationId xmlns:p14="http://schemas.microsoft.com/office/powerpoint/2010/main" val="1648975493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BC6817A-1BD1-4A39-9565-9C0365A25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4FD224B-A9FA-4F18-AACD-922D08F88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3810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13D6FF"/>
                </a:solidFill>
                <a:latin typeface="Consolas"/>
                <a:ea typeface="Consolas"/>
                <a:cs typeface="Consolas"/>
              </a:defRPr>
            </a:pPr>
            <a:r>
              <a:t>研究工作流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778C382-AB96-4962-B7F9-7FCA4BFF9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266700"/>
            <a:ext cx="114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750" b="0" i="0">
                <a:solidFill>
                  <a:srgbClr val="6E829D"/>
                </a:solidFill>
                <a:latin typeface="Consolas"/>
                <a:ea typeface="Consolas"/>
                <a:cs typeface="Consolas"/>
              </a:defRPr>
            </a:pPr>
            <a:r>
              <a:t>30 / 63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D58021D-3A84-4DCE-8633-01149109F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953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3D68"/>
          </a:solidFill>
          <a:ln xmlns:a="http://schemas.openxmlformats.org/drawingml/2006/main" w="0">
            <a:solidFill>
              <a:srgbClr val="1B3D68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C18C302-11DE-4CE3-B951-75B8838B6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819150"/>
            <a:ext cx="9906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8 步实验工作流：先把问题翻译成可执行设计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24946E-F8D6-405D-8B9E-735CA1155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390650"/>
            <a:ext cx="990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t>01–04 不是“前戏”，而是后面所有 DOE、SDL 和统计推断的地基。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123E701-ABAB-4076-B9AD-6E3B48485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38350"/>
            <a:ext cx="104394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0E213A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0CDE797-6A14-4A60-B982-1C195DA32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152650"/>
            <a:ext cx="209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0" i="0">
                <a:solidFill>
                  <a:srgbClr val="13D6FF"/>
                </a:solidFill>
                <a:latin typeface="Consolas"/>
                <a:ea typeface="Consolas"/>
                <a:cs typeface="Consolas"/>
              </a:defRPr>
            </a:pPr>
            <a:r>
              <a:t>PHASE 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E986AD1-9ACA-47F1-91A2-764C42D2D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133600"/>
            <a:ext cx="8001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把模糊研究问题收束成可执行、可测量、可重复的实验结构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E8654C8-03BD-4EBF-96D9-D580D5B21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67000"/>
            <a:ext cx="2495550" cy="2247900"/>
          </a:xfrm>
          <a:prstGeom xmlns:a="http://schemas.openxmlformats.org/drawingml/2006/main" prst="roundRect">
            <a:avLst>
              <a:gd name="adj" fmla="val 3390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6FB7E8-EB67-4520-9C14-B3996D53E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67000"/>
            <a:ext cx="24955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D6FF"/>
          </a:solidFill>
          <a:ln xmlns:a="http://schemas.openxmlformats.org/drawingml/2006/main" w="0">
            <a:solidFill>
              <a:srgbClr val="13D6FF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DBB1FBB-13A4-4D7E-8DDB-BBA1A91E8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895600"/>
            <a:ext cx="4000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13D6FF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F83C992-88EB-478A-A744-408FE1C6E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181350"/>
            <a:ext cx="21526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问题定义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DF680F6-03B8-4C9B-85BD-295F6DD85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581400"/>
            <a:ext cx="21526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把研究问题压缩成可检验假设与可测结果变量。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F634536-9872-4E73-86D6-5B93EA52B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495800"/>
            <a:ext cx="215265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0E213A"/>
          </a:solidFill>
          <a:ln xmlns:a="http://schemas.openxmlformats.org/drawingml/2006/main" w="9525">
            <a:solidFill>
              <a:srgbClr val="13D6FF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3332C93-DBF3-459F-A2D4-B7A0D285D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562475"/>
            <a:ext cx="19621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825" b="0" i="0">
                <a:solidFill>
                  <a:srgbClr val="93A4B8"/>
                </a:solidFill>
                <a:latin typeface="Consolas"/>
                <a:ea typeface="Consolas"/>
                <a:cs typeface="Consolas"/>
              </a:defRPr>
            </a:pPr>
            <a:r>
              <a:t>hypothesis / outcome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8CE79AD-62E5-402F-B9B1-BED41CDB2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3275" y="3581400"/>
            <a:ext cx="28575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B82F6"/>
          </a:solidFill>
          <a:ln xmlns:a="http://schemas.openxmlformats.org/drawingml/2006/main" w="0">
            <a:solidFill>
              <a:srgbClr val="3B82F6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0B34353-AB3B-470A-9380-6DD3D28AC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667000"/>
            <a:ext cx="2495550" cy="2247900"/>
          </a:xfrm>
          <a:prstGeom xmlns:a="http://schemas.openxmlformats.org/drawingml/2006/main" prst="roundRect">
            <a:avLst>
              <a:gd name="adj" fmla="val 3390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B5D6110-BCAD-4671-94FE-5D0912247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667000"/>
            <a:ext cx="24955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B82F6"/>
          </a:solidFill>
          <a:ln xmlns:a="http://schemas.openxmlformats.org/drawingml/2006/main" w="0">
            <a:solidFill>
              <a:srgbClr val="3B82F6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46F2700-51B0-4F1D-8C58-5A915483F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895600"/>
            <a:ext cx="4000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3B82F6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E13DAE6-7FCB-4951-8DCC-818032ACE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181350"/>
            <a:ext cx="21526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实验设计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8A4BE99-58BD-4EB2-8815-6B16ED887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581400"/>
            <a:ext cx="21526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明确因素、响应、对照、样本量与随机化结构。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240BF79-170C-4AAD-BB02-8D236A380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4495800"/>
            <a:ext cx="215265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0E213A"/>
          </a:solidFill>
          <a:ln xmlns:a="http://schemas.openxmlformats.org/drawingml/2006/main" w="9525">
            <a:solidFill>
              <a:srgbClr val="3B82F6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9EA8167-980C-429C-ACA5-04911630B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562475"/>
            <a:ext cx="19621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825" b="0" i="0">
                <a:solidFill>
                  <a:srgbClr val="93A4B8"/>
                </a:solidFill>
                <a:latin typeface="Consolas"/>
                <a:ea typeface="Consolas"/>
                <a:cs typeface="Consolas"/>
              </a:defRPr>
            </a:pPr>
            <a:r>
              <a:t>factor / response / control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5720538-23DC-41C7-B157-EF6235A9F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1225" y="3581400"/>
            <a:ext cx="28575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B82F6"/>
          </a:solidFill>
          <a:ln xmlns:a="http://schemas.openxmlformats.org/drawingml/2006/main" w="0">
            <a:solidFill>
              <a:srgbClr val="3B82F6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9AA7C4F-0A2D-48DC-8158-626ECDF78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667000"/>
            <a:ext cx="2495550" cy="2247900"/>
          </a:xfrm>
          <a:prstGeom xmlns:a="http://schemas.openxmlformats.org/drawingml/2006/main" prst="roundRect">
            <a:avLst>
              <a:gd name="adj" fmla="val 3390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DE6346B-75FA-40C3-91E8-3D9D9352C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667000"/>
            <a:ext cx="24955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solidFill>
              <a:srgbClr val="FBBF24"/>
            </a:solidFill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B50FA65-F472-4188-90DD-5D8CABFDF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895600"/>
            <a:ext cx="4000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FBBF24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D4F3A2B-DDEE-47AC-9F02-ED6A6446F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181350"/>
            <a:ext cx="21526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前期准备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AE010BA-21F0-4D69-8912-A2424A327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581400"/>
            <a:ext cx="21526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写 SOP、校准设备、验证样品与记录体系。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C5858C2-2D31-4E70-8DEB-5A731A6DA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495800"/>
            <a:ext cx="215265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0E213A"/>
          </a:solidFill>
          <a:ln xmlns:a="http://schemas.openxmlformats.org/drawingml/2006/main" w="9525">
            <a:solidFill>
              <a:srgbClr val="FBBF24"/>
            </a:solidFill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7D20CDF-17D3-4195-B373-C7ED7924E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562475"/>
            <a:ext cx="19621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825" b="0" i="0">
                <a:solidFill>
                  <a:srgbClr val="93A4B8"/>
                </a:solidFill>
                <a:latin typeface="Consolas"/>
                <a:ea typeface="Consolas"/>
                <a:cs typeface="Consolas"/>
              </a:defRPr>
            </a:pPr>
            <a:r>
              <a:t>SOP / calibration / traceability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47551C7-9B1B-416E-8FC2-EB48D8934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9175" y="3581400"/>
            <a:ext cx="28575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B82F6"/>
          </a:solidFill>
          <a:ln xmlns:a="http://schemas.openxmlformats.org/drawingml/2006/main" w="0">
            <a:solidFill>
              <a:srgbClr val="3B82F6"/>
            </a:solidFill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1F35CE5-41A0-4B05-9E8E-264CB5E4E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2667000"/>
            <a:ext cx="2495550" cy="2247900"/>
          </a:xfrm>
          <a:prstGeom xmlns:a="http://schemas.openxmlformats.org/drawingml/2006/main" prst="roundRect">
            <a:avLst>
              <a:gd name="adj" fmla="val 3390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7220395-48B6-403B-BA69-036A956DA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2667000"/>
            <a:ext cx="24955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solidFill>
              <a:srgbClr val="FB7185"/>
            </a:solidFill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A7B0CE1-A1D2-43E6-8DAE-C49825D80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895600"/>
            <a:ext cx="4000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FB7185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3EE01D6-C5D3-4595-980B-259D6E91C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181350"/>
            <a:ext cx="21526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预实验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6744BE6-FD2B-49D4-BB1D-9853EAC96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581400"/>
            <a:ext cx="21526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小规模跑通流程，暴露技术障碍并修正设计。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32F0132-B6D4-4B1E-B02B-6A92E9CCC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495800"/>
            <a:ext cx="215265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0E213A"/>
          </a:solidFill>
          <a:ln xmlns:a="http://schemas.openxmlformats.org/drawingml/2006/main" w="9525">
            <a:solidFill>
              <a:srgbClr val="FB7185"/>
            </a:solidFill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0F13716-AF01-4758-BF95-3B309B8A0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4562475"/>
            <a:ext cx="19621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825" b="0" i="0">
                <a:solidFill>
                  <a:srgbClr val="93A4B8"/>
                </a:solidFill>
                <a:latin typeface="Consolas"/>
                <a:ea typeface="Consolas"/>
                <a:cs typeface="Consolas"/>
              </a:defRPr>
            </a:pPr>
            <a:r>
              <a:t>pilot / revise / de-risk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CFD4F93-83E2-4CDC-AF2F-F2DA1F66A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219700"/>
            <a:ext cx="10439400" cy="762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0E213A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55A1B8E-BCD7-44D3-ACC7-ED1A13F44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429250"/>
            <a:ext cx="1333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0" i="0">
                <a:solidFill>
                  <a:srgbClr val="FB7185"/>
                </a:solidFill>
                <a:latin typeface="Consolas"/>
                <a:ea typeface="Consolas"/>
                <a:cs typeface="Consolas"/>
              </a:defRPr>
            </a:pPr>
            <a:r>
              <a:t>IF THIS FAILS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CD2CAB9-BF7F-4323-A937-4B5B6550E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5391150"/>
            <a:ext cx="8572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后面的 DOE、优化器和统计推断都会建立在松动地基上。</a:t>
            </a:r>
          </a:p>
        </p:txBody>
      </p:sp>
    </p:spTree>
    <p:extLst>
      <p:ext uri="{BB962C8B-B14F-4D97-AF65-F5344CB8AC3E}">
        <p14:creationId xmlns:p14="http://schemas.microsoft.com/office/powerpoint/2010/main" val="1737804187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2958188-84C5-46BC-9E25-9706D82C1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0B30FC9-EFEB-4414-B53D-7E37B6A42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3810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13D6FF"/>
                </a:solidFill>
                <a:latin typeface="Consolas"/>
                <a:ea typeface="Consolas"/>
                <a:cs typeface="Consolas"/>
              </a:defRPr>
            </a:pPr>
            <a:r>
              <a:t>研究工作流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9D4A591-380A-48B0-8573-E75F6ED9F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266700"/>
            <a:ext cx="114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750" b="0" i="0">
                <a:solidFill>
                  <a:srgbClr val="6E829D"/>
                </a:solidFill>
                <a:latin typeface="Consolas"/>
                <a:ea typeface="Consolas"/>
                <a:cs typeface="Consolas"/>
              </a:defRPr>
            </a:pPr>
            <a:r>
              <a:t>31 / 63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A9D1DA7-F0C1-48BB-89E8-AE4E5E014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953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3D68"/>
          </a:solidFill>
          <a:ln xmlns:a="http://schemas.openxmlformats.org/drawingml/2006/main" w="0">
            <a:solidFill>
              <a:srgbClr val="1B3D68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4CD2625-ACA7-4F2D-B9D1-7566D322B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819150"/>
            <a:ext cx="9906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8 步实验工作流：再把实验变成可信结论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25783AB-F16F-497C-B1A2-C8B1BF22E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390650"/>
            <a:ext cx="990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t>05–08 决定结果能否被重复、被审计、被真正写进科学结论。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572F60E-C101-4DC8-849C-B3F3A3ACA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38350"/>
            <a:ext cx="104394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0E213A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69FEBC1-E793-4359-9F44-1C8C919C4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152650"/>
            <a:ext cx="209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0" i="0">
                <a:solidFill>
                  <a:srgbClr val="34D399"/>
                </a:solidFill>
                <a:latin typeface="Consolas"/>
                <a:ea typeface="Consolas"/>
                <a:cs typeface="Consolas"/>
              </a:defRPr>
            </a:pPr>
            <a:r>
              <a:t>PHASE B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32665F9-E1F6-4891-9C9F-DCEC08364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133600"/>
            <a:ext cx="8001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把执行、数据、统计和报告接成一条可审计的证据链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BE1FDC7-6B67-4082-9BE2-2B8AF1447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67000"/>
            <a:ext cx="2495550" cy="2247900"/>
          </a:xfrm>
          <a:prstGeom xmlns:a="http://schemas.openxmlformats.org/drawingml/2006/main" prst="roundRect">
            <a:avLst>
              <a:gd name="adj" fmla="val 3390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152F98F-88E2-44AA-9A5C-0D5D8B66A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67000"/>
            <a:ext cx="24955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solidFill>
              <a:srgbClr val="34D399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F00D0C6-160C-4381-B0B9-2FA0F8A09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895600"/>
            <a:ext cx="4000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34D399"/>
                </a:solidFill>
                <a:latin typeface="Consolas"/>
                <a:ea typeface="Consolas"/>
                <a:cs typeface="Consolas"/>
              </a:defRPr>
            </a:pPr>
            <a:r>
              <a:t>05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AACA2ED-E5F7-420A-AE86-922006B2D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181350"/>
            <a:ext cx="21526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实验执行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A012065-0A25-4D86-B6F9-B3289B30C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581400"/>
            <a:ext cx="21526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按随机化与 SOP 执行，并实时记录原始数据与环境条件。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FEE4E41-7FC1-45CE-A736-325754005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495800"/>
            <a:ext cx="215265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0E213A"/>
          </a:solidFill>
          <a:ln xmlns:a="http://schemas.openxmlformats.org/drawingml/2006/main" w="9525">
            <a:solidFill>
              <a:srgbClr val="34D399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D9E192B-90A5-4D19-9999-FE09C42AD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562475"/>
            <a:ext cx="19621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825" b="0" i="0">
                <a:solidFill>
                  <a:srgbClr val="93A4B8"/>
                </a:solidFill>
                <a:latin typeface="Consolas"/>
                <a:ea typeface="Consolas"/>
                <a:cs typeface="Consolas"/>
              </a:defRPr>
            </a:pPr>
            <a:r>
              <a:t>discipline / raw log / QC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015C901-970A-4DBB-B384-C075E4469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3275" y="3581400"/>
            <a:ext cx="28575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B82F6"/>
          </a:solidFill>
          <a:ln xmlns:a="http://schemas.openxmlformats.org/drawingml/2006/main" w="0">
            <a:solidFill>
              <a:srgbClr val="3B82F6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16E3538-7FB6-41B6-A0E3-6127D8812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667000"/>
            <a:ext cx="2495550" cy="2247900"/>
          </a:xfrm>
          <a:prstGeom xmlns:a="http://schemas.openxmlformats.org/drawingml/2006/main" prst="roundRect">
            <a:avLst>
              <a:gd name="adj" fmla="val 3390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F306E6C-2772-470A-892C-697B32B0B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667000"/>
            <a:ext cx="24955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D6FF"/>
          </a:solidFill>
          <a:ln xmlns:a="http://schemas.openxmlformats.org/drawingml/2006/main" w="0">
            <a:solidFill>
              <a:srgbClr val="13D6FF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876E596-3FA0-4151-BB92-0E35FE1B2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895600"/>
            <a:ext cx="4000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13D6FF"/>
                </a:solidFill>
                <a:latin typeface="Consolas"/>
                <a:ea typeface="Consolas"/>
                <a:cs typeface="Consolas"/>
              </a:defRPr>
            </a:pPr>
            <a:r>
              <a:t>06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F4A8B39-F7DB-4E8E-946C-B917BDE92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181350"/>
            <a:ext cx="21526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数据管理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224F941-861B-4228-83A6-726DBDF0F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581400"/>
            <a:ext cx="21526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保留原始文件、元数据和清洗决策，保证可追溯。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B5A8641-F4A4-4115-9603-41EF1E3F7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4495800"/>
            <a:ext cx="215265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0E213A"/>
          </a:solidFill>
          <a:ln xmlns:a="http://schemas.openxmlformats.org/drawingml/2006/main" w="9525">
            <a:solidFill>
              <a:srgbClr val="13D6FF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2F744D4-A665-422C-90CE-4E7556B6C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562475"/>
            <a:ext cx="19621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825" b="0" i="0">
                <a:solidFill>
                  <a:srgbClr val="93A4B8"/>
                </a:solidFill>
                <a:latin typeface="Consolas"/>
                <a:ea typeface="Consolas"/>
                <a:cs typeface="Consolas"/>
              </a:defRPr>
            </a:pPr>
            <a:r>
              <a:t>FAIR / provenance / backup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D0C62FA-4CB5-4D4F-B049-8569DE378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1225" y="3581400"/>
            <a:ext cx="28575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B82F6"/>
          </a:solidFill>
          <a:ln xmlns:a="http://schemas.openxmlformats.org/drawingml/2006/main" w="0">
            <a:solidFill>
              <a:srgbClr val="3B82F6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D2FA6E9-32A7-42DC-BE99-BD597A21B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667000"/>
            <a:ext cx="2495550" cy="2247900"/>
          </a:xfrm>
          <a:prstGeom xmlns:a="http://schemas.openxmlformats.org/drawingml/2006/main" prst="roundRect">
            <a:avLst>
              <a:gd name="adj" fmla="val 3390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F057DF7-D46A-4F28-8B0C-2A6497D5D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667000"/>
            <a:ext cx="24955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B82F6"/>
          </a:solidFill>
          <a:ln xmlns:a="http://schemas.openxmlformats.org/drawingml/2006/main" w="0">
            <a:solidFill>
              <a:srgbClr val="3B82F6"/>
            </a:solidFill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A478363-A7FF-4F6B-ABA9-27BAB052C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895600"/>
            <a:ext cx="4000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3B82F6"/>
                </a:solidFill>
                <a:latin typeface="Consolas"/>
                <a:ea typeface="Consolas"/>
                <a:cs typeface="Consolas"/>
              </a:defRPr>
            </a:pPr>
            <a:r>
              <a:t>07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5CE68AC-8593-4021-B3A8-03BF3F311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181350"/>
            <a:ext cx="21526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统计分析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66764AB-AE13-4A6B-A8AD-79A0B7375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581400"/>
            <a:ext cx="21526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按预定计划检验、报告效应量与不确定性。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BF9C9AF-3CA1-40CF-9004-0D9CA0933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495800"/>
            <a:ext cx="215265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0E213A"/>
          </a:solidFill>
          <a:ln xmlns:a="http://schemas.openxmlformats.org/drawingml/2006/main" w="9525">
            <a:solidFill>
              <a:srgbClr val="3B82F6"/>
            </a:solidFill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3D0C906-3FE6-4B98-8906-E7416B510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562475"/>
            <a:ext cx="19621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825" b="0" i="0">
                <a:solidFill>
                  <a:srgbClr val="93A4B8"/>
                </a:solidFill>
                <a:latin typeface="Consolas"/>
                <a:ea typeface="Consolas"/>
                <a:cs typeface="Consolas"/>
              </a:defRPr>
            </a:pPr>
            <a:r>
              <a:t>effect size / uncertainty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39ACFE8-8906-466A-9F12-4CC61609E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9175" y="3581400"/>
            <a:ext cx="28575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B82F6"/>
          </a:solidFill>
          <a:ln xmlns:a="http://schemas.openxmlformats.org/drawingml/2006/main" w="0">
            <a:solidFill>
              <a:srgbClr val="3B82F6"/>
            </a:solidFill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C752771-5119-438D-88F4-E5B760B65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2667000"/>
            <a:ext cx="2495550" cy="2247900"/>
          </a:xfrm>
          <a:prstGeom xmlns:a="http://schemas.openxmlformats.org/drawingml/2006/main" prst="roundRect">
            <a:avLst>
              <a:gd name="adj" fmla="val 3390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11634B0-8ED1-46DE-ABAD-0F5DE09B1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2667000"/>
            <a:ext cx="24955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solidFill>
              <a:srgbClr val="FBBF24"/>
            </a:solidFill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C315D62-C2A7-44D5-9D4B-2EE584879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895600"/>
            <a:ext cx="4000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FBBF24"/>
                </a:solidFill>
                <a:latin typeface="Consolas"/>
                <a:ea typeface="Consolas"/>
                <a:cs typeface="Consolas"/>
              </a:defRPr>
            </a:pPr>
            <a:r>
              <a:t>08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21C9CB4-43BC-4DC0-A01D-D99AC5364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181350"/>
            <a:ext cx="21526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解释报告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0DCC411-1EB5-46D2-B62B-54C657C08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581400"/>
            <a:ext cx="21526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把结果放回机制与边界中解释，并透明报告局限。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37AAA84-C3CF-40ED-8223-ECE7BA9F1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495800"/>
            <a:ext cx="215265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0E213A"/>
          </a:solidFill>
          <a:ln xmlns:a="http://schemas.openxmlformats.org/drawingml/2006/main" w="9525">
            <a:solidFill>
              <a:srgbClr val="FBBF24"/>
            </a:solidFill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7603A56-89FE-4140-9824-9353AF091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4562475"/>
            <a:ext cx="19621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825" b="0" i="0">
                <a:solidFill>
                  <a:srgbClr val="93A4B8"/>
                </a:solidFill>
                <a:latin typeface="Consolas"/>
                <a:ea typeface="Consolas"/>
                <a:cs typeface="Consolas"/>
              </a:defRPr>
            </a:pPr>
            <a:r>
              <a:t>mechanism / limits / honesty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9D951C7-2D58-4367-B517-11DE77A97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219700"/>
            <a:ext cx="10439400" cy="762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0E213A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7C660E9-8D05-4260-84B0-A9C0AEF7A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429250"/>
            <a:ext cx="1333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0" i="0">
                <a:solidFill>
                  <a:srgbClr val="13D6FF"/>
                </a:solidFill>
                <a:latin typeface="Consolas"/>
                <a:ea typeface="Consolas"/>
                <a:cs typeface="Consolas"/>
              </a:defRPr>
            </a:pPr>
            <a:r>
              <a:t>WHY IT MATTERS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CC671362-5776-4C4F-9C62-E94AEB796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5391150"/>
            <a:ext cx="8572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真正让结果站得住的，通常不是第一个漂亮数字，而是整条证据链是否可复查。</a:t>
            </a:r>
          </a:p>
        </p:txBody>
      </p:sp>
    </p:spTree>
    <p:extLst>
      <p:ext uri="{BB962C8B-B14F-4D97-AF65-F5344CB8AC3E}">
        <p14:creationId xmlns:p14="http://schemas.microsoft.com/office/powerpoint/2010/main" val="1920017390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F711288-8DA2-4E15-B2D8-413484F77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09A854B-0030-4EA6-8574-E4547333F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3810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13D6FF"/>
                </a:solidFill>
                <a:latin typeface="Consolas"/>
                <a:ea typeface="Consolas"/>
                <a:cs typeface="Consolas"/>
              </a:defRPr>
            </a:pPr>
            <a:r>
              <a:t>工作流分工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81C2F6D-B2BF-41DF-9FA8-25A63F82A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266700"/>
            <a:ext cx="114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750" b="0" i="0">
                <a:solidFill>
                  <a:srgbClr val="6E829D"/>
                </a:solidFill>
                <a:latin typeface="Consolas"/>
                <a:ea typeface="Consolas"/>
                <a:cs typeface="Consolas"/>
              </a:defRPr>
            </a:pPr>
            <a:r>
              <a:t>32 / 63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563D1A1-9E57-4575-A78B-9A5AA72EA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953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3D68"/>
          </a:solidFill>
          <a:ln xmlns:a="http://schemas.openxmlformats.org/drawingml/2006/main" w="0">
            <a:solidFill>
              <a:srgbClr val="1B3D68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944AA2-5AD0-4F88-A273-49F35CCEC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819150"/>
            <a:ext cx="9906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把 DOE、SDL 和人的判断放回这 8 步里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255FE5-CB05-47A6-A35E-787B37C33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390650"/>
            <a:ext cx="990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t>它们不是平行替代方案，而是在不同决策节点上承担不同角色。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DAA7C89-11A7-4C95-920C-6424E7149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95500"/>
            <a:ext cx="2667000" cy="373380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D6364AB-3A72-4C2D-A2BA-097224F99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266950"/>
            <a:ext cx="209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0" i="0">
                <a:solidFill>
                  <a:srgbClr val="13D6FF"/>
                </a:solidFill>
                <a:latin typeface="Consolas"/>
                <a:ea typeface="Consolas"/>
                <a:cs typeface="Consolas"/>
              </a:defRPr>
            </a:pPr>
            <a:r>
              <a:t>8-STEP MAP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5C0B4D5-6A6D-4594-8402-949CDF21B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571750"/>
            <a:ext cx="217170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0E213A"/>
          </a:solidFill>
          <a:ln xmlns:a="http://schemas.openxmlformats.org/drawingml/2006/main" w="9525">
            <a:solidFill>
              <a:srgbClr val="13D6FF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04EEC37-E4D3-49AC-8FC6-876415581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628900"/>
            <a:ext cx="2667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13D6FF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CD5CF23-EDC3-4A2C-9C12-959E54EAE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2619375"/>
            <a:ext cx="1524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问题定义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5ED377C-751A-4789-90AE-9D2E256A1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933700"/>
            <a:ext cx="217170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0E213A"/>
          </a:solidFill>
          <a:ln xmlns:a="http://schemas.openxmlformats.org/drawingml/2006/main" w="9525">
            <a:solidFill>
              <a:srgbClr val="3B82F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EB37059-7753-4122-9C28-A7440CAE2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90850"/>
            <a:ext cx="2667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3B82F6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D88DB03-E0AC-4ADE-A66C-964714ABC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2981325"/>
            <a:ext cx="1524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实验设计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5E80EC2-0A15-460E-9886-F25C00DB1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295650"/>
            <a:ext cx="217170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0E213A"/>
          </a:solidFill>
          <a:ln xmlns:a="http://schemas.openxmlformats.org/drawingml/2006/main" w="9525">
            <a:solidFill>
              <a:srgbClr val="FBBF24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C0710FD-FAA2-48BA-AD69-A66EB0889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352800"/>
            <a:ext cx="2667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FBBF24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2033661-A19C-4503-B526-D90253E17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343275"/>
            <a:ext cx="1524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前期准备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AFADC9C-4AEE-4265-9D9E-40EA023B4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657600"/>
            <a:ext cx="217170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0E213A"/>
          </a:solidFill>
          <a:ln xmlns:a="http://schemas.openxmlformats.org/drawingml/2006/main" w="9525">
            <a:solidFill>
              <a:srgbClr val="FB7185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9775B85-D644-4A09-9847-77D593A1F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714750"/>
            <a:ext cx="2667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FB7185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52C9360-86CA-4AEE-A5A6-37E741EF8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705225"/>
            <a:ext cx="1524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预实验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078E9A4-847D-446D-9EF0-027191320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019550"/>
            <a:ext cx="217170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0E213A"/>
          </a:solidFill>
          <a:ln xmlns:a="http://schemas.openxmlformats.org/drawingml/2006/main" w="9525">
            <a:solidFill>
              <a:srgbClr val="34D399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AD99EEF-77F6-4B77-AD53-0DB0CA2DB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076700"/>
            <a:ext cx="2667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34D399"/>
                </a:solidFill>
                <a:latin typeface="Consolas"/>
                <a:ea typeface="Consolas"/>
                <a:cs typeface="Consolas"/>
              </a:defRPr>
            </a:pPr>
            <a:r>
              <a:t>05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068ABD0-2BF3-47E8-A359-AB533A91B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4067175"/>
            <a:ext cx="1524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实验执行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38B4811-8227-4BC8-90AA-E185756BC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381500"/>
            <a:ext cx="217170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0E213A"/>
          </a:solidFill>
          <a:ln xmlns:a="http://schemas.openxmlformats.org/drawingml/2006/main" w="9525">
            <a:solidFill>
              <a:srgbClr val="13D6FF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9A521F7-C1BC-4E48-84A0-C49D6AE96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438650"/>
            <a:ext cx="2667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13D6FF"/>
                </a:solidFill>
                <a:latin typeface="Consolas"/>
                <a:ea typeface="Consolas"/>
                <a:cs typeface="Consolas"/>
              </a:defRPr>
            </a:pPr>
            <a:r>
              <a:t>06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AE671AD-DC32-4FEF-A928-DFA1019D8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4429125"/>
            <a:ext cx="1524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数据管理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27AA67D-A84D-4CD5-A856-1CD560E31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743450"/>
            <a:ext cx="217170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0E213A"/>
          </a:solidFill>
          <a:ln xmlns:a="http://schemas.openxmlformats.org/drawingml/2006/main" w="9525">
            <a:solidFill>
              <a:srgbClr val="3B82F6"/>
            </a:solidFill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F7A14DA-F0AF-46CB-BC53-CD40FA3DA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800600"/>
            <a:ext cx="2667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3B82F6"/>
                </a:solidFill>
                <a:latin typeface="Consolas"/>
                <a:ea typeface="Consolas"/>
                <a:cs typeface="Consolas"/>
              </a:defRPr>
            </a:pPr>
            <a:r>
              <a:t>07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11CFACF-E63D-4B85-B4DA-F65F1DB9B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4791075"/>
            <a:ext cx="1524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统计分析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A06778D-3067-4A79-A6EE-9F9A468AF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105400"/>
            <a:ext cx="217170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0E213A"/>
          </a:solidFill>
          <a:ln xmlns:a="http://schemas.openxmlformats.org/drawingml/2006/main" w="9525">
            <a:solidFill>
              <a:srgbClr val="FBBF24"/>
            </a:solidFill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9FA85DC-DCF2-425E-A30E-A6E1B3A4D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162550"/>
            <a:ext cx="2667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FBBF24"/>
                </a:solidFill>
                <a:latin typeface="Consolas"/>
                <a:ea typeface="Consolas"/>
                <a:cs typeface="Consolas"/>
              </a:defRPr>
            </a:pPr>
            <a:r>
              <a:t>08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2C02142-BEFF-4203-A523-D9A0A7671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5153025"/>
            <a:ext cx="1524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解释报告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E040B46-E86B-41CC-AE18-0870D0F6E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2095500"/>
            <a:ext cx="2381250" cy="3733800"/>
          </a:xfrm>
          <a:prstGeom xmlns:a="http://schemas.openxmlformats.org/drawingml/2006/main" prst="roundRect">
            <a:avLst>
              <a:gd name="adj" fmla="val 3200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FB7185"/>
            </a:solidFill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8C9BF95-306C-49FD-BF6F-9AE803190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2247900"/>
            <a:ext cx="2076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0" i="0">
                <a:solidFill>
                  <a:srgbClr val="FB7185"/>
                </a:solidFill>
                <a:latin typeface="Consolas"/>
                <a:ea typeface="Consolas"/>
                <a:cs typeface="Consolas"/>
              </a:defRPr>
            </a:pPr>
            <a:r>
              <a:t>HUMAN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BAE51F2-7AF5-4A38-AC9D-665D8E4CA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2495550"/>
            <a:ext cx="2076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0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人的判断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F48CB3E-7DF9-4878-B97C-E3896BCE6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914650"/>
            <a:ext cx="203835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• 定义真正值得回答的问题</a:t>
            </a:r>
          </a:p>
          <a:p xmlns:a="http://schemas.openxmlformats.org/drawingml/2006/main"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• 规定测量语义与边界条件</a:t>
            </a:r>
          </a:p>
          <a:p xmlns:a="http://schemas.openxmlformats.org/drawingml/2006/main"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• 承担解释与报告责任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1C89267-99EB-4971-8572-0D8C33619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4476750"/>
            <a:ext cx="207645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0E213A"/>
          </a:solidFill>
          <a:ln xmlns:a="http://schemas.openxmlformats.org/drawingml/2006/main" w="9525">
            <a:solidFill>
              <a:srgbClr val="FB7185"/>
            </a:solidFill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AA3EF10-172A-45D8-9342-3ABAA26A1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629150"/>
            <a:ext cx="18478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0" i="0">
                <a:solidFill>
                  <a:srgbClr val="FB7185"/>
                </a:solidFill>
                <a:latin typeface="Consolas"/>
                <a:ea typeface="Consolas"/>
                <a:cs typeface="Consolas"/>
              </a:defRPr>
            </a:pPr>
            <a:r>
              <a:t>最不可外包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F9116FC-7EA0-4E47-AB37-4EACBEBE6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876800"/>
            <a:ext cx="18478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01 / 03 / 08 步。问题、测量含义和科学结论，不能只交给系统自动生成。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BBA10CB-1859-4816-94F7-FF9C725CA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095500"/>
            <a:ext cx="2381250" cy="3733800"/>
          </a:xfrm>
          <a:prstGeom xmlns:a="http://schemas.openxmlformats.org/drawingml/2006/main" prst="roundRect">
            <a:avLst>
              <a:gd name="adj" fmla="val 3200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3B82F6"/>
            </a:solidFill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1273732-E784-439E-8CD4-E3B18EE5F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247900"/>
            <a:ext cx="2076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0" i="0">
                <a:solidFill>
                  <a:srgbClr val="3B82F6"/>
                </a:solidFill>
                <a:latin typeface="Consolas"/>
                <a:ea typeface="Consolas"/>
                <a:cs typeface="Consolas"/>
              </a:defRPr>
            </a:pPr>
            <a:r>
              <a:t>DOE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FF4F945-5A77-4B8B-B342-692D85829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495550"/>
            <a:ext cx="2076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0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设计结构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097B04C-2FE4-4C40-9A04-89638EBBC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914650"/>
            <a:ext cx="203835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• 组织因素、响应与对照</a:t>
            </a:r>
          </a:p>
          <a:p xmlns:a="http://schemas.openxmlformats.org/drawingml/2006/main"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• 安排随机化、样本量与批次结构</a:t>
            </a:r>
          </a:p>
          <a:p xmlns:a="http://schemas.openxmlformats.org/drawingml/2006/main"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• 用预实验修正正式设计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6624AA9D-73B2-4DE6-B767-71B342F46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476750"/>
            <a:ext cx="207645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0E213A"/>
          </a:solidFill>
          <a:ln xmlns:a="http://schemas.openxmlformats.org/drawingml/2006/main" w="9525">
            <a:solidFill>
              <a:srgbClr val="3B82F6"/>
            </a:solidFill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86C9BFA3-953F-4B41-B53F-51AAE3437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629150"/>
            <a:ext cx="18478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0" i="0">
                <a:solidFill>
                  <a:srgbClr val="3B82F6"/>
                </a:solidFill>
                <a:latin typeface="Consolas"/>
                <a:ea typeface="Consolas"/>
                <a:cs typeface="Consolas"/>
              </a:defRPr>
            </a:pPr>
            <a:r>
              <a:t>介入最深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25C99171-5848-4CF5-94DB-8D28D8953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876800"/>
            <a:ext cx="18478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02–04 步。DOE 把问题翻译成统计结构，是闭环前最重要的结构化语言。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37E9E0B9-B485-44ED-A568-F2DD2ACA7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2095500"/>
            <a:ext cx="2381250" cy="3733800"/>
          </a:xfrm>
          <a:prstGeom xmlns:a="http://schemas.openxmlformats.org/drawingml/2006/main" prst="roundRect">
            <a:avLst>
              <a:gd name="adj" fmla="val 3200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34D399"/>
            </a:solidFill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C14D474E-2F6A-4B80-AC62-A2A09D0BB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2247900"/>
            <a:ext cx="2076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0" i="0">
                <a:solidFill>
                  <a:srgbClr val="34D399"/>
                </a:solidFill>
                <a:latin typeface="Consolas"/>
                <a:ea typeface="Consolas"/>
                <a:cs typeface="Consolas"/>
              </a:defRPr>
            </a:pPr>
            <a:r>
              <a:t>SDL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B3751919-0CB8-4B3D-A26E-1ACDA8525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2495550"/>
            <a:ext cx="2076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0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闭环决策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5C3B93D2-DB58-4E94-A00A-E85D487CC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914650"/>
            <a:ext cx="203835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• 把观测、更新和推荐高速串联</a:t>
            </a:r>
          </a:p>
          <a:p xmlns:a="http://schemas.openxmlformats.org/drawingml/2006/main"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• 在昂贵实验中提高信息效率</a:t>
            </a:r>
          </a:p>
          <a:p xmlns:a="http://schemas.openxmlformats.org/drawingml/2006/main"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• 把数据、执行和决策接成系统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AFECFFDB-B238-4C06-9A5E-17FEF810B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4476750"/>
            <a:ext cx="207645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0E213A"/>
          </a:solidFill>
          <a:ln xmlns:a="http://schemas.openxmlformats.org/drawingml/2006/main" w="9525">
            <a:solidFill>
              <a:srgbClr val="34D399"/>
            </a:solidFill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3F09AB75-1E8C-4E3B-A8C4-C7ED2A10F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4629150"/>
            <a:ext cx="18478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0" i="0">
                <a:solidFill>
                  <a:srgbClr val="34D399"/>
                </a:solidFill>
                <a:latin typeface="Consolas"/>
                <a:ea typeface="Consolas"/>
                <a:cs typeface="Consolas"/>
              </a:defRPr>
            </a:pPr>
            <a:r>
              <a:t>介入最深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DC9E2555-5BB4-4A0B-8904-08C9957AA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4876800"/>
            <a:ext cx="18478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02 / 04 / 05 / 06 / 07 步之间。SDL 改写的是若干决策节点的速度与密度。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D9875308-865F-4636-ACCB-55FD6AFF6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057900"/>
            <a:ext cx="10439400" cy="247650"/>
          </a:xfrm>
          <a:prstGeom xmlns:a="http://schemas.openxmlformats.org/drawingml/2006/main" prst="roundRect">
            <a:avLst>
              <a:gd name="adj" fmla="val 30769"/>
            </a:avLst>
          </a:prstGeom>
          <a:solidFill xmlns:a="http://schemas.openxmlformats.org/drawingml/2006/main">
            <a:srgbClr val="0E213A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A7523B33-12C1-4401-9020-C46946348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115050"/>
            <a:ext cx="99822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00" b="0" i="0">
                <a:solidFill>
                  <a:srgbClr val="93A4B8"/>
                </a:solidFill>
                <a:latin typeface="Consolas"/>
                <a:ea typeface="Consolas"/>
                <a:cs typeface="Consolas"/>
              </a:defRPr>
            </a:pPr>
            <a:r>
              <a:t>结论：AI 时代真正变化的，不是 8 步被取消，而是其中若干决策节点被更密集地数据化、自动化和审计化。</a:t>
            </a:r>
          </a:p>
        </p:txBody>
      </p:sp>
    </p:spTree>
    <p:extLst>
      <p:ext uri="{BB962C8B-B14F-4D97-AF65-F5344CB8AC3E}">
        <p14:creationId xmlns:p14="http://schemas.microsoft.com/office/powerpoint/2010/main" val="1971351487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99F7843-D190-42DF-B297-71856D8B9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799CD49-4044-45FF-8ACA-CAAF0BB1A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3810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13D6FF"/>
                </a:solidFill>
                <a:latin typeface="Consolas"/>
                <a:ea typeface="Consolas"/>
                <a:cs typeface="Consolas"/>
              </a:defRPr>
            </a:pPr>
            <a:r>
              <a:t>第四部分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3F858B1-63B1-4DCA-AD51-4AE0AD6DF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266700"/>
            <a:ext cx="114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750" b="0" i="0">
                <a:solidFill>
                  <a:srgbClr val="6E829D"/>
                </a:solidFill>
                <a:latin typeface="Consolas"/>
                <a:ea typeface="Consolas"/>
                <a:cs typeface="Consolas"/>
              </a:defRPr>
            </a:pPr>
            <a:r>
              <a:t>33 / 63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04FB1B-1B5D-4CC0-9061-B2570E778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953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3D68"/>
          </a:solidFill>
          <a:ln xmlns:a="http://schemas.openxmlformats.org/drawingml/2006/main" w="0">
            <a:solidFill>
              <a:srgbClr val="1B3D68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6BB4241-0E3D-46CA-B9EB-8B38D32A9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676400"/>
            <a:ext cx="14287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5400" b="1" i="0">
                <a:solidFill>
                  <a:srgbClr val="34D399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5F72515-C1B6-4666-AE66-0E20EE59E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1809750"/>
            <a:ext cx="7810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AI 时代的实验：什么是 SDL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482B763-7119-447E-B24C-50696D932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2628900"/>
            <a:ext cx="7429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t>SDL 的关键，不在“用上了 AI”，而在“实验开始形成可更新、可执行、可复位的闭环”。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EA5B8CA-66D7-44E3-B864-FBF7AA406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924300"/>
            <a:ext cx="4000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solidFill>
              <a:srgbClr val="34D399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9142816-1383-447A-AE11-381F81F0E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438650"/>
            <a:ext cx="85725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模型不再只解释已有结果，而开始进入实验行动链。</a:t>
            </a:r>
          </a:p>
        </p:txBody>
      </p:sp>
    </p:spTree>
    <p:extLst>
      <p:ext uri="{BB962C8B-B14F-4D97-AF65-F5344CB8AC3E}">
        <p14:creationId xmlns:p14="http://schemas.microsoft.com/office/powerpoint/2010/main" val="2075920887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CE5B06E-24F8-4DCA-AC95-950B18131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08E6843-6D6A-409D-A346-515FF2356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3810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13D6FF"/>
                </a:solidFill>
                <a:latin typeface="Consolas"/>
                <a:ea typeface="Consolas"/>
                <a:cs typeface="Consolas"/>
              </a:defRPr>
            </a:pPr>
            <a:r>
              <a:t>SDL 全景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24FBD02-2DFF-49BE-B589-7D0BBB22D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266700"/>
            <a:ext cx="114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750" b="0" i="0">
                <a:solidFill>
                  <a:srgbClr val="6E829D"/>
                </a:solidFill>
                <a:latin typeface="Consolas"/>
                <a:ea typeface="Consolas"/>
                <a:cs typeface="Consolas"/>
              </a:defRPr>
            </a:pPr>
            <a:r>
              <a:t>34 / 63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7236CB4-3432-4105-8D4B-EAEF81FF7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953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3D68"/>
          </a:solidFill>
          <a:ln xmlns:a="http://schemas.openxmlformats.org/drawingml/2006/main" w="0">
            <a:solidFill>
              <a:srgbClr val="1B3D68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4AB9AFD-EB10-40ED-B97B-28869B5BB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819150"/>
            <a:ext cx="9906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在聚焦单个案例前，先看一眼当前 SDL 领域全景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B498584-1A7A-452B-93D8-AAE87688B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390650"/>
            <a:ext cx="990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t>A-Lab 重要，但它不是唯一代表。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993D952-255A-4D09-A92B-A04714123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133600"/>
            <a:ext cx="3429000" cy="1466850"/>
          </a:xfrm>
          <a:prstGeom xmlns:a="http://schemas.openxmlformats.org/drawingml/2006/main" prst="roundRect">
            <a:avLst>
              <a:gd name="adj" fmla="val 5195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1E12ED4-5E96-471D-83A1-AF6EFF461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266950"/>
            <a:ext cx="3124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13D6FF"/>
                </a:solidFill>
                <a:latin typeface="Aptos"/>
                <a:ea typeface="Aptos"/>
                <a:cs typeface="Aptos"/>
              </a:defRPr>
            </a:pPr>
            <a:r>
              <a:t>化学反应优化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CAD12AF-E1F3-4AB3-B5B7-16B0D434B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514600"/>
            <a:ext cx="31242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连续流、催化、反应条件优化是 SDL 最活跃方向之一。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3757240-00E8-482B-87D7-C568D8B6A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133600"/>
            <a:ext cx="3429000" cy="1466850"/>
          </a:xfrm>
          <a:prstGeom xmlns:a="http://schemas.openxmlformats.org/drawingml/2006/main" prst="roundRect">
            <a:avLst>
              <a:gd name="adj" fmla="val 5195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1768589-239C-4855-8B06-3CA354184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266950"/>
            <a:ext cx="3124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3B82F6"/>
                </a:solidFill>
                <a:latin typeface="Aptos"/>
                <a:ea typeface="Aptos"/>
                <a:cs typeface="Aptos"/>
              </a:defRPr>
            </a:pPr>
            <a:r>
              <a:t>材料合成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90B6074-A587-4ABC-B515-E944AC0F4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514600"/>
            <a:ext cx="31242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无机固相、薄膜、配方与聚合物是代表性场景。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5E07158-6609-48DA-B08A-3EFB62889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133600"/>
            <a:ext cx="3429000" cy="1466850"/>
          </a:xfrm>
          <a:prstGeom xmlns:a="http://schemas.openxmlformats.org/drawingml/2006/main" prst="roundRect">
            <a:avLst>
              <a:gd name="adj" fmla="val 5195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D883814-D070-4DFB-A5E7-04A6174FF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266950"/>
            <a:ext cx="3124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FBBF24"/>
                </a:solidFill>
                <a:latin typeface="Aptos"/>
                <a:ea typeface="Aptos"/>
                <a:cs typeface="Aptos"/>
              </a:defRPr>
            </a:pPr>
            <a:r>
              <a:t>自动化编排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3558CC9-29D8-4D62-BC1C-8D6FD218E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514600"/>
            <a:ext cx="31242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ChemOS、工作流调度和设备编排提供系统骨架。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8D37CC9-C8A3-47B9-B7B2-B22B3F3F9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71900"/>
            <a:ext cx="3429000" cy="1466850"/>
          </a:xfrm>
          <a:prstGeom xmlns:a="http://schemas.openxmlformats.org/drawingml/2006/main" prst="roundRect">
            <a:avLst>
              <a:gd name="adj" fmla="val 5195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3938D06-5804-4B6F-B4BF-68CF7BFB1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905250"/>
            <a:ext cx="3124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FB7185"/>
                </a:solidFill>
                <a:latin typeface="Aptos"/>
                <a:ea typeface="Aptos"/>
                <a:cs typeface="Aptos"/>
              </a:defRPr>
            </a:pPr>
            <a:r>
              <a:t>高成本实验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40DB835-6AF1-435E-A98A-13FB1506D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152900"/>
            <a:ext cx="31242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昂贵、慢速或低通量实验更强调数据效率。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E49A5DB-681E-4A3A-9466-71C5E5AB6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771900"/>
            <a:ext cx="3429000" cy="1466850"/>
          </a:xfrm>
          <a:prstGeom xmlns:a="http://schemas.openxmlformats.org/drawingml/2006/main" prst="roundRect">
            <a:avLst>
              <a:gd name="adj" fmla="val 5195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7000E37-7BD0-4257-9F1F-61B908F86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905250"/>
            <a:ext cx="3124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34D399"/>
                </a:solidFill>
                <a:latin typeface="Aptos"/>
                <a:ea typeface="Aptos"/>
                <a:cs typeface="Aptos"/>
              </a:defRPr>
            </a:pPr>
            <a:r>
              <a:t>低成本 SDL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4638F80-A157-4242-887F-2F5D811FB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152900"/>
            <a:ext cx="31242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frugal twin 与低成本平台强调可复制和教育可及性。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74E76E9-BF9E-49CF-B979-F36198CC9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771900"/>
            <a:ext cx="3429000" cy="1466850"/>
          </a:xfrm>
          <a:prstGeom xmlns:a="http://schemas.openxmlformats.org/drawingml/2006/main" prst="roundRect">
            <a:avLst>
              <a:gd name="adj" fmla="val 5195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AC89781-391A-44F1-BCBB-4FB07F205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905250"/>
            <a:ext cx="3124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13D6FF"/>
                </a:solidFill>
                <a:latin typeface="Aptos"/>
                <a:ea typeface="Aptos"/>
                <a:cs typeface="Aptos"/>
              </a:defRPr>
            </a:pPr>
            <a:r>
              <a:t>主流挑战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C018A8A-50EC-4B45-8B40-8AA4D7FC1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152900"/>
            <a:ext cx="31242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标准化、观测定义、验证口径和人机协作仍是共性难点。</a:t>
            </a:r>
          </a:p>
        </p:txBody>
      </p:sp>
    </p:spTree>
    <p:extLst>
      <p:ext uri="{BB962C8B-B14F-4D97-AF65-F5344CB8AC3E}">
        <p14:creationId xmlns:p14="http://schemas.microsoft.com/office/powerpoint/2010/main" val="733177674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EFB1791-07A3-45E1-AF72-036FFB077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FABF4F7-B913-4BB3-9048-FBE30A059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3810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13D6FF"/>
                </a:solidFill>
                <a:latin typeface="Consolas"/>
                <a:ea typeface="Consolas"/>
                <a:cs typeface="Consolas"/>
              </a:defRPr>
            </a:pPr>
            <a:r>
              <a:t>SDL 定义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9DFBAB2-6110-4F69-B9FC-05F8D6E8A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266700"/>
            <a:ext cx="114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750" b="0" i="0">
                <a:solidFill>
                  <a:srgbClr val="6E829D"/>
                </a:solidFill>
                <a:latin typeface="Consolas"/>
                <a:ea typeface="Consolas"/>
                <a:cs typeface="Consolas"/>
              </a:defRPr>
            </a:pPr>
            <a:r>
              <a:t>35 / 63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73CF5D6-2669-42DB-BB42-C3E66F2F1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953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3D68"/>
          </a:solidFill>
          <a:ln xmlns:a="http://schemas.openxmlformats.org/drawingml/2006/main" w="0">
            <a:solidFill>
              <a:srgbClr val="1B3D68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E899C4E-5E8A-4641-AFD3-6B44FB34D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819150"/>
            <a:ext cx="9906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SDL：模型驱动的实验闭环，不是单次预测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EF597B8-4743-4507-A011-D1171CA5B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390650"/>
            <a:ext cx="990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t>它至少包含目标、观测、更新、推荐和执行五个环节。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CEC720-E727-4767-BE55-CC9CC24F9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133600"/>
            <a:ext cx="6858000" cy="3524250"/>
          </a:xfrm>
          <a:prstGeom xmlns:a="http://schemas.openxmlformats.org/drawingml/2006/main" prst="roundRect">
            <a:avLst>
              <a:gd name="adj" fmla="val 2162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5043901-A81D-4860-832E-007843ED2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400300"/>
            <a:ext cx="619125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• 定义目标：我们到底要优化什么、约束什么、测什么。</a:t>
            </a:r>
          </a:p>
          <a:p xmlns:a="http://schemas.openxmlformats.org/drawingml/2006/main">
            <a:pPr algn="l">
              <a:defRPr sz="1575" b="0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• 执行实验：真实硬件或仿真实验台给出观测结果。</a:t>
            </a:r>
          </a:p>
          <a:p xmlns:a="http://schemas.openxmlformats.org/drawingml/2006/main">
            <a:pPr algn="l">
              <a:defRPr sz="1575" b="0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• 更新模型：把新观测吸收进当前知识状态。</a:t>
            </a:r>
          </a:p>
          <a:p xmlns:a="http://schemas.openxmlformats.org/drawingml/2006/main">
            <a:pPr algn="l">
              <a:defRPr sz="1575" b="0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• 推荐下一点：根据目标与不确定性提出下一个实验。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71F7917-6CAC-47E7-BD3A-300E30143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133600"/>
            <a:ext cx="304800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3D6FF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3C804B6-F462-422C-9965-0DDE88E7C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266950"/>
            <a:ext cx="27432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0" i="0">
                <a:solidFill>
                  <a:srgbClr val="13D6FF"/>
                </a:solidFill>
                <a:latin typeface="Consolas"/>
                <a:ea typeface="Consolas"/>
                <a:cs typeface="Consolas"/>
              </a:defRPr>
            </a:pPr>
            <a:r>
              <a:t>一句话定义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F94AB51-39A6-42E3-BC86-DAFD67647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514600"/>
            <a:ext cx="27432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SDL = 可自动迭代的实验—观测—建模—决策—再实验系统。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3F2327C-2494-40F2-932E-26E196E03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171950"/>
            <a:ext cx="3048000" cy="1485900"/>
          </a:xfrm>
          <a:prstGeom xmlns:a="http://schemas.openxmlformats.org/drawingml/2006/main" prst="roundRect">
            <a:avLst>
              <a:gd name="adj" fmla="val 5128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3B82F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7F8942F-36C2-4647-B4E0-60F053B47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305300"/>
            <a:ext cx="27432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0" i="0">
                <a:solidFill>
                  <a:srgbClr val="3B82F6"/>
                </a:solidFill>
                <a:latin typeface="Consolas"/>
                <a:ea typeface="Consolas"/>
                <a:cs typeface="Consolas"/>
              </a:defRPr>
            </a:pPr>
            <a:r>
              <a:t>要强调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B4A2CAF-F937-45AD-8250-03EFACBE4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552950"/>
            <a:ext cx="27432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预测模型本身不等于 SDL；进入闭环才是 SDL。</a:t>
            </a:r>
          </a:p>
        </p:txBody>
      </p:sp>
    </p:spTree>
    <p:extLst>
      <p:ext uri="{BB962C8B-B14F-4D97-AF65-F5344CB8AC3E}">
        <p14:creationId xmlns:p14="http://schemas.microsoft.com/office/powerpoint/2010/main" val="34891172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4B1BBA2-92DB-4B9C-A905-00B3E060B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77B30D6-91D8-4F31-AB15-F39928B2E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3810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13D6FF"/>
                </a:solidFill>
                <a:latin typeface="Consolas"/>
                <a:ea typeface="Consolas"/>
                <a:cs typeface="Consolas"/>
              </a:defRPr>
            </a:pPr>
            <a:r>
              <a:t>闭环结构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2D7E994-A0F7-4B63-99AF-F55E9BDD0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266700"/>
            <a:ext cx="114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750" b="0" i="0">
                <a:solidFill>
                  <a:srgbClr val="6E829D"/>
                </a:solidFill>
                <a:latin typeface="Consolas"/>
                <a:ea typeface="Consolas"/>
                <a:cs typeface="Consolas"/>
              </a:defRPr>
            </a:pPr>
            <a:r>
              <a:t>36 / 63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827F9D-A43C-4A0B-95E2-49AC5746C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953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3D68"/>
          </a:solidFill>
          <a:ln xmlns:a="http://schemas.openxmlformats.org/drawingml/2006/main" w="0">
            <a:solidFill>
              <a:srgbClr val="1B3D68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F09030B-2675-419B-8D42-67DE65684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819150"/>
            <a:ext cx="9906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一个最小 SDL 闭环包含哪几步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21A7A8-45E3-4CA4-A862-BD3A643DC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390650"/>
            <a:ext cx="990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t>推荐—执行—观测—更新—再推荐。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219C291-864B-4FE1-B8A3-8D064BE31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571750"/>
            <a:ext cx="1971675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5F62906-FBB3-48B2-B776-A3746CB79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724150"/>
            <a:ext cx="16668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13D6FF"/>
                </a:solidFill>
                <a:latin typeface="Consolas"/>
                <a:ea typeface="Consolas"/>
                <a:cs typeface="Consolas"/>
              </a:defRPr>
            </a:pPr>
            <a:r>
              <a:t>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54C3537-D8DA-4B50-806B-0F687C33F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971800"/>
            <a:ext cx="16668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定义目标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54D92D6-A832-436E-B879-22938D7F5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352800"/>
            <a:ext cx="1666875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目标函数、约束与可测指标被明确。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125765F-DB2F-4392-9211-C1D0ED836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7025" y="3238500"/>
            <a:ext cx="22860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B82F6"/>
          </a:solidFill>
          <a:ln xmlns:a="http://schemas.openxmlformats.org/drawingml/2006/main" w="0">
            <a:solidFill>
              <a:srgbClr val="3B82F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8027D97-5C32-44BE-AB32-E9404EBF2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2571750"/>
            <a:ext cx="1971675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190FDE4-A3D2-4928-BED0-4460C47E1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2724150"/>
            <a:ext cx="16668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3B82F6"/>
                </a:solidFill>
                <a:latin typeface="Consolas"/>
                <a:ea typeface="Consolas"/>
                <a:cs typeface="Consolas"/>
              </a:defRPr>
            </a:pPr>
            <a: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D474F0B-1E8A-4BAB-8A1E-130AE65DF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2971800"/>
            <a:ext cx="16668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执行实验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C57E08B-B4AE-4F19-B7DD-6722986BC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3352800"/>
            <a:ext cx="1666875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硬件或模拟器运行一次实验。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D323438-BF00-42DD-93DC-340DDD3FC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3238500"/>
            <a:ext cx="22860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B82F6"/>
          </a:solidFill>
          <a:ln xmlns:a="http://schemas.openxmlformats.org/drawingml/2006/main" w="0">
            <a:solidFill>
              <a:srgbClr val="3B82F6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A0D1F0E-9BA9-44E2-BB4D-5B7D3A4BD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571750"/>
            <a:ext cx="1971675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3890D0C-EB47-4575-B52E-955D18593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2724150"/>
            <a:ext cx="16668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FBBF24"/>
                </a:solidFill>
                <a:latin typeface="Consolas"/>
                <a:ea typeface="Consolas"/>
                <a:cs typeface="Consolas"/>
              </a:defRPr>
            </a:pPr>
            <a: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CE215B9-B792-4AB3-92B8-9FFE345EB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2971800"/>
            <a:ext cx="16668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获得观测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85A6E25-49EA-4382-B898-5BE607AB2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3352800"/>
            <a:ext cx="1666875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得到谱图、曲线、图像或标量。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E4510F9-9F16-4BA1-96AF-CDCB8BE46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3238500"/>
            <a:ext cx="22860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B82F6"/>
          </a:solidFill>
          <a:ln xmlns:a="http://schemas.openxmlformats.org/drawingml/2006/main" w="0">
            <a:solidFill>
              <a:srgbClr val="3B82F6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9FA554C-4283-409F-9431-06B2DE3FC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9475" y="2571750"/>
            <a:ext cx="1971675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103BF95-432D-4893-9E1E-785D88C38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2724150"/>
            <a:ext cx="16668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34D399"/>
                </a:solidFill>
                <a:latin typeface="Consolas"/>
                <a:ea typeface="Consolas"/>
                <a:cs typeface="Consolas"/>
              </a:defRPr>
            </a:pPr>
            <a:r>
              <a:t>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4937930-DDE4-4A1A-B0E0-52B8E397A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2971800"/>
            <a:ext cx="16668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更新模型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BBE6763-5872-4521-BC8D-EAA4419AA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3352800"/>
            <a:ext cx="1666875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模型吸收新数据，修正对空间的理解。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E0CC309-0686-479F-B28F-D757F30A7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238500"/>
            <a:ext cx="22860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B82F6"/>
          </a:solidFill>
          <a:ln xmlns:a="http://schemas.openxmlformats.org/drawingml/2006/main" w="0">
            <a:solidFill>
              <a:srgbClr val="3B82F6"/>
            </a:solidFill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97D2A41-8EAC-4EBF-B9B2-ED66AA5BD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571750"/>
            <a:ext cx="1971675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CA282AA-05BD-4EA8-9837-EFFD74ED0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2724150"/>
            <a:ext cx="16668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FB7185"/>
                </a:solidFill>
                <a:latin typeface="Consolas"/>
                <a:ea typeface="Consolas"/>
                <a:cs typeface="Consolas"/>
              </a:defRPr>
            </a:pPr>
            <a:r>
              <a:t>5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B52869D-0B97-458E-91AD-E53CB1686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2971800"/>
            <a:ext cx="16668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推荐下一点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6536B6B-C9EE-4FB5-914E-B8BB606C6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3352800"/>
            <a:ext cx="1666875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在探索与利用之间做平衡。</a:t>
            </a:r>
          </a:p>
        </p:txBody>
      </p:sp>
    </p:spTree>
    <p:extLst>
      <p:ext uri="{BB962C8B-B14F-4D97-AF65-F5344CB8AC3E}">
        <p14:creationId xmlns:p14="http://schemas.microsoft.com/office/powerpoint/2010/main" val="1569214695"/>
      </p:ext>
    </p:extLst>
  </p:cSld>
</p:sld>
</file>

<file path=ppt/slides/slide3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B36AEBD-D918-4E95-82D1-FF7B36413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1CF761F-B8D1-446A-9A94-2AC1D03EE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3810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13D6FF"/>
                </a:solidFill>
                <a:latin typeface="Consolas"/>
                <a:ea typeface="Consolas"/>
                <a:cs typeface="Consolas"/>
              </a:defRPr>
            </a:pPr>
            <a:r>
              <a:t>概念分辨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D2F3FB7-5066-402C-A78B-098A3DDCF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266700"/>
            <a:ext cx="114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750" b="0" i="0">
                <a:solidFill>
                  <a:srgbClr val="6E829D"/>
                </a:solidFill>
                <a:latin typeface="Consolas"/>
                <a:ea typeface="Consolas"/>
                <a:cs typeface="Consolas"/>
              </a:defRPr>
            </a:pPr>
            <a:r>
              <a:t>37 / 63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BA26671-D375-4686-9880-5E1DC0FF5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953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3D68"/>
          </a:solidFill>
          <a:ln xmlns:a="http://schemas.openxmlformats.org/drawingml/2006/main" w="0">
            <a:solidFill>
              <a:srgbClr val="1B3D68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836ACE3-EC9F-4B78-B551-FD29612CC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819150"/>
            <a:ext cx="9906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目标、约束、测量：这三个概念必须分开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A5B180A-238D-4917-84A1-300BE0FC4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390650"/>
            <a:ext cx="990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t>它们在很多讨论里被混在一起，但在 SDL 设计中完全不同。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7DF7E21-541C-4E0A-AEDE-E9D732022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133600"/>
            <a:ext cx="342900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C731C4D-6BDE-4AFF-B19F-F4910E001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266950"/>
            <a:ext cx="3124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13D6FF"/>
                </a:solidFill>
                <a:latin typeface="Aptos"/>
                <a:ea typeface="Aptos"/>
                <a:cs typeface="Aptos"/>
              </a:defRPr>
            </a:pPr>
            <a:r>
              <a:t>目标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737D6B6-025A-4E05-86A7-E1E7F7AE7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514600"/>
            <a:ext cx="31242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我们希望优化的东西，例如产率、匹配分数、寿命。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154ED90-C732-48FD-94B1-034A2603C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133600"/>
            <a:ext cx="342900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89E04DF-4CC9-4773-9208-25BA3D3DA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266950"/>
            <a:ext cx="3124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FB7185"/>
                </a:solidFill>
                <a:latin typeface="Aptos"/>
                <a:ea typeface="Aptos"/>
                <a:cs typeface="Aptos"/>
              </a:defRPr>
            </a:pPr>
            <a:r>
              <a:t>约束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D63F175-9120-4289-B9B4-D18078920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514600"/>
            <a:ext cx="31242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不能越过的边界，例如安全、成本、时间、材料稳定性。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6EDBCC5-783B-4A9F-A554-168B278D0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133600"/>
            <a:ext cx="342900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C378220-D2BE-48DF-A782-44D1B6A70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266950"/>
            <a:ext cx="3124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FBBF24"/>
                </a:solidFill>
                <a:latin typeface="Aptos"/>
                <a:ea typeface="Aptos"/>
                <a:cs typeface="Aptos"/>
              </a:defRPr>
            </a:pPr>
            <a:r>
              <a:t>测量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A8F06DD-079C-4394-BCDD-A2DB240D8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514600"/>
            <a:ext cx="31242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实验可直接得到的观测，例如峰位、颜色、光谱、电压。</a:t>
            </a:r>
          </a:p>
        </p:txBody>
      </p:sp>
    </p:spTree>
    <p:extLst>
      <p:ext uri="{BB962C8B-B14F-4D97-AF65-F5344CB8AC3E}">
        <p14:creationId xmlns:p14="http://schemas.microsoft.com/office/powerpoint/2010/main" val="1546276870"/>
      </p:ext>
    </p:extLst>
  </p:cSld>
</p:sld>
</file>

<file path=ppt/slides/slide3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316398A-F56A-4C12-860B-373325098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0D61C02-12CF-4D32-8EDB-68D4F3D97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3810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13D6FF"/>
                </a:solidFill>
                <a:latin typeface="Consolas"/>
                <a:ea typeface="Consolas"/>
                <a:cs typeface="Consolas"/>
              </a:defRPr>
            </a:pPr>
            <a:r>
              <a:t>核心概念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869E442-DE68-4A46-AD53-A59224C94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266700"/>
            <a:ext cx="114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750" b="0" i="0">
                <a:solidFill>
                  <a:srgbClr val="6E829D"/>
                </a:solidFill>
                <a:latin typeface="Consolas"/>
                <a:ea typeface="Consolas"/>
                <a:cs typeface="Consolas"/>
              </a:defRPr>
            </a:pPr>
            <a:r>
              <a:t>38 / 63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6DF345-ACC2-48FD-B3AC-8E8D85AC1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953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3D68"/>
          </a:solidFill>
          <a:ln xmlns:a="http://schemas.openxmlformats.org/drawingml/2006/main" w="0">
            <a:solidFill>
              <a:srgbClr val="1B3D68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ECDC8C9-E8D2-4F03-9C04-39C0A014B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819150"/>
            <a:ext cx="9906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SDL 的三个核心概念：代理模型、不确定性、采集函数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3F719D6-72E9-4B0E-BC7B-CE09548F0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390650"/>
            <a:ext cx="990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t>它们共同回答“下一步做什么”。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E4ED5B2-432C-49E9-A21B-4A743039A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133600"/>
            <a:ext cx="342900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28B0BA8-6B19-408F-A04C-E610DD010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266950"/>
            <a:ext cx="3124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13D6FF"/>
                </a:solidFill>
                <a:latin typeface="Aptos"/>
                <a:ea typeface="Aptos"/>
                <a:cs typeface="Aptos"/>
              </a:defRPr>
            </a:pPr>
            <a:r>
              <a:t>Surrogate model（代理模型）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0C32A3D-7B0B-4EF3-A2DF-8745AAA43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514600"/>
            <a:ext cx="31242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用较便宜的统计模型近似真实实验响应面。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99DEE22-1A00-4DC3-97E1-55C6CB0D0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133600"/>
            <a:ext cx="342900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648654E-391B-4947-A775-CDB974533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266950"/>
            <a:ext cx="3124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3B82F6"/>
                </a:solidFill>
                <a:latin typeface="Aptos"/>
                <a:ea typeface="Aptos"/>
                <a:cs typeface="Aptos"/>
              </a:defRPr>
            </a:pPr>
            <a:r>
              <a:t>Uncertainty（不确定性）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553D0E5-5444-464E-B012-E2F054096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514600"/>
            <a:ext cx="31242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告诉我们哪些区域还看不清，因此值得继续探索。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C919CA3-EB56-4CC7-BB45-14B8DB440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133600"/>
            <a:ext cx="342900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FFD8B21-E5F1-492D-AE11-725849FEC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266950"/>
            <a:ext cx="3124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FBBF24"/>
                </a:solidFill>
                <a:latin typeface="Aptos"/>
                <a:ea typeface="Aptos"/>
                <a:cs typeface="Aptos"/>
              </a:defRPr>
            </a:pPr>
            <a:r>
              <a:t>Acquisition（采集函数）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15A79E0-D567-416C-B9D6-0ED73A694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514600"/>
            <a:ext cx="31242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平衡探索与利用，给出下一实验点。</a:t>
            </a:r>
          </a:p>
        </p:txBody>
      </p:sp>
    </p:spTree>
    <p:extLst>
      <p:ext uri="{BB962C8B-B14F-4D97-AF65-F5344CB8AC3E}">
        <p14:creationId xmlns:p14="http://schemas.microsoft.com/office/powerpoint/2010/main" val="290614305"/>
      </p:ext>
    </p:extLst>
  </p:cSld>
</p:sld>
</file>

<file path=ppt/slides/slide3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702D954-C64F-4927-81A1-07B591A40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AD64F48-F865-4ADB-83C0-DC33CBA3F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3810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13D6FF"/>
                </a:solidFill>
                <a:latin typeface="Consolas"/>
                <a:ea typeface="Consolas"/>
                <a:cs typeface="Consolas"/>
              </a:defRPr>
            </a:pPr>
            <a:r>
              <a:t>代理模型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F466717-5E6C-402D-9DD4-DAE1B2B8D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266700"/>
            <a:ext cx="114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750" b="0" i="0">
                <a:solidFill>
                  <a:srgbClr val="6E829D"/>
                </a:solidFill>
                <a:latin typeface="Consolas"/>
                <a:ea typeface="Consolas"/>
                <a:cs typeface="Consolas"/>
              </a:defRPr>
            </a:pPr>
            <a:r>
              <a:t>39 / 63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C921F2F-F094-46A2-BE04-FCACD35AE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953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3D68"/>
          </a:solidFill>
          <a:ln xmlns:a="http://schemas.openxmlformats.org/drawingml/2006/main" w="0">
            <a:solidFill>
              <a:srgbClr val="1B3D68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1456406-921D-4422-9D74-AB65E1E26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819150"/>
            <a:ext cx="9906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代理模型不止一种：关键是你要近似什么、数据有多贵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789842E-CBFF-4372-B676-752B7DFDC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390650"/>
            <a:ext cx="990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t>不同 surrogate model（代理模型）适合不同实验地形。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0EFCD3-2D3E-46C6-86E0-B216935F3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171700"/>
            <a:ext cx="20955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0E213A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EE30A48-7738-4710-A9D2-5B25EC4B6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295525"/>
            <a:ext cx="1866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t>维度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A54726A-58CD-49EE-BF3A-A29098DF6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171700"/>
            <a:ext cx="24765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EF4C6E3-DE17-4A54-BB41-BE05489D2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295525"/>
            <a:ext cx="2247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0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代表方法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78B4B8A-4AB4-40FE-A579-CCE79AAE5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2171700"/>
            <a:ext cx="24765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FEC5125-6EED-4AD7-BF18-CE1D682C8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295525"/>
            <a:ext cx="2247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0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优势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B65B2D8-B643-4F3C-9446-10DABA2F2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171700"/>
            <a:ext cx="24765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9AFF645-3CF3-4ECA-BF9E-9122AAAC5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295525"/>
            <a:ext cx="2247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0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局限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6C19BD9-E2A4-4A5F-8C5D-1E4D2E7F7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09850"/>
            <a:ext cx="20955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CBB0D1C-3AB2-4443-A118-4817E3E12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705100"/>
            <a:ext cx="18669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Gaussian Process（高斯过程）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4ABF894-162B-4550-806E-EF63241C5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609850"/>
            <a:ext cx="24765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071426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9E8BE30-2DE2-4D54-B183-761AAF095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705100"/>
            <a:ext cx="22479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小样本、可给不确定性、解释性较强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4D5E3E6-18A3-4598-A595-8CC2A98FC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2609850"/>
            <a:ext cx="24765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071426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39939D3-09D9-455D-9839-722B7A057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705100"/>
            <a:ext cx="22479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高维和大样本下成本上升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8F0EB1F-BA0F-4A22-A2C4-1DC7AB721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86100"/>
            <a:ext cx="20955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B2DB1B4-EE51-4C9E-80C8-56E7FF94A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181350"/>
            <a:ext cx="18669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Random Forest / Tree ensembles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7836B9E-D738-4DB2-8E24-195E70CDD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086100"/>
            <a:ext cx="24765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071426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A06DAE5-CA5A-4F12-ADA2-D0DE77BA6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181350"/>
            <a:ext cx="22479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鲁棒、对离散变量友好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30D07F4-8423-4379-ABB2-B09064DE4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3086100"/>
            <a:ext cx="24765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071426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FC743C6-322B-44AB-8E49-F17C3C5F0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3181350"/>
            <a:ext cx="22479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不确定性表述相对间接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2896AC2-C076-4317-A349-DC7B0B2EB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562350"/>
            <a:ext cx="20955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DCC3E84-1E1E-45B1-9A09-AE9684AED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657600"/>
            <a:ext cx="18669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Neural surrogate / deep model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1F2C4F6-86D6-4C93-9745-A124492C5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562350"/>
            <a:ext cx="24765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071426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1B8146F-099A-4A0C-B9AA-503D2E1A6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657600"/>
            <a:ext cx="22479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适合高维复杂观测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E7C2F91-2D67-496C-A28F-F2FE82DA1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3562350"/>
            <a:ext cx="24765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071426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E71968A-61D2-4798-9E02-96EDDB14C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3657600"/>
            <a:ext cx="22479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更吃数据，校准与可解释性更难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B0DAAFF-C210-4E99-BECC-7E8AD672B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038600"/>
            <a:ext cx="20955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04036CF-5072-4551-9F11-6C060AF21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133850"/>
            <a:ext cx="18669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Physics-informed / hybrid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6BF72E3-EBF1-465D-96A2-A296AF186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4038600"/>
            <a:ext cx="24765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071426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F85DFB8-1DF8-4A54-9CD1-5073E5353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133850"/>
            <a:ext cx="22479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可把机制先验并入学习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270F1EA-5805-4797-AC0C-F5AA54365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4038600"/>
            <a:ext cx="24765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071426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A56AFF9-971F-4BB3-A19E-6AE6A891A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4133850"/>
            <a:ext cx="22479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建模门槛更高，依赖领域知识</a:t>
            </a:r>
          </a:p>
        </p:txBody>
      </p:sp>
    </p:spTree>
    <p:extLst>
      <p:ext uri="{BB962C8B-B14F-4D97-AF65-F5344CB8AC3E}">
        <p14:creationId xmlns:p14="http://schemas.microsoft.com/office/powerpoint/2010/main" val="1474713140"/>
      </p:ext>
    </p:extLst>
  </p:cSld>
</p:sld>
</file>

<file path=ppt/slides/slide4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8FC0AD3-C306-4976-BA5C-95E85C7DE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2432F4-7DDD-490E-9371-E82FEBC34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3810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13D6FF"/>
                </a:solidFill>
                <a:latin typeface="Consolas"/>
                <a:ea typeface="Consolas"/>
                <a:cs typeface="Consolas"/>
              </a:defRPr>
            </a:pPr>
            <a:r>
              <a:t>不确定性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8DDE3AB-23F5-4D83-91A5-8408D5E64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266700"/>
            <a:ext cx="114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750" b="0" i="0">
                <a:solidFill>
                  <a:srgbClr val="6E829D"/>
                </a:solidFill>
                <a:latin typeface="Consolas"/>
                <a:ea typeface="Consolas"/>
                <a:cs typeface="Consolas"/>
              </a:defRPr>
            </a:pPr>
            <a:r>
              <a:t>40 / 63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0C7918B-27F3-4CE2-87C8-7CE7D140F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953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3D68"/>
          </a:solidFill>
          <a:ln xmlns:a="http://schemas.openxmlformats.org/drawingml/2006/main" w="0">
            <a:solidFill>
              <a:srgbClr val="1B3D68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CC98044-E84B-475F-B205-855D8BE83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819150"/>
            <a:ext cx="9906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不确定性不是“没把握”三个字，而是可表示、可利用的对象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61F5660-A1D7-4C0E-8620-0FEE7E66C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390650"/>
            <a:ext cx="990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t>SDL 的数据效率，很大程度上来自对不确定性的显式处理。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F82AF40-A022-4217-9AEC-3ADF680FD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133600"/>
            <a:ext cx="3429000" cy="1466850"/>
          </a:xfrm>
          <a:prstGeom xmlns:a="http://schemas.openxmlformats.org/drawingml/2006/main" prst="roundRect">
            <a:avLst>
              <a:gd name="adj" fmla="val 5195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7D454C2-0413-400C-BB05-E7CD4F099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266950"/>
            <a:ext cx="3124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13D6FF"/>
                </a:solidFill>
                <a:latin typeface="Aptos"/>
                <a:ea typeface="Aptos"/>
                <a:cs typeface="Aptos"/>
              </a:defRPr>
            </a:pPr>
            <a:r>
              <a:t>它表示什么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E086040-FF49-4BE5-911F-359EA0B2B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514600"/>
            <a:ext cx="31242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模型对某区域了解不够、数据稀疏或观测噪声较大。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A82E01-C123-4C68-9B64-6BC1B46C0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133600"/>
            <a:ext cx="3429000" cy="1466850"/>
          </a:xfrm>
          <a:prstGeom xmlns:a="http://schemas.openxmlformats.org/drawingml/2006/main" prst="roundRect">
            <a:avLst>
              <a:gd name="adj" fmla="val 5195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7EC1074-C1A7-4022-A9A2-09686EA93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266950"/>
            <a:ext cx="3124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3B82F6"/>
                </a:solidFill>
                <a:latin typeface="Aptos"/>
                <a:ea typeface="Aptos"/>
                <a:cs typeface="Aptos"/>
              </a:defRPr>
            </a:pPr>
            <a:r>
              <a:t>如何表示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C671904-74D2-4007-8A0C-4FBFE3A78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514600"/>
            <a:ext cx="31242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常见为后验方差、置信区间、ensemble 分歧或校准分布。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5F17363-6728-4A46-B1C8-BE3F5ABF8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133600"/>
            <a:ext cx="3429000" cy="1466850"/>
          </a:xfrm>
          <a:prstGeom xmlns:a="http://schemas.openxmlformats.org/drawingml/2006/main" prst="roundRect">
            <a:avLst>
              <a:gd name="adj" fmla="val 5195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A04EAB0-36D3-454E-B2DF-E78569FA8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266950"/>
            <a:ext cx="3124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FBBF24"/>
                </a:solidFill>
                <a:latin typeface="Aptos"/>
                <a:ea typeface="Aptos"/>
                <a:cs typeface="Aptos"/>
              </a:defRPr>
            </a:pPr>
            <a:r>
              <a:t>如何利用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414D0BF-966D-4E8E-8E4E-DE0A9F33E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514600"/>
            <a:ext cx="31242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决定哪些地方值得继续探索，而不是只盯当前最优。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7E4A597-3B12-4DE1-8A7D-D8D95DD4F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71900"/>
            <a:ext cx="3429000" cy="1466850"/>
          </a:xfrm>
          <a:prstGeom xmlns:a="http://schemas.openxmlformats.org/drawingml/2006/main" prst="roundRect">
            <a:avLst>
              <a:gd name="adj" fmla="val 5195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F72E079-2F23-414F-A853-F71EFEBE5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905250"/>
            <a:ext cx="3124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FB7185"/>
                </a:solidFill>
                <a:latin typeface="Aptos"/>
                <a:ea typeface="Aptos"/>
                <a:cs typeface="Aptos"/>
              </a:defRPr>
            </a:pPr>
            <a:r>
              <a:t>为什么重要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7B593A8-9CD5-4004-AA5C-A00126794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152900"/>
            <a:ext cx="31242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没有不确定性，很多推荐会退化成贪心搜索。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3EF717D-5DD0-4BB8-B88A-4F922A135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771900"/>
            <a:ext cx="3429000" cy="1466850"/>
          </a:xfrm>
          <a:prstGeom xmlns:a="http://schemas.openxmlformats.org/drawingml/2006/main" prst="roundRect">
            <a:avLst>
              <a:gd name="adj" fmla="val 5195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A2BB1C4-B6B4-45E6-8A99-68225B2E2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905250"/>
            <a:ext cx="3124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34D399"/>
                </a:solidFill>
                <a:latin typeface="Aptos"/>
                <a:ea typeface="Aptos"/>
                <a:cs typeface="Aptos"/>
              </a:defRPr>
            </a:pPr>
            <a:r>
              <a:t>实践难点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D4771F4-0036-4DD3-95AE-C352B3B80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152900"/>
            <a:ext cx="31242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模型校准不良时，不确定性会“看起来有，实际上不可信”。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431D68F-C361-4597-8EC4-08D2C44A6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771900"/>
            <a:ext cx="3429000" cy="1466850"/>
          </a:xfrm>
          <a:prstGeom xmlns:a="http://schemas.openxmlformats.org/drawingml/2006/main" prst="roundRect">
            <a:avLst>
              <a:gd name="adj" fmla="val 5195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C03D79C-E371-41E7-A8D1-57DABA9E0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905250"/>
            <a:ext cx="3124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13D6FF"/>
                </a:solidFill>
                <a:latin typeface="Aptos"/>
                <a:ea typeface="Aptos"/>
                <a:cs typeface="Aptos"/>
              </a:defRPr>
            </a:pPr>
            <a:r>
              <a:t>结论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CB63144-43C4-41B8-863B-0F116435F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152900"/>
            <a:ext cx="31242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SDL 的高效，不只是预测准，更是知道自己哪里不准。</a:t>
            </a:r>
          </a:p>
        </p:txBody>
      </p:sp>
    </p:spTree>
    <p:extLst>
      <p:ext uri="{BB962C8B-B14F-4D97-AF65-F5344CB8AC3E}">
        <p14:creationId xmlns:p14="http://schemas.microsoft.com/office/powerpoint/2010/main" val="1019536884"/>
      </p:ext>
    </p:extLst>
  </p:cSld>
</p:sld>
</file>

<file path=ppt/slides/slide4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A635E44-6E69-495B-B71E-9A4CD6A53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BEC26DE-4D1D-49B4-8576-C072FC780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3810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13D6FF"/>
                </a:solidFill>
                <a:latin typeface="Consolas"/>
                <a:ea typeface="Consolas"/>
                <a:cs typeface="Consolas"/>
              </a:defRPr>
            </a:pPr>
            <a:r>
              <a:t>采集函数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30ECD48-E19B-4545-9209-0FEA1C1B0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266700"/>
            <a:ext cx="114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750" b="0" i="0">
                <a:solidFill>
                  <a:srgbClr val="6E829D"/>
                </a:solidFill>
                <a:latin typeface="Consolas"/>
                <a:ea typeface="Consolas"/>
                <a:cs typeface="Consolas"/>
              </a:defRPr>
            </a:pPr>
            <a:r>
              <a:t>41 / 63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28FC4A4-CB4E-44A0-BFEC-7334F16DB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953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3D68"/>
          </a:solidFill>
          <a:ln xmlns:a="http://schemas.openxmlformats.org/drawingml/2006/main" w="0">
            <a:solidFill>
              <a:srgbClr val="1B3D68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BB09F5-881F-4994-8CC6-D514078B6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819150"/>
            <a:ext cx="9906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采集函数是在替你回答：现在先做哪一个点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B8C2B48-C207-4621-8BD3-6E19F8B53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390650"/>
            <a:ext cx="990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t>它不是固定唯一的，也可以按目标和风险偏好自定义。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000DB36-F503-48D1-9339-02873AB30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133600"/>
            <a:ext cx="3429000" cy="1466850"/>
          </a:xfrm>
          <a:prstGeom xmlns:a="http://schemas.openxmlformats.org/drawingml/2006/main" prst="roundRect">
            <a:avLst>
              <a:gd name="adj" fmla="val 5195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5EFF650-5162-4517-ACB7-578890D27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266950"/>
            <a:ext cx="3124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13D6FF"/>
                </a:solidFill>
                <a:latin typeface="Aptos"/>
                <a:ea typeface="Aptos"/>
                <a:cs typeface="Aptos"/>
              </a:defRPr>
            </a:pPr>
            <a:r>
              <a:t>EI / PI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76CE01B-65C5-4AED-9285-91D6971A0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514600"/>
            <a:ext cx="31242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强调改进当前最优，常用于单目标优化。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B96A822-1E53-48DF-A52F-E7B32BEA3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133600"/>
            <a:ext cx="3429000" cy="1466850"/>
          </a:xfrm>
          <a:prstGeom xmlns:a="http://schemas.openxmlformats.org/drawingml/2006/main" prst="roundRect">
            <a:avLst>
              <a:gd name="adj" fmla="val 5195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800898F-CA85-485B-BEA5-CD33B0073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266950"/>
            <a:ext cx="3124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3B82F6"/>
                </a:solidFill>
                <a:latin typeface="Aptos"/>
                <a:ea typeface="Aptos"/>
                <a:cs typeface="Aptos"/>
              </a:defRPr>
            </a:pPr>
            <a:r>
              <a:t>UCB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80333C5-AA14-422D-B346-EA9FEA375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514600"/>
            <a:ext cx="31242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显式平衡均值与不确定性，调参直观。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F982F69-696A-4646-9D47-5E8E9E932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133600"/>
            <a:ext cx="3429000" cy="1466850"/>
          </a:xfrm>
          <a:prstGeom xmlns:a="http://schemas.openxmlformats.org/drawingml/2006/main" prst="roundRect">
            <a:avLst>
              <a:gd name="adj" fmla="val 5195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8EE843C-38EB-40DB-B0C2-795733C70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266950"/>
            <a:ext cx="3124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FBBF24"/>
                </a:solidFill>
                <a:latin typeface="Aptos"/>
                <a:ea typeface="Aptos"/>
                <a:cs typeface="Aptos"/>
              </a:defRPr>
            </a:pPr>
            <a:r>
              <a:t>信息型方法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03F9B7D-2D5F-4FCB-BFDB-4EBE76A7F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514600"/>
            <a:ext cx="31242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更关注哪一步最能减少整体认知不确定。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86626C5-8599-4F46-8217-B25DF7C83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71900"/>
            <a:ext cx="3429000" cy="1466850"/>
          </a:xfrm>
          <a:prstGeom xmlns:a="http://schemas.openxmlformats.org/drawingml/2006/main" prst="roundRect">
            <a:avLst>
              <a:gd name="adj" fmla="val 5195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99B7E1B-8B0E-4D64-BECC-971FF7CEC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905250"/>
            <a:ext cx="3124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FB7185"/>
                </a:solidFill>
                <a:latin typeface="Aptos"/>
                <a:ea typeface="Aptos"/>
                <a:cs typeface="Aptos"/>
              </a:defRPr>
            </a:pPr>
            <a:r>
              <a:t>怎么选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4D4BB72-D508-4A45-B061-0B3649266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152900"/>
            <a:ext cx="31242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看是更重速度、稳健性还是全局认知更新。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554E3AE-D450-4B01-B6C8-C844A1772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771900"/>
            <a:ext cx="3429000" cy="1466850"/>
          </a:xfrm>
          <a:prstGeom xmlns:a="http://schemas.openxmlformats.org/drawingml/2006/main" prst="roundRect">
            <a:avLst>
              <a:gd name="adj" fmla="val 5195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7D1A77B-1EAA-4457-AF03-F41B7096E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905250"/>
            <a:ext cx="3124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34D399"/>
                </a:solidFill>
                <a:latin typeface="Aptos"/>
                <a:ea typeface="Aptos"/>
                <a:cs typeface="Aptos"/>
              </a:defRPr>
            </a:pPr>
            <a:r>
              <a:t>能否自定义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746C41B-1C43-43E0-9520-14B90A7FA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152900"/>
            <a:ext cx="31242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可以，只要目标、约束和风险偏好定义清楚。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A0F2C93-9769-46BC-9969-0DB6C13D6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771900"/>
            <a:ext cx="3429000" cy="1466850"/>
          </a:xfrm>
          <a:prstGeom xmlns:a="http://schemas.openxmlformats.org/drawingml/2006/main" prst="roundRect">
            <a:avLst>
              <a:gd name="adj" fmla="val 5195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37FE4B8-BBEE-4254-9C48-3C98110BB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905250"/>
            <a:ext cx="3124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13D6FF"/>
                </a:solidFill>
                <a:latin typeface="Aptos"/>
                <a:ea typeface="Aptos"/>
                <a:cs typeface="Aptos"/>
              </a:defRPr>
            </a:pPr>
            <a:r>
              <a:t>本质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3D6A154-5ADB-4F54-A2AE-EF4A95F01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152900"/>
            <a:ext cx="31242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采集函数是方法论选择，不只是公式替换。</a:t>
            </a:r>
          </a:p>
        </p:txBody>
      </p:sp>
    </p:spTree>
    <p:extLst>
      <p:ext uri="{BB962C8B-B14F-4D97-AF65-F5344CB8AC3E}">
        <p14:creationId xmlns:p14="http://schemas.microsoft.com/office/powerpoint/2010/main" val="1816476941"/>
      </p:ext>
    </p:extLst>
  </p:cSld>
</p:sld>
</file>

<file path=ppt/slides/slide4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F2EACBE-2D46-4864-A1CA-5CB028855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5884BF2-3961-4D6D-B4A1-0B757F4CD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3810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13D6FF"/>
                </a:solidFill>
                <a:latin typeface="Consolas"/>
                <a:ea typeface="Consolas"/>
                <a:cs typeface="Consolas"/>
              </a:defRPr>
            </a:pPr>
            <a:r>
              <a:t>SDL 难点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C569C4C-6FB2-4816-A5FA-EF3CE4225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266700"/>
            <a:ext cx="114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750" b="0" i="0">
                <a:solidFill>
                  <a:srgbClr val="6E829D"/>
                </a:solidFill>
                <a:latin typeface="Consolas"/>
                <a:ea typeface="Consolas"/>
                <a:cs typeface="Consolas"/>
              </a:defRPr>
            </a:pPr>
            <a:r>
              <a:t>42 / 63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308FB26-0BB7-4122-A4ED-AACCB737B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953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3D68"/>
          </a:solidFill>
          <a:ln xmlns:a="http://schemas.openxmlformats.org/drawingml/2006/main" w="0">
            <a:solidFill>
              <a:srgbClr val="1B3D68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C82B59B-1492-4548-B4EA-61FB744C0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819150"/>
            <a:ext cx="9906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从成本看，为什么很多实验问题更值得 SDL 化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4788C9D-87B4-4628-A8BB-10AE57475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390650"/>
            <a:ext cx="990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t>关键不只是算法，而是实验输出本身很贵、很慢、很难。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4B51F22-40E1-4C2B-8B7A-42556849F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133600"/>
            <a:ext cx="6858000" cy="3524250"/>
          </a:xfrm>
          <a:prstGeom xmlns:a="http://schemas.openxmlformats.org/drawingml/2006/main" prst="roundRect">
            <a:avLst>
              <a:gd name="adj" fmla="val 2162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E3E2C33-4716-4CAD-9544-E909EB428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400300"/>
            <a:ext cx="619125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• 真实实验输出可能是谱图、图像、曲线或寿命数据，本身就昂贵且难处理。</a:t>
            </a:r>
          </a:p>
          <a:p xmlns:a="http://schemas.openxmlformats.org/drawingml/2006/main">
            <a:pPr algn="l">
              <a:defRPr sz="1575" b="0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• 很多高价值实验耗时长、成本高、噪声大，盲目试验会迅速耗尽预算。</a:t>
            </a:r>
          </a:p>
          <a:p xmlns:a="http://schemas.openxmlformats.org/drawingml/2006/main">
            <a:pPr algn="l">
              <a:defRPr sz="1575" b="0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• 因此 SDL 的优势不仅是“更聪明”，更是用更少实验换更多信息。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87B4CB9-A093-4273-A8CF-13682925E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133600"/>
            <a:ext cx="304800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3D6FF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37B42C6-9B68-4C30-A1A4-7A398CB54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266950"/>
            <a:ext cx="27432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0" i="0">
                <a:solidFill>
                  <a:srgbClr val="13D6FF"/>
                </a:solidFill>
                <a:latin typeface="Consolas"/>
                <a:ea typeface="Consolas"/>
                <a:cs typeface="Consolas"/>
              </a:defRPr>
            </a:pPr>
            <a:r>
              <a:t>为什么序贯方法重要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870AA89-39A6-4CDB-8B5D-5292DAF54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514600"/>
            <a:ext cx="27432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实验越昂贵、吞吐越低、观测越复杂，越需要把每一步预算花在更有信息量的点上。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57D64F4-9704-4C0A-A71C-C29049BC4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171950"/>
            <a:ext cx="3048000" cy="1485900"/>
          </a:xfrm>
          <a:prstGeom xmlns:a="http://schemas.openxmlformats.org/drawingml/2006/main" prst="roundRect">
            <a:avLst>
              <a:gd name="adj" fmla="val 5128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3B82F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90427B0-0A20-4236-B481-4E79B68E1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305300"/>
            <a:ext cx="27432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0" i="0">
                <a:solidFill>
                  <a:srgbClr val="3B82F6"/>
                </a:solidFill>
                <a:latin typeface="Consolas"/>
                <a:ea typeface="Consolas"/>
                <a:cs typeface="Consolas"/>
              </a:defRPr>
            </a:pPr>
            <a:r>
              <a:t>这也解释了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7674E5E-C605-4075-BEB7-530DFDCB9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552950"/>
            <a:ext cx="27432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为什么许多 SDL 案例会先用仿真器、代理实验台或低成本平台验证闭环逻辑。</a:t>
            </a:r>
          </a:p>
        </p:txBody>
      </p:sp>
    </p:spTree>
    <p:extLst>
      <p:ext uri="{BB962C8B-B14F-4D97-AF65-F5344CB8AC3E}">
        <p14:creationId xmlns:p14="http://schemas.microsoft.com/office/powerpoint/2010/main" val="388536463"/>
      </p:ext>
    </p:extLst>
  </p:cSld>
</p:sld>
</file>

<file path=ppt/slides/slide4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AC7849E-55DD-4F3D-8561-6EC8B6BCC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DF00881-4508-405E-867B-19C97ACF2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3810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13D6FF"/>
                </a:solidFill>
                <a:latin typeface="Consolas"/>
                <a:ea typeface="Consolas"/>
                <a:cs typeface="Consolas"/>
              </a:defRPr>
            </a:pPr>
            <a:r>
              <a:t>人类角色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8CF759D-1D90-4E39-BDC1-8DC422255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266700"/>
            <a:ext cx="114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750" b="0" i="0">
                <a:solidFill>
                  <a:srgbClr val="6E829D"/>
                </a:solidFill>
                <a:latin typeface="Consolas"/>
                <a:ea typeface="Consolas"/>
                <a:cs typeface="Consolas"/>
              </a:defRPr>
            </a:pPr>
            <a:r>
              <a:t>43 / 63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D137B47-637D-4634-8290-40AF6B17A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953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3D68"/>
          </a:solidFill>
          <a:ln xmlns:a="http://schemas.openxmlformats.org/drawingml/2006/main" w="0">
            <a:solidFill>
              <a:srgbClr val="1B3D68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9D37842-F336-46FC-BA28-4B56340D0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819150"/>
            <a:ext cx="9906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人为什么仍不可替代：不只因为伦理，也因为科学判断本身需要人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FAE76F4-3DD7-4845-83E0-D6E44C03C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390650"/>
            <a:ext cx="990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t>人在回路中，也在回路上；更重要的是，人仍然提供模型没有的东西。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40CECF3-2179-4061-86AA-571B6ACEB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133600"/>
            <a:ext cx="6858000" cy="3524250"/>
          </a:xfrm>
          <a:prstGeom xmlns:a="http://schemas.openxmlformats.org/drawingml/2006/main" prst="roundRect">
            <a:avLst>
              <a:gd name="adj" fmla="val 2162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7194E74-790E-468F-A57D-A61C277FF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400300"/>
            <a:ext cx="619125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• 人设定目标、约束、研究问题与可接受风险，这些不是模型自动长出来的。</a:t>
            </a:r>
          </a:p>
          <a:p xmlns:a="http://schemas.openxmlformats.org/drawingml/2006/main">
            <a:pPr algn="l">
              <a:defRPr sz="1575" b="0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• 人提供领域知识、异常直觉、机制假设和反事实想象，这是很多突破的来源。</a:t>
            </a:r>
          </a:p>
          <a:p xmlns:a="http://schemas.openxmlformats.org/drawingml/2006/main">
            <a:pPr algn="l">
              <a:defRPr sz="1575" b="0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• 人监督模型、纠正口径、解释结果，并对最终科学结论负责。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2148B03-C466-44BA-9190-AD9005B94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133600"/>
            <a:ext cx="304800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3D6FF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E43A323-1C66-4E7E-9F1A-A3995F55B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266950"/>
            <a:ext cx="27432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0" i="0">
                <a:solidFill>
                  <a:srgbClr val="13D6FF"/>
                </a:solidFill>
                <a:latin typeface="Consolas"/>
                <a:ea typeface="Consolas"/>
                <a:cs typeface="Consolas"/>
              </a:defRPr>
            </a:pPr>
            <a:r>
              <a:t>不能让渡的东西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1C04B49-2C83-44BE-8EC7-09738D550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514600"/>
            <a:ext cx="27432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问题定义</a:t>
            </a:r>
          </a:p>
          <a:p xmlns:a="http://schemas.openxmlformats.org/drawingml/2006/main">
            <a:pPr algn="l">
              <a:defRPr sz="1050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异常识别</a:t>
            </a:r>
          </a:p>
          <a:p xmlns:a="http://schemas.openxmlformats.org/drawingml/2006/main">
            <a:pPr algn="l">
              <a:defRPr sz="1050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机制想象</a:t>
            </a:r>
          </a:p>
          <a:p xmlns:a="http://schemas.openxmlformats.org/drawingml/2006/main">
            <a:pPr algn="l">
              <a:defRPr sz="1050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责任承担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6CA90DF-46A9-497D-A3CD-C1D81A1FE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171950"/>
            <a:ext cx="3048000" cy="1485900"/>
          </a:xfrm>
          <a:prstGeom xmlns:a="http://schemas.openxmlformats.org/drawingml/2006/main" prst="roundRect">
            <a:avLst>
              <a:gd name="adj" fmla="val 5128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3B82F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CDDA72A-2AD1-42A3-BC29-66C3DE429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305300"/>
            <a:ext cx="27432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0" i="0">
                <a:solidFill>
                  <a:srgbClr val="3B82F6"/>
                </a:solidFill>
                <a:latin typeface="Consolas"/>
                <a:ea typeface="Consolas"/>
                <a:cs typeface="Consolas"/>
              </a:defRPr>
            </a:pPr>
            <a:r>
              <a:t>因此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096C40D-3FA2-4114-8743-48001499E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552950"/>
            <a:ext cx="27432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高质量 SDL 不是“去人化”，而是把人的角色从重复动作上移到判断、监督、解释与创造上。</a:t>
            </a:r>
          </a:p>
        </p:txBody>
      </p:sp>
    </p:spTree>
    <p:extLst>
      <p:ext uri="{BB962C8B-B14F-4D97-AF65-F5344CB8AC3E}">
        <p14:creationId xmlns:p14="http://schemas.microsoft.com/office/powerpoint/2010/main" val="106755322"/>
      </p:ext>
    </p:extLst>
  </p:cSld>
</p:sld>
</file>

<file path=ppt/slides/slide4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68BD5D8-1169-4257-BA42-BC9DCF413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F58C6FE-F3E0-48FC-B23C-61C0556D3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3810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13D6FF"/>
                </a:solidFill>
                <a:latin typeface="Consolas"/>
                <a:ea typeface="Consolas"/>
                <a:cs typeface="Consolas"/>
              </a:defRPr>
            </a:pPr>
            <a:r>
              <a:t>适配边界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C59D533-B873-4CA6-BBD4-DB18FD160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266700"/>
            <a:ext cx="114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750" b="0" i="0">
                <a:solidFill>
                  <a:srgbClr val="6E829D"/>
                </a:solidFill>
                <a:latin typeface="Consolas"/>
                <a:ea typeface="Consolas"/>
                <a:cs typeface="Consolas"/>
              </a:defRPr>
            </a:pPr>
            <a:r>
              <a:t>44 / 63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C6B5B54-7622-4A6D-9C48-B2E106374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953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3D68"/>
          </a:solidFill>
          <a:ln xmlns:a="http://schemas.openxmlformats.org/drawingml/2006/main" w="0">
            <a:solidFill>
              <a:srgbClr val="1B3D68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795C7FF-89F5-4BBC-A87C-1706EB3D7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819150"/>
            <a:ext cx="9906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哪些问题更适合 SDL，哪些问题暂时不适合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C5CAF10-C6A0-43B7-9251-E40D1CEDB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390650"/>
            <a:ext cx="990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t>不是所有实验都该 SDL 化。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9F93039-ACAA-4153-ADDD-2AE41E190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171700"/>
            <a:ext cx="20955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0E213A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4CC41BA-F9BB-4AE4-BC86-3DA534652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295525"/>
            <a:ext cx="1866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t>维度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E66476F-3806-4333-8CF7-82F227FE2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171700"/>
            <a:ext cx="24765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0C5D620-AE4E-4C53-B33F-A20920EFB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295525"/>
            <a:ext cx="2247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0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更适合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FE54C28-82FE-4485-8BD6-3C1DDF903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2171700"/>
            <a:ext cx="24765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EAFC461-7B69-4CC8-BAB8-0A6BBE8C4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295525"/>
            <a:ext cx="2247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0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不太适合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FDAE4C8-71DA-4C85-810E-5C910264C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171700"/>
            <a:ext cx="24765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D4E963B-827E-4F71-9FE3-47AA5AB6A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295525"/>
            <a:ext cx="2247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0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判断依据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C9CEBB6-613F-4451-A09F-B9F443A29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09850"/>
            <a:ext cx="20955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A34D1B7-FCD9-4E4B-8C3E-60A8EBF3A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705100"/>
            <a:ext cx="18669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可自动化、可标准化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0EC51E3-E8FC-42D8-B6CE-C355451C0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609850"/>
            <a:ext cx="24765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071426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0D4BC94-DB6C-499B-AD9D-40F41654F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705100"/>
            <a:ext cx="22479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强依赖手工艺与个人手感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07F2B04-9302-4BEE-AD44-E9B37F2FA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2609850"/>
            <a:ext cx="24765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071426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C252593-C88E-45C0-A521-FF89DF022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705100"/>
            <a:ext cx="22479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执行是否能稳定复现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F7E7241-3127-48C9-95ED-50E2811B6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86100"/>
            <a:ext cx="20955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D0E394E-C795-46F7-96B2-C06E54F2B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181350"/>
            <a:ext cx="18669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可快速测量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ADE1506-5D79-41BE-B0CD-781D112F3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086100"/>
            <a:ext cx="24765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071426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1CA4AC5-3305-415F-B9E7-143B5E1E5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181350"/>
            <a:ext cx="22479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观测极慢、极昂贵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CEA7751-6AFD-4EB4-9128-8577857E7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3086100"/>
            <a:ext cx="24765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071426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3B9BA0C-5252-4705-A8A6-E5A3C56E0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3181350"/>
            <a:ext cx="22479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闭环速度是否可接受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09DD332-5165-4369-82BA-FCDBDD36E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562350"/>
            <a:ext cx="20955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5D8CD5E-9BD6-475C-9DCA-5A0C54EBA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657600"/>
            <a:ext cx="18669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目标和约束较清楚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72EFA95-EE28-4D3C-AA0B-E1B2D843E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562350"/>
            <a:ext cx="24765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071426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C9ECCCD-41D6-4DD8-8B8B-BC535360C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657600"/>
            <a:ext cx="22479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目标定义模糊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BA41F0A-0F55-4F30-BA6C-65D16BA92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3562350"/>
            <a:ext cx="24765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071426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618C04C-3D9E-480A-8019-800676571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3657600"/>
            <a:ext cx="22479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推荐是否有可判定依据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0E5CF6A-54EA-4747-9480-BFFD2A1D3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038600"/>
            <a:ext cx="20955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6CC9B3E-D6FD-4994-A4AF-256CC2513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133850"/>
            <a:ext cx="18669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数据可结构化记录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32EDD9B-1608-4DAB-A879-D3E27E90F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4038600"/>
            <a:ext cx="24765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071426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094A779-8CC7-4632-9D43-6BD512608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133850"/>
            <a:ext cx="22479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过程难以被数据化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E543EA1-C5B1-4307-9347-B24158EF9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4038600"/>
            <a:ext cx="24765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071426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FCF6989-1AA9-41AE-A514-F87E76129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4133850"/>
            <a:ext cx="22479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能否形成持续更新模型</a:t>
            </a:r>
          </a:p>
        </p:txBody>
      </p:sp>
    </p:spTree>
    <p:extLst>
      <p:ext uri="{BB962C8B-B14F-4D97-AF65-F5344CB8AC3E}">
        <p14:creationId xmlns:p14="http://schemas.microsoft.com/office/powerpoint/2010/main" val="402951442"/>
      </p:ext>
    </p:extLst>
  </p:cSld>
</p:sld>
</file>

<file path=ppt/slides/slide4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A6C66F1-2061-4FCA-9379-DE2126CE6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0AB8687-B073-4C47-9D28-9A8750D66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3810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13D6FF"/>
                </a:solidFill>
                <a:latin typeface="Consolas"/>
                <a:ea typeface="Consolas"/>
                <a:cs typeface="Consolas"/>
              </a:defRPr>
            </a:pPr>
            <a:r>
              <a:t>代表系统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6A7ED28-5C44-4492-87A6-05CD85C54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266700"/>
            <a:ext cx="114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750" b="0" i="0">
                <a:solidFill>
                  <a:srgbClr val="6E829D"/>
                </a:solidFill>
                <a:latin typeface="Consolas"/>
                <a:ea typeface="Consolas"/>
                <a:cs typeface="Consolas"/>
              </a:defRPr>
            </a:pPr>
            <a:r>
              <a:t>45 / 63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AA1AEE9-E83D-4B13-80AE-880763B49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953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3D68"/>
          </a:solidFill>
          <a:ln xmlns:a="http://schemas.openxmlformats.org/drawingml/2006/main" w="0">
            <a:solidFill>
              <a:srgbClr val="1B3D68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818B246-6571-460B-B7F9-E02CA7A78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819150"/>
            <a:ext cx="9906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聚焦 A-Lab 前，先看几条常被引用的 SDL 路线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9B2B05F-6E35-4FCF-966B-81B3B5C44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390650"/>
            <a:ext cx="990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t>A-Lab 很重要，但它只是 SDL 全景中的一个代表。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C430170-FD01-4128-A9BA-AE827DA1E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133600"/>
            <a:ext cx="5143500" cy="1466850"/>
          </a:xfrm>
          <a:prstGeom xmlns:a="http://schemas.openxmlformats.org/drawingml/2006/main" prst="roundRect">
            <a:avLst>
              <a:gd name="adj" fmla="val 5195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62F0E66-A98D-4662-99DA-5435B8C29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266950"/>
            <a:ext cx="48387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13D6FF"/>
                </a:solidFill>
                <a:latin typeface="Aptos"/>
                <a:ea typeface="Aptos"/>
                <a:cs typeface="Aptos"/>
              </a:defRPr>
            </a:pPr>
            <a:r>
              <a:t>ChemOS / 反应优化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00C0920-4689-4B4F-BC7C-65E408822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514600"/>
            <a:ext cx="48387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强项：把实验编排、设备控制和 BO 工作流接起来。</a:t>
            </a:r>
          </a:p>
          <a:p xmlns:a="http://schemas.openxmlformats.org/drawingml/2006/main"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局限：更偏平台与工作流，不等于某一具体学科问题已被完全解决。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A5F893E-E9D8-4658-BF65-F2AFA195B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133600"/>
            <a:ext cx="5143500" cy="1466850"/>
          </a:xfrm>
          <a:prstGeom xmlns:a="http://schemas.openxmlformats.org/drawingml/2006/main" prst="roundRect">
            <a:avLst>
              <a:gd name="adj" fmla="val 5195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BE67E5A-3253-4C2F-9041-D8B06CE92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266950"/>
            <a:ext cx="48387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3B82F6"/>
                </a:solidFill>
                <a:latin typeface="Aptos"/>
                <a:ea typeface="Aptos"/>
                <a:cs typeface="Aptos"/>
              </a:defRPr>
            </a:pPr>
            <a:r>
              <a:t>NIST AFL（自治配方实验室）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551F4A0-085D-4E2B-987C-CD7EC0C04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514600"/>
            <a:ext cx="48387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强项：配方、流变、材料加工场景清晰。</a:t>
            </a:r>
          </a:p>
          <a:p xmlns:a="http://schemas.openxmlformats.org/drawingml/2006/main"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局限：更适合特定 formulation 场景，通用性需谨慎解读。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ECBDDF1-1E36-4F26-9D2B-25C6DB3CE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71900"/>
            <a:ext cx="5143500" cy="1466850"/>
          </a:xfrm>
          <a:prstGeom xmlns:a="http://schemas.openxmlformats.org/drawingml/2006/main" prst="roundRect">
            <a:avLst>
              <a:gd name="adj" fmla="val 5195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B3E2FFD-1C4B-4CE5-ADA3-A8E2790D1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905250"/>
            <a:ext cx="48387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FB7185"/>
                </a:solidFill>
                <a:latin typeface="Aptos"/>
                <a:ea typeface="Aptos"/>
                <a:cs typeface="Aptos"/>
              </a:defRPr>
            </a:pPr>
            <a:r>
              <a:t>A-Lab（自治实验室）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4479524-5FE9-473D-8CCF-D054A1E2E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152900"/>
            <a:ext cx="48387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强项：固相无机材料发现链条完整、传播度高。</a:t>
            </a:r>
          </a:p>
          <a:p xmlns:a="http://schemas.openxmlformats.org/drawingml/2006/main"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局限：争议也最集中，定义口径和验证链必须细看。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53666CA-947D-4FF2-9D8D-CBA3E8CED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771900"/>
            <a:ext cx="5143500" cy="1466850"/>
          </a:xfrm>
          <a:prstGeom xmlns:a="http://schemas.openxmlformats.org/drawingml/2006/main" prst="roundRect">
            <a:avLst>
              <a:gd name="adj" fmla="val 5195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BD01CDC-D87E-4267-8233-1899C6C85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905250"/>
            <a:ext cx="48387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34D399"/>
                </a:solidFill>
                <a:latin typeface="Aptos"/>
                <a:ea typeface="Aptos"/>
                <a:cs typeface="Aptos"/>
              </a:defRPr>
            </a:pPr>
            <a:r>
              <a:t>低成本 SDL / frugal twin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5B3D0AE-235E-4ABF-9171-E476F00E8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152900"/>
            <a:ext cx="48387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强项：可复制、教育友好、便于快速验证闭环逻辑。</a:t>
            </a:r>
          </a:p>
          <a:p xmlns:a="http://schemas.openxmlformats.org/drawingml/2006/main"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局限：常不能替代高价值真实实验的复杂语义。</a:t>
            </a:r>
          </a:p>
        </p:txBody>
      </p:sp>
    </p:spTree>
    <p:extLst>
      <p:ext uri="{BB962C8B-B14F-4D97-AF65-F5344CB8AC3E}">
        <p14:creationId xmlns:p14="http://schemas.microsoft.com/office/powerpoint/2010/main" val="1933914841"/>
      </p:ext>
    </p:extLst>
  </p:cSld>
</p:sld>
</file>

<file path=ppt/slides/slide4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21D39FF-4EC5-4ECE-980F-93A435C3D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0FF1A9C-FE74-409C-9508-46C58073D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3810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13D6FF"/>
                </a:solidFill>
                <a:latin typeface="Consolas"/>
                <a:ea typeface="Consolas"/>
                <a:cs typeface="Consolas"/>
              </a:defRPr>
            </a:pPr>
            <a:r>
              <a:t>第五部分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AC686FC-C79F-4C0A-9DBD-CF59E4299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266700"/>
            <a:ext cx="114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750" b="0" i="0">
                <a:solidFill>
                  <a:srgbClr val="6E829D"/>
                </a:solidFill>
                <a:latin typeface="Consolas"/>
                <a:ea typeface="Consolas"/>
                <a:cs typeface="Consolas"/>
              </a:defRPr>
            </a:pPr>
            <a:r>
              <a:t>46 / 63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C446F3-112E-4726-9F75-11022813F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953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3D68"/>
          </a:solidFill>
          <a:ln xmlns:a="http://schemas.openxmlformats.org/drawingml/2006/main" w="0">
            <a:solidFill>
              <a:srgbClr val="1B3D68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8B3FC34-E504-4590-BB18-1E0DD353E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676400"/>
            <a:ext cx="14287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5400" b="1" i="0">
                <a:solidFill>
                  <a:srgbClr val="FB7185"/>
                </a:solidFill>
                <a:latin typeface="Consolas"/>
                <a:ea typeface="Consolas"/>
                <a:cs typeface="Consolas"/>
              </a:defRPr>
            </a:pPr>
            <a:r>
              <a:t>05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AAB0F42-A748-4151-9009-325A4F2FA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1809750"/>
            <a:ext cx="7810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A-Lab：真实系统案例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7E8D615-1E66-4CE0-A783-5CA7E2976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2628900"/>
            <a:ext cx="7429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t>A-Lab 之所以重要，不只是因为它“做成了什么”，也因为它暴露了什么。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4EC8068-3149-44D1-B63E-D1043F75C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924300"/>
            <a:ext cx="4000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solidFill>
              <a:srgbClr val="FB7185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CF6AF50-E91C-45DC-8C5B-54861C183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438650"/>
            <a:ext cx="85725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讲真实案例，必须同时讲能力、争议、修正与启示。</a:t>
            </a:r>
          </a:p>
        </p:txBody>
      </p:sp>
    </p:spTree>
    <p:extLst>
      <p:ext uri="{BB962C8B-B14F-4D97-AF65-F5344CB8AC3E}">
        <p14:creationId xmlns:p14="http://schemas.microsoft.com/office/powerpoint/2010/main" val="119258328"/>
      </p:ext>
    </p:extLst>
  </p:cSld>
</p:sld>
</file>

<file path=ppt/slides/slide4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DFFE0AC-84BF-4668-8FA5-17DEA03D7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9C8E1E2-D34B-45A1-A2AB-4FAE346AB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3810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13D6FF"/>
                </a:solidFill>
                <a:latin typeface="Consolas"/>
                <a:ea typeface="Consolas"/>
                <a:cs typeface="Consolas"/>
              </a:defRPr>
            </a:pPr>
            <a:r>
              <a:t>A-Lab 概览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7168E95-4857-428B-A68A-D28483D08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266700"/>
            <a:ext cx="114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750" b="0" i="0">
                <a:solidFill>
                  <a:srgbClr val="6E829D"/>
                </a:solidFill>
                <a:latin typeface="Consolas"/>
                <a:ea typeface="Consolas"/>
                <a:cs typeface="Consolas"/>
              </a:defRPr>
            </a:pPr>
            <a:r>
              <a:t>47 / 63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493E52-2850-4D95-9747-742062135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953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3D68"/>
          </a:solidFill>
          <a:ln xmlns:a="http://schemas.openxmlformats.org/drawingml/2006/main" w="0">
            <a:solidFill>
              <a:srgbClr val="1B3D68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F3755BC-FA38-4CF3-88D7-61F96BB52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819150"/>
            <a:ext cx="9906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A-Lab 想做什么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B23EFE3-C595-4920-BD19-8862C0A35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390650"/>
            <a:ext cx="990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t>目标是把固相无机材料发现组织成一个自治实验流程。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2D96156-BBE3-4C3D-B421-4C0B01C84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133600"/>
            <a:ext cx="6858000" cy="3524250"/>
          </a:xfrm>
          <a:prstGeom xmlns:a="http://schemas.openxmlformats.org/drawingml/2006/main" prst="roundRect">
            <a:avLst>
              <a:gd name="adj" fmla="val 2162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D931BBB-2643-40A0-875C-D3302F27B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400300"/>
            <a:ext cx="619125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• 在候选材料空间中筛选目标，自动生成合成配方。</a:t>
            </a:r>
          </a:p>
          <a:p xmlns:a="http://schemas.openxmlformats.org/drawingml/2006/main">
            <a:pPr algn="l">
              <a:defRPr sz="1575" b="0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• 自动完成配料、加热、研磨和 XRD（X射线衍射）测量。</a:t>
            </a:r>
          </a:p>
          <a:p xmlns:a="http://schemas.openxmlformats.org/drawingml/2006/main">
            <a:pPr algn="l">
              <a:defRPr sz="1575" b="0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• 利用机器学习辅助相鉴定，并继续选择下一实验。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AD4731C-13D9-4327-99F2-19CC2A33E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133600"/>
            <a:ext cx="304800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3D6FF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0EF23D4-20F9-45AF-916B-F98326976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266950"/>
            <a:ext cx="27432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0" i="0">
                <a:solidFill>
                  <a:srgbClr val="13D6FF"/>
                </a:solidFill>
                <a:latin typeface="Consolas"/>
                <a:ea typeface="Consolas"/>
                <a:cs typeface="Consolas"/>
              </a:defRPr>
            </a:pPr>
            <a:r>
              <a:t>为什么它有代表性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9BD2AAA-0358-4A9E-9D57-60B129661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514600"/>
            <a:ext cx="27432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它不是 toy benchmark，而是把计算筛选、机器人执行、表征和决策放进同一系统。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C8A68CB-DDD5-4C04-B91B-78D74DD67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171950"/>
            <a:ext cx="3048000" cy="1485900"/>
          </a:xfrm>
          <a:prstGeom xmlns:a="http://schemas.openxmlformats.org/drawingml/2006/main" prst="roundRect">
            <a:avLst>
              <a:gd name="adj" fmla="val 5128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3B82F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74D04CA-AFCB-42A5-9EC7-60C6EE519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305300"/>
            <a:ext cx="27432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0" i="0">
                <a:solidFill>
                  <a:srgbClr val="3B82F6"/>
                </a:solidFill>
                <a:latin typeface="Consolas"/>
                <a:ea typeface="Consolas"/>
                <a:cs typeface="Consolas"/>
              </a:defRPr>
            </a:pPr>
            <a:r>
              <a:t>更关键的是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3DB8DA5-0610-441B-B5D0-3FEE15E4D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552950"/>
            <a:ext cx="27432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它让人看到 SDL 不是单个算法，而是一整套实验系统工程。</a:t>
            </a:r>
          </a:p>
        </p:txBody>
      </p:sp>
    </p:spTree>
    <p:extLst>
      <p:ext uri="{BB962C8B-B14F-4D97-AF65-F5344CB8AC3E}">
        <p14:creationId xmlns:p14="http://schemas.microsoft.com/office/powerpoint/2010/main" val="2011380230"/>
      </p:ext>
    </p:extLst>
  </p:cSld>
</p:sld>
</file>

<file path=ppt/slides/slide4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68404B7-0C1B-4E4D-BEB7-51DC65BFB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9CBBA7F-8A31-4819-9196-3304B9A94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3810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13D6FF"/>
                </a:solidFill>
                <a:latin typeface="Consolas"/>
                <a:ea typeface="Consolas"/>
                <a:cs typeface="Consolas"/>
              </a:defRPr>
            </a:pPr>
            <a:r>
              <a:t>A-Lab 架构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E8058A-FA8D-4301-9816-0BEF5058C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266700"/>
            <a:ext cx="114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750" b="0" i="0">
                <a:solidFill>
                  <a:srgbClr val="6E829D"/>
                </a:solidFill>
                <a:latin typeface="Consolas"/>
                <a:ea typeface="Consolas"/>
                <a:cs typeface="Consolas"/>
              </a:defRPr>
            </a:pPr>
            <a:r>
              <a:t>48 / 63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4DC7496-B513-4971-AEB3-4888E0450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953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3D68"/>
          </a:solidFill>
          <a:ln xmlns:a="http://schemas.openxmlformats.org/drawingml/2006/main" w="0">
            <a:solidFill>
              <a:srgbClr val="1B3D68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9C026C7-F959-422E-A5E1-4B75F92D9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819150"/>
            <a:ext cx="9906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把 A-Lab 拆开看：它至少包含四个关键层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AD1D01F-89BA-47BA-AE72-645E23C4F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390650"/>
            <a:ext cx="990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t>筛选、执行、表征、解释。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5A4549A-9B36-4D59-BB4C-3A83A31CB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571750"/>
            <a:ext cx="2505075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1202E93-3E48-45B8-A7EA-3DD5376EA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724150"/>
            <a:ext cx="22002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13D6FF"/>
                </a:solidFill>
                <a:latin typeface="Consolas"/>
                <a:ea typeface="Consolas"/>
                <a:cs typeface="Consolas"/>
              </a:defRPr>
            </a:pPr>
            <a:r>
              <a:t>L1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43E4038-7DDB-43D2-A3DA-9E80BAC4A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971800"/>
            <a:ext cx="22002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目标筛选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268B43D-0D0C-4B65-93BC-94996EC41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352800"/>
            <a:ext cx="2200275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从计算数据库中选出值得尝试的候选。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6DC4A26-DBAC-4805-BF2F-A562F3110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425" y="3238500"/>
            <a:ext cx="22860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B82F6"/>
          </a:solidFill>
          <a:ln xmlns:a="http://schemas.openxmlformats.org/drawingml/2006/main" w="0">
            <a:solidFill>
              <a:srgbClr val="3B82F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629A2E7-F90E-4841-99D5-FF7048629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4725" y="2571750"/>
            <a:ext cx="2505075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8C9E604-1554-4CC3-8622-0003D8719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2724150"/>
            <a:ext cx="22002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3B82F6"/>
                </a:solidFill>
                <a:latin typeface="Consolas"/>
                <a:ea typeface="Consolas"/>
                <a:cs typeface="Consolas"/>
              </a:defRPr>
            </a:pPr>
            <a:r>
              <a:t>L2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45C71B7-9357-4E35-9414-1F7C043A7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2971800"/>
            <a:ext cx="22002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自动执行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E8F196E-9FD1-46CF-B0EF-2B5AE10FB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3352800"/>
            <a:ext cx="2200275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机器人与炉子完成配料、加热、研磨。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D3CD535-72D8-41BA-A392-D6F0D3F47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3238500"/>
            <a:ext cx="22860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B82F6"/>
          </a:solidFill>
          <a:ln xmlns:a="http://schemas.openxmlformats.org/drawingml/2006/main" w="0">
            <a:solidFill>
              <a:srgbClr val="3B82F6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1CC1D7D-1DFB-4F53-A3B2-205CC2EFD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571750"/>
            <a:ext cx="2505075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1312795-EC4E-49BF-9EB6-897BFEBBA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724150"/>
            <a:ext cx="22002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FBBF24"/>
                </a:solidFill>
                <a:latin typeface="Consolas"/>
                <a:ea typeface="Consolas"/>
                <a:cs typeface="Consolas"/>
              </a:defRPr>
            </a:pPr>
            <a:r>
              <a:t>L3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FEED3B5-1B49-4E27-9E34-1E28A1374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971800"/>
            <a:ext cx="22002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表征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71D0DB3-1B10-4647-BC77-5D59F24E3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352800"/>
            <a:ext cx="2200275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XRD 输出结构信息，形成实验观测。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A2BFA0D-5D89-4E68-8391-53767D367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3238500"/>
            <a:ext cx="22860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B82F6"/>
          </a:solidFill>
          <a:ln xmlns:a="http://schemas.openxmlformats.org/drawingml/2006/main" w="0">
            <a:solidFill>
              <a:srgbClr val="3B82F6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3CD0BDB-2948-4485-8DED-B936AE9C7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9675" y="2571750"/>
            <a:ext cx="2505075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34C7D70-7F94-4549-98D6-78E94FEB8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2075" y="2724150"/>
            <a:ext cx="22002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FB7185"/>
                </a:solidFill>
                <a:latin typeface="Consolas"/>
                <a:ea typeface="Consolas"/>
                <a:cs typeface="Consolas"/>
              </a:defRPr>
            </a:pPr>
            <a:r>
              <a:t>L4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9789B6A-472E-4096-804D-EB38DE300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2075" y="2971800"/>
            <a:ext cx="22002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解释与推荐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C6439E8-EA03-45BE-926C-2FD0452AE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2075" y="3352800"/>
            <a:ext cx="2200275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模型辅助相鉴定，并推动后续实验。</a:t>
            </a:r>
          </a:p>
        </p:txBody>
      </p:sp>
    </p:spTree>
    <p:extLst>
      <p:ext uri="{BB962C8B-B14F-4D97-AF65-F5344CB8AC3E}">
        <p14:creationId xmlns:p14="http://schemas.microsoft.com/office/powerpoint/2010/main" val="19812067"/>
      </p:ext>
    </p:extLst>
  </p:cSld>
</p:sld>
</file>

<file path=ppt/slides/slide4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28F50A3-A305-49E7-9A02-8111DCCB7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FFEE3CA-0A3C-4105-B543-C1B23BD79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3810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13D6FF"/>
                </a:solidFill>
                <a:latin typeface="Consolas"/>
                <a:ea typeface="Consolas"/>
                <a:cs typeface="Consolas"/>
              </a:defRPr>
            </a:pPr>
            <a:r>
              <a:t>A-Lab 目标筛选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782186-7006-423D-9E7E-279789D99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266700"/>
            <a:ext cx="114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750" b="0" i="0">
                <a:solidFill>
                  <a:srgbClr val="6E829D"/>
                </a:solidFill>
                <a:latin typeface="Consolas"/>
                <a:ea typeface="Consolas"/>
                <a:cs typeface="Consolas"/>
              </a:defRPr>
            </a:pPr>
            <a:r>
              <a:t>49 / 63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EC992F2-02FB-4FCC-AAA4-320983B4F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953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3D68"/>
          </a:solidFill>
          <a:ln xmlns:a="http://schemas.openxmlformats.org/drawingml/2006/main" w="0">
            <a:solidFill>
              <a:srgbClr val="1B3D68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B06BF05-B0A9-492D-B169-C705E7008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819150"/>
            <a:ext cx="9906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A-Lab 的候选筛选逻辑，本质上是“先缩空间，再进实验”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C48828D-5C63-42AA-9D00-FE2FDA91C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390650"/>
            <a:ext cx="990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t>这也是很多 SDL 系统的常见策略。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A219162-A6BF-4D44-8A72-2E95FCA89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133600"/>
            <a:ext cx="5143500" cy="1466850"/>
          </a:xfrm>
          <a:prstGeom xmlns:a="http://schemas.openxmlformats.org/drawingml/2006/main" prst="roundRect">
            <a:avLst>
              <a:gd name="adj" fmla="val 5195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250A0B8-9E20-4C89-BA8F-BB40D95A6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266950"/>
            <a:ext cx="48387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13D6FF"/>
                </a:solidFill>
                <a:latin typeface="Aptos"/>
                <a:ea typeface="Aptos"/>
                <a:cs typeface="Aptos"/>
              </a:defRPr>
            </a:pPr>
            <a:r>
              <a:t>先缩空间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3C6B70E-3C64-4D56-B69E-1252D494A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514600"/>
            <a:ext cx="48387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从大量计算候选中，优先保留热力学上较稳定、空气中较可行、前驱体可得的目标。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20ED3C6-F3CF-4E09-9354-F363645AF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133600"/>
            <a:ext cx="5143500" cy="1466850"/>
          </a:xfrm>
          <a:prstGeom xmlns:a="http://schemas.openxmlformats.org/drawingml/2006/main" prst="roundRect">
            <a:avLst>
              <a:gd name="adj" fmla="val 5195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9759519-4635-47CA-95B4-C12293D00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266950"/>
            <a:ext cx="48387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3B82F6"/>
                </a:solidFill>
                <a:latin typeface="Aptos"/>
                <a:ea typeface="Aptos"/>
                <a:cs typeface="Aptos"/>
              </a:defRPr>
            </a:pPr>
            <a:r>
              <a:t>再进实验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B97397B-0096-4BD6-A6F2-F763B0B2C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514600"/>
            <a:ext cx="48387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把真正昂贵的实验预算，集中花在更有希望的候选上。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64B0333-F662-4764-B67D-B4F512CE9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71900"/>
            <a:ext cx="5143500" cy="1466850"/>
          </a:xfrm>
          <a:prstGeom xmlns:a="http://schemas.openxmlformats.org/drawingml/2006/main" prst="roundRect">
            <a:avLst>
              <a:gd name="adj" fmla="val 5195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A72E85E-1DDF-4F3C-AAFE-5B6106B49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905250"/>
            <a:ext cx="48387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34D399"/>
                </a:solidFill>
                <a:latin typeface="Aptos"/>
                <a:ea typeface="Aptos"/>
                <a:cs typeface="Aptos"/>
              </a:defRPr>
            </a:pPr>
            <a:r>
              <a:t>优势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F2301E4-D325-49C9-BD2B-D01554E2C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152900"/>
            <a:ext cx="48387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显著减少盲目搜索，提高实验预算利用率。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BABB862-1E1C-4030-9CF5-5717F7078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771900"/>
            <a:ext cx="5143500" cy="1466850"/>
          </a:xfrm>
          <a:prstGeom xmlns:a="http://schemas.openxmlformats.org/drawingml/2006/main" prst="roundRect">
            <a:avLst>
              <a:gd name="adj" fmla="val 5195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AD1C673-A2E2-4121-A3E5-F3B7F7EBB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905250"/>
            <a:ext cx="48387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FB7185"/>
                </a:solidFill>
                <a:latin typeface="Aptos"/>
                <a:ea typeface="Aptos"/>
                <a:cs typeface="Aptos"/>
              </a:defRPr>
            </a:pPr>
            <a:r>
              <a:t>风险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DAF6683-B36D-4F5F-9743-B007A0001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152900"/>
            <a:ext cx="48387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如果前端计算假设有系统偏差，后端实验就可能被整体带偏。</a:t>
            </a:r>
          </a:p>
        </p:txBody>
      </p:sp>
    </p:spTree>
    <p:extLst>
      <p:ext uri="{BB962C8B-B14F-4D97-AF65-F5344CB8AC3E}">
        <p14:creationId xmlns:p14="http://schemas.microsoft.com/office/powerpoint/2010/main" val="636033189"/>
      </p:ext>
    </p:extLst>
  </p:cSld>
</p:sld>
</file>

<file path=ppt/slides/slide5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578D0A3-6220-42E7-9717-1A7F21ED4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1CBA79C-B46D-4DB3-83B9-14167772B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3810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13D6FF"/>
                </a:solidFill>
                <a:latin typeface="Consolas"/>
                <a:ea typeface="Consolas"/>
                <a:cs typeface="Consolas"/>
              </a:defRPr>
            </a:pPr>
            <a:r>
              <a:t>A-Lab 结果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8AF789A-6CB5-46B6-AA65-CA07B10D2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266700"/>
            <a:ext cx="114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750" b="0" i="0">
                <a:solidFill>
                  <a:srgbClr val="6E829D"/>
                </a:solidFill>
                <a:latin typeface="Consolas"/>
                <a:ea typeface="Consolas"/>
                <a:cs typeface="Consolas"/>
              </a:defRPr>
            </a:pPr>
            <a:r>
              <a:t>50 / 63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35E2840-5F15-4508-9BBD-8B90C9383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953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3D68"/>
          </a:solidFill>
          <a:ln xmlns:a="http://schemas.openxmlformats.org/drawingml/2006/main" w="0">
            <a:solidFill>
              <a:srgbClr val="1B3D68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257B144-C7B0-4002-BE02-4FB4E2AE6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819150"/>
            <a:ext cx="9906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A-Lab 引发关注，是因为它同时报告了速度与成功率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CABC872-38B8-43BA-AAE0-800168218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390650"/>
            <a:ext cx="990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t>但学生必须学会区分“报告结果”和“最终共识”。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6F016EC-4CC6-4EBA-A134-0FAF21818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133600"/>
            <a:ext cx="6858000" cy="3524250"/>
          </a:xfrm>
          <a:prstGeom xmlns:a="http://schemas.openxmlformats.org/drawingml/2006/main" prst="roundRect">
            <a:avLst>
              <a:gd name="adj" fmla="val 2162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9965ACC-E031-423C-80B0-8E4A1C258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400300"/>
            <a:ext cx="619125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• 论文报告了 17 天连续运行、58 个目标尝试、355 次实验。</a:t>
            </a:r>
          </a:p>
          <a:p xmlns:a="http://schemas.openxmlformats.org/drawingml/2006/main">
            <a:pPr algn="l">
              <a:defRPr sz="1575" b="0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• 原始论文将 41 个目标视为成功案例，并给出约 71% 的目标级成功率表述。</a:t>
            </a:r>
          </a:p>
          <a:p xmlns:a="http://schemas.openxmlformats.org/drawingml/2006/main">
            <a:pPr algn="l">
              <a:defRPr sz="1575" b="0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• 这些数字让 A-Lab 成为全球讨论 SDL 的标志性案例。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42735AA-147E-4C3E-B552-0835E622A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133600"/>
            <a:ext cx="304800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3D6FF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0D638E6-C35E-4CEE-A849-B90F25330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266950"/>
            <a:ext cx="27432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0" i="0">
                <a:solidFill>
                  <a:srgbClr val="13D6FF"/>
                </a:solidFill>
                <a:latin typeface="Consolas"/>
                <a:ea typeface="Consolas"/>
                <a:cs typeface="Consolas"/>
              </a:defRPr>
            </a:pPr>
            <a:r>
              <a:t>阅读口径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053D334-5AEE-4F39-A331-FA65AE325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514600"/>
            <a:ext cx="27432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报告结果 ≠ 最终共识。</a:t>
            </a:r>
          </a:p>
          <a:p xmlns:a="http://schemas.openxmlformats.org/drawingml/2006/main">
            <a:pPr algn="l">
              <a:defRPr sz="1050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科研论文发表后，仍可能经历独立复核、争议和修正。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BD788B5-42C7-44AB-961D-F784680AD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171950"/>
            <a:ext cx="3048000" cy="1485900"/>
          </a:xfrm>
          <a:prstGeom xmlns:a="http://schemas.openxmlformats.org/drawingml/2006/main" prst="roundRect">
            <a:avLst>
              <a:gd name="adj" fmla="val 5128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3B82F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CA4A25D-813D-4726-9219-829543AA2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305300"/>
            <a:ext cx="27432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0" i="0">
                <a:solidFill>
                  <a:srgbClr val="3B82F6"/>
                </a:solidFill>
                <a:latin typeface="Consolas"/>
                <a:ea typeface="Consolas"/>
                <a:cs typeface="Consolas"/>
              </a:defRPr>
            </a:pPr>
            <a:r>
              <a:t>因此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AC2697A-BB08-4A20-813F-9F7249525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552950"/>
            <a:ext cx="27432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真实案例最值得学的，不只是“数字多漂亮”，而是后续如何被检验。</a:t>
            </a:r>
          </a:p>
        </p:txBody>
      </p:sp>
    </p:spTree>
    <p:extLst>
      <p:ext uri="{BB962C8B-B14F-4D97-AF65-F5344CB8AC3E}">
        <p14:creationId xmlns:p14="http://schemas.microsoft.com/office/powerpoint/2010/main" val="1648700300"/>
      </p:ext>
    </p:extLst>
  </p:cSld>
</p:sld>
</file>

<file path=ppt/slides/slide5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1E216A2-FC62-44B2-8FB4-F36EE5959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B429B6C-A6C1-4FC8-851D-6A1FE37AD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3810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13D6FF"/>
                </a:solidFill>
                <a:latin typeface="Consolas"/>
                <a:ea typeface="Consolas"/>
                <a:cs typeface="Consolas"/>
              </a:defRPr>
            </a:pPr>
            <a:r>
              <a:t>A-Lab 时间线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2407B90-EE09-460A-A844-28C5C3E04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266700"/>
            <a:ext cx="114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750" b="0" i="0">
                <a:solidFill>
                  <a:srgbClr val="6E829D"/>
                </a:solidFill>
                <a:latin typeface="Consolas"/>
                <a:ea typeface="Consolas"/>
                <a:cs typeface="Consolas"/>
              </a:defRPr>
            </a:pPr>
            <a:r>
              <a:t>51 / 63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0A2A8A7-F2B2-4ADC-8DB4-75D7785EF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953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3D68"/>
          </a:solidFill>
          <a:ln xmlns:a="http://schemas.openxmlformats.org/drawingml/2006/main" w="0">
            <a:solidFill>
              <a:srgbClr val="1B3D68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572AFEC-042B-4B0F-A920-8F7457F20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819150"/>
            <a:ext cx="9906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把 A-Lab 放回时间线里，才能看清它真正教会我们的东西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9D7B3BF-277B-45BB-BF62-007DE6245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390650"/>
            <a:ext cx="990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t>发布、传播、质疑、再分析、修正，缺一不可。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B054765-C272-48B4-8E3C-4799A1475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571750"/>
            <a:ext cx="2505075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C630ADE-C52E-433F-BAA6-DF6A6A274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724150"/>
            <a:ext cx="22002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13D6FF"/>
                </a:solidFill>
                <a:latin typeface="Consolas"/>
                <a:ea typeface="Consolas"/>
                <a:cs typeface="Consolas"/>
              </a:defRPr>
            </a:pPr>
            <a:r>
              <a:t>2023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17E63EF-5EF0-4E67-AA50-2F719E972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971800"/>
            <a:ext cx="22002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发布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7B28176-CCC1-463A-A1B1-B3F0DAD29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352800"/>
            <a:ext cx="2200275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Nature 论文让 A-Lab 迅速成为 SDL 标志性案例。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FBF2D1C-C158-487F-9BD3-548D0BD4E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425" y="3238500"/>
            <a:ext cx="22860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B82F6"/>
          </a:solidFill>
          <a:ln xmlns:a="http://schemas.openxmlformats.org/drawingml/2006/main" w="0">
            <a:solidFill>
              <a:srgbClr val="3B82F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CD5BBD7-CC89-4A2A-9965-F2AB22F1F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4725" y="2571750"/>
            <a:ext cx="2505075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8ED63E3-3CA4-4B9D-9D15-086893CE6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2724150"/>
            <a:ext cx="22002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3B82F6"/>
                </a:solidFill>
                <a:latin typeface="Consolas"/>
                <a:ea typeface="Consolas"/>
                <a:cs typeface="Consolas"/>
              </a:defRPr>
            </a:pPr>
            <a:r>
              <a:t>随后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796B559-90FA-4ADD-95CD-CDF463D8C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2971800"/>
            <a:ext cx="22002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传播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DE749D6-0A96-48D2-89E2-BCFC051E7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3352800"/>
            <a:ext cx="2200275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媒体与学界大量转述速度、成功率和自治能力。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54CC079-D29B-478E-8460-258C6731F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3238500"/>
            <a:ext cx="22860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B82F6"/>
          </a:solidFill>
          <a:ln xmlns:a="http://schemas.openxmlformats.org/drawingml/2006/main" w="0">
            <a:solidFill>
              <a:srgbClr val="3B82F6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DBDB3EF-2572-4124-8FBE-FAC0E274F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571750"/>
            <a:ext cx="2505075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50A247F-9598-48AE-B2E8-FD7B9AFE0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724150"/>
            <a:ext cx="22002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FBBF24"/>
                </a:solidFill>
                <a:latin typeface="Consolas"/>
                <a:ea typeface="Consolas"/>
                <a:cs typeface="Consolas"/>
              </a:defRPr>
            </a:pPr>
            <a:r>
              <a:t>2024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5A76BF4-2EFA-43E6-AA7D-0E1A570DB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971800"/>
            <a:ext cx="22002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质疑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9047DF3-A9D3-42D9-A5C3-766080CC6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352800"/>
            <a:ext cx="2200275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独立分析开始追问“新材料”“成功”的定义边界。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B32370A-E5D6-42C4-9A27-C40BBA74D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3238500"/>
            <a:ext cx="22860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B82F6"/>
          </a:solidFill>
          <a:ln xmlns:a="http://schemas.openxmlformats.org/drawingml/2006/main" w="0">
            <a:solidFill>
              <a:srgbClr val="3B82F6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1E608EF-83B7-4E91-AC96-483CDE06C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9675" y="2571750"/>
            <a:ext cx="2505075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0984D46-7C7F-4D9E-A91E-78CF44B98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2075" y="2724150"/>
            <a:ext cx="22002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FB7185"/>
                </a:solidFill>
                <a:latin typeface="Consolas"/>
                <a:ea typeface="Consolas"/>
                <a:cs typeface="Consolas"/>
              </a:defRPr>
            </a:pPr>
            <a:r>
              <a:t>再分析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C1B8603-1A20-41E8-96DE-5BF9D660C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2075" y="2971800"/>
            <a:ext cx="22002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修正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C15690F-631B-40A3-BC01-DC75F2C76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2075" y="3352800"/>
            <a:ext cx="2200275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社群逐步把案例从宣传口径拉回到可核查口径。</a:t>
            </a:r>
          </a:p>
        </p:txBody>
      </p:sp>
    </p:spTree>
    <p:extLst>
      <p:ext uri="{BB962C8B-B14F-4D97-AF65-F5344CB8AC3E}">
        <p14:creationId xmlns:p14="http://schemas.microsoft.com/office/powerpoint/2010/main" val="1947874406"/>
      </p:ext>
    </p:extLst>
  </p:cSld>
</p:sld>
</file>

<file path=ppt/slides/slide5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86C722C-9734-4632-9F33-968870065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0A86582-7F60-483E-A91E-FDDDB4E93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3810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13D6FF"/>
                </a:solidFill>
                <a:latin typeface="Consolas"/>
                <a:ea typeface="Consolas"/>
                <a:cs typeface="Consolas"/>
              </a:defRPr>
            </a:pPr>
            <a:r>
              <a:t>争议与修正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D730F24-9555-4DC5-AC96-CCC8E4F25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266700"/>
            <a:ext cx="114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750" b="0" i="0">
                <a:solidFill>
                  <a:srgbClr val="6E829D"/>
                </a:solidFill>
                <a:latin typeface="Consolas"/>
                <a:ea typeface="Consolas"/>
                <a:cs typeface="Consolas"/>
              </a:defRPr>
            </a:pPr>
            <a:r>
              <a:t>52 / 63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5F470F-5C83-4027-A340-48E4CBA8C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953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3D68"/>
          </a:solidFill>
          <a:ln xmlns:a="http://schemas.openxmlformats.org/drawingml/2006/main" w="0">
            <a:solidFill>
              <a:srgbClr val="1B3D68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16ADE50-45C9-446E-8DF9-0EFC2DDA6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819150"/>
            <a:ext cx="9906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A-Lab 的真正教学价值：科学自我纠错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81073F9-B3E3-4036-98EE-34D307730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390650"/>
            <a:ext cx="990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t>争议不是这件事的失败，而是这件事的重要组成部分。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E8B99DC-197B-4655-98D0-A8E59E08A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171700"/>
            <a:ext cx="20955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0E213A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25D7EFE-9DAA-4C7D-A8FB-8C788CBDD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295525"/>
            <a:ext cx="1866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t>维度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611041D-1238-4159-B50D-367844DDE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171700"/>
            <a:ext cx="24765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4F689F8-1EDD-4E22-A8D8-9B1CA3804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295525"/>
            <a:ext cx="2247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0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原始声称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51E8523-1495-480C-AB11-16A42EC61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2171700"/>
            <a:ext cx="24765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5806DF7-BEFF-488E-B8EA-06554FE7B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295525"/>
            <a:ext cx="2247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0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后续质疑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BBABE17-4F51-46EB-BCF6-1AA7BFDFC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171700"/>
            <a:ext cx="24765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989ABD2-982D-4D9A-818D-51E54AEA4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295525"/>
            <a:ext cx="2247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0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对学生的启示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8BDE6B3-1AA8-4421-B322-0EBA4B08A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09850"/>
            <a:ext cx="20955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E8E7FD4-37B2-4AB6-ADBF-EDD736FCB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705100"/>
            <a:ext cx="18669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发现了大量新材料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6050852-507D-445C-B518-4B51568F9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609850"/>
            <a:ext cx="24765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071426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31CDB81-1D37-4807-ACA3-C07878A21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705100"/>
            <a:ext cx="22479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部分“新材料”可能是已知无序相的有序写法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DB7425A-478E-44DF-B1B1-E7A6B97F6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2609850"/>
            <a:ext cx="24765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071426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B469A50-AA90-4E6B-8084-67D7F9BE7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705100"/>
            <a:ext cx="22479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“新”必须先定义清楚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9CD0293-DD91-4BDA-84D8-05D1A101A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86100"/>
            <a:ext cx="20955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8228131-4481-495E-939C-AEB5F5685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181350"/>
            <a:ext cx="18669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自动相鉴定有效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453596A-F5D6-430A-9507-535BB216A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086100"/>
            <a:ext cx="24765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071426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9E92A31-F03E-4472-B40F-4CC8996FD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181350"/>
            <a:ext cx="22479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独立分析认为部分鉴定并不稳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88AC732-49BB-4D28-ACC5-DD3A194B4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3086100"/>
            <a:ext cx="24765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071426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4FBD54E-BCB3-44BD-ABE8-D1D1C5395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3181350"/>
            <a:ext cx="22479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自动化不等于免验证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E17C242-C35E-459C-B989-238995F6E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562350"/>
            <a:ext cx="20955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0BB77EA-2178-4297-A753-60B66EBAA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657600"/>
            <a:ext cx="18669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自治系统表现突出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5647E09-2687-4ECA-8648-D2E53D6D7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562350"/>
            <a:ext cx="24765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071426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84CEB3D-4F3F-4B52-B103-1A5A3A2A5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657600"/>
            <a:ext cx="22479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系统前端与后端都可能引入系统偏差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D36FC43-80A0-4D7C-97FD-75C726430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3562350"/>
            <a:ext cx="24765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071426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C07E29F-27C5-4D8B-B6F3-E8CF13FE8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3657600"/>
            <a:ext cx="22479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系统工程必须接受复核</a:t>
            </a:r>
          </a:p>
        </p:txBody>
      </p:sp>
    </p:spTree>
    <p:extLst>
      <p:ext uri="{BB962C8B-B14F-4D97-AF65-F5344CB8AC3E}">
        <p14:creationId xmlns:p14="http://schemas.microsoft.com/office/powerpoint/2010/main" val="815099725"/>
      </p:ext>
    </p:extLst>
  </p:cSld>
</p:sld>
</file>

<file path=ppt/slides/slide5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FA95716-9144-4E6A-AE27-9EDB4A29B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0BDDCEC-B173-4E10-A93C-BFC3F44F3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3810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13D6FF"/>
                </a:solidFill>
                <a:latin typeface="Consolas"/>
                <a:ea typeface="Consolas"/>
                <a:cs typeface="Consolas"/>
              </a:defRPr>
            </a:pPr>
            <a:r>
              <a:t>A-Lab 启示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D221A1B-5A84-44B1-A798-253CB3EAF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266700"/>
            <a:ext cx="114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750" b="0" i="0">
                <a:solidFill>
                  <a:srgbClr val="6E829D"/>
                </a:solidFill>
                <a:latin typeface="Consolas"/>
                <a:ea typeface="Consolas"/>
                <a:cs typeface="Consolas"/>
              </a:defRPr>
            </a:pPr>
            <a:r>
              <a:t>53 / 63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DAFDD0-337E-454E-A70B-2E8F5BCD8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953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3D68"/>
          </a:solidFill>
          <a:ln xmlns:a="http://schemas.openxmlformats.org/drawingml/2006/main" w="0">
            <a:solidFill>
              <a:srgbClr val="1B3D68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EEA24DD-BCE1-4622-A028-5063C8D3A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819150"/>
            <a:ext cx="9906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A-Lab 给学生的六个启示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CC5334F-A9E5-47BA-9373-EB2CD464D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390650"/>
            <a:ext cx="990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t>真正值得带走的，不是口号，而是判断框架。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287B2B1-7814-49E6-9355-910C60ED7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133600"/>
            <a:ext cx="6858000" cy="3524250"/>
          </a:xfrm>
          <a:prstGeom xmlns:a="http://schemas.openxmlformats.org/drawingml/2006/main" prst="roundRect">
            <a:avLst>
              <a:gd name="adj" fmla="val 2162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FAB039B-0C72-47B6-BC1A-1AE16E28C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400300"/>
            <a:ext cx="619125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• SDL 是系统工程，不是单模型工程。</a:t>
            </a:r>
          </a:p>
          <a:p xmlns:a="http://schemas.openxmlformats.org/drawingml/2006/main">
            <a:pPr algn="l">
              <a:defRPr sz="1575" b="0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• 高质量实验语义比漂亮数学曲面更重要。</a:t>
            </a:r>
          </a:p>
          <a:p xmlns:a="http://schemas.openxmlformats.org/drawingml/2006/main">
            <a:pPr algn="l">
              <a:defRPr sz="1575" b="0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• 观测与解释之间，永远可能存在鸿沟。</a:t>
            </a:r>
          </a:p>
          <a:p xmlns:a="http://schemas.openxmlformats.org/drawingml/2006/main">
            <a:pPr algn="l">
              <a:defRPr sz="1575" b="0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• 自动化必须接受独立验证与重复性检验。</a:t>
            </a:r>
          </a:p>
          <a:p xmlns:a="http://schemas.openxmlformats.org/drawingml/2006/main">
            <a:pPr algn="l">
              <a:defRPr sz="1575" b="0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• “发现”是强概念，定义必须先行。</a:t>
            </a:r>
          </a:p>
          <a:p xmlns:a="http://schemas.openxmlformats.org/drawingml/2006/main">
            <a:pPr algn="l">
              <a:defRPr sz="1575" b="0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• 人类监督不是阻碍，而是可信科学的条件。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ABFC084-B4F7-4359-9D5B-E5B7E16D0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133600"/>
            <a:ext cx="304800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3D6FF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FA10C7B-8865-47BC-B4E9-C85141054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266950"/>
            <a:ext cx="27432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0" i="0">
                <a:solidFill>
                  <a:srgbClr val="13D6FF"/>
                </a:solidFill>
                <a:latin typeface="Consolas"/>
                <a:ea typeface="Consolas"/>
                <a:cs typeface="Consolas"/>
              </a:defRPr>
            </a:pPr>
            <a:r>
              <a:t>更值得带走的是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476999F-11DA-4179-8446-35EC18C2A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514600"/>
            <a:ext cx="27432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不要只记住数字，要带走判断自治实验系统的框架。</a:t>
            </a:r>
          </a:p>
        </p:txBody>
      </p:sp>
    </p:spTree>
    <p:extLst>
      <p:ext uri="{BB962C8B-B14F-4D97-AF65-F5344CB8AC3E}">
        <p14:creationId xmlns:p14="http://schemas.microsoft.com/office/powerpoint/2010/main" val="656995271"/>
      </p:ext>
    </p:extLst>
  </p:cSld>
</p:sld>
</file>

<file path=ppt/slides/slide5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7D06FFA-73A5-4D37-A85D-32FA9B07F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D0974C7-E79D-41EF-A9D2-D4919EDFB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3810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13D6FF"/>
                </a:solidFill>
                <a:latin typeface="Consolas"/>
                <a:ea typeface="Consolas"/>
                <a:cs typeface="Consolas"/>
              </a:defRPr>
            </a:pPr>
            <a:r>
              <a:t>第六部分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E8DA2C4-1154-4ECF-A428-810D64987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266700"/>
            <a:ext cx="114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750" b="0" i="0">
                <a:solidFill>
                  <a:srgbClr val="6E829D"/>
                </a:solidFill>
                <a:latin typeface="Consolas"/>
                <a:ea typeface="Consolas"/>
                <a:cs typeface="Consolas"/>
              </a:defRPr>
            </a:pPr>
            <a:r>
              <a:t>54 / 63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93760B6-5FA6-4B25-916F-DC48DAA30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953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3D68"/>
          </a:solidFill>
          <a:ln xmlns:a="http://schemas.openxmlformats.org/drawingml/2006/main" w="0">
            <a:solidFill>
              <a:srgbClr val="1B3D68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E81BEC-3D76-4F94-AA1D-2B26406A1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676400"/>
            <a:ext cx="14287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5400" b="1" i="0">
                <a:solidFill>
                  <a:srgbClr val="13D6FF"/>
                </a:solidFill>
                <a:latin typeface="Consolas"/>
                <a:ea typeface="Consolas"/>
                <a:cs typeface="Consolas"/>
              </a:defRPr>
            </a:pPr>
            <a:r>
              <a:t>06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65773D2-1605-4BDD-B70A-01CB3E367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1809750"/>
            <a:ext cx="7810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Case Studio：最小 live demo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295BBE2-4C68-4C05-A890-7DC33CA99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2628900"/>
            <a:ext cx="7429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t>在课堂上，让学生真正看到“下一实验点为何变化”。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6BC52F7-E904-4FF3-8FAF-566BB0663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924300"/>
            <a:ext cx="4000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D6FF"/>
          </a:solidFill>
          <a:ln xmlns:a="http://schemas.openxmlformats.org/drawingml/2006/main" w="0">
            <a:solidFill>
              <a:srgbClr val="13D6FF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588F4F8-BAC2-42A3-BF74-58F66EA8E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438650"/>
            <a:ext cx="85725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讲复杂 SDL 系统之前，先让闭环逻辑在一个可解释的小系统里变得可见。</a:t>
            </a:r>
          </a:p>
        </p:txBody>
      </p:sp>
    </p:spTree>
    <p:extLst>
      <p:ext uri="{BB962C8B-B14F-4D97-AF65-F5344CB8AC3E}">
        <p14:creationId xmlns:p14="http://schemas.microsoft.com/office/powerpoint/2010/main" val="667234144"/>
      </p:ext>
    </p:extLst>
  </p:cSld>
</p:sld>
</file>

<file path=ppt/slides/slide5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51D61B6-6274-4161-B7FD-E3114D1B2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58EFC12-F1B2-4C96-8BB1-2372C9E28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3810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13D6FF"/>
                </a:solidFill>
                <a:latin typeface="Consolas"/>
                <a:ea typeface="Consolas"/>
                <a:cs typeface="Consolas"/>
              </a:defRPr>
            </a:pPr>
            <a:r>
              <a:t>Case Studio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39DEBB-C8C4-47A1-BAE3-4393235D5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266700"/>
            <a:ext cx="114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750" b="0" i="0">
                <a:solidFill>
                  <a:srgbClr val="6E829D"/>
                </a:solidFill>
                <a:latin typeface="Consolas"/>
                <a:ea typeface="Consolas"/>
                <a:cs typeface="Consolas"/>
              </a:defRPr>
            </a:pPr>
            <a:r>
              <a:t>55 / 63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FB36175-B0AC-4A07-83CA-FFD27F750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953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3D68"/>
          </a:solidFill>
          <a:ln xmlns:a="http://schemas.openxmlformats.org/drawingml/2006/main" w="0">
            <a:solidFill>
              <a:srgbClr val="1B3D68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0D0F4B3-3B3E-4EC9-B5AE-7A41FF0C3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819150"/>
            <a:ext cx="9906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为什么选 RGB LED（RGB 发光二极管）颜色匹配作为 live demo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E8950B6-0E92-4C9C-8738-54694B407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390650"/>
            <a:ext cx="990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t>因为它简单、稳定、可重复，而且能清楚体现闭环决策。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DE72EB5-EBBF-4341-8D19-DA1C08C88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133600"/>
            <a:ext cx="6858000" cy="3524250"/>
          </a:xfrm>
          <a:prstGeom xmlns:a="http://schemas.openxmlformats.org/drawingml/2006/main" prst="roundRect">
            <a:avLst>
              <a:gd name="adj" fmla="val 2162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4768A2C-8FC9-4A26-A1AE-D3193437A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400300"/>
            <a:ext cx="619125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• 参数空间只有三个控制量，学生容易立刻建立直觉。</a:t>
            </a:r>
          </a:p>
          <a:p xmlns:a="http://schemas.openxmlformats.org/drawingml/2006/main">
            <a:pPr algn="l">
              <a:defRPr sz="1575" b="0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• 目标颜色、当前最佳结果和下一推荐点可以同时显示。</a:t>
            </a:r>
          </a:p>
          <a:p xmlns:a="http://schemas.openxmlformats.org/drawingml/2006/main">
            <a:pPr algn="l">
              <a:defRPr sz="1575" b="0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• 固定 seed（随机种子）后，演示过程可复位、可重复、可比较。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B7F69A2-5F99-4392-B953-921233D60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133600"/>
            <a:ext cx="304800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3D6FF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6516A22-F56D-4930-9825-616E6A59F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266950"/>
            <a:ext cx="27432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0" i="0">
                <a:solidFill>
                  <a:srgbClr val="13D6FF"/>
                </a:solidFill>
                <a:latin typeface="Consolas"/>
                <a:ea typeface="Consolas"/>
                <a:cs typeface="Consolas"/>
              </a:defRPr>
            </a:pPr>
            <a:r>
              <a:t>它教什么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A41A487-B674-4D5C-9270-3094EF862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514600"/>
            <a:ext cx="27432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目标是什么</a:t>
            </a:r>
          </a:p>
          <a:p xmlns:a="http://schemas.openxmlformats.org/drawingml/2006/main">
            <a:pPr algn="l">
              <a:defRPr sz="1050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观测是什么</a:t>
            </a:r>
          </a:p>
          <a:p xmlns:a="http://schemas.openxmlformats.org/drawingml/2006/main">
            <a:pPr algn="l">
              <a:defRPr sz="1050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推荐为什么变</a:t>
            </a:r>
          </a:p>
          <a:p xmlns:a="http://schemas.openxmlformats.org/drawingml/2006/main">
            <a:pPr algn="l">
              <a:defRPr sz="1050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闭环如何收敛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53E873A-FE7A-4382-9F18-0CF5D152A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171950"/>
            <a:ext cx="3048000" cy="1485900"/>
          </a:xfrm>
          <a:prstGeom xmlns:a="http://schemas.openxmlformats.org/drawingml/2006/main" prst="roundRect">
            <a:avLst>
              <a:gd name="adj" fmla="val 5128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3B82F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1F02B56-5B36-4BAB-B34A-44F71F5C0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305300"/>
            <a:ext cx="27432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0" i="0">
                <a:solidFill>
                  <a:srgbClr val="3B82F6"/>
                </a:solidFill>
                <a:latin typeface="Consolas"/>
                <a:ea typeface="Consolas"/>
                <a:cs typeface="Consolas"/>
              </a:defRPr>
            </a:pPr>
            <a:r>
              <a:t>它不教什么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9C604A2-3835-46A2-BCA3-429937CC6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552950"/>
            <a:ext cx="27432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它不是真实材料仿真，也不取代真实化学/材料案例，只负责把 SDL 闭环讲明白。</a:t>
            </a:r>
          </a:p>
        </p:txBody>
      </p:sp>
    </p:spTree>
    <p:extLst>
      <p:ext uri="{BB962C8B-B14F-4D97-AF65-F5344CB8AC3E}">
        <p14:creationId xmlns:p14="http://schemas.microsoft.com/office/powerpoint/2010/main" val="1125686663"/>
      </p:ext>
    </p:extLst>
  </p:cSld>
</p:sld>
</file>

<file path=ppt/slides/slide5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EA3686E-5889-4D9C-A7A9-C886FC380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459DA9E-BB5C-4403-94FE-1BB99084B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3810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13D6FF"/>
                </a:solidFill>
                <a:latin typeface="Consolas"/>
                <a:ea typeface="Consolas"/>
                <a:cs typeface="Consolas"/>
              </a:defRPr>
            </a:pPr>
            <a:r>
              <a:t>Case Studio 机制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6828555-03B1-4F0A-974B-2804B6E71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266700"/>
            <a:ext cx="114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750" b="0" i="0">
                <a:solidFill>
                  <a:srgbClr val="6E829D"/>
                </a:solidFill>
                <a:latin typeface="Consolas"/>
                <a:ea typeface="Consolas"/>
                <a:cs typeface="Consolas"/>
              </a:defRPr>
            </a:pPr>
            <a:r>
              <a:t>56 / 63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2BAF4F-71CF-491E-AA0D-8B796ACD8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953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3D68"/>
          </a:solidFill>
          <a:ln xmlns:a="http://schemas.openxmlformats.org/drawingml/2006/main" w="0">
            <a:solidFill>
              <a:srgbClr val="1B3D68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4DC3055-45E7-405A-B9AE-BF7FA949F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819150"/>
            <a:ext cx="9906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这个最小案例里，SDL 的每一步都能说清楚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38AB60F-57F3-4820-9C90-21B45CDE2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390650"/>
            <a:ext cx="990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t>参数、观测、评分与推荐逻辑都显式可见。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E3A7859-96CA-4DE0-9252-DCEC16E30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133600"/>
            <a:ext cx="5143500" cy="1466850"/>
          </a:xfrm>
          <a:prstGeom xmlns:a="http://schemas.openxmlformats.org/drawingml/2006/main" prst="roundRect">
            <a:avLst>
              <a:gd name="adj" fmla="val 5195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EAE5C7F-3A10-4F98-9A6F-ECDA1C3BF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266950"/>
            <a:ext cx="48387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13D6FF"/>
                </a:solidFill>
                <a:latin typeface="Aptos"/>
                <a:ea typeface="Aptos"/>
                <a:cs typeface="Aptos"/>
              </a:defRPr>
            </a:pPr>
            <a:r>
              <a:t>参数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71FCDA3-C9CE-4B89-93B1-583A06A6F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514600"/>
            <a:ext cx="48387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R、G、B 三个控制量，分别对应三路发光强度。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13DD704-2B31-4213-98BC-62E79FC6E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133600"/>
            <a:ext cx="5143500" cy="1466850"/>
          </a:xfrm>
          <a:prstGeom xmlns:a="http://schemas.openxmlformats.org/drawingml/2006/main" prst="roundRect">
            <a:avLst>
              <a:gd name="adj" fmla="val 5195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983B457-FE08-41E8-9948-C6473A01C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266950"/>
            <a:ext cx="48387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3B82F6"/>
                </a:solidFill>
                <a:latin typeface="Aptos"/>
                <a:ea typeface="Aptos"/>
                <a:cs typeface="Aptos"/>
              </a:defRPr>
            </a:pPr>
            <a:r>
              <a:t>观测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92271B6-91D2-419E-A3F7-4D74A6892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514600"/>
            <a:ext cx="48387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系统根据参数给出当前颜色，并计算与目标颜色的距离。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A05C310-AB84-48C3-9D2F-35FBFAF51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71900"/>
            <a:ext cx="5143500" cy="1466850"/>
          </a:xfrm>
          <a:prstGeom xmlns:a="http://schemas.openxmlformats.org/drawingml/2006/main" prst="roundRect">
            <a:avLst>
              <a:gd name="adj" fmla="val 5195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157B7E6-A19E-43A2-A8CF-C161A535E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905250"/>
            <a:ext cx="48387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FBBF24"/>
                </a:solidFill>
                <a:latin typeface="Aptos"/>
                <a:ea typeface="Aptos"/>
                <a:cs typeface="Aptos"/>
              </a:defRPr>
            </a:pPr>
            <a:r>
              <a:t>评分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9EFC460-5C38-4151-9197-F0A3D2618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152900"/>
            <a:ext cx="48387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距离越小，匹配分数越高。于是问题被转成一个可优化目标。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AE97373-51BA-4CA4-9BD9-AF2958362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771900"/>
            <a:ext cx="5143500" cy="1466850"/>
          </a:xfrm>
          <a:prstGeom xmlns:a="http://schemas.openxmlformats.org/drawingml/2006/main" prst="roundRect">
            <a:avLst>
              <a:gd name="adj" fmla="val 5195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C04351A-6866-4E78-A454-F17CE33F5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905250"/>
            <a:ext cx="48387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34D399"/>
                </a:solidFill>
                <a:latin typeface="Aptos"/>
                <a:ea typeface="Aptos"/>
                <a:cs typeface="Aptos"/>
              </a:defRPr>
            </a:pPr>
            <a:r>
              <a:t>推荐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2EDAB25-1221-46BC-B27E-99A064621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152900"/>
            <a:ext cx="48387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模型综合已有观测与不确定性，给出下一实验点。</a:t>
            </a:r>
          </a:p>
        </p:txBody>
      </p:sp>
    </p:spTree>
    <p:extLst>
      <p:ext uri="{BB962C8B-B14F-4D97-AF65-F5344CB8AC3E}">
        <p14:creationId xmlns:p14="http://schemas.microsoft.com/office/powerpoint/2010/main" val="1655614476"/>
      </p:ext>
    </p:extLst>
  </p:cSld>
</p:sld>
</file>

<file path=ppt/slides/slide5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8ADFAA8-2458-4A47-8C00-2BF354DA2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1622DA7-0484-4E1D-9F35-80FF1F480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3810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13D6FF"/>
                </a:solidFill>
                <a:latin typeface="Consolas"/>
                <a:ea typeface="Consolas"/>
                <a:cs typeface="Consolas"/>
              </a:defRPr>
            </a:pPr>
            <a:r>
              <a:t>观看方法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EE7B105-A430-4D78-B717-7DF602204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266700"/>
            <a:ext cx="114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750" b="0" i="0">
                <a:solidFill>
                  <a:srgbClr val="6E829D"/>
                </a:solidFill>
                <a:latin typeface="Consolas"/>
                <a:ea typeface="Consolas"/>
                <a:cs typeface="Consolas"/>
              </a:defRPr>
            </a:pPr>
            <a:r>
              <a:t>57 / 63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56F7823-DBD4-4170-9170-7271E137C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953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3D68"/>
          </a:solidFill>
          <a:ln xmlns:a="http://schemas.openxmlformats.org/drawingml/2006/main" w="0">
            <a:solidFill>
              <a:srgbClr val="1B3D68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5D31A98-F2EC-4DE4-BE90-951069E24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819150"/>
            <a:ext cx="9906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学生在 live demo 里应该看什么，而不只是看分数变化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C29F30-E3B5-4C24-A427-42EECE45B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390650"/>
            <a:ext cx="990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t>把注意力放在闭环机制上。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4810376-5193-4E0F-9197-5B260E9BE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133600"/>
            <a:ext cx="6858000" cy="3524250"/>
          </a:xfrm>
          <a:prstGeom xmlns:a="http://schemas.openxmlformats.org/drawingml/2006/main" prst="roundRect">
            <a:avLst>
              <a:gd name="adj" fmla="val 2162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52D6819-2841-4A22-A85B-0DFAB80F7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400300"/>
            <a:ext cx="619125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• 先看目标：系统到底在追什么？</a:t>
            </a:r>
          </a:p>
          <a:p xmlns:a="http://schemas.openxmlformats.org/drawingml/2006/main">
            <a:pPr algn="l">
              <a:defRPr sz="1575" b="0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• 再看当前最佳：系统已经学到了什么？</a:t>
            </a:r>
          </a:p>
          <a:p xmlns:a="http://schemas.openxmlformats.org/drawingml/2006/main">
            <a:pPr algn="l">
              <a:defRPr sz="1575" b="0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• 再看下一推荐：为什么不是别的点？</a:t>
            </a:r>
          </a:p>
          <a:p xmlns:a="http://schemas.openxmlformats.org/drawingml/2006/main">
            <a:pPr algn="l">
              <a:defRPr sz="1575" b="0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• 最后看 reset：同样的 seed（随机种子）是否给出同样演示路径？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CC94955-E696-454C-BAF7-ABAD5974C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133600"/>
            <a:ext cx="304800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3D6FF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CEF54D5-5B15-46AF-8BB6-52FBD12D8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266950"/>
            <a:ext cx="27432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0" i="0">
                <a:solidFill>
                  <a:srgbClr val="13D6FF"/>
                </a:solidFill>
                <a:latin typeface="Consolas"/>
                <a:ea typeface="Consolas"/>
                <a:cs typeface="Consolas"/>
              </a:defRPr>
            </a:pPr>
            <a:r>
              <a:t>课堂操作建议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D62CD6A-98A1-4CCC-9522-6FA5C6F32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514600"/>
            <a:ext cx="27432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先单步，再五步；先解释，再收敛；最后 reset 证明可复现。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CD5BF47-4344-468F-BF35-29AE10AE7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171950"/>
            <a:ext cx="3048000" cy="1485900"/>
          </a:xfrm>
          <a:prstGeom xmlns:a="http://schemas.openxmlformats.org/drawingml/2006/main" prst="roundRect">
            <a:avLst>
              <a:gd name="adj" fmla="val 5128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3B82F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0632A26-A12C-4DF1-A43D-7CEAB974A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305300"/>
            <a:ext cx="27432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0" i="0">
                <a:solidFill>
                  <a:srgbClr val="3B82F6"/>
                </a:solidFill>
                <a:latin typeface="Consolas"/>
                <a:ea typeface="Consolas"/>
                <a:cs typeface="Consolas"/>
              </a:defRPr>
            </a:pPr>
            <a:r>
              <a:t>讲座意义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8EF542E-240B-4766-B4A6-D45D4A547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552950"/>
            <a:ext cx="27432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这里让学生第一次“沉浸式”看到 AI 进入实验决策链。</a:t>
            </a:r>
          </a:p>
        </p:txBody>
      </p:sp>
    </p:spTree>
    <p:extLst>
      <p:ext uri="{BB962C8B-B14F-4D97-AF65-F5344CB8AC3E}">
        <p14:creationId xmlns:p14="http://schemas.microsoft.com/office/powerpoint/2010/main" val="914434862"/>
      </p:ext>
    </p:extLst>
  </p:cSld>
</p:sld>
</file>

<file path=ppt/slides/slide5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9AE3CB8-B2E2-4A9C-A580-BC6D13574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FBF7F55-1068-4C3B-8D41-E85E20BF1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3810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13D6FF"/>
                </a:solidFill>
                <a:latin typeface="Consolas"/>
                <a:ea typeface="Consolas"/>
                <a:cs typeface="Consolas"/>
              </a:defRPr>
            </a:pPr>
            <a:r>
              <a:t>收束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116DB4-6D24-43FF-A421-3F45D4941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266700"/>
            <a:ext cx="114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750" b="0" i="0">
                <a:solidFill>
                  <a:srgbClr val="6E829D"/>
                </a:solidFill>
                <a:latin typeface="Consolas"/>
                <a:ea typeface="Consolas"/>
                <a:cs typeface="Consolas"/>
              </a:defRPr>
            </a:pPr>
            <a:r>
              <a:t>58 / 63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CA8FAD-ECC5-4384-A2B5-3338FCD55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953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3D68"/>
          </a:solidFill>
          <a:ln xmlns:a="http://schemas.openxmlformats.org/drawingml/2006/main" w="0">
            <a:solidFill>
              <a:srgbClr val="1B3D68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7EC403F-7A5E-40C2-875B-D921A7DCD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676400"/>
            <a:ext cx="14287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5400" b="1" i="0">
                <a:solidFill>
                  <a:srgbClr val="3B82F6"/>
                </a:solidFill>
                <a:latin typeface="Consolas"/>
                <a:ea typeface="Consolas"/>
                <a:cs typeface="Consolas"/>
              </a:defRPr>
            </a:pPr>
            <a:r>
              <a:t>07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AF35032-A427-4C97-A7B8-D4A999636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1809750"/>
            <a:ext cx="7810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回到主题：AI 时代，实验发生了什么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98D0415-5FB7-4CD1-A192-5573A3FE0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2628900"/>
            <a:ext cx="7429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t>不是实验消失了，而是实验被更深地数据化、编排化、模型化与监督化。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994306C-A843-458F-9E5D-54FB51F73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924300"/>
            <a:ext cx="4000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B82F6"/>
          </a:solidFill>
          <a:ln xmlns:a="http://schemas.openxmlformats.org/drawingml/2006/main" w="0">
            <a:solidFill>
              <a:srgbClr val="3B82F6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413B890-E379-49C8-9FBC-6DF9BF1C1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438650"/>
            <a:ext cx="85725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到这里，讲座应从“知道 SDL 是什么”推进到“知道该如何判断 SDL”。</a:t>
            </a:r>
          </a:p>
        </p:txBody>
      </p:sp>
    </p:spTree>
    <p:extLst>
      <p:ext uri="{BB962C8B-B14F-4D97-AF65-F5344CB8AC3E}">
        <p14:creationId xmlns:p14="http://schemas.microsoft.com/office/powerpoint/2010/main" val="485777553"/>
      </p:ext>
    </p:extLst>
  </p:cSld>
</p:sld>
</file>

<file path=ppt/slides/slide5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867ACDF-01AC-4F43-A386-6A9263956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1DD6F12-1027-46BC-8A53-C402844D4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3810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13D6FF"/>
                </a:solidFill>
                <a:latin typeface="Consolas"/>
                <a:ea typeface="Consolas"/>
                <a:cs typeface="Consolas"/>
              </a:defRPr>
            </a:pPr>
            <a:r>
              <a:t>核心结论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7BA6E80-0057-45C9-A154-032D995E3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266700"/>
            <a:ext cx="114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750" b="0" i="0">
                <a:solidFill>
                  <a:srgbClr val="6E829D"/>
                </a:solidFill>
                <a:latin typeface="Consolas"/>
                <a:ea typeface="Consolas"/>
                <a:cs typeface="Consolas"/>
              </a:defRPr>
            </a:pPr>
            <a:r>
              <a:t>59 / 63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D41632E-AF05-4982-8591-A53CE33AB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953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3D68"/>
          </a:solidFill>
          <a:ln xmlns:a="http://schemas.openxmlformats.org/drawingml/2006/main" w="0">
            <a:solidFill>
              <a:srgbClr val="1B3D68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932A5E-79A4-43BB-8952-94F2B708E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819150"/>
            <a:ext cx="9906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三条最重要的结论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4C75789-1E84-4B61-BB00-65D6D5874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390650"/>
            <a:ext cx="990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t>如果只能带走三句话，我希望是这三句。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703B66A-1E24-4ADB-B636-3BE063C23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133600"/>
            <a:ext cx="342900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E4037B3-3D38-4E2D-8A99-3A1242605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266950"/>
            <a:ext cx="3124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13D6FF"/>
                </a:solidFill>
                <a:latin typeface="Aptos"/>
                <a:ea typeface="Aptos"/>
                <a:cs typeface="Aptos"/>
              </a:defRPr>
            </a:pPr>
            <a:r>
              <a:t>实验仍是中心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427EE65-F827-4368-AEB2-E159DC444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514600"/>
            <a:ext cx="31242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AI 并没有替代实验，而是在重构实验的组织方式。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1A0E01A-EF92-4989-A039-DB86A9DA8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133600"/>
            <a:ext cx="342900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4EBEFCD-4B8A-48CC-8785-2513FCB50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266950"/>
            <a:ext cx="3124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3B82F6"/>
                </a:solidFill>
                <a:latin typeface="Aptos"/>
                <a:ea typeface="Aptos"/>
                <a:cs typeface="Aptos"/>
              </a:defRPr>
            </a:pPr>
            <a:r>
              <a:t>SDL 有前史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04E11A8-37BB-4EB0-A441-82E73A1EF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514600"/>
            <a:ext cx="31242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SDL 不是孤立新范式，它连接试错法、DOE、自动化与数据化。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DDB6E0D-16B1-4450-A706-378167DFB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133600"/>
            <a:ext cx="342900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8E689CC-A1E3-41C7-ADB9-4F436A08D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266950"/>
            <a:ext cx="3124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FB7185"/>
                </a:solidFill>
                <a:latin typeface="Aptos"/>
                <a:ea typeface="Aptos"/>
                <a:cs typeface="Aptos"/>
              </a:defRPr>
            </a:pPr>
            <a:r>
              <a:t>可信比炫酷更重要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DDE32A7-62E5-4781-9A37-E904F5409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514600"/>
            <a:ext cx="31242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真正高水平的 SDL，必须经得住定义、验证、复现与伦理审查。</a:t>
            </a:r>
          </a:p>
        </p:txBody>
      </p:sp>
    </p:spTree>
    <p:extLst>
      <p:ext uri="{BB962C8B-B14F-4D97-AF65-F5344CB8AC3E}">
        <p14:creationId xmlns:p14="http://schemas.microsoft.com/office/powerpoint/2010/main" val="1291417036"/>
      </p:ext>
    </p:extLst>
  </p:cSld>
</p:sld>
</file>

<file path=ppt/slides/slide6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38D5827-167C-4EAD-9D43-911B79886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DD64C50-DE9D-4686-9D4D-A1C9FB9E9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3810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13D6FF"/>
                </a:solidFill>
                <a:latin typeface="Consolas"/>
                <a:ea typeface="Consolas"/>
                <a:cs typeface="Consolas"/>
              </a:defRPr>
            </a:pPr>
            <a:r>
              <a:t>课程立场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DE1608C-281A-42E0-938E-ADDCB25E0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266700"/>
            <a:ext cx="114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750" b="0" i="0">
                <a:solidFill>
                  <a:srgbClr val="6E829D"/>
                </a:solidFill>
                <a:latin typeface="Consolas"/>
                <a:ea typeface="Consolas"/>
                <a:cs typeface="Consolas"/>
              </a:defRPr>
            </a:pPr>
            <a:r>
              <a:t>60 / 63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80F552-FC6B-4FFF-AA4C-70BF1BEEE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953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3D68"/>
          </a:solidFill>
          <a:ln xmlns:a="http://schemas.openxmlformats.org/drawingml/2006/main" w="0">
            <a:solidFill>
              <a:srgbClr val="1B3D68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F0F89CB-2538-45EF-B515-F726DF2EF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819150"/>
            <a:ext cx="9906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既拥抱 AI，也质疑 AI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57F7EBE-FB15-48A5-BF82-B1C353863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390650"/>
            <a:ext cx="990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t>这不是折中，而是对实验科学最负责任的立场。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B0F8818-A24C-4DBC-9B2D-21A27A81B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133600"/>
            <a:ext cx="6858000" cy="3524250"/>
          </a:xfrm>
          <a:prstGeom xmlns:a="http://schemas.openxmlformats.org/drawingml/2006/main" prst="roundRect">
            <a:avLst>
              <a:gd name="adj" fmla="val 2162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8236850-CB02-468F-B59B-D575107E6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400300"/>
            <a:ext cx="619125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• 拥抱 AI：用它组织知识、辅助研究、开发工具、提高实验效率。</a:t>
            </a:r>
          </a:p>
          <a:p xmlns:a="http://schemas.openxmlformats.org/drawingml/2006/main">
            <a:pPr algn="l">
              <a:defRPr sz="1575" b="0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• 质疑 AI：坚持人的直觉、领域知识、实践技能与伦理责任。</a:t>
            </a:r>
          </a:p>
          <a:p xmlns:a="http://schemas.openxmlformats.org/drawingml/2006/main">
            <a:pPr algn="l">
              <a:defRPr sz="1575" b="0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• 负责任的 AI 使用，不是迷信输出，而是让模型进入可监督的科学工作流。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CEA3050-74AC-4133-8AD8-2C4B42D92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133600"/>
            <a:ext cx="304800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3D6FF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ED2E521-9328-4797-9422-DF6AA0E5C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266950"/>
            <a:ext cx="27432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0" i="0">
                <a:solidFill>
                  <a:srgbClr val="13D6FF"/>
                </a:solidFill>
                <a:latin typeface="Consolas"/>
                <a:ea typeface="Consolas"/>
                <a:cs typeface="Consolas"/>
              </a:defRPr>
            </a:pPr>
            <a:r>
              <a:t>给学生的要求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80B96C6-FD72-4EC1-8B4B-261B1E8D0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514600"/>
            <a:ext cx="27432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会用 AI</a:t>
            </a:r>
          </a:p>
          <a:p xmlns:a="http://schemas.openxmlformats.org/drawingml/2006/main">
            <a:pPr algn="l">
              <a:defRPr sz="1050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会审 AI</a:t>
            </a:r>
          </a:p>
          <a:p xmlns:a="http://schemas.openxmlformats.org/drawingml/2006/main">
            <a:pPr algn="l">
              <a:defRPr sz="1050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会纠 AI</a:t>
            </a:r>
          </a:p>
          <a:p xmlns:a="http://schemas.openxmlformats.org/drawingml/2006/main">
            <a:pPr algn="l">
              <a:defRPr sz="1050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会承担结论责任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1013920-049F-4623-ABB2-20244A10A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171950"/>
            <a:ext cx="3048000" cy="1485900"/>
          </a:xfrm>
          <a:prstGeom xmlns:a="http://schemas.openxmlformats.org/drawingml/2006/main" prst="roundRect">
            <a:avLst>
              <a:gd name="adj" fmla="val 5128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3B82F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A8D9655-2357-4776-802D-DF1B55A9F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305300"/>
            <a:ext cx="27432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0" i="0">
                <a:solidFill>
                  <a:srgbClr val="3B82F6"/>
                </a:solidFill>
                <a:latin typeface="Consolas"/>
                <a:ea typeface="Consolas"/>
                <a:cs typeface="Consolas"/>
              </a:defRPr>
            </a:pPr>
            <a:r>
              <a:t>讲座之外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ED20C55-7158-42F1-8F42-B6C388217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552950"/>
            <a:ext cx="27432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这也是整门课程后续建设的最高层原则。</a:t>
            </a:r>
          </a:p>
        </p:txBody>
      </p:sp>
    </p:spTree>
    <p:extLst>
      <p:ext uri="{BB962C8B-B14F-4D97-AF65-F5344CB8AC3E}">
        <p14:creationId xmlns:p14="http://schemas.microsoft.com/office/powerpoint/2010/main" val="2058413908"/>
      </p:ext>
    </p:extLst>
  </p:cSld>
</p:sld>
</file>

<file path=ppt/slides/slide6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C68AA9B-E5E4-4B58-9EEF-85BFC4A7B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DBE7EE6-611F-415B-9A2B-357A38FF0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3810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13D6FF"/>
                </a:solidFill>
                <a:latin typeface="Consolas"/>
                <a:ea typeface="Consolas"/>
                <a:cs typeface="Consolas"/>
              </a:defRPr>
            </a:pPr>
            <a:r>
              <a:t>带走什么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61A8A60-B90B-449D-A10F-90C89840E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266700"/>
            <a:ext cx="114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750" b="0" i="0">
                <a:solidFill>
                  <a:srgbClr val="6E829D"/>
                </a:solidFill>
                <a:latin typeface="Consolas"/>
                <a:ea typeface="Consolas"/>
                <a:cs typeface="Consolas"/>
              </a:defRPr>
            </a:pPr>
            <a:r>
              <a:t>61 / 63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0E0CAA-158A-4DA0-9846-B888F69BB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953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3D68"/>
          </a:solidFill>
          <a:ln xmlns:a="http://schemas.openxmlformats.org/drawingml/2006/main" w="0">
            <a:solidFill>
              <a:srgbClr val="1B3D68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6F4F7A4-206F-419F-A959-8C6478516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819150"/>
            <a:ext cx="9906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这场讲座之后，学生至少应能完成四件事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316D7BD-B163-4476-B0AB-0226CF289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390650"/>
            <a:ext cx="990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t>如果做不到，说明讲座还没有讲清楚。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775AEC3-90F9-4F9E-A501-8A21A0402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133600"/>
            <a:ext cx="6858000" cy="3524250"/>
          </a:xfrm>
          <a:prstGeom xmlns:a="http://schemas.openxmlformats.org/drawingml/2006/main" prst="roundRect">
            <a:avLst>
              <a:gd name="adj" fmla="val 2162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3F46472-7CBF-4EA9-AC9E-FC1CD1442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400300"/>
            <a:ext cx="619125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• 从实验视角，而不是从 buzzword（热词）视角理解 SDL。</a:t>
            </a:r>
          </a:p>
          <a:p xmlns:a="http://schemas.openxmlformats.org/drawingml/2006/main">
            <a:pPr algn="l">
              <a:defRPr sz="1575" b="0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• 区分试错法、DOE 与 SDL 的关系与边界。</a:t>
            </a:r>
          </a:p>
          <a:p xmlns:a="http://schemas.openxmlformats.org/drawingml/2006/main">
            <a:pPr algn="l">
              <a:defRPr sz="1575" b="0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• 识别一个研究问题是否适合 SDL 化。</a:t>
            </a:r>
          </a:p>
          <a:p xmlns:a="http://schemas.openxmlformats.org/drawingml/2006/main">
            <a:pPr algn="l">
              <a:defRPr sz="1575" b="0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• 对真实自治实验系统提出更严谨的判断与质疑。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2E83A24-0C14-4B48-925A-7FE8F9C82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133600"/>
            <a:ext cx="304800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3D6FF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7742C91-CC82-441A-9862-743CF3376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266950"/>
            <a:ext cx="27432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0" i="0">
                <a:solidFill>
                  <a:srgbClr val="13D6FF"/>
                </a:solidFill>
                <a:latin typeface="Consolas"/>
                <a:ea typeface="Consolas"/>
                <a:cs typeface="Consolas"/>
              </a:defRPr>
            </a:pPr>
            <a:r>
              <a:t>更高一级的目标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CD437D4-528A-4D02-A7EE-2B78B8266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514600"/>
            <a:ext cx="27432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把自己的课题逐步翻译成 objective、constraint、measurement、workflow 语言。</a:t>
            </a:r>
          </a:p>
        </p:txBody>
      </p:sp>
    </p:spTree>
    <p:extLst>
      <p:ext uri="{BB962C8B-B14F-4D97-AF65-F5344CB8AC3E}">
        <p14:creationId xmlns:p14="http://schemas.microsoft.com/office/powerpoint/2010/main" val="2062118040"/>
      </p:ext>
    </p:extLst>
  </p:cSld>
</p:sld>
</file>

<file path=ppt/slides/slide6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F52C949-31EE-464A-8B91-9B125BE4D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EE80012-A1CD-4472-8A36-1D0091B8B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3810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13D6FF"/>
                </a:solidFill>
                <a:latin typeface="Consolas"/>
                <a:ea typeface="Consolas"/>
                <a:cs typeface="Consolas"/>
              </a:defRPr>
            </a:pPr>
            <a:r>
              <a:t>讲座资源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1D0D274-68E2-4D3D-8DC3-E0C3A4192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266700"/>
            <a:ext cx="114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750" b="0" i="0">
                <a:solidFill>
                  <a:srgbClr val="6E829D"/>
                </a:solidFill>
                <a:latin typeface="Consolas"/>
                <a:ea typeface="Consolas"/>
                <a:cs typeface="Consolas"/>
              </a:defRPr>
            </a:pPr>
            <a:r>
              <a:t>62 / 63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2EA505-A010-4A78-A306-AF359EAD4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953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3D68"/>
          </a:solidFill>
          <a:ln xmlns:a="http://schemas.openxmlformats.org/drawingml/2006/main" w="0">
            <a:solidFill>
              <a:srgbClr val="1B3D68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FC4E768-6BDF-4ADA-9E23-F10673E40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819150"/>
            <a:ext cx="9906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讲座之后：继续从数字讲义站进入课程主线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FE9371-AB8F-48FC-A4D3-A0D67E3AC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390650"/>
            <a:ext cx="990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t>网站不是展示品，而是课后继续学习的入口。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51640BB-85BC-4ABA-B230-14CFC610A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133600"/>
            <a:ext cx="6858000" cy="3524250"/>
          </a:xfrm>
          <a:prstGeom xmlns:a="http://schemas.openxmlformats.org/drawingml/2006/main" prst="roundRect">
            <a:avLst>
              <a:gd name="adj" fmla="val 2162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B3D68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4DB35E2-46F4-446D-B62A-808E22EDB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400300"/>
            <a:ext cx="619125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• 从 Foundations（基础）部分回看实验、DOE 与 SDL 的主线。</a:t>
            </a:r>
          </a:p>
          <a:p xmlns:a="http://schemas.openxmlformats.org/drawingml/2006/main">
            <a:pPr algn="l">
              <a:defRPr sz="1575" b="0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• 从 A-Lab（自治实验室）案例页复读真实系统、争议与纠错。</a:t>
            </a:r>
          </a:p>
          <a:p xmlns:a="http://schemas.openxmlformats.org/drawingml/2006/main">
            <a:pPr algn="l">
              <a:defRPr sz="1575" b="0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• 从 Case Studio 自己运行最小 live demo，观察推荐逻辑如何变化。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5996B81-B71C-4D1A-AB45-71A253936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133600"/>
            <a:ext cx="304800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13D6FF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1488846-97CE-4DF9-A7DB-CFCD228AB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266950"/>
            <a:ext cx="27432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0" i="0">
                <a:solidFill>
                  <a:srgbClr val="13D6FF"/>
                </a:solidFill>
                <a:latin typeface="Consolas"/>
                <a:ea typeface="Consolas"/>
                <a:cs typeface="Consolas"/>
              </a:defRPr>
            </a:pPr>
            <a:r>
              <a:t>建议学生课后做什么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389E805-6E8C-4CBF-9A21-7A8A96083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514600"/>
            <a:ext cx="27432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重看 Foundations（基础）</a:t>
            </a:r>
          </a:p>
          <a:p xmlns:a="http://schemas.openxmlformats.org/drawingml/2006/main">
            <a:pPr algn="l">
              <a:defRPr sz="1050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阅读 A-Lab 案例页</a:t>
            </a:r>
          </a:p>
          <a:p xmlns:a="http://schemas.openxmlformats.org/drawingml/2006/main">
            <a:pPr algn="l">
              <a:defRPr sz="1050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自己运行 Case Studio demo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6B526D4-AFCE-4127-BAC0-97EB054DB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171950"/>
            <a:ext cx="3048000" cy="1485900"/>
          </a:xfrm>
          <a:prstGeom xmlns:a="http://schemas.openxmlformats.org/drawingml/2006/main" prst="roundRect">
            <a:avLst>
              <a:gd name="adj" fmla="val 5128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3B82F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A1D7573-9791-41E3-80F8-7B19F6B45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305300"/>
            <a:ext cx="27432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0" i="0">
                <a:solidFill>
                  <a:srgbClr val="3B82F6"/>
                </a:solidFill>
                <a:latin typeface="Consolas"/>
                <a:ea typeface="Consolas"/>
                <a:cs typeface="Consolas"/>
              </a:defRPr>
            </a:pPr>
            <a:r>
              <a:t>讲者用途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3A234E6-63D3-4B65-8A2A-170580E7A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552950"/>
            <a:ext cx="27432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网站保留动态演示与后续课程扩展空间；PPT 保留稳定教学交付能力。</a:t>
            </a:r>
          </a:p>
        </p:txBody>
      </p:sp>
    </p:spTree>
    <p:extLst>
      <p:ext uri="{BB962C8B-B14F-4D97-AF65-F5344CB8AC3E}">
        <p14:creationId xmlns:p14="http://schemas.microsoft.com/office/powerpoint/2010/main" val="1842022106"/>
      </p:ext>
    </p:extLst>
  </p:cSld>
</p:sld>
</file>

<file path=ppt/slides/slide6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7984C2A-A893-4466-931B-7EF3E79B6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5F07D6E-9D38-44D0-B1F7-8F65A7B43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3810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13D6FF"/>
                </a:solidFill>
                <a:latin typeface="Consolas"/>
                <a:ea typeface="Consolas"/>
                <a:cs typeface="Consolas"/>
              </a:defRPr>
            </a:pPr>
            <a:r>
              <a:t>结束页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8EB7D8-B9F6-4BD8-97ED-FC8A13DDC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266700"/>
            <a:ext cx="114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750" b="0" i="0">
                <a:solidFill>
                  <a:srgbClr val="6E829D"/>
                </a:solidFill>
                <a:latin typeface="Consolas"/>
                <a:ea typeface="Consolas"/>
                <a:cs typeface="Consolas"/>
              </a:defRPr>
            </a:pPr>
            <a:r>
              <a:t>63 / 63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40F85CB-76EE-4148-9921-D4815D521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953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3D68"/>
          </a:solidFill>
          <a:ln xmlns:a="http://schemas.openxmlformats.org/drawingml/2006/main" w="0">
            <a:solidFill>
              <a:srgbClr val="1B3D68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C5B0C40-758A-408A-9B74-5C5EB0002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562100"/>
            <a:ext cx="952500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40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“在 AI 时代，重要的不是把实验交给机器，而是学会如何让机器进入负责任的实验科学。”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67DA9DD-4BFE-46A1-B28E-91D7800C1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752850"/>
            <a:ext cx="4000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13D6FF"/>
                </a:solidFill>
                <a:latin typeface="Aptos"/>
                <a:ea typeface="Aptos"/>
                <a:cs typeface="Aptos"/>
              </a:defRPr>
            </a:pPr>
            <a:r>
              <a:t>谢谢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DDC53D9-A068-4577-91B9-1B3CF3592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476750"/>
            <a:ext cx="85725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71426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欢迎提问与讨论。</a:t>
            </a:r>
          </a:p>
        </p:txBody>
      </p:sp>
    </p:spTree>
    <p:extLst>
      <p:ext uri="{BB962C8B-B14F-4D97-AF65-F5344CB8AC3E}">
        <p14:creationId xmlns:p14="http://schemas.microsoft.com/office/powerpoint/2010/main" val="35710438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2026-06-05T02:37:58.5780000Z</dcterms:created>
  <dcterms:modified xsi:type="dcterms:W3CDTF">2026-06-05T02:37:58.5780000Z</dcterms:modified>
</coreProperties>
</file>